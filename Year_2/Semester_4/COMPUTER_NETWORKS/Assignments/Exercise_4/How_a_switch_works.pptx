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1" roundtripDataSignature="AMtx7mjTobIVmXhq8KaPZ6gYfNpe9LTHM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21" Type="http://customschemas.google.com/relationships/presentationmetadata" Target="metadata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6" Type="http://schemas.openxmlformats.org/officeDocument/2006/relationships/slide" Target="slides/slide2.xml"/><Relationship Id="rId18" Type="http://schemas.openxmlformats.org/officeDocument/2006/relationships/slide" Target="slides/slide14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533520" y="764280"/>
            <a:ext cx="6704640" cy="37713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" name="Google Shape;5;n"/>
          <p:cNvSpPr txBox="1"/>
          <p:nvPr>
            <p:ph idx="3"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6" name="Google Shape;6;n"/>
          <p:cNvSpPr txBox="1"/>
          <p:nvPr>
            <p:ph idx="10" type="dt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:notes"/>
          <p:cNvSpPr/>
          <p:nvPr>
            <p:ph idx="2" type="sldImg"/>
          </p:nvPr>
        </p:nvSpPr>
        <p:spPr>
          <a:xfrm>
            <a:off x="685800" y="1143000"/>
            <a:ext cx="5485320" cy="3085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" name="Google Shape;15;p1:notes"/>
          <p:cNvSpPr txBox="1"/>
          <p:nvPr>
            <p:ph idx="1"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" name="Google Shape;16;p1:notes"/>
          <p:cNvSpPr txBox="1"/>
          <p:nvPr>
            <p:ph idx="12" type="sldNum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:notes"/>
          <p:cNvSpPr/>
          <p:nvPr>
            <p:ph idx="2" type="sldImg"/>
          </p:nvPr>
        </p:nvSpPr>
        <p:spPr>
          <a:xfrm>
            <a:off x="685800" y="1143000"/>
            <a:ext cx="5485320" cy="3085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" name="Google Shape;22;p2:notes"/>
          <p:cNvSpPr txBox="1"/>
          <p:nvPr>
            <p:ph idx="1"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" name="Google Shape;23;p2:notes"/>
          <p:cNvSpPr txBox="1"/>
          <p:nvPr>
            <p:ph idx="12" type="sldNum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3:notes"/>
          <p:cNvSpPr/>
          <p:nvPr>
            <p:ph idx="2" type="sldImg"/>
          </p:nvPr>
        </p:nvSpPr>
        <p:spPr>
          <a:xfrm>
            <a:off x="685800" y="1143000"/>
            <a:ext cx="5485320" cy="3085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6" name="Google Shape;46;p3:notes"/>
          <p:cNvSpPr txBox="1"/>
          <p:nvPr>
            <p:ph idx="1"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" name="Google Shape;47;p3:notes"/>
          <p:cNvSpPr txBox="1"/>
          <p:nvPr>
            <p:ph idx="12" type="sldNum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4:notes"/>
          <p:cNvSpPr/>
          <p:nvPr>
            <p:ph idx="2" type="sldImg"/>
          </p:nvPr>
        </p:nvSpPr>
        <p:spPr>
          <a:xfrm>
            <a:off x="685800" y="1143000"/>
            <a:ext cx="5485320" cy="3085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1" name="Google Shape;61;p4:notes"/>
          <p:cNvSpPr txBox="1"/>
          <p:nvPr>
            <p:ph idx="1"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" name="Google Shape;62;p4:notes"/>
          <p:cNvSpPr txBox="1"/>
          <p:nvPr>
            <p:ph idx="12" type="sldNum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5:notes"/>
          <p:cNvSpPr/>
          <p:nvPr>
            <p:ph idx="2" type="sldImg"/>
          </p:nvPr>
        </p:nvSpPr>
        <p:spPr>
          <a:xfrm>
            <a:off x="685800" y="1143000"/>
            <a:ext cx="5485200" cy="3085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7" name="Google Shape;77;p5:notes"/>
          <p:cNvSpPr txBox="1"/>
          <p:nvPr>
            <p:ph idx="1" type="body"/>
          </p:nvPr>
        </p:nvSpPr>
        <p:spPr>
          <a:xfrm>
            <a:off x="685800" y="4400640"/>
            <a:ext cx="5485200" cy="359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" name="Google Shape;78;p5:notes"/>
          <p:cNvSpPr txBox="1"/>
          <p:nvPr>
            <p:ph idx="12" type="sldNum"/>
          </p:nvPr>
        </p:nvSpPr>
        <p:spPr>
          <a:xfrm>
            <a:off x="3884760" y="8685360"/>
            <a:ext cx="2970600" cy="4575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6:notes"/>
          <p:cNvSpPr/>
          <p:nvPr>
            <p:ph idx="2" type="sldImg"/>
          </p:nvPr>
        </p:nvSpPr>
        <p:spPr>
          <a:xfrm>
            <a:off x="685800" y="1143000"/>
            <a:ext cx="5485200" cy="3085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3" name="Google Shape;93;p6:notes"/>
          <p:cNvSpPr txBox="1"/>
          <p:nvPr>
            <p:ph idx="1" type="body"/>
          </p:nvPr>
        </p:nvSpPr>
        <p:spPr>
          <a:xfrm>
            <a:off x="685800" y="4400640"/>
            <a:ext cx="5485200" cy="359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6:notes"/>
          <p:cNvSpPr txBox="1"/>
          <p:nvPr>
            <p:ph idx="12" type="sldNum"/>
          </p:nvPr>
        </p:nvSpPr>
        <p:spPr>
          <a:xfrm>
            <a:off x="3884760" y="8685360"/>
            <a:ext cx="2970600" cy="4575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7:notes"/>
          <p:cNvSpPr/>
          <p:nvPr>
            <p:ph idx="2" type="sldImg"/>
          </p:nvPr>
        </p:nvSpPr>
        <p:spPr>
          <a:xfrm>
            <a:off x="685800" y="1143000"/>
            <a:ext cx="5485200" cy="3085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1" name="Google Shape;111;p7:notes"/>
          <p:cNvSpPr txBox="1"/>
          <p:nvPr>
            <p:ph idx="1" type="body"/>
          </p:nvPr>
        </p:nvSpPr>
        <p:spPr>
          <a:xfrm>
            <a:off x="685800" y="4400640"/>
            <a:ext cx="5485200" cy="359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7:notes"/>
          <p:cNvSpPr txBox="1"/>
          <p:nvPr>
            <p:ph idx="12" type="sldNum"/>
          </p:nvPr>
        </p:nvSpPr>
        <p:spPr>
          <a:xfrm>
            <a:off x="3884760" y="8685360"/>
            <a:ext cx="2970600" cy="4575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8:notes"/>
          <p:cNvSpPr/>
          <p:nvPr>
            <p:ph idx="2" type="sldImg"/>
          </p:nvPr>
        </p:nvSpPr>
        <p:spPr>
          <a:xfrm>
            <a:off x="685800" y="1143000"/>
            <a:ext cx="5485200" cy="3085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0" name="Google Shape;130;p8:notes"/>
          <p:cNvSpPr txBox="1"/>
          <p:nvPr>
            <p:ph idx="1" type="body"/>
          </p:nvPr>
        </p:nvSpPr>
        <p:spPr>
          <a:xfrm>
            <a:off x="685800" y="4400640"/>
            <a:ext cx="5485200" cy="359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8:notes"/>
          <p:cNvSpPr txBox="1"/>
          <p:nvPr>
            <p:ph idx="12" type="sldNum"/>
          </p:nvPr>
        </p:nvSpPr>
        <p:spPr>
          <a:xfrm>
            <a:off x="3884760" y="8685360"/>
            <a:ext cx="2970600" cy="4575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9:notes"/>
          <p:cNvSpPr/>
          <p:nvPr>
            <p:ph idx="2" type="sldImg"/>
          </p:nvPr>
        </p:nvSpPr>
        <p:spPr>
          <a:xfrm>
            <a:off x="685800" y="1143000"/>
            <a:ext cx="5485200" cy="3085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9" name="Google Shape;149;p9:notes"/>
          <p:cNvSpPr txBox="1"/>
          <p:nvPr>
            <p:ph idx="1" type="body"/>
          </p:nvPr>
        </p:nvSpPr>
        <p:spPr>
          <a:xfrm>
            <a:off x="685800" y="4400640"/>
            <a:ext cx="5485200" cy="359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9:notes"/>
          <p:cNvSpPr txBox="1"/>
          <p:nvPr>
            <p:ph idx="12" type="sldNum"/>
          </p:nvPr>
        </p:nvSpPr>
        <p:spPr>
          <a:xfrm>
            <a:off x="3884760" y="8685360"/>
            <a:ext cx="2970600" cy="4575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0:notes"/>
          <p:cNvSpPr/>
          <p:nvPr>
            <p:ph idx="2" type="sldImg"/>
          </p:nvPr>
        </p:nvSpPr>
        <p:spPr>
          <a:xfrm>
            <a:off x="685800" y="1143000"/>
            <a:ext cx="5485200" cy="3085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4" name="Google Shape;164;p10:notes"/>
          <p:cNvSpPr txBox="1"/>
          <p:nvPr>
            <p:ph idx="1" type="body"/>
          </p:nvPr>
        </p:nvSpPr>
        <p:spPr>
          <a:xfrm>
            <a:off x="685800" y="4400640"/>
            <a:ext cx="5485200" cy="359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10:notes"/>
          <p:cNvSpPr txBox="1"/>
          <p:nvPr>
            <p:ph idx="12" type="sldNum"/>
          </p:nvPr>
        </p:nvSpPr>
        <p:spPr>
          <a:xfrm>
            <a:off x="3884760" y="8685360"/>
            <a:ext cx="2970600" cy="4575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d664018989_0_353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2:notes"/>
          <p:cNvSpPr/>
          <p:nvPr>
            <p:ph idx="2" type="sldImg"/>
          </p:nvPr>
        </p:nvSpPr>
        <p:spPr>
          <a:xfrm>
            <a:off x="685800" y="1143000"/>
            <a:ext cx="5485200" cy="3085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07" name="Google Shape;207;p12:notes"/>
          <p:cNvSpPr txBox="1"/>
          <p:nvPr>
            <p:ph idx="1" type="body"/>
          </p:nvPr>
        </p:nvSpPr>
        <p:spPr>
          <a:xfrm>
            <a:off x="685800" y="4400640"/>
            <a:ext cx="5485200" cy="359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12:notes"/>
          <p:cNvSpPr txBox="1"/>
          <p:nvPr>
            <p:ph idx="12" type="sldNum"/>
          </p:nvPr>
        </p:nvSpPr>
        <p:spPr>
          <a:xfrm>
            <a:off x="3884760" y="8685360"/>
            <a:ext cx="2970600" cy="4575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13:notes"/>
          <p:cNvSpPr/>
          <p:nvPr>
            <p:ph idx="2" type="sldImg"/>
          </p:nvPr>
        </p:nvSpPr>
        <p:spPr>
          <a:xfrm>
            <a:off x="685800" y="1143000"/>
            <a:ext cx="5485200" cy="3085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34" name="Google Shape;234;p13:notes"/>
          <p:cNvSpPr txBox="1"/>
          <p:nvPr>
            <p:ph idx="1" type="body"/>
          </p:nvPr>
        </p:nvSpPr>
        <p:spPr>
          <a:xfrm>
            <a:off x="685800" y="4400640"/>
            <a:ext cx="5485200" cy="359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p13:notes"/>
          <p:cNvSpPr txBox="1"/>
          <p:nvPr>
            <p:ph idx="12" type="sldNum"/>
          </p:nvPr>
        </p:nvSpPr>
        <p:spPr>
          <a:xfrm>
            <a:off x="3884760" y="8685360"/>
            <a:ext cx="2970600" cy="4575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14:notes"/>
          <p:cNvSpPr/>
          <p:nvPr>
            <p:ph idx="2" type="sldImg"/>
          </p:nvPr>
        </p:nvSpPr>
        <p:spPr>
          <a:xfrm>
            <a:off x="685800" y="1143000"/>
            <a:ext cx="5485200" cy="3085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56" name="Google Shape;256;p14:notes"/>
          <p:cNvSpPr txBox="1"/>
          <p:nvPr>
            <p:ph idx="1" type="body"/>
          </p:nvPr>
        </p:nvSpPr>
        <p:spPr>
          <a:xfrm>
            <a:off x="685800" y="4400640"/>
            <a:ext cx="5485200" cy="359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7" name="Google Shape;257;p14:notes"/>
          <p:cNvSpPr txBox="1"/>
          <p:nvPr>
            <p:ph idx="12" type="sldNum"/>
          </p:nvPr>
        </p:nvSpPr>
        <p:spPr>
          <a:xfrm>
            <a:off x="3884760" y="8685360"/>
            <a:ext cx="2970600" cy="4575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15:notes"/>
          <p:cNvSpPr/>
          <p:nvPr>
            <p:ph idx="2" type="sldImg"/>
          </p:nvPr>
        </p:nvSpPr>
        <p:spPr>
          <a:xfrm>
            <a:off x="685800" y="1143000"/>
            <a:ext cx="5485200" cy="3085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77" name="Google Shape;277;p15:notes"/>
          <p:cNvSpPr txBox="1"/>
          <p:nvPr>
            <p:ph idx="1" type="body"/>
          </p:nvPr>
        </p:nvSpPr>
        <p:spPr>
          <a:xfrm>
            <a:off x="685800" y="4400640"/>
            <a:ext cx="5485200" cy="359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8" name="Google Shape;278;p15:notes"/>
          <p:cNvSpPr txBox="1"/>
          <p:nvPr>
            <p:ph idx="12" type="sldNum"/>
          </p:nvPr>
        </p:nvSpPr>
        <p:spPr>
          <a:xfrm>
            <a:off x="3884760" y="8685360"/>
            <a:ext cx="2970600" cy="4575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16:notes"/>
          <p:cNvSpPr/>
          <p:nvPr>
            <p:ph idx="2" type="sldImg"/>
          </p:nvPr>
        </p:nvSpPr>
        <p:spPr>
          <a:xfrm>
            <a:off x="685800" y="1143000"/>
            <a:ext cx="5485200" cy="3085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99" name="Google Shape;299;p16:notes"/>
          <p:cNvSpPr txBox="1"/>
          <p:nvPr>
            <p:ph idx="1" type="body"/>
          </p:nvPr>
        </p:nvSpPr>
        <p:spPr>
          <a:xfrm>
            <a:off x="685800" y="4400640"/>
            <a:ext cx="5485200" cy="359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0" name="Google Shape;300;p16:notes"/>
          <p:cNvSpPr txBox="1"/>
          <p:nvPr>
            <p:ph idx="12" type="sldNum"/>
          </p:nvPr>
        </p:nvSpPr>
        <p:spPr>
          <a:xfrm>
            <a:off x="3884760" y="8685360"/>
            <a:ext cx="2970600" cy="4575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 type="blank">
  <p:cSld name="BLANK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7"/>
          <p:cNvSpPr txBox="1"/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1" name="Google Shape;11;p17"/>
          <p:cNvSpPr txBox="1"/>
          <p:nvPr>
            <p:ph idx="1"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"/>
          <p:cNvSpPr/>
          <p:nvPr/>
        </p:nvSpPr>
        <p:spPr>
          <a:xfrm>
            <a:off x="548640" y="1657440"/>
            <a:ext cx="8045640" cy="1827720"/>
          </a:xfrm>
          <a:prstGeom prst="roundRect">
            <a:avLst>
              <a:gd fmla="val 16667" name="adj"/>
            </a:avLst>
          </a:prstGeom>
          <a:solidFill>
            <a:srgbClr val="58A6FF">
              <a:alpha val="5882"/>
            </a:srgbClr>
          </a:solidFill>
          <a:ln cap="flat" cmpd="sng" w="12700">
            <a:solidFill>
              <a:srgbClr val="1C6AC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" name="Google Shape;19;p1"/>
          <p:cNvSpPr/>
          <p:nvPr/>
        </p:nvSpPr>
        <p:spPr>
          <a:xfrm>
            <a:off x="822960" y="2023200"/>
            <a:ext cx="7497000" cy="913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400" u="none" cap="none" strike="noStrike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Πώς Λειτουργεί ένας Μεταγωγέας (Switch)</a:t>
            </a:r>
            <a:endParaRPr b="0" i="0" sz="3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2"/>
          <p:cNvSpPr/>
          <p:nvPr/>
        </p:nvSpPr>
        <p:spPr>
          <a:xfrm>
            <a:off x="411840" y="228960"/>
            <a:ext cx="8045640" cy="913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 Frames</a:t>
            </a:r>
            <a:endParaRPr b="0" i="0" sz="36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" name="Google Shape;26;p2"/>
          <p:cNvSpPr/>
          <p:nvPr/>
        </p:nvSpPr>
        <p:spPr>
          <a:xfrm>
            <a:off x="549000" y="1143000"/>
            <a:ext cx="7451280" cy="456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cap="none" strike="noStrike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rPr>
              <a:t>Ένα δικτυακό πλαίσιο αποτελείται από τρία κύρια μέρη:</a:t>
            </a:r>
            <a:endParaRPr b="0" i="0" sz="1300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" name="Google Shape;27;p2"/>
          <p:cNvSpPr/>
          <p:nvPr/>
        </p:nvSpPr>
        <p:spPr>
          <a:xfrm>
            <a:off x="549000" y="1515475"/>
            <a:ext cx="1914900" cy="1749000"/>
          </a:xfrm>
          <a:prstGeom prst="roundRect">
            <a:avLst>
              <a:gd fmla="val 16667" name="adj"/>
            </a:avLst>
          </a:prstGeom>
          <a:solidFill>
            <a:srgbClr val="161B22"/>
          </a:solidFill>
          <a:ln cap="flat" cmpd="sng" w="9525">
            <a:solidFill>
              <a:srgbClr val="ACB20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" name="Google Shape;28;p2"/>
          <p:cNvSpPr/>
          <p:nvPr/>
        </p:nvSpPr>
        <p:spPr>
          <a:xfrm>
            <a:off x="3033325" y="1515475"/>
            <a:ext cx="1965600" cy="1749000"/>
          </a:xfrm>
          <a:prstGeom prst="roundRect">
            <a:avLst>
              <a:gd fmla="val 16667" name="adj"/>
            </a:avLst>
          </a:prstGeom>
          <a:solidFill>
            <a:srgbClr val="161B22"/>
          </a:solidFill>
          <a:ln cap="flat" cmpd="sng" w="9525">
            <a:solidFill>
              <a:srgbClr val="3FAF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" name="Google Shape;29;p2"/>
          <p:cNvSpPr/>
          <p:nvPr/>
        </p:nvSpPr>
        <p:spPr>
          <a:xfrm>
            <a:off x="5437550" y="1515475"/>
            <a:ext cx="1834800" cy="1749000"/>
          </a:xfrm>
          <a:prstGeom prst="roundRect">
            <a:avLst>
              <a:gd fmla="val 16667" name="adj"/>
            </a:avLst>
          </a:prstGeom>
          <a:solidFill>
            <a:srgbClr val="161B22"/>
          </a:solidFill>
          <a:ln cap="flat" cmpd="sng" w="9525">
            <a:solidFill>
              <a:srgbClr val="A707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" name="Google Shape;30;p2"/>
          <p:cNvSpPr/>
          <p:nvPr/>
        </p:nvSpPr>
        <p:spPr>
          <a:xfrm>
            <a:off x="628925" y="1561200"/>
            <a:ext cx="1610700" cy="15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ACB20C"/>
                </a:solidFill>
                <a:latin typeface="Arial"/>
                <a:ea typeface="Arial"/>
                <a:cs typeface="Arial"/>
                <a:sym typeface="Arial"/>
              </a:rPr>
              <a:t>1. Header</a:t>
            </a:r>
            <a:endParaRPr b="0" i="0" sz="1200" u="none" cap="none" strike="noStrike">
              <a:solidFill>
                <a:srgbClr val="ACB20C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ACB20C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Περιέχει τη διεύθυνση MAC του παραλήπτη – Το Switch διαβάζει αυτό το κομμάτι για να αποφασίσει που θα σταλεί το Frame</a:t>
            </a:r>
            <a:endParaRPr b="0" i="0" sz="12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2"/>
          <p:cNvSpPr/>
          <p:nvPr/>
        </p:nvSpPr>
        <p:spPr>
          <a:xfrm>
            <a:off x="3033325" y="1561200"/>
            <a:ext cx="1834800" cy="15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FAF46"/>
                </a:solidFill>
                <a:latin typeface="Arial"/>
                <a:ea typeface="Arial"/>
                <a:cs typeface="Arial"/>
                <a:sym typeface="Arial"/>
              </a:rPr>
              <a:t>2. Payload</a:t>
            </a:r>
            <a:endParaRPr b="0" i="0" sz="1200" u="none" cap="none" strike="noStrike">
              <a:solidFill>
                <a:srgbClr val="3FAF4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3FAF46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Περιέχει τα δεδομένα και πακέτα απο υψηλότερα επίπεδου πρωτόκολλα.</a:t>
            </a:r>
            <a:endParaRPr b="0" i="0" sz="12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" name="Google Shape;32;p2"/>
          <p:cNvSpPr/>
          <p:nvPr/>
        </p:nvSpPr>
        <p:spPr>
          <a:xfrm>
            <a:off x="5532125" y="1599475"/>
            <a:ext cx="1479600" cy="120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A7074B"/>
                </a:solidFill>
                <a:latin typeface="Arial"/>
                <a:ea typeface="Arial"/>
                <a:cs typeface="Arial"/>
                <a:sym typeface="Arial"/>
              </a:rPr>
              <a:t>3. Trailer</a:t>
            </a:r>
            <a:endParaRPr b="0" i="0" sz="1200" u="none" cap="none" strike="noStrike">
              <a:solidFill>
                <a:srgbClr val="A7074B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A7074B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Σηματοδότη το τέλος του πλαισίου και έχει το CRC για την ανίχνευση σφαλμάτων κατά τη μεταφορά </a:t>
            </a:r>
            <a:endParaRPr b="0" i="0" sz="12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" name="Google Shape;33;p2"/>
          <p:cNvSpPr/>
          <p:nvPr/>
        </p:nvSpPr>
        <p:spPr>
          <a:xfrm>
            <a:off x="628926" y="3747513"/>
            <a:ext cx="6925800" cy="594900"/>
          </a:xfrm>
          <a:prstGeom prst="rect">
            <a:avLst/>
          </a:prstGeom>
          <a:solidFill>
            <a:srgbClr val="161B22"/>
          </a:solidFill>
          <a:ln cap="flat" cmpd="sng" w="12425">
            <a:solidFill>
              <a:srgbClr val="B7B3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8650" lIns="117300" spcFirstLastPara="1" rIns="117300" wrap="square" tIns="586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346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4" name="Google Shape;34;p2"/>
          <p:cNvCxnSpPr/>
          <p:nvPr/>
        </p:nvCxnSpPr>
        <p:spPr>
          <a:xfrm>
            <a:off x="3086606" y="3747513"/>
            <a:ext cx="600" cy="595800"/>
          </a:xfrm>
          <a:prstGeom prst="straightConnector1">
            <a:avLst/>
          </a:prstGeom>
          <a:noFill/>
          <a:ln cap="flat" cmpd="sng" w="12425">
            <a:solidFill>
              <a:srgbClr val="B7B3CA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5" name="Google Shape;35;p2"/>
          <p:cNvCxnSpPr/>
          <p:nvPr/>
        </p:nvCxnSpPr>
        <p:spPr>
          <a:xfrm>
            <a:off x="5768095" y="3747513"/>
            <a:ext cx="600" cy="595800"/>
          </a:xfrm>
          <a:prstGeom prst="straightConnector1">
            <a:avLst/>
          </a:prstGeom>
          <a:noFill/>
          <a:ln cap="flat" cmpd="sng" w="12425">
            <a:solidFill>
              <a:srgbClr val="B7B3C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6" name="Google Shape;36;p2"/>
          <p:cNvSpPr/>
          <p:nvPr/>
        </p:nvSpPr>
        <p:spPr>
          <a:xfrm>
            <a:off x="628926" y="3747513"/>
            <a:ext cx="892800" cy="415200"/>
          </a:xfrm>
          <a:prstGeom prst="rect">
            <a:avLst/>
          </a:prstGeom>
          <a:noFill/>
          <a:ln>
            <a:noFill/>
          </a:ln>
        </p:spPr>
        <p:txBody>
          <a:bodyPr anchorCtr="0" anchor="t" bIns="58650" lIns="117300" spcFirstLastPara="1" rIns="117300" wrap="square" tIns="586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043" u="sng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Frame </a:t>
            </a:r>
            <a:r>
              <a:rPr b="0" i="1" lang="en-US" sz="1043" u="sng" cap="none" strike="noStrike">
                <a:solidFill>
                  <a:srgbClr val="DDDDDD"/>
                </a:solidFill>
                <a:latin typeface="Arial"/>
                <a:ea typeface="Arial"/>
                <a:cs typeface="Arial"/>
                <a:sym typeface="Arial"/>
              </a:rPr>
              <a:t>Header</a:t>
            </a:r>
            <a:endParaRPr b="0" i="0" sz="1043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2"/>
          <p:cNvSpPr/>
          <p:nvPr/>
        </p:nvSpPr>
        <p:spPr>
          <a:xfrm>
            <a:off x="1298947" y="4014958"/>
            <a:ext cx="1488900" cy="266400"/>
          </a:xfrm>
          <a:prstGeom prst="rect">
            <a:avLst/>
          </a:prstGeom>
          <a:noFill/>
          <a:ln>
            <a:noFill/>
          </a:ln>
        </p:spPr>
        <p:txBody>
          <a:bodyPr anchorCtr="0" anchor="t" bIns="58650" lIns="117300" spcFirstLastPara="1" rIns="117300" wrap="square" tIns="586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43" u="none" cap="none" strike="noStrike">
                <a:solidFill>
                  <a:srgbClr val="81D41A"/>
                </a:solidFill>
                <a:latin typeface="Arial"/>
                <a:ea typeface="Arial"/>
                <a:cs typeface="Arial"/>
                <a:sym typeface="Arial"/>
              </a:rPr>
              <a:t>- to: </a:t>
            </a:r>
            <a:r>
              <a:rPr b="0" i="0" lang="en-US" sz="1043" u="none" cap="none" strike="noStrike">
                <a:solidFill>
                  <a:srgbClr val="FF4000"/>
                </a:solidFill>
                <a:latin typeface="Arial"/>
                <a:ea typeface="Arial"/>
                <a:cs typeface="Arial"/>
                <a:sym typeface="Arial"/>
              </a:rPr>
              <a:t>23:11:42:5a:ff:af</a:t>
            </a:r>
            <a:endParaRPr b="0" i="0" sz="1043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" name="Google Shape;38;p2"/>
          <p:cNvSpPr/>
          <p:nvPr/>
        </p:nvSpPr>
        <p:spPr>
          <a:xfrm>
            <a:off x="1298947" y="3747513"/>
            <a:ext cx="1721400" cy="266400"/>
          </a:xfrm>
          <a:prstGeom prst="rect">
            <a:avLst/>
          </a:prstGeom>
          <a:noFill/>
          <a:ln>
            <a:noFill/>
          </a:ln>
        </p:spPr>
        <p:txBody>
          <a:bodyPr anchorCtr="0" anchor="t" bIns="58650" lIns="117300" spcFirstLastPara="1" rIns="117300" wrap="square" tIns="586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43" u="none" cap="none" strike="noStrike">
                <a:solidFill>
                  <a:srgbClr val="81D41A"/>
                </a:solidFill>
                <a:latin typeface="Arial"/>
                <a:ea typeface="Arial"/>
                <a:cs typeface="Arial"/>
                <a:sym typeface="Arial"/>
              </a:rPr>
              <a:t>- from:</a:t>
            </a:r>
            <a:r>
              <a:rPr b="0" i="0" lang="en-US" sz="1043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1043" u="none" cap="none" strike="noStrike">
                <a:solidFill>
                  <a:srgbClr val="DEDCE6"/>
                </a:solidFill>
                <a:latin typeface="Arial"/>
                <a:ea typeface="Arial"/>
                <a:cs typeface="Arial"/>
                <a:sym typeface="Arial"/>
              </a:rPr>
              <a:t>84:15:4b:5c:01:dd</a:t>
            </a:r>
            <a:endParaRPr b="0" i="0" sz="1043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2"/>
          <p:cNvSpPr/>
          <p:nvPr/>
        </p:nvSpPr>
        <p:spPr>
          <a:xfrm>
            <a:off x="3086606" y="3747513"/>
            <a:ext cx="892800" cy="415200"/>
          </a:xfrm>
          <a:prstGeom prst="rect">
            <a:avLst/>
          </a:prstGeom>
          <a:noFill/>
          <a:ln>
            <a:noFill/>
          </a:ln>
        </p:spPr>
        <p:txBody>
          <a:bodyPr anchorCtr="0" anchor="t" bIns="58650" lIns="117300" spcFirstLastPara="1" rIns="117300" wrap="square" tIns="586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043" u="sng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Frame Data</a:t>
            </a:r>
            <a:endParaRPr b="0" i="0" sz="1043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" name="Google Shape;40;p2"/>
          <p:cNvSpPr/>
          <p:nvPr/>
        </p:nvSpPr>
        <p:spPr>
          <a:xfrm>
            <a:off x="3682492" y="3778011"/>
            <a:ext cx="1786800" cy="564600"/>
          </a:xfrm>
          <a:prstGeom prst="rect">
            <a:avLst/>
          </a:prstGeom>
          <a:noFill/>
          <a:ln>
            <a:noFill/>
          </a:ln>
        </p:spPr>
        <p:txBody>
          <a:bodyPr anchorCtr="0" anchor="t" bIns="58650" lIns="117300" spcFirstLastPara="1" rIns="117300" wrap="square" tIns="586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43" u="none" cap="none" strike="noStrike">
                <a:solidFill>
                  <a:srgbClr val="81D41A"/>
                </a:solidFill>
                <a:latin typeface="Arial"/>
                <a:ea typeface="Arial"/>
                <a:cs typeface="Arial"/>
                <a:sym typeface="Arial"/>
              </a:rPr>
              <a:t>User data: ( 10001010010101010)</a:t>
            </a:r>
            <a:endParaRPr b="0" i="0" sz="1043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Google Shape;41;p2"/>
          <p:cNvSpPr/>
          <p:nvPr/>
        </p:nvSpPr>
        <p:spPr>
          <a:xfrm>
            <a:off x="6363981" y="3927217"/>
            <a:ext cx="1488900" cy="415200"/>
          </a:xfrm>
          <a:prstGeom prst="rect">
            <a:avLst/>
          </a:prstGeom>
          <a:noFill/>
          <a:ln>
            <a:noFill/>
          </a:ln>
        </p:spPr>
        <p:txBody>
          <a:bodyPr anchorCtr="0" anchor="t" bIns="58650" lIns="117300" spcFirstLastPara="1" rIns="117300" wrap="square" tIns="586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43" u="none" cap="none" strike="noStrike">
                <a:solidFill>
                  <a:srgbClr val="81D41A"/>
                </a:solidFill>
                <a:latin typeface="Arial"/>
                <a:ea typeface="Arial"/>
                <a:cs typeface="Arial"/>
                <a:sym typeface="Arial"/>
              </a:rPr>
              <a:t>Frame Check Sequence (CRC)</a:t>
            </a:r>
            <a:endParaRPr b="0" i="0" sz="1043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" name="Google Shape;42;p2"/>
          <p:cNvSpPr/>
          <p:nvPr/>
        </p:nvSpPr>
        <p:spPr>
          <a:xfrm>
            <a:off x="5723990" y="3747513"/>
            <a:ext cx="936900" cy="415200"/>
          </a:xfrm>
          <a:prstGeom prst="rect">
            <a:avLst/>
          </a:prstGeom>
          <a:noFill/>
          <a:ln>
            <a:noFill/>
          </a:ln>
        </p:spPr>
        <p:txBody>
          <a:bodyPr anchorCtr="0" anchor="t" bIns="58650" lIns="117300" spcFirstLastPara="1" rIns="117300" wrap="square" tIns="586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043" u="sng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Frame Trailer</a:t>
            </a:r>
            <a:endParaRPr b="0" i="0" sz="1043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" name="Google Shape;43;p2"/>
          <p:cNvSpPr/>
          <p:nvPr/>
        </p:nvSpPr>
        <p:spPr>
          <a:xfrm>
            <a:off x="7448400" y="4953960"/>
            <a:ext cx="1694880" cy="18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00" u="none" cap="none" strike="noStrike">
                <a:solidFill>
                  <a:srgbClr val="A7074B"/>
                </a:solidFill>
                <a:latin typeface="Arial"/>
                <a:ea typeface="Arial"/>
                <a:cs typeface="Arial"/>
                <a:sym typeface="Arial"/>
              </a:rPr>
              <a:t>How_a_switch_works_6.pdf(117 - 118)</a:t>
            </a:r>
            <a:endParaRPr b="0" i="0" sz="7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3"/>
          <p:cNvSpPr/>
          <p:nvPr/>
        </p:nvSpPr>
        <p:spPr>
          <a:xfrm>
            <a:off x="411840" y="228960"/>
            <a:ext cx="8045640" cy="913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1.1 MAC</a:t>
            </a:r>
            <a:endParaRPr b="0" i="0" sz="36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" name="Google Shape;50;p3"/>
          <p:cNvSpPr/>
          <p:nvPr/>
        </p:nvSpPr>
        <p:spPr>
          <a:xfrm>
            <a:off x="685800" y="3817775"/>
            <a:ext cx="6769200" cy="780300"/>
          </a:xfrm>
          <a:prstGeom prst="roundRect">
            <a:avLst>
              <a:gd fmla="val 16667" name="adj"/>
            </a:avLst>
          </a:prstGeom>
          <a:solidFill>
            <a:srgbClr val="161B22"/>
          </a:solidFill>
          <a:ln cap="flat" cmpd="sng" w="10850">
            <a:solidFill>
              <a:srgbClr val="307E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1250" lIns="102500" spcFirstLastPara="1" rIns="102500" wrap="square" tIns="512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139" u="none" cap="none" strike="noStrike">
              <a:solidFill>
                <a:srgbClr val="B4780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" name="Google Shape;51;p3"/>
          <p:cNvSpPr/>
          <p:nvPr/>
        </p:nvSpPr>
        <p:spPr>
          <a:xfrm>
            <a:off x="685800" y="2057400"/>
            <a:ext cx="1821900" cy="1301100"/>
          </a:xfrm>
          <a:prstGeom prst="roundRect">
            <a:avLst>
              <a:gd fmla="val 16667" name="adj"/>
            </a:avLst>
          </a:prstGeom>
          <a:solidFill>
            <a:srgbClr val="161B22"/>
          </a:solidFill>
          <a:ln cap="flat" cmpd="sng" w="10850">
            <a:solidFill>
              <a:srgbClr val="ACB20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1250" lIns="102525" spcFirstLastPara="1" rIns="102525" wrap="square" tIns="512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" name="Google Shape;52;p3"/>
          <p:cNvSpPr/>
          <p:nvPr/>
        </p:nvSpPr>
        <p:spPr>
          <a:xfrm>
            <a:off x="5633122" y="2057400"/>
            <a:ext cx="1821900" cy="1301100"/>
          </a:xfrm>
          <a:prstGeom prst="roundRect">
            <a:avLst>
              <a:gd fmla="val 16667" name="adj"/>
            </a:avLst>
          </a:prstGeom>
          <a:solidFill>
            <a:srgbClr val="161B22"/>
          </a:solidFill>
          <a:ln cap="flat" cmpd="sng" w="10850">
            <a:solidFill>
              <a:srgbClr val="3FAF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1250" lIns="102525" spcFirstLastPara="1" rIns="102525" wrap="square" tIns="512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3"/>
          <p:cNvSpPr/>
          <p:nvPr/>
        </p:nvSpPr>
        <p:spPr>
          <a:xfrm>
            <a:off x="685800" y="4031448"/>
            <a:ext cx="7290000" cy="627300"/>
          </a:xfrm>
          <a:prstGeom prst="rect">
            <a:avLst/>
          </a:prstGeom>
          <a:noFill/>
          <a:ln>
            <a:noFill/>
          </a:ln>
        </p:spPr>
        <p:txBody>
          <a:bodyPr anchorCtr="0" anchor="t" bIns="51250" lIns="102500" spcFirstLastPara="1" rIns="102500" wrap="square" tIns="51250">
            <a:spAutoFit/>
          </a:bodyPr>
          <a:lstStyle/>
          <a:p>
            <a:pPr indent="-246029" lvl="0" marL="246029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13"/>
              <a:buFont typeface="Noto Sans Symbols"/>
              <a:buChar char="●"/>
            </a:pPr>
            <a:r>
              <a:rPr b="0" i="0" lang="en-US" sz="1139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Οι Διακόπτες δικτύου (Switches) λαμβάνουν αποφάσεις βάσει διευθύνσεων MAC (Layer 2) σε αντίθεσή με δρομολογητές (Routers) που χρησιμοποιούν IP (Layer 3)</a:t>
            </a:r>
            <a:endParaRPr b="0" i="0" sz="1139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3"/>
          <p:cNvSpPr/>
          <p:nvPr/>
        </p:nvSpPr>
        <p:spPr>
          <a:xfrm>
            <a:off x="457200" y="1143000"/>
            <a:ext cx="8228880" cy="913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cap="none" strike="noStrike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rPr>
              <a:t>Κάθε κάρτα δικτύου (NIC) έχει μια μοναδική "καμένη" διεύθυνση MAC που χρησιμοποιείται για την επικοινωνία στο τοπικό δίκτυο (LAN).</a:t>
            </a:r>
            <a:endParaRPr b="0" i="0" sz="1300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5" name="Google Shape;55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08463" y="2088974"/>
            <a:ext cx="1903068" cy="1269529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3"/>
          <p:cNvSpPr/>
          <p:nvPr/>
        </p:nvSpPr>
        <p:spPr>
          <a:xfrm>
            <a:off x="685800" y="2057400"/>
            <a:ext cx="1770900" cy="1561500"/>
          </a:xfrm>
          <a:prstGeom prst="rect">
            <a:avLst/>
          </a:prstGeom>
          <a:noFill/>
          <a:ln>
            <a:noFill/>
          </a:ln>
        </p:spPr>
        <p:txBody>
          <a:bodyPr anchorCtr="0" anchor="t" bIns="51250" lIns="102525" spcFirstLastPara="1" rIns="102525" wrap="square" tIns="512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39" u="none" cap="none" strike="noStrike">
                <a:solidFill>
                  <a:srgbClr val="ACB20C"/>
                </a:solidFill>
                <a:latin typeface="Arial"/>
                <a:ea typeface="Arial"/>
                <a:cs typeface="Arial"/>
                <a:sym typeface="Arial"/>
              </a:rPr>
              <a:t>OUI(24 bit)</a:t>
            </a:r>
            <a:endParaRPr b="0" i="0" sz="1139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11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“Organization unique identifier” : προσδιορίζει τον κατασκευαστή (π.χ. ASUS, Intel …) </a:t>
            </a:r>
            <a:endParaRPr b="0" i="0" sz="911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911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3"/>
          <p:cNvSpPr/>
          <p:nvPr/>
        </p:nvSpPr>
        <p:spPr>
          <a:xfrm>
            <a:off x="5633065" y="2057400"/>
            <a:ext cx="1680600" cy="1129800"/>
          </a:xfrm>
          <a:prstGeom prst="rect">
            <a:avLst/>
          </a:prstGeom>
          <a:noFill/>
          <a:ln>
            <a:noFill/>
          </a:ln>
        </p:spPr>
        <p:txBody>
          <a:bodyPr anchorCtr="0" anchor="t" bIns="51250" lIns="102525" spcFirstLastPara="1" rIns="102525" wrap="square" tIns="512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39" u="none" cap="none" strike="noStrike">
                <a:solidFill>
                  <a:srgbClr val="3FAF46"/>
                </a:solidFill>
                <a:latin typeface="Arial"/>
                <a:ea typeface="Arial"/>
                <a:cs typeface="Arial"/>
                <a:sym typeface="Arial"/>
              </a:rPr>
              <a:t>Vendor ID(24 bit)</a:t>
            </a:r>
            <a:endParaRPr b="0" i="0" sz="1139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11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Μοναδικός σειριακός αριθμός που ανατίθεται από τον κατασκευαστή στη συγκεκριμένη κάρτα.</a:t>
            </a:r>
            <a:endParaRPr b="0" i="0" sz="911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139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" name="Google Shape;58;p3"/>
          <p:cNvSpPr/>
          <p:nvPr/>
        </p:nvSpPr>
        <p:spPr>
          <a:xfrm>
            <a:off x="7668000" y="4953960"/>
            <a:ext cx="1475280" cy="18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00" u="none" cap="none" strike="noStrike">
                <a:solidFill>
                  <a:srgbClr val="A7074B"/>
                </a:solidFill>
                <a:latin typeface="Arial"/>
                <a:ea typeface="Arial"/>
                <a:cs typeface="Arial"/>
                <a:sym typeface="Arial"/>
              </a:rPr>
              <a:t>How_a_switch_works_6.pdf(118)</a:t>
            </a:r>
            <a:endParaRPr b="0" i="0" sz="7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4"/>
          <p:cNvSpPr/>
          <p:nvPr/>
        </p:nvSpPr>
        <p:spPr>
          <a:xfrm>
            <a:off x="548640" y="548640"/>
            <a:ext cx="8045640" cy="913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 Μέθοδοι Μετάδοσης</a:t>
            </a:r>
            <a:endParaRPr b="0" i="0" sz="36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4"/>
          <p:cNvSpPr/>
          <p:nvPr/>
        </p:nvSpPr>
        <p:spPr>
          <a:xfrm>
            <a:off x="548640" y="2057400"/>
            <a:ext cx="2455920" cy="2330640"/>
          </a:xfrm>
          <a:prstGeom prst="roundRect">
            <a:avLst>
              <a:gd fmla="val 16667" name="adj"/>
            </a:avLst>
          </a:prstGeom>
          <a:solidFill>
            <a:srgbClr val="161B22"/>
          </a:solidFill>
          <a:ln cap="flat" cmpd="sng" w="12700">
            <a:solidFill>
              <a:srgbClr val="ACB20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p4"/>
          <p:cNvSpPr/>
          <p:nvPr/>
        </p:nvSpPr>
        <p:spPr>
          <a:xfrm>
            <a:off x="818280" y="2290680"/>
            <a:ext cx="1916640" cy="465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ACB20C"/>
                </a:solidFill>
                <a:latin typeface="Calibri"/>
                <a:ea typeface="Calibri"/>
                <a:cs typeface="Calibri"/>
                <a:sym typeface="Calibri"/>
              </a:rPr>
              <a:t>Unicast — 1:1</a:t>
            </a:r>
            <a:endParaRPr b="0" i="0" sz="20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" name="Google Shape;67;p4"/>
          <p:cNvSpPr/>
          <p:nvPr/>
        </p:nvSpPr>
        <p:spPr>
          <a:xfrm>
            <a:off x="818280" y="2756880"/>
            <a:ext cx="1916640" cy="1397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-216000" lvl="0" marL="2160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40"/>
              <a:buFont typeface="Noto Sans Symbols"/>
              <a:buChar char="●"/>
            </a:pPr>
            <a:r>
              <a:rPr b="0" i="0" lang="en-US" sz="1200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Ξεχωριστή ροή δεδομένων για κάθε παραλήπτη. </a:t>
            </a:r>
            <a:endParaRPr b="0" i="0" sz="12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16000" lvl="0" marL="2160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40"/>
              <a:buFont typeface="Noto Sans Symbols"/>
              <a:buChar char="●"/>
            </a:pPr>
            <a:r>
              <a:rPr b="0" i="0" lang="en-US" sz="1200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Κατακλύζει το δίκτυο με διπλότυπη κίνηση.</a:t>
            </a:r>
            <a:endParaRPr b="0" i="0" sz="12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4"/>
          <p:cNvSpPr/>
          <p:nvPr/>
        </p:nvSpPr>
        <p:spPr>
          <a:xfrm>
            <a:off x="3275280" y="2057400"/>
            <a:ext cx="2455920" cy="2330640"/>
          </a:xfrm>
          <a:prstGeom prst="roundRect">
            <a:avLst>
              <a:gd fmla="val 16667" name="adj"/>
            </a:avLst>
          </a:prstGeom>
          <a:solidFill>
            <a:srgbClr val="161B22"/>
          </a:solidFill>
          <a:ln cap="flat" cmpd="sng" w="12700">
            <a:solidFill>
              <a:srgbClr val="3FAF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4"/>
          <p:cNvSpPr/>
          <p:nvPr/>
        </p:nvSpPr>
        <p:spPr>
          <a:xfrm>
            <a:off x="3544920" y="2290680"/>
            <a:ext cx="1916640" cy="465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3FAF46"/>
                </a:solidFill>
                <a:latin typeface="Calibri"/>
                <a:ea typeface="Calibri"/>
                <a:cs typeface="Calibri"/>
                <a:sym typeface="Calibri"/>
              </a:rPr>
              <a:t>Multicast — 1:N</a:t>
            </a:r>
            <a:endParaRPr b="0" i="0" sz="20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4"/>
          <p:cNvSpPr/>
          <p:nvPr/>
        </p:nvSpPr>
        <p:spPr>
          <a:xfrm>
            <a:off x="3544920" y="2756880"/>
            <a:ext cx="1916640" cy="1397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Το πλαίσιο αντιγράφεται μόνο για συγκεκριμένο υποσύνολο κόμβων. </a:t>
            </a:r>
            <a:endParaRPr b="0" i="0" sz="12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p4"/>
          <p:cNvSpPr/>
          <p:nvPr/>
        </p:nvSpPr>
        <p:spPr>
          <a:xfrm>
            <a:off x="6001560" y="2057400"/>
            <a:ext cx="2455920" cy="2330640"/>
          </a:xfrm>
          <a:prstGeom prst="roundRect">
            <a:avLst>
              <a:gd fmla="val 16667" name="adj"/>
            </a:avLst>
          </a:prstGeom>
          <a:solidFill>
            <a:srgbClr val="161B22"/>
          </a:solidFill>
          <a:ln cap="flat" cmpd="sng" w="12700">
            <a:solidFill>
              <a:srgbClr val="A707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p4"/>
          <p:cNvSpPr/>
          <p:nvPr/>
        </p:nvSpPr>
        <p:spPr>
          <a:xfrm>
            <a:off x="6271200" y="2290680"/>
            <a:ext cx="1916640" cy="465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A7074B"/>
                </a:solidFill>
                <a:latin typeface="Calibri"/>
                <a:ea typeface="Calibri"/>
                <a:cs typeface="Calibri"/>
                <a:sym typeface="Calibri"/>
              </a:rPr>
              <a:t>Broadcast — 1:ALL</a:t>
            </a:r>
            <a:endParaRPr b="0" i="0" sz="20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" name="Google Shape;73;p4"/>
          <p:cNvSpPr/>
          <p:nvPr/>
        </p:nvSpPr>
        <p:spPr>
          <a:xfrm>
            <a:off x="6271200" y="2756880"/>
            <a:ext cx="1916640" cy="1397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Αποστολή σε όλους τους κόμβους του τμήματος. Χρησιμοποιείται από το ARP.</a:t>
            </a:r>
            <a:endParaRPr b="0" i="0" sz="12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4"/>
          <p:cNvSpPr/>
          <p:nvPr/>
        </p:nvSpPr>
        <p:spPr>
          <a:xfrm>
            <a:off x="7668000" y="4855320"/>
            <a:ext cx="1475280" cy="287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00" u="none" cap="none" strike="noStrike">
                <a:solidFill>
                  <a:srgbClr val="A7074B"/>
                </a:solidFill>
                <a:latin typeface="Arial"/>
                <a:ea typeface="Arial"/>
                <a:cs typeface="Arial"/>
                <a:sym typeface="Arial"/>
              </a:rPr>
              <a:t>How_a_switch_works_6.pdf(119</a:t>
            </a:r>
            <a:r>
              <a:rPr lang="en-US" sz="700">
                <a:solidFill>
                  <a:srgbClr val="A7074B"/>
                </a:solidFill>
              </a:rPr>
              <a:t>,</a:t>
            </a:r>
            <a:r>
              <a:rPr b="0" i="0" lang="en-US" sz="700" u="none" cap="none" strike="noStrike">
                <a:solidFill>
                  <a:srgbClr val="A7074B"/>
                </a:solidFill>
                <a:latin typeface="Arial"/>
                <a:ea typeface="Arial"/>
                <a:cs typeface="Arial"/>
                <a:sym typeface="Arial"/>
              </a:rPr>
              <a:t> 120, 121)</a:t>
            </a:r>
            <a:endParaRPr b="0" i="0" sz="7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5"/>
          <p:cNvSpPr/>
          <p:nvPr/>
        </p:nvSpPr>
        <p:spPr>
          <a:xfrm>
            <a:off x="548640" y="548640"/>
            <a:ext cx="8045700" cy="91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3. Μεγέθη Πλαισίων και MTU</a:t>
            </a:r>
            <a:endParaRPr b="0" i="0" sz="36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5"/>
          <p:cNvSpPr/>
          <p:nvPr/>
        </p:nvSpPr>
        <p:spPr>
          <a:xfrm>
            <a:off x="7503120" y="4953960"/>
            <a:ext cx="1868700" cy="18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00" u="none" cap="none" strike="noStrike">
                <a:solidFill>
                  <a:srgbClr val="A7074B"/>
                </a:solidFill>
                <a:latin typeface="Arial"/>
                <a:ea typeface="Arial"/>
                <a:cs typeface="Arial"/>
                <a:sym typeface="Arial"/>
              </a:rPr>
              <a:t>How_a_switch_works_6.pdf(121,122)</a:t>
            </a:r>
            <a:endParaRPr b="0" i="0" sz="7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5"/>
          <p:cNvSpPr txBox="1"/>
          <p:nvPr/>
        </p:nvSpPr>
        <p:spPr>
          <a:xfrm>
            <a:off x="571500" y="1333500"/>
            <a:ext cx="8001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rPr>
              <a:t>Το μέγεθος του πλαισίου (Frame size) μετριέται σε byte και έχει ένα ελάχιστο και ένα μέγιστο μήκος, ανάλογα με την τεχνολογία.</a:t>
            </a:r>
            <a:endParaRPr sz="1400">
              <a:solidFill>
                <a:srgbClr val="E6EDF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83" name="Google Shape;83;p5"/>
          <p:cNvGrpSpPr/>
          <p:nvPr/>
        </p:nvGrpSpPr>
        <p:grpSpPr>
          <a:xfrm>
            <a:off x="571500" y="2000250"/>
            <a:ext cx="8001150" cy="952500"/>
            <a:chOff x="571500" y="2000250"/>
            <a:chExt cx="8001150" cy="952500"/>
          </a:xfrm>
        </p:grpSpPr>
        <p:sp>
          <p:nvSpPr>
            <p:cNvPr id="84" name="Google Shape;84;p5"/>
            <p:cNvSpPr/>
            <p:nvPr/>
          </p:nvSpPr>
          <p:spPr>
            <a:xfrm>
              <a:off x="571500" y="2000250"/>
              <a:ext cx="3905400" cy="952500"/>
            </a:xfrm>
            <a:prstGeom prst="roundRect">
              <a:avLst>
                <a:gd fmla="val 12000" name="adj"/>
              </a:avLst>
            </a:prstGeom>
            <a:solidFill>
              <a:srgbClr val="161B22"/>
            </a:solidFill>
            <a:ln cap="flat" cmpd="sng" w="9525">
              <a:solidFill>
                <a:srgbClr val="307ED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5"/>
            <p:cNvSpPr txBox="1"/>
            <p:nvPr/>
          </p:nvSpPr>
          <p:spPr>
            <a:xfrm>
              <a:off x="762000" y="2095500"/>
              <a:ext cx="35244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00" u="sng">
                  <a:solidFill>
                    <a:srgbClr val="ACB20C"/>
                  </a:solidFill>
                  <a:latin typeface="Calibri"/>
                  <a:ea typeface="Calibri"/>
                  <a:cs typeface="Calibri"/>
                  <a:sym typeface="Calibri"/>
                </a:rPr>
                <a:t>Ethernet</a:t>
              </a:r>
              <a:endParaRPr b="1" sz="1600" u="sng">
                <a:solidFill>
                  <a:srgbClr val="ACB20C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rgbClr val="E6EDF3"/>
                  </a:solidFill>
                  <a:latin typeface="Calibri"/>
                  <a:ea typeface="Calibri"/>
                  <a:cs typeface="Calibri"/>
                  <a:sym typeface="Calibri"/>
                </a:rPr>
                <a:t>• min: 64 bytes (4-byte NEC)</a:t>
              </a:r>
              <a:endParaRPr sz="1200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rgbClr val="E6EDF3"/>
                  </a:solidFill>
                  <a:latin typeface="Calibri"/>
                  <a:ea typeface="Calibri"/>
                  <a:cs typeface="Calibri"/>
                  <a:sym typeface="Calibri"/>
                </a:rPr>
                <a:t>• max: 1518 bytes</a:t>
              </a:r>
              <a:endParaRPr sz="1200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6" name="Google Shape;86;p5"/>
            <p:cNvSpPr/>
            <p:nvPr/>
          </p:nvSpPr>
          <p:spPr>
            <a:xfrm>
              <a:off x="4667250" y="2000250"/>
              <a:ext cx="3905400" cy="952500"/>
            </a:xfrm>
            <a:prstGeom prst="roundRect">
              <a:avLst>
                <a:gd fmla="val 12000" name="adj"/>
              </a:avLst>
            </a:prstGeom>
            <a:solidFill>
              <a:srgbClr val="161B22"/>
            </a:solidFill>
            <a:ln cap="flat" cmpd="sng" w="9525">
              <a:solidFill>
                <a:srgbClr val="307ED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5"/>
            <p:cNvSpPr txBox="1"/>
            <p:nvPr/>
          </p:nvSpPr>
          <p:spPr>
            <a:xfrm>
              <a:off x="4857750" y="2095500"/>
              <a:ext cx="35244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00" u="sng">
                  <a:solidFill>
                    <a:srgbClr val="3FAF46"/>
                  </a:solidFill>
                  <a:latin typeface="Calibri"/>
                  <a:ea typeface="Calibri"/>
                  <a:cs typeface="Calibri"/>
                  <a:sym typeface="Calibri"/>
                </a:rPr>
                <a:t>Token Ring</a:t>
              </a:r>
              <a:endParaRPr b="1" sz="1600" u="sng">
                <a:solidFill>
                  <a:srgbClr val="3FAF46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rgbClr val="E6EDF3"/>
                  </a:solidFill>
                  <a:latin typeface="Calibri"/>
                  <a:ea typeface="Calibri"/>
                  <a:cs typeface="Calibri"/>
                  <a:sym typeface="Calibri"/>
                </a:rPr>
                <a:t>• min: 32 bytes</a:t>
              </a:r>
              <a:endParaRPr sz="1200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rgbClr val="E6EDF3"/>
                  </a:solidFill>
                  <a:latin typeface="Calibri"/>
                  <a:ea typeface="Calibri"/>
                  <a:cs typeface="Calibri"/>
                  <a:sym typeface="Calibri"/>
                </a:rPr>
                <a:t>• max: 16 KB</a:t>
              </a:r>
              <a:endParaRPr sz="1200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8" name="Google Shape;88;p5"/>
          <p:cNvGrpSpPr/>
          <p:nvPr/>
        </p:nvGrpSpPr>
        <p:grpSpPr>
          <a:xfrm>
            <a:off x="571500" y="3095625"/>
            <a:ext cx="8001000" cy="1143000"/>
            <a:chOff x="571500" y="3095625"/>
            <a:chExt cx="8001000" cy="1143000"/>
          </a:xfrm>
        </p:grpSpPr>
        <p:sp>
          <p:nvSpPr>
            <p:cNvPr id="89" name="Google Shape;89;p5"/>
            <p:cNvSpPr/>
            <p:nvPr/>
          </p:nvSpPr>
          <p:spPr>
            <a:xfrm>
              <a:off x="571500" y="3095625"/>
              <a:ext cx="8001000" cy="1143000"/>
            </a:xfrm>
            <a:prstGeom prst="roundRect">
              <a:avLst>
                <a:gd fmla="val 10000" name="adj"/>
              </a:avLst>
            </a:prstGeom>
            <a:solidFill>
              <a:srgbClr val="161B22"/>
            </a:solidFill>
            <a:ln cap="flat" cmpd="sng" w="9525">
              <a:solidFill>
                <a:srgbClr val="307ED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" name="Google Shape;90;p5"/>
            <p:cNvSpPr txBox="1"/>
            <p:nvPr/>
          </p:nvSpPr>
          <p:spPr>
            <a:xfrm>
              <a:off x="762000" y="3190875"/>
              <a:ext cx="76200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rgbClr val="A7074B"/>
                  </a:solidFill>
                  <a:latin typeface="Calibri"/>
                  <a:ea typeface="Calibri"/>
                  <a:cs typeface="Calibri"/>
                  <a:sym typeface="Calibri"/>
                </a:rPr>
                <a:t>Runts:</a:t>
              </a:r>
              <a:r>
                <a:rPr lang="en-US" sz="1200">
                  <a:solidFill>
                    <a:srgbClr val="E6EDF3"/>
                  </a:solidFill>
                  <a:latin typeface="Calibri"/>
                  <a:ea typeface="Calibri"/>
                  <a:cs typeface="Calibri"/>
                  <a:sym typeface="Calibri"/>
                </a:rPr>
                <a:t> Είναι Frame μικρότερο από το ελάχιστο επιτρεπόμενο μέγεθος → απορρίπτονται αυτόματα</a:t>
              </a:r>
              <a:endParaRPr sz="1200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rgbClr val="A7074B"/>
                  </a:solidFill>
                  <a:latin typeface="Calibri"/>
                  <a:ea typeface="Calibri"/>
                  <a:cs typeface="Calibri"/>
                  <a:sym typeface="Calibri"/>
                </a:rPr>
                <a:t>Giants:</a:t>
              </a:r>
              <a:r>
                <a:rPr lang="en-US" sz="1200">
                  <a:solidFill>
                    <a:srgbClr val="E6EDF3"/>
                  </a:solidFill>
                  <a:latin typeface="Calibri"/>
                  <a:ea typeface="Calibri"/>
                  <a:cs typeface="Calibri"/>
                  <a:sym typeface="Calibri"/>
                </a:rPr>
                <a:t> Είναι Frame μεγαλύτερο από το μέγιστο επιτρεπόμενο μέγεθος </a:t>
              </a:r>
              <a:r>
                <a:rPr lang="en-US" sz="12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→ απαιτούν κατακερματισμό</a:t>
              </a:r>
              <a:endParaRPr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rgbClr val="307ED7"/>
                  </a:solidFill>
                  <a:latin typeface="Calibri"/>
                  <a:ea typeface="Calibri"/>
                  <a:cs typeface="Calibri"/>
                  <a:sym typeface="Calibri"/>
                </a:rPr>
                <a:t>MTU (Maximum Transmission Unit):</a:t>
              </a:r>
              <a:r>
                <a:rPr lang="en-US" sz="1200">
                  <a:solidFill>
                    <a:srgbClr val="E6EDF3"/>
                  </a:solidFill>
                  <a:latin typeface="Calibri"/>
                  <a:ea typeface="Calibri"/>
                  <a:cs typeface="Calibri"/>
                  <a:sym typeface="Calibri"/>
                </a:rPr>
                <a:t> Το μέγιστο μήκος πλαισίου ανά τεχνολογία</a:t>
              </a:r>
              <a:endParaRPr sz="1200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6" name="Google Shape;96;p6"/>
          <p:cNvGrpSpPr/>
          <p:nvPr/>
        </p:nvGrpSpPr>
        <p:grpSpPr>
          <a:xfrm>
            <a:off x="548640" y="381000"/>
            <a:ext cx="8045700" cy="762000"/>
            <a:chOff x="548640" y="381000"/>
            <a:chExt cx="8045700" cy="762000"/>
          </a:xfrm>
        </p:grpSpPr>
        <p:sp>
          <p:nvSpPr>
            <p:cNvPr id="97" name="Google Shape;97;p6"/>
            <p:cNvSpPr/>
            <p:nvPr/>
          </p:nvSpPr>
          <p:spPr>
            <a:xfrm>
              <a:off x="548640" y="381000"/>
              <a:ext cx="8045700" cy="762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" name="Google Shape;98;p6"/>
            <p:cNvSpPr txBox="1"/>
            <p:nvPr/>
          </p:nvSpPr>
          <p:spPr>
            <a:xfrm>
              <a:off x="548640" y="381000"/>
              <a:ext cx="80457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36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4. Μεταγωγή Store-and-Forward</a:t>
              </a:r>
              <a:endParaRPr b="1" sz="3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9" name="Google Shape;99;p6"/>
          <p:cNvGrpSpPr/>
          <p:nvPr/>
        </p:nvGrpSpPr>
        <p:grpSpPr>
          <a:xfrm>
            <a:off x="548650" y="1558289"/>
            <a:ext cx="8045700" cy="1009669"/>
            <a:chOff x="548640" y="1238250"/>
            <a:chExt cx="8045700" cy="1714500"/>
          </a:xfrm>
        </p:grpSpPr>
        <p:sp>
          <p:nvSpPr>
            <p:cNvPr id="100" name="Google Shape;100;p6"/>
            <p:cNvSpPr/>
            <p:nvPr/>
          </p:nvSpPr>
          <p:spPr>
            <a:xfrm>
              <a:off x="548640" y="1238250"/>
              <a:ext cx="8045700" cy="1714500"/>
            </a:xfrm>
            <a:prstGeom prst="roundRect">
              <a:avLst>
                <a:gd fmla="val 6666" name="adj"/>
              </a:avLst>
            </a:prstGeom>
            <a:solidFill>
              <a:srgbClr val="161B22"/>
            </a:solidFill>
            <a:ln cap="flat" cmpd="sng" w="9525">
              <a:solidFill>
                <a:srgbClr val="307ED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" name="Google Shape;101;p6"/>
            <p:cNvSpPr txBox="1"/>
            <p:nvPr/>
          </p:nvSpPr>
          <p:spPr>
            <a:xfrm>
              <a:off x="739140" y="1381125"/>
              <a:ext cx="7664700" cy="142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-304800" lvl="0" marL="457200" rtl="0" algn="l">
                <a:spcBef>
                  <a:spcPts val="0"/>
                </a:spcBef>
                <a:spcAft>
                  <a:spcPts val="0"/>
                </a:spcAft>
                <a:buClr>
                  <a:srgbClr val="E6EDF3"/>
                </a:buClr>
                <a:buSzPts val="1200"/>
                <a:buFont typeface="Calibri"/>
                <a:buChar char="●"/>
              </a:pPr>
              <a:r>
                <a:rPr lang="en-US" sz="1200">
                  <a:solidFill>
                    <a:srgbClr val="E6EDF3"/>
                  </a:solidFill>
                  <a:latin typeface="Calibri"/>
                  <a:ea typeface="Calibri"/>
                  <a:cs typeface="Calibri"/>
                  <a:sym typeface="Calibri"/>
                </a:rPr>
                <a:t>Αντιγράφει το πλήρες πλαίσιο στη μνήμη </a:t>
              </a:r>
              <a:r>
                <a:rPr lang="en-US" sz="1200">
                  <a:solidFill>
                    <a:srgbClr val="E6EDF3"/>
                  </a:solidFill>
                  <a:latin typeface="Calibri"/>
                  <a:ea typeface="Calibri"/>
                  <a:cs typeface="Calibri"/>
                  <a:sym typeface="Calibri"/>
                </a:rPr>
                <a:t>“</a:t>
              </a:r>
              <a:r>
                <a:rPr lang="en-US" sz="1200">
                  <a:solidFill>
                    <a:srgbClr val="E6EDF3"/>
                  </a:solidFill>
                  <a:latin typeface="Calibri"/>
                  <a:ea typeface="Calibri"/>
                  <a:cs typeface="Calibri"/>
                  <a:sym typeface="Calibri"/>
                </a:rPr>
                <a:t>buffer</a:t>
              </a:r>
              <a:r>
                <a:rPr lang="en-US" sz="1200">
                  <a:solidFill>
                    <a:srgbClr val="E6EDF3"/>
                  </a:solidFill>
                  <a:latin typeface="Calibri"/>
                  <a:ea typeface="Calibri"/>
                  <a:cs typeface="Calibri"/>
                  <a:sym typeface="Calibri"/>
                </a:rPr>
                <a:t>”</a:t>
              </a:r>
              <a:r>
                <a:rPr lang="en-US" sz="1200">
                  <a:solidFill>
                    <a:srgbClr val="E6EDF3"/>
                  </a:solidFill>
                  <a:latin typeface="Calibri"/>
                  <a:ea typeface="Calibri"/>
                  <a:cs typeface="Calibri"/>
                  <a:sym typeface="Calibri"/>
                </a:rPr>
                <a:t> πριν από οποιαδήποτε ενέργεια</a:t>
              </a:r>
              <a:endParaRPr sz="1200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304800" lvl="0" marL="457200" rtl="0" algn="l">
                <a:spcBef>
                  <a:spcPts val="0"/>
                </a:spcBef>
                <a:spcAft>
                  <a:spcPts val="0"/>
                </a:spcAft>
                <a:buClr>
                  <a:srgbClr val="E6EDF3"/>
                </a:buClr>
                <a:buSzPts val="1200"/>
                <a:buFont typeface="Calibri"/>
                <a:buChar char="●"/>
              </a:pPr>
              <a:r>
                <a:rPr lang="en-US" sz="1200">
                  <a:solidFill>
                    <a:srgbClr val="E6EDF3"/>
                  </a:solidFill>
                  <a:latin typeface="Calibri"/>
                  <a:ea typeface="Calibri"/>
                  <a:cs typeface="Calibri"/>
                  <a:sym typeface="Calibri"/>
                </a:rPr>
                <a:t>Υπολογίζει CRC (Cyclic Redundancy Check) — ανιχνεύει σφάλματα μετάδοσης</a:t>
              </a:r>
              <a:endParaRPr sz="1200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304800" lvl="0" marL="457200" rtl="0" algn="l">
                <a:spcBef>
                  <a:spcPts val="0"/>
                </a:spcBef>
                <a:spcAft>
                  <a:spcPts val="0"/>
                </a:spcAft>
                <a:buClr>
                  <a:srgbClr val="E6EDF3"/>
                </a:buClr>
                <a:buSzPts val="1200"/>
                <a:buFont typeface="Calibri"/>
                <a:buChar char="●"/>
              </a:pPr>
              <a:r>
                <a:rPr lang="en-US" sz="1200">
                  <a:solidFill>
                    <a:srgbClr val="E6EDF3"/>
                  </a:solidFill>
                  <a:latin typeface="Calibri"/>
                  <a:ea typeface="Calibri"/>
                  <a:cs typeface="Calibri"/>
                  <a:sym typeface="Calibri"/>
                </a:rPr>
                <a:t>Απορρίπτει: πλαίσια με σφάλμα CRC, runts (&lt; 64 bytes) &amp; giants (&gt; 1518 bytes)</a:t>
              </a:r>
              <a:endParaRPr sz="1200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304800" lvl="0" marL="457200" rtl="0" algn="l">
                <a:spcBef>
                  <a:spcPts val="0"/>
                </a:spcBef>
                <a:spcAft>
                  <a:spcPts val="0"/>
                </a:spcAft>
                <a:buClr>
                  <a:srgbClr val="E6EDF3"/>
                </a:buClr>
                <a:buSzPts val="1200"/>
                <a:buFont typeface="Calibri"/>
                <a:buChar char="●"/>
              </a:pPr>
              <a:r>
                <a:rPr lang="en-US" sz="1200">
                  <a:solidFill>
                    <a:srgbClr val="E6EDF3"/>
                  </a:solidFill>
                  <a:latin typeface="Calibri"/>
                  <a:ea typeface="Calibri"/>
                  <a:cs typeface="Calibri"/>
                  <a:sym typeface="Calibri"/>
                </a:rPr>
                <a:t>Μόνο τα έγκυρα πλαίσια προωθούνται στη σωστή θύρα εξόδου</a:t>
              </a:r>
              <a:endParaRPr sz="1200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2" name="Google Shape;102;p6"/>
          <p:cNvGrpSpPr/>
          <p:nvPr/>
        </p:nvGrpSpPr>
        <p:grpSpPr>
          <a:xfrm>
            <a:off x="548715" y="2983250"/>
            <a:ext cx="3879900" cy="1524000"/>
            <a:chOff x="-2720335" y="3417550"/>
            <a:chExt cx="3879900" cy="1524000"/>
          </a:xfrm>
        </p:grpSpPr>
        <p:sp>
          <p:nvSpPr>
            <p:cNvPr id="103" name="Google Shape;103;p6"/>
            <p:cNvSpPr/>
            <p:nvPr/>
          </p:nvSpPr>
          <p:spPr>
            <a:xfrm>
              <a:off x="-2720335" y="3417550"/>
              <a:ext cx="3879900" cy="1524000"/>
            </a:xfrm>
            <a:prstGeom prst="roundRect">
              <a:avLst>
                <a:gd fmla="val 7500" name="adj"/>
              </a:avLst>
            </a:prstGeom>
            <a:solidFill>
              <a:srgbClr val="161B22"/>
            </a:solidFill>
            <a:ln cap="flat" cmpd="sng" w="9525">
              <a:solidFill>
                <a:srgbClr val="3FAF4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" name="Google Shape;104;p6"/>
            <p:cNvSpPr txBox="1"/>
            <p:nvPr/>
          </p:nvSpPr>
          <p:spPr>
            <a:xfrm>
              <a:off x="-2529835" y="3606075"/>
              <a:ext cx="3498900" cy="1238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rgbClr val="3FAF46"/>
                  </a:solidFill>
                  <a:latin typeface="Calibri"/>
                  <a:ea typeface="Calibri"/>
                  <a:cs typeface="Calibri"/>
                  <a:sym typeface="Calibri"/>
                </a:rPr>
                <a:t>Πλεονεκτήματα</a:t>
              </a:r>
              <a:endParaRPr b="1" sz="1200">
                <a:solidFill>
                  <a:srgbClr val="3FAF46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rgbClr val="E6EDF3"/>
                  </a:solidFill>
                  <a:latin typeface="Calibri"/>
                  <a:ea typeface="Calibri"/>
                  <a:cs typeface="Calibri"/>
                  <a:sym typeface="Calibri"/>
                </a:rPr>
                <a:t>Διασφαλίζει κίνηση χωρίς σφάλματα και υποστηρίζει QoS (Quality of Service).</a:t>
              </a:r>
              <a:endParaRPr sz="1200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5" name="Google Shape;105;p6"/>
          <p:cNvGrpSpPr/>
          <p:nvPr/>
        </p:nvGrpSpPr>
        <p:grpSpPr>
          <a:xfrm>
            <a:off x="4714379" y="2983250"/>
            <a:ext cx="3879900" cy="1524000"/>
            <a:chOff x="4714304" y="3143250"/>
            <a:chExt cx="3879900" cy="1524000"/>
          </a:xfrm>
        </p:grpSpPr>
        <p:sp>
          <p:nvSpPr>
            <p:cNvPr id="106" name="Google Shape;106;p6"/>
            <p:cNvSpPr/>
            <p:nvPr/>
          </p:nvSpPr>
          <p:spPr>
            <a:xfrm>
              <a:off x="4714304" y="3143250"/>
              <a:ext cx="3879900" cy="1524000"/>
            </a:xfrm>
            <a:prstGeom prst="roundRect">
              <a:avLst>
                <a:gd fmla="val 7500" name="adj"/>
              </a:avLst>
            </a:prstGeom>
            <a:solidFill>
              <a:srgbClr val="161B22"/>
            </a:solidFill>
            <a:ln cap="flat" cmpd="sng" w="9525">
              <a:solidFill>
                <a:srgbClr val="A7074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" name="Google Shape;107;p6"/>
            <p:cNvSpPr txBox="1"/>
            <p:nvPr/>
          </p:nvSpPr>
          <p:spPr>
            <a:xfrm>
              <a:off x="4904804" y="3286125"/>
              <a:ext cx="3498900" cy="1238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rgbClr val="A7074B"/>
                  </a:solidFill>
                  <a:latin typeface="Calibri"/>
                  <a:ea typeface="Calibri"/>
                  <a:cs typeface="Calibri"/>
                  <a:sym typeface="Calibri"/>
                </a:rPr>
                <a:t>Μειονεκτήματα</a:t>
              </a:r>
              <a:endParaRPr b="1" sz="1200">
                <a:solidFill>
                  <a:srgbClr val="A7074B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rgbClr val="E6EDF3"/>
                  </a:solidFill>
                  <a:latin typeface="Calibri"/>
                  <a:ea typeface="Calibri"/>
                  <a:cs typeface="Calibri"/>
                  <a:sym typeface="Calibri"/>
                </a:rPr>
                <a:t>Υψηλότερη καθυστέρηση. Απαιτεί περισσότερη μνήμη και </a:t>
              </a:r>
              <a:r>
                <a:rPr lang="en-US" sz="1200">
                  <a:solidFill>
                    <a:srgbClr val="E6EDF3"/>
                  </a:solidFill>
                  <a:latin typeface="Calibri"/>
                  <a:ea typeface="Calibri"/>
                  <a:cs typeface="Calibri"/>
                  <a:sym typeface="Calibri"/>
                </a:rPr>
                <a:t>CPU </a:t>
              </a:r>
              <a:r>
                <a:rPr lang="en-US" sz="1200">
                  <a:solidFill>
                    <a:srgbClr val="E6EDF3"/>
                  </a:solidFill>
                  <a:latin typeface="Calibri"/>
                  <a:ea typeface="Calibri"/>
                  <a:cs typeface="Calibri"/>
                  <a:sym typeface="Calibri"/>
                </a:rPr>
                <a:t>κύκλους.</a:t>
              </a:r>
              <a:endParaRPr sz="1200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8" name="Google Shape;108;p6"/>
          <p:cNvSpPr txBox="1"/>
          <p:nvPr/>
        </p:nvSpPr>
        <p:spPr>
          <a:xfrm>
            <a:off x="7398900" y="4851000"/>
            <a:ext cx="18975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>
                <a:solidFill>
                  <a:srgbClr val="A7074B"/>
                </a:solidFill>
              </a:rPr>
              <a:t>How_a_switch_works_6.pdf(123, 124)</a:t>
            </a:r>
            <a:endParaRPr sz="7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7"/>
          <p:cNvSpPr/>
          <p:nvPr/>
        </p:nvSpPr>
        <p:spPr>
          <a:xfrm>
            <a:off x="548640" y="381000"/>
            <a:ext cx="8045700" cy="762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5. Μεταγωγή Cut-Through</a:t>
            </a:r>
            <a:endParaRPr b="1" sz="36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15" name="Google Shape;115;p7"/>
          <p:cNvGrpSpPr/>
          <p:nvPr/>
        </p:nvGrpSpPr>
        <p:grpSpPr>
          <a:xfrm>
            <a:off x="519450" y="1846325"/>
            <a:ext cx="8105100" cy="1058876"/>
            <a:chOff x="513190" y="1659570"/>
            <a:chExt cx="8105100" cy="1285200"/>
          </a:xfrm>
        </p:grpSpPr>
        <p:sp>
          <p:nvSpPr>
            <p:cNvPr id="116" name="Google Shape;116;p7"/>
            <p:cNvSpPr/>
            <p:nvPr/>
          </p:nvSpPr>
          <p:spPr>
            <a:xfrm>
              <a:off x="513190" y="1659570"/>
              <a:ext cx="8105100" cy="1285200"/>
            </a:xfrm>
            <a:prstGeom prst="roundRect">
              <a:avLst>
                <a:gd fmla="val 8000" name="adj"/>
              </a:avLst>
            </a:prstGeom>
            <a:solidFill>
              <a:srgbClr val="161B22"/>
            </a:solidFill>
            <a:ln cap="flat" cmpd="sng" w="9525">
              <a:solidFill>
                <a:srgbClr val="307ED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7"/>
            <p:cNvSpPr txBox="1"/>
            <p:nvPr/>
          </p:nvSpPr>
          <p:spPr>
            <a:xfrm>
              <a:off x="548690" y="1686851"/>
              <a:ext cx="8015400" cy="1192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rmAutofit/>
            </a:bodyPr>
            <a:lstStyle/>
            <a:p>
              <a:pPr indent="-279400" lvl="0" marL="4572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8F8F2"/>
                </a:buClr>
                <a:buSzPts val="800"/>
                <a:buFont typeface="Courier New"/>
                <a:buAutoNum type="arabicPeriod"/>
              </a:pPr>
              <a:r>
                <a:rPr lang="en-US" sz="800">
                  <a:solidFill>
                    <a:srgbClr val="F8F8F2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Η MAC προορισμού αναγνωρίζεται από τα πρώτα 6 bytes</a:t>
              </a:r>
              <a:endParaRPr sz="8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-279400" lvl="0" marL="4572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8F8F2"/>
                </a:buClr>
                <a:buSzPts val="800"/>
                <a:buFont typeface="Courier New"/>
                <a:buAutoNum type="arabicPeriod"/>
              </a:pPr>
              <a:r>
                <a:rPr lang="en-US" sz="800">
                  <a:solidFill>
                    <a:srgbClr val="F8F8F2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Γίνεται αναζήτηση στον πίνακα προώθησης</a:t>
              </a:r>
              <a:endParaRPr sz="8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-279400" lvl="0" marL="4572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8F8F2"/>
                </a:buClr>
                <a:buSzPts val="800"/>
                <a:buFont typeface="Courier New"/>
                <a:buAutoNum type="arabicPeriod"/>
              </a:pPr>
              <a:r>
                <a:rPr lang="en-US" sz="800">
                  <a:solidFill>
                    <a:srgbClr val="F8F8F2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Το πλαίσιο αρχίζει να εξέρχεται από τη θύρα εξόδου ενώ ακόμα λαμβάνεται στη θύρα εισόδου</a:t>
              </a:r>
              <a:endParaRPr sz="8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</p:grpSp>
      <p:grpSp>
        <p:nvGrpSpPr>
          <p:cNvPr id="118" name="Google Shape;118;p7"/>
          <p:cNvGrpSpPr/>
          <p:nvPr/>
        </p:nvGrpSpPr>
        <p:grpSpPr>
          <a:xfrm>
            <a:off x="554962" y="3042613"/>
            <a:ext cx="8045564" cy="1098681"/>
            <a:chOff x="548640" y="2857500"/>
            <a:chExt cx="8045564" cy="1428900"/>
          </a:xfrm>
        </p:grpSpPr>
        <p:sp>
          <p:nvSpPr>
            <p:cNvPr id="119" name="Google Shape;119;p7"/>
            <p:cNvSpPr/>
            <p:nvPr/>
          </p:nvSpPr>
          <p:spPr>
            <a:xfrm>
              <a:off x="548640" y="2857500"/>
              <a:ext cx="3879900" cy="1428900"/>
            </a:xfrm>
            <a:prstGeom prst="roundRect">
              <a:avLst>
                <a:gd fmla="val 8000" name="adj"/>
              </a:avLst>
            </a:prstGeom>
            <a:solidFill>
              <a:srgbClr val="161B22"/>
            </a:solidFill>
            <a:ln cap="flat" cmpd="sng" w="9525">
              <a:solidFill>
                <a:srgbClr val="3FAF4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7"/>
            <p:cNvSpPr txBox="1"/>
            <p:nvPr/>
          </p:nvSpPr>
          <p:spPr>
            <a:xfrm>
              <a:off x="739140" y="3000375"/>
              <a:ext cx="34989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rgbClr val="3FAF46"/>
                  </a:solidFill>
                  <a:latin typeface="Calibri"/>
                  <a:ea typeface="Calibri"/>
                  <a:cs typeface="Calibri"/>
                  <a:sym typeface="Calibri"/>
                </a:rPr>
                <a:t>Πλεονεκτήματα</a:t>
              </a:r>
              <a:endParaRPr b="1" sz="1200">
                <a:solidFill>
                  <a:srgbClr val="3FAF46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304800" lvl="0" marL="457200" rtl="0" algn="l">
                <a:spcBef>
                  <a:spcPts val="750"/>
                </a:spcBef>
                <a:spcAft>
                  <a:spcPts val="0"/>
                </a:spcAft>
                <a:buClr>
                  <a:srgbClr val="E6EDF3"/>
                </a:buClr>
                <a:buSzPts val="1200"/>
                <a:buFont typeface="Calibri"/>
                <a:buChar char="-"/>
              </a:pPr>
              <a:r>
                <a:rPr b="0" lang="en-US" sz="1200">
                  <a:solidFill>
                    <a:srgbClr val="E6EDF3"/>
                  </a:solidFill>
                  <a:latin typeface="Calibri"/>
                  <a:ea typeface="Calibri"/>
                  <a:cs typeface="Calibri"/>
                  <a:sym typeface="Calibri"/>
                </a:rPr>
                <a:t>Ελάχιστη καθυστέρηση μεταγωγής ανεξάρτητα από το μέγεθος του πλαισίου.</a:t>
              </a:r>
              <a:endParaRPr b="0" sz="1200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1" name="Google Shape;121;p7"/>
            <p:cNvSpPr/>
            <p:nvPr/>
          </p:nvSpPr>
          <p:spPr>
            <a:xfrm>
              <a:off x="4714304" y="2857500"/>
              <a:ext cx="3879900" cy="1428900"/>
            </a:xfrm>
            <a:prstGeom prst="roundRect">
              <a:avLst>
                <a:gd fmla="val 8000" name="adj"/>
              </a:avLst>
            </a:prstGeom>
            <a:solidFill>
              <a:srgbClr val="161B22"/>
            </a:solidFill>
            <a:ln cap="flat" cmpd="sng" w="9525">
              <a:solidFill>
                <a:srgbClr val="A7074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7"/>
            <p:cNvSpPr txBox="1"/>
            <p:nvPr/>
          </p:nvSpPr>
          <p:spPr>
            <a:xfrm>
              <a:off x="4904804" y="3000375"/>
              <a:ext cx="34989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rgbClr val="A7074B"/>
                  </a:solidFill>
                  <a:latin typeface="Calibri"/>
                  <a:ea typeface="Calibri"/>
                  <a:cs typeface="Calibri"/>
                  <a:sym typeface="Calibri"/>
                </a:rPr>
                <a:t>Μειονεκτήματα</a:t>
              </a:r>
              <a:endParaRPr b="1" sz="1200">
                <a:solidFill>
                  <a:srgbClr val="A7074B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304800" lvl="0" marL="457200" rtl="0" algn="l">
                <a:spcBef>
                  <a:spcPts val="750"/>
                </a:spcBef>
                <a:spcAft>
                  <a:spcPts val="0"/>
                </a:spcAft>
                <a:buClr>
                  <a:srgbClr val="E6EDF3"/>
                </a:buClr>
                <a:buSzPts val="1200"/>
                <a:buFont typeface="Calibri"/>
                <a:buChar char="-"/>
              </a:pPr>
              <a:r>
                <a:rPr b="0" lang="en-US" sz="1200">
                  <a:solidFill>
                    <a:srgbClr val="E6EDF3"/>
                  </a:solidFill>
                  <a:latin typeface="Calibri"/>
                  <a:ea typeface="Calibri"/>
                  <a:cs typeface="Calibri"/>
                  <a:sym typeface="Calibri"/>
                </a:rPr>
                <a:t>Προωθεί ελαττωματικά πλαίσια — ο προορισμός τα ανιχνεύει και τα απορρίπτει</a:t>
              </a:r>
              <a:endParaRPr b="0" sz="1200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3" name="Google Shape;123;p7"/>
          <p:cNvGrpSpPr/>
          <p:nvPr/>
        </p:nvGrpSpPr>
        <p:grpSpPr>
          <a:xfrm>
            <a:off x="554890" y="4278625"/>
            <a:ext cx="8045700" cy="571500"/>
            <a:chOff x="548640" y="4429125"/>
            <a:chExt cx="8045700" cy="571500"/>
          </a:xfrm>
        </p:grpSpPr>
        <p:sp>
          <p:nvSpPr>
            <p:cNvPr id="124" name="Google Shape;124;p7"/>
            <p:cNvSpPr/>
            <p:nvPr/>
          </p:nvSpPr>
          <p:spPr>
            <a:xfrm>
              <a:off x="548640" y="4429125"/>
              <a:ext cx="8045700" cy="571500"/>
            </a:xfrm>
            <a:prstGeom prst="roundRect">
              <a:avLst>
                <a:gd fmla="val 13333" name="adj"/>
              </a:avLst>
            </a:prstGeom>
            <a:solidFill>
              <a:srgbClr val="1C212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" name="Google Shape;125;p7"/>
            <p:cNvSpPr txBox="1"/>
            <p:nvPr/>
          </p:nvSpPr>
          <p:spPr>
            <a:xfrm>
              <a:off x="548649" y="4429125"/>
              <a:ext cx="66741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-298450" lvl="0" marL="457200" rtl="0" algn="l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100"/>
                <a:buChar char="➢"/>
              </a:pPr>
              <a:r>
                <a:rPr b="0" lang="en-US" sz="1100">
                  <a:solidFill>
                    <a:srgbClr val="E6EDF3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r>
                <a:rPr lang="en-US" sz="1100">
                  <a:solidFill>
                    <a:srgbClr val="E6EDF3"/>
                  </a:solidFill>
                  <a:latin typeface="Calibri"/>
                  <a:ea typeface="Calibri"/>
                  <a:cs typeface="Calibri"/>
                  <a:sym typeface="Calibri"/>
                </a:rPr>
                <a:t>Κατάλληλο για περιβάλλοντα υψηλής απόδοσης όπου είναι απίθανο να διαφθαρούν τα πλαίσια.</a:t>
              </a:r>
              <a:endParaRPr b="0" sz="1100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6" name="Google Shape;126;p7"/>
          <p:cNvSpPr txBox="1"/>
          <p:nvPr/>
        </p:nvSpPr>
        <p:spPr>
          <a:xfrm>
            <a:off x="7376150" y="4851000"/>
            <a:ext cx="19887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>
                <a:solidFill>
                  <a:srgbClr val="A7074B"/>
                </a:solidFill>
              </a:rPr>
              <a:t>How_a_switch_works_6.pdf(126, 127)</a:t>
            </a:r>
            <a:endParaRPr sz="700">
              <a:solidFill>
                <a:schemeClr val="lt1"/>
              </a:solidFill>
            </a:endParaRPr>
          </a:p>
        </p:txBody>
      </p:sp>
      <p:sp>
        <p:nvSpPr>
          <p:cNvPr id="127" name="Google Shape;127;p7"/>
          <p:cNvSpPr txBox="1"/>
          <p:nvPr/>
        </p:nvSpPr>
        <p:spPr>
          <a:xfrm>
            <a:off x="549200" y="1015025"/>
            <a:ext cx="79140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Ο μεταγωγέας διαβάζει μόνο τα πρώτα 6 byte του πλαισίου μετά το προοίμιο — τη διεύθυνση MAC προορισμού — και αρχίζει να προωθεί το πλαίσιο αμέσως, πριν καν φτάσει το υπόλοιπο.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3" name="Google Shape;133;p8"/>
          <p:cNvGrpSpPr/>
          <p:nvPr/>
        </p:nvGrpSpPr>
        <p:grpSpPr>
          <a:xfrm>
            <a:off x="548640" y="381000"/>
            <a:ext cx="8045710" cy="853200"/>
            <a:chOff x="548640" y="381000"/>
            <a:chExt cx="8045710" cy="853200"/>
          </a:xfrm>
        </p:grpSpPr>
        <p:sp>
          <p:nvSpPr>
            <p:cNvPr id="134" name="Google Shape;134;p8"/>
            <p:cNvSpPr/>
            <p:nvPr/>
          </p:nvSpPr>
          <p:spPr>
            <a:xfrm>
              <a:off x="548640" y="381000"/>
              <a:ext cx="8045700" cy="762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" name="Google Shape;135;p8"/>
            <p:cNvSpPr txBox="1"/>
            <p:nvPr/>
          </p:nvSpPr>
          <p:spPr>
            <a:xfrm>
              <a:off x="548650" y="381000"/>
              <a:ext cx="8045700" cy="853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rmAutofit fontScale="92500"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36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6. Μεταγωγή Fragment-Free (Runtless)</a:t>
              </a:r>
              <a:endParaRPr b="1" sz="3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36" name="Google Shape;136;p8"/>
          <p:cNvGrpSpPr/>
          <p:nvPr/>
        </p:nvGrpSpPr>
        <p:grpSpPr>
          <a:xfrm>
            <a:off x="513674" y="1605487"/>
            <a:ext cx="8106116" cy="1150836"/>
            <a:chOff x="523875" y="1333500"/>
            <a:chExt cx="8096400" cy="1428900"/>
          </a:xfrm>
        </p:grpSpPr>
        <p:sp>
          <p:nvSpPr>
            <p:cNvPr id="137" name="Google Shape;137;p8"/>
            <p:cNvSpPr/>
            <p:nvPr/>
          </p:nvSpPr>
          <p:spPr>
            <a:xfrm>
              <a:off x="523875" y="1333500"/>
              <a:ext cx="8096400" cy="1428900"/>
            </a:xfrm>
            <a:prstGeom prst="roundRect">
              <a:avLst>
                <a:gd fmla="val 6666" name="adj"/>
              </a:avLst>
            </a:prstGeom>
            <a:solidFill>
              <a:srgbClr val="161B22"/>
            </a:solidFill>
            <a:ln cap="flat" cmpd="sng" w="9525">
              <a:solidFill>
                <a:srgbClr val="307ED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" name="Google Shape;138;p8"/>
            <p:cNvSpPr txBox="1"/>
            <p:nvPr/>
          </p:nvSpPr>
          <p:spPr>
            <a:xfrm>
              <a:off x="714375" y="1428750"/>
              <a:ext cx="7715400" cy="1238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51">
                  <a:solidFill>
                    <a:srgbClr val="F8F8F2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Το switch αποθηκεύει στον buffer τα πρώτα “64 bytes” του πλαισίου πριν την προώθηση.</a:t>
              </a:r>
              <a:endParaRPr sz="1051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-295643" lvl="0" marL="457769" rtl="0" algn="l">
                <a:spcBef>
                  <a:spcPts val="0"/>
                </a:spcBef>
                <a:spcAft>
                  <a:spcPts val="0"/>
                </a:spcAft>
                <a:buClr>
                  <a:srgbClr val="F8F8F2"/>
                </a:buClr>
                <a:buSzPts val="1051"/>
                <a:buFont typeface="Courier New"/>
                <a:buChar char="-"/>
              </a:pPr>
              <a:r>
                <a:rPr lang="en-US" sz="1051">
                  <a:solidFill>
                    <a:srgbClr val="FFB86C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Η λογική</a:t>
              </a:r>
              <a:r>
                <a:rPr lang="en-US" sz="1051">
                  <a:solidFill>
                    <a:srgbClr val="F8F8F2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: η συντριπτική πλειοψηφία των σφαλμάτων δικτύου — κανονικές συγκρούσεις και runts — ανιχνεύεται εντός των πρώτων 64 bytes ενός πλαισίου. Διαβάζοντας αυτό το ποσό, η fragment-free μεταγωγή εντοπίζει τους πιο συνηθισμένους τύπους σφαλμάτων (θραύσματα σύγκρουσης) χωρίς να υφίσταται την πλήρη καθυστέρηση αποθήκευσης ολόκληρου του πλαισίου.</a:t>
              </a:r>
              <a:endParaRPr sz="1051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457769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51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</p:grpSp>
      <p:grpSp>
        <p:nvGrpSpPr>
          <p:cNvPr id="139" name="Google Shape;139;p8"/>
          <p:cNvGrpSpPr/>
          <p:nvPr/>
        </p:nvGrpSpPr>
        <p:grpSpPr>
          <a:xfrm>
            <a:off x="4543550" y="2905125"/>
            <a:ext cx="3905400" cy="1524000"/>
            <a:chOff x="523875" y="2905125"/>
            <a:chExt cx="3905400" cy="1524000"/>
          </a:xfrm>
        </p:grpSpPr>
        <p:sp>
          <p:nvSpPr>
            <p:cNvPr id="140" name="Google Shape;140;p8"/>
            <p:cNvSpPr/>
            <p:nvPr/>
          </p:nvSpPr>
          <p:spPr>
            <a:xfrm>
              <a:off x="523875" y="2905125"/>
              <a:ext cx="3905400" cy="1524000"/>
            </a:xfrm>
            <a:prstGeom prst="roundRect">
              <a:avLst>
                <a:gd fmla="val 7500" name="adj"/>
              </a:avLst>
            </a:prstGeom>
            <a:solidFill>
              <a:srgbClr val="161B22"/>
            </a:solidFill>
            <a:ln cap="flat" cmpd="sng" w="9525">
              <a:solidFill>
                <a:srgbClr val="A7074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" name="Google Shape;141;p8"/>
            <p:cNvSpPr txBox="1"/>
            <p:nvPr/>
          </p:nvSpPr>
          <p:spPr>
            <a:xfrm>
              <a:off x="714375" y="3000375"/>
              <a:ext cx="3524400" cy="1333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rgbClr val="A7074B"/>
                  </a:solidFill>
                  <a:latin typeface="Calibri"/>
                  <a:ea typeface="Calibri"/>
                  <a:cs typeface="Calibri"/>
                  <a:sym typeface="Calibri"/>
                </a:rPr>
                <a:t>Καθυστερημένη</a:t>
              </a:r>
              <a:r>
                <a:rPr b="1" lang="en-US" sz="1400">
                  <a:solidFill>
                    <a:srgbClr val="A7074B"/>
                  </a:solidFill>
                  <a:latin typeface="Calibri"/>
                  <a:ea typeface="Calibri"/>
                  <a:cs typeface="Calibri"/>
                  <a:sym typeface="Calibri"/>
                </a:rPr>
                <a:t> Σύγκρουση</a:t>
              </a:r>
              <a:endParaRPr b="1" sz="1400">
                <a:solidFill>
                  <a:srgbClr val="A7074B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-US" sz="1100">
                  <a:solidFill>
                    <a:srgbClr val="E6EDF3"/>
                  </a:solidFill>
                  <a:latin typeface="Calibri"/>
                  <a:ea typeface="Calibri"/>
                  <a:cs typeface="Calibri"/>
                  <a:sym typeface="Calibri"/>
                </a:rPr>
                <a:t>Συμβαίνει μετά τα πρώτα 64 bytes υποδηλώνοντας προβλήματα στο LAN ή ελαττωματικό υλικό.</a:t>
              </a:r>
              <a:endParaRPr sz="1100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298450" lvl="0" marL="457200" rtl="0" algn="l">
                <a:spcBef>
                  <a:spcPts val="450"/>
                </a:spcBef>
                <a:spcAft>
                  <a:spcPts val="0"/>
                </a:spcAft>
                <a:buClr>
                  <a:schemeClr val="lt1"/>
                </a:buClr>
                <a:buSzPts val="1100"/>
                <a:buFont typeface="Calibri"/>
                <a:buChar char="-"/>
              </a:pPr>
              <a:r>
                <a:rPr lang="en-US" sz="11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Η Fragment-free δεν μπορεί να φιλτράρει τις καθυστερημένες συγκρούσεις.</a:t>
              </a:r>
              <a:endParaRPr sz="1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42" name="Google Shape;142;p8"/>
          <p:cNvSpPr txBox="1"/>
          <p:nvPr/>
        </p:nvSpPr>
        <p:spPr>
          <a:xfrm>
            <a:off x="7359400" y="4786475"/>
            <a:ext cx="19050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A7074B"/>
                </a:solidFill>
                <a:latin typeface="Arial"/>
                <a:ea typeface="Arial"/>
                <a:cs typeface="Arial"/>
                <a:sym typeface="Arial"/>
              </a:rPr>
              <a:t>How_a_switch_works_6.pdf(128, 129)</a:t>
            </a:r>
            <a:endParaRPr sz="800">
              <a:solidFill>
                <a:srgbClr val="A7074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43" name="Google Shape;143;p8"/>
          <p:cNvGrpSpPr/>
          <p:nvPr/>
        </p:nvGrpSpPr>
        <p:grpSpPr>
          <a:xfrm>
            <a:off x="548650" y="2905125"/>
            <a:ext cx="3905400" cy="1524000"/>
            <a:chOff x="548650" y="2905125"/>
            <a:chExt cx="3905400" cy="1524000"/>
          </a:xfrm>
        </p:grpSpPr>
        <p:sp>
          <p:nvSpPr>
            <p:cNvPr id="144" name="Google Shape;144;p8"/>
            <p:cNvSpPr/>
            <p:nvPr/>
          </p:nvSpPr>
          <p:spPr>
            <a:xfrm>
              <a:off x="548650" y="2905125"/>
              <a:ext cx="3905400" cy="1524000"/>
            </a:xfrm>
            <a:prstGeom prst="roundRect">
              <a:avLst>
                <a:gd fmla="val 7500" name="adj"/>
              </a:avLst>
            </a:prstGeom>
            <a:solidFill>
              <a:srgbClr val="161B22"/>
            </a:solidFill>
            <a:ln cap="flat" cmpd="sng" w="9525">
              <a:solidFill>
                <a:srgbClr val="3FAF4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" name="Google Shape;145;p8"/>
            <p:cNvSpPr txBox="1"/>
            <p:nvPr/>
          </p:nvSpPr>
          <p:spPr>
            <a:xfrm>
              <a:off x="783875" y="3000375"/>
              <a:ext cx="3524400" cy="1333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rgbClr val="3FAF46"/>
                  </a:solidFill>
                  <a:latin typeface="Calibri"/>
                  <a:ea typeface="Calibri"/>
                  <a:cs typeface="Calibri"/>
                  <a:sym typeface="Calibri"/>
                </a:rPr>
                <a:t>Συμβιβασμός</a:t>
              </a:r>
              <a:endParaRPr b="1" sz="1200">
                <a:solidFill>
                  <a:srgbClr val="3FAF46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-US" sz="1100">
                  <a:solidFill>
                    <a:srgbClr val="E6EDF3"/>
                  </a:solidFill>
                  <a:latin typeface="Calibri"/>
                  <a:ea typeface="Calibri"/>
                  <a:cs typeface="Calibri"/>
                  <a:sym typeface="Calibri"/>
                </a:rPr>
                <a:t>Εξαλείφει την πιο επιβλαβή κατηγορία κακών πλαισίων (runts) με ελάχιστη πρόσθετη καθυστέρηση.</a:t>
              </a:r>
              <a:endParaRPr sz="1100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lang="en-US" sz="1100">
                  <a:solidFill>
                    <a:srgbClr val="E6EDF3"/>
                  </a:solidFill>
                  <a:latin typeface="Calibri"/>
                  <a:ea typeface="Calibri"/>
                  <a:cs typeface="Calibri"/>
                  <a:sym typeface="Calibri"/>
                </a:rPr>
                <a:t>Ωστόσο, ενδέχεται </a:t>
              </a:r>
              <a:r>
                <a:rPr lang="en-US" sz="1100">
                  <a:solidFill>
                    <a:srgbClr val="E6EDF3"/>
                  </a:solidFill>
                  <a:latin typeface="Calibri"/>
                  <a:ea typeface="Calibri"/>
                  <a:cs typeface="Calibri"/>
                  <a:sym typeface="Calibri"/>
                </a:rPr>
                <a:t>κίνδυνος</a:t>
              </a:r>
              <a:r>
                <a:rPr lang="en-US" sz="1100">
                  <a:solidFill>
                    <a:srgbClr val="E6EDF3"/>
                  </a:solidFill>
                  <a:latin typeface="Calibri"/>
                  <a:ea typeface="Calibri"/>
                  <a:cs typeface="Calibri"/>
                  <a:sym typeface="Calibri"/>
                </a:rPr>
                <a:t> να προωθήσει πλαίσια με σφάλματα CRC αν αυτά </a:t>
              </a:r>
              <a:r>
                <a:rPr lang="en-US" sz="1100">
                  <a:solidFill>
                    <a:srgbClr val="E6EDF3"/>
                  </a:solidFill>
                  <a:latin typeface="Calibri"/>
                  <a:ea typeface="Calibri"/>
                  <a:cs typeface="Calibri"/>
                  <a:sym typeface="Calibri"/>
                </a:rPr>
                <a:t>βρίσκονται</a:t>
              </a:r>
              <a:r>
                <a:rPr lang="en-US" sz="1100">
                  <a:solidFill>
                    <a:srgbClr val="E6EDF3"/>
                  </a:solidFill>
                  <a:latin typeface="Calibri"/>
                  <a:ea typeface="Calibri"/>
                  <a:cs typeface="Calibri"/>
                  <a:sym typeface="Calibri"/>
                </a:rPr>
                <a:t> μετά τα 64 bytes.</a:t>
              </a:r>
              <a:endParaRPr sz="1100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46" name="Google Shape;146;p8"/>
          <p:cNvSpPr txBox="1"/>
          <p:nvPr/>
        </p:nvSpPr>
        <p:spPr>
          <a:xfrm>
            <a:off x="548650" y="1056475"/>
            <a:ext cx="7484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Αποτελεί υβρίδιο μεταξύ store-and-forward και cut-through.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9"/>
          <p:cNvSpPr/>
          <p:nvPr/>
        </p:nvSpPr>
        <p:spPr>
          <a:xfrm>
            <a:off x="548651" y="548650"/>
            <a:ext cx="8519700" cy="91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Σύγκριση Μεθόδων Μεταγωγής</a:t>
            </a:r>
            <a:endParaRPr b="0" i="0" sz="36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53" name="Google Shape;153;p9"/>
          <p:cNvGrpSpPr/>
          <p:nvPr/>
        </p:nvGrpSpPr>
        <p:grpSpPr>
          <a:xfrm>
            <a:off x="542925" y="1714500"/>
            <a:ext cx="2476750" cy="2667000"/>
            <a:chOff x="542925" y="1714500"/>
            <a:chExt cx="2476750" cy="2667000"/>
          </a:xfrm>
        </p:grpSpPr>
        <p:sp>
          <p:nvSpPr>
            <p:cNvPr id="154" name="Google Shape;154;p9"/>
            <p:cNvSpPr/>
            <p:nvPr/>
          </p:nvSpPr>
          <p:spPr>
            <a:xfrm>
              <a:off x="543175" y="1714500"/>
              <a:ext cx="2476500" cy="2667000"/>
            </a:xfrm>
            <a:prstGeom prst="roundRect">
              <a:avLst>
                <a:gd fmla="val 4615" name="adj"/>
              </a:avLst>
            </a:prstGeom>
            <a:solidFill>
              <a:srgbClr val="161B22"/>
            </a:solidFill>
            <a:ln cap="flat" cmpd="sng" w="14300">
              <a:solidFill>
                <a:srgbClr val="307ED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" name="Google Shape;155;p9"/>
            <p:cNvSpPr txBox="1"/>
            <p:nvPr/>
          </p:nvSpPr>
          <p:spPr>
            <a:xfrm>
              <a:off x="542925" y="1714500"/>
              <a:ext cx="2476500" cy="2305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38125" lIns="238125" spcFirstLastPara="1" rIns="238125" wrap="square" tIns="2381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4E9CF5"/>
                  </a:solidFill>
                  <a:latin typeface="Calibri"/>
                  <a:ea typeface="Calibri"/>
                  <a:cs typeface="Calibri"/>
                  <a:sym typeface="Calibri"/>
                </a:rPr>
                <a:t>Store-and-Forward</a:t>
              </a:r>
              <a:endParaRPr b="1" sz="1400">
                <a:solidFill>
                  <a:srgbClr val="4E9CF5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b="1" lang="en-US" sz="32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CRC</a:t>
              </a:r>
              <a:endParaRPr b="1" sz="3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b="0" lang="en-US" sz="1300">
                  <a:solidFill>
                    <a:srgbClr val="E6EDF3"/>
                  </a:solidFill>
                  <a:latin typeface="Calibri"/>
                  <a:ea typeface="Calibri"/>
                  <a:cs typeface="Calibri"/>
                  <a:sym typeface="Calibri"/>
                </a:rPr>
                <a:t>Πλήρης έλεγχος — υψηλή καθυστέρηση</a:t>
              </a:r>
              <a:endParaRPr b="0" sz="1300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56" name="Google Shape;156;p9"/>
          <p:cNvGrpSpPr/>
          <p:nvPr/>
        </p:nvGrpSpPr>
        <p:grpSpPr>
          <a:xfrm>
            <a:off x="3333874" y="1714575"/>
            <a:ext cx="2476500" cy="2667003"/>
            <a:chOff x="3333750" y="1714497"/>
            <a:chExt cx="2476500" cy="2667003"/>
          </a:xfrm>
        </p:grpSpPr>
        <p:sp>
          <p:nvSpPr>
            <p:cNvPr id="157" name="Google Shape;157;p9"/>
            <p:cNvSpPr/>
            <p:nvPr/>
          </p:nvSpPr>
          <p:spPr>
            <a:xfrm>
              <a:off x="3333750" y="1714500"/>
              <a:ext cx="2476500" cy="2667000"/>
            </a:xfrm>
            <a:prstGeom prst="roundRect">
              <a:avLst>
                <a:gd fmla="val 4615" name="adj"/>
              </a:avLst>
            </a:prstGeom>
            <a:solidFill>
              <a:srgbClr val="161B22"/>
            </a:solidFill>
            <a:ln cap="flat" cmpd="sng" w="14300">
              <a:solidFill>
                <a:srgbClr val="307ED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" name="Google Shape;158;p9"/>
            <p:cNvSpPr txBox="1"/>
            <p:nvPr/>
          </p:nvSpPr>
          <p:spPr>
            <a:xfrm>
              <a:off x="3333751" y="1714497"/>
              <a:ext cx="2457900" cy="246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38125" lIns="238125" spcFirstLastPara="1" rIns="238125" wrap="square" tIns="2381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4E9CF5"/>
                  </a:solidFill>
                  <a:latin typeface="Calibri"/>
                  <a:ea typeface="Calibri"/>
                  <a:cs typeface="Calibri"/>
                  <a:sym typeface="Calibri"/>
                </a:rPr>
                <a:t>Cut-Through</a:t>
              </a:r>
              <a:endParaRPr b="1" sz="1400">
                <a:solidFill>
                  <a:srgbClr val="4E9CF5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b="1" lang="en-US" sz="32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6B</a:t>
              </a:r>
              <a:endParaRPr b="1" sz="3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b="0" lang="en-US" sz="1300">
                  <a:solidFill>
                    <a:srgbClr val="E6EDF3"/>
                  </a:solidFill>
                  <a:latin typeface="Calibri"/>
                  <a:ea typeface="Calibri"/>
                  <a:cs typeface="Calibri"/>
                  <a:sym typeface="Calibri"/>
                </a:rPr>
                <a:t>Μόνο MAC — ελάχιστη καθυστέρηση</a:t>
              </a:r>
              <a:endParaRPr b="0" sz="1300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59" name="Google Shape;159;p9"/>
          <p:cNvGrpSpPr/>
          <p:nvPr/>
        </p:nvGrpSpPr>
        <p:grpSpPr>
          <a:xfrm>
            <a:off x="6124575" y="1714500"/>
            <a:ext cx="2476500" cy="2667000"/>
            <a:chOff x="6124575" y="1714500"/>
            <a:chExt cx="2476500" cy="2667000"/>
          </a:xfrm>
        </p:grpSpPr>
        <p:sp>
          <p:nvSpPr>
            <p:cNvPr id="160" name="Google Shape;160;p9"/>
            <p:cNvSpPr/>
            <p:nvPr/>
          </p:nvSpPr>
          <p:spPr>
            <a:xfrm>
              <a:off x="6124575" y="1714500"/>
              <a:ext cx="2476500" cy="2667000"/>
            </a:xfrm>
            <a:prstGeom prst="roundRect">
              <a:avLst>
                <a:gd fmla="val 4615" name="adj"/>
              </a:avLst>
            </a:prstGeom>
            <a:solidFill>
              <a:srgbClr val="161B22"/>
            </a:solidFill>
            <a:ln cap="flat" cmpd="sng" w="14300">
              <a:solidFill>
                <a:srgbClr val="307ED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" name="Google Shape;161;p9"/>
            <p:cNvSpPr txBox="1"/>
            <p:nvPr/>
          </p:nvSpPr>
          <p:spPr>
            <a:xfrm>
              <a:off x="6124575" y="1714500"/>
              <a:ext cx="2476500" cy="2215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38125" lIns="238125" spcFirstLastPara="1" rIns="238125" wrap="square" tIns="2381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4E9CF5"/>
                  </a:solidFill>
                  <a:latin typeface="Calibri"/>
                  <a:ea typeface="Calibri"/>
                  <a:cs typeface="Calibri"/>
                  <a:sym typeface="Calibri"/>
                </a:rPr>
                <a:t>Fragment-Free</a:t>
              </a:r>
              <a:endParaRPr b="1" sz="1400">
                <a:solidFill>
                  <a:srgbClr val="4E9CF5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b="1" lang="en-US" sz="32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64B</a:t>
              </a:r>
              <a:endParaRPr b="1" sz="3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b="0" lang="en-US" sz="1300">
                  <a:solidFill>
                    <a:srgbClr val="E6EDF3"/>
                  </a:solidFill>
                  <a:latin typeface="Calibri"/>
                  <a:ea typeface="Calibri"/>
                  <a:cs typeface="Calibri"/>
                  <a:sym typeface="Calibri"/>
                </a:rPr>
                <a:t>Ισορροπία ταχύτητας / ακεραιότητας</a:t>
              </a:r>
              <a:endParaRPr b="0" sz="1300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0"/>
          <p:cNvSpPr/>
          <p:nvPr/>
        </p:nvSpPr>
        <p:spPr>
          <a:xfrm>
            <a:off x="548640" y="381000"/>
            <a:ext cx="8045700" cy="762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9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7. Μεταγωγή Επιπέδου 3 (Multilayer Switching)</a:t>
            </a:r>
            <a:endParaRPr b="1" i="0" sz="279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68" name="Google Shape;168;p10"/>
          <p:cNvGrpSpPr/>
          <p:nvPr/>
        </p:nvGrpSpPr>
        <p:grpSpPr>
          <a:xfrm>
            <a:off x="548640" y="1238250"/>
            <a:ext cx="8046600" cy="762000"/>
            <a:chOff x="548640" y="1238250"/>
            <a:chExt cx="8046600" cy="762000"/>
          </a:xfrm>
        </p:grpSpPr>
        <p:sp>
          <p:nvSpPr>
            <p:cNvPr id="169" name="Google Shape;169;p10"/>
            <p:cNvSpPr/>
            <p:nvPr/>
          </p:nvSpPr>
          <p:spPr>
            <a:xfrm>
              <a:off x="548640" y="1238250"/>
              <a:ext cx="8046600" cy="762000"/>
            </a:xfrm>
            <a:prstGeom prst="roundRect">
              <a:avLst>
                <a:gd fmla="val 10000" name="adj"/>
              </a:avLst>
            </a:prstGeom>
            <a:solidFill>
              <a:srgbClr val="161B22"/>
            </a:solidFill>
            <a:ln cap="flat" cmpd="sng" w="9525">
              <a:solidFill>
                <a:srgbClr val="307ED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" name="Google Shape;170;p10"/>
            <p:cNvSpPr txBox="1"/>
            <p:nvPr/>
          </p:nvSpPr>
          <p:spPr>
            <a:xfrm>
              <a:off x="739140" y="1238250"/>
              <a:ext cx="76656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ACB20C"/>
                  </a:solidFill>
                  <a:latin typeface="Calibri"/>
                  <a:ea typeface="Calibri"/>
                  <a:cs typeface="Calibri"/>
                  <a:sym typeface="Calibri"/>
                </a:rPr>
                <a:t>Διπλή Λειτουργία: </a:t>
              </a:r>
              <a:r>
                <a:rPr lang="en-US" sz="1400">
                  <a:solidFill>
                    <a:srgbClr val="F8F8F2"/>
                  </a:solidFill>
                  <a:latin typeface="Calibri"/>
                  <a:ea typeface="Calibri"/>
                  <a:cs typeface="Calibri"/>
                  <a:sym typeface="Calibri"/>
                </a:rPr>
                <a:t>Λειτουργεί τόσο στο Επίπεδο 2 (data link) όσο και στο Επίπεδο 3 (network)</a:t>
              </a:r>
              <a:endParaRPr sz="1400">
                <a:solidFill>
                  <a:srgbClr val="F8F8F2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71" name="Google Shape;171;p10"/>
          <p:cNvGrpSpPr/>
          <p:nvPr/>
        </p:nvGrpSpPr>
        <p:grpSpPr>
          <a:xfrm>
            <a:off x="548640" y="2190750"/>
            <a:ext cx="3928200" cy="2286000"/>
            <a:chOff x="548640" y="2190750"/>
            <a:chExt cx="3928200" cy="2286000"/>
          </a:xfrm>
        </p:grpSpPr>
        <p:sp>
          <p:nvSpPr>
            <p:cNvPr id="172" name="Google Shape;172;p10"/>
            <p:cNvSpPr/>
            <p:nvPr/>
          </p:nvSpPr>
          <p:spPr>
            <a:xfrm>
              <a:off x="548640" y="2190750"/>
              <a:ext cx="3928200" cy="2286000"/>
            </a:xfrm>
            <a:prstGeom prst="roundRect">
              <a:avLst>
                <a:gd fmla="val 5000" name="adj"/>
              </a:avLst>
            </a:prstGeom>
            <a:solidFill>
              <a:srgbClr val="161B22"/>
            </a:solidFill>
            <a:ln cap="flat" cmpd="sng" w="9525">
              <a:solidFill>
                <a:srgbClr val="3FAF4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" name="Google Shape;173;p10"/>
            <p:cNvSpPr txBox="1"/>
            <p:nvPr/>
          </p:nvSpPr>
          <p:spPr>
            <a:xfrm>
              <a:off x="786765" y="2333625"/>
              <a:ext cx="3451800" cy="2000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3FAF46"/>
                  </a:solidFill>
                  <a:latin typeface="Calibri"/>
                  <a:ea typeface="Calibri"/>
                  <a:cs typeface="Calibri"/>
                  <a:sym typeface="Calibri"/>
                </a:rPr>
                <a:t>Store-and-Forward Logic</a:t>
              </a:r>
              <a:endParaRPr b="1" sz="1400">
                <a:solidFill>
                  <a:srgbClr val="3FAF46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298450" lvl="0" marL="457200" rtl="0" algn="l">
                <a:spcBef>
                  <a:spcPts val="900"/>
                </a:spcBef>
                <a:spcAft>
                  <a:spcPts val="0"/>
                </a:spcAft>
                <a:buClr>
                  <a:srgbClr val="E6EDF3"/>
                </a:buClr>
                <a:buSzPts val="1100"/>
                <a:buFont typeface="Calibri"/>
                <a:buChar char="●"/>
              </a:pPr>
              <a:r>
                <a:rPr b="0" lang="en-US" sz="1100">
                  <a:solidFill>
                    <a:srgbClr val="E6EDF3"/>
                  </a:solidFill>
                  <a:latin typeface="Calibri"/>
                  <a:ea typeface="Calibri"/>
                  <a:cs typeface="Calibri"/>
                  <a:sym typeface="Calibri"/>
                </a:rPr>
                <a:t>Χρησιμοποιεί store-and-forward — λαμβάνει ολόκληρο το πλαίσιο πριν από δρομολόγηση</a:t>
              </a:r>
              <a:endParaRPr b="0" sz="1100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298450" lvl="0" marL="457200" rtl="0" algn="l">
                <a:spcBef>
                  <a:spcPts val="0"/>
                </a:spcBef>
                <a:spcAft>
                  <a:spcPts val="0"/>
                </a:spcAft>
                <a:buClr>
                  <a:srgbClr val="E6EDF3"/>
                </a:buClr>
                <a:buSzPts val="1100"/>
                <a:buFont typeface="Calibri"/>
                <a:buChar char="●"/>
              </a:pPr>
              <a:r>
                <a:rPr b="0" lang="en-US" sz="1100">
                  <a:solidFill>
                    <a:srgbClr val="E6EDF3"/>
                  </a:solidFill>
                  <a:latin typeface="Calibri"/>
                  <a:ea typeface="Calibri"/>
                  <a:cs typeface="Calibri"/>
                  <a:sym typeface="Calibri"/>
                </a:rPr>
                <a:t>Υπολογίζει CRC — απορρίπτει εσφαλμένα πλαίσια πριν από οποιαδήποτε απόφαση</a:t>
              </a:r>
              <a:endParaRPr b="0" sz="1100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298450" lvl="0" marL="457200" rtl="0" algn="l">
                <a:spcBef>
                  <a:spcPts val="0"/>
                </a:spcBef>
                <a:spcAft>
                  <a:spcPts val="0"/>
                </a:spcAft>
                <a:buClr>
                  <a:srgbClr val="E6EDF3"/>
                </a:buClr>
                <a:buSzPts val="1100"/>
                <a:buFont typeface="Calibri"/>
                <a:buChar char="●"/>
              </a:pPr>
              <a:r>
                <a:rPr b="0" lang="en-US" sz="1100">
                  <a:solidFill>
                    <a:srgbClr val="E6EDF3"/>
                  </a:solidFill>
                  <a:latin typeface="Calibri"/>
                  <a:ea typeface="Calibri"/>
                  <a:cs typeface="Calibri"/>
                  <a:sym typeface="Calibri"/>
                </a:rPr>
                <a:t>Εξασφαλίζει ακεραιότητα δεδομένων εις βάρος της καθυστέρησης</a:t>
              </a:r>
              <a:endParaRPr b="0" sz="1100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74" name="Google Shape;174;p10"/>
          <p:cNvGrpSpPr/>
          <p:nvPr/>
        </p:nvGrpSpPr>
        <p:grpSpPr>
          <a:xfrm>
            <a:off x="4667250" y="2190750"/>
            <a:ext cx="3928200" cy="2286000"/>
            <a:chOff x="4667250" y="2190750"/>
            <a:chExt cx="3928200" cy="2286000"/>
          </a:xfrm>
        </p:grpSpPr>
        <p:sp>
          <p:nvSpPr>
            <p:cNvPr id="175" name="Google Shape;175;p10"/>
            <p:cNvSpPr/>
            <p:nvPr/>
          </p:nvSpPr>
          <p:spPr>
            <a:xfrm>
              <a:off x="4667250" y="2190750"/>
              <a:ext cx="3928200" cy="2286000"/>
            </a:xfrm>
            <a:prstGeom prst="roundRect">
              <a:avLst>
                <a:gd fmla="val 5000" name="adj"/>
              </a:avLst>
            </a:prstGeom>
            <a:solidFill>
              <a:srgbClr val="161B22"/>
            </a:solidFill>
            <a:ln cap="flat" cmpd="sng" w="9525">
              <a:solidFill>
                <a:srgbClr val="A7074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" name="Google Shape;176;p10"/>
            <p:cNvSpPr txBox="1"/>
            <p:nvPr/>
          </p:nvSpPr>
          <p:spPr>
            <a:xfrm>
              <a:off x="4905375" y="2333625"/>
              <a:ext cx="3451800" cy="2000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A7074B"/>
                  </a:solidFill>
                  <a:latin typeface="Calibri"/>
                  <a:ea typeface="Calibri"/>
                  <a:cs typeface="Calibri"/>
                  <a:sym typeface="Calibri"/>
                </a:rPr>
                <a:t>Απόδοση &amp; Καθυστέρηση</a:t>
              </a:r>
              <a:endParaRPr b="1" sz="1400">
                <a:solidFill>
                  <a:srgbClr val="A7074B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298450" lvl="0" marL="457200" rtl="0" algn="l">
                <a:spcBef>
                  <a:spcPts val="900"/>
                </a:spcBef>
                <a:spcAft>
                  <a:spcPts val="0"/>
                </a:spcAft>
                <a:buClr>
                  <a:srgbClr val="E6EDF3"/>
                </a:buClr>
                <a:buSzPts val="1100"/>
                <a:buFont typeface="Calibri"/>
                <a:buChar char="●"/>
              </a:pPr>
              <a:r>
                <a:rPr b="0" lang="en-US" sz="1100">
                  <a:solidFill>
                    <a:srgbClr val="E6EDF3"/>
                  </a:solidFill>
                  <a:latin typeface="Calibri"/>
                  <a:ea typeface="Calibri"/>
                  <a:cs typeface="Calibri"/>
                  <a:sym typeface="Calibri"/>
                </a:rPr>
                <a:t>Βελτιστοποιημένη σε επίπεδο hardware για wire-speed forwarding στο Επίπεδο 3</a:t>
              </a:r>
              <a:endParaRPr b="0" sz="1100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298450" lvl="0" marL="457200" rtl="0" algn="l">
                <a:spcBef>
                  <a:spcPts val="0"/>
                </a:spcBef>
                <a:spcAft>
                  <a:spcPts val="0"/>
                </a:spcAft>
                <a:buClr>
                  <a:srgbClr val="E6EDF3"/>
                </a:buClr>
                <a:buSzPts val="1100"/>
                <a:buFont typeface="Calibri"/>
                <a:buChar char="●"/>
              </a:pPr>
              <a:r>
                <a:rPr b="0" lang="en-US" sz="1100">
                  <a:solidFill>
                    <a:srgbClr val="E6EDF3"/>
                  </a:solidFill>
                  <a:latin typeface="Calibri"/>
                  <a:ea typeface="Calibri"/>
                  <a:cs typeface="Calibri"/>
                  <a:sym typeface="Calibri"/>
                </a:rPr>
                <a:t>Υψηλότερη καθυστέρηση θύρας σε σύγκριση με καθαρή μεταγωγή Επιπέδου 2</a:t>
              </a:r>
              <a:endParaRPr b="0" sz="1100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298450" lvl="0" marL="457200" rtl="0" algn="l">
                <a:spcBef>
                  <a:spcPts val="0"/>
                </a:spcBef>
                <a:spcAft>
                  <a:spcPts val="0"/>
                </a:spcAft>
                <a:buClr>
                  <a:srgbClr val="E6EDF3"/>
                </a:buClr>
                <a:buSzPts val="1100"/>
                <a:buFont typeface="Calibri"/>
                <a:buChar char="●"/>
              </a:pPr>
              <a:r>
                <a:rPr b="0" lang="en-US" sz="1100">
                  <a:solidFill>
                    <a:srgbClr val="E6EDF3"/>
                  </a:solidFill>
                  <a:latin typeface="Calibri"/>
                  <a:ea typeface="Calibri"/>
                  <a:cs typeface="Calibri"/>
                  <a:sym typeface="Calibri"/>
                </a:rPr>
                <a:t>ASIC-based switching για μέγιστη ταχύτητα</a:t>
              </a:r>
              <a:endParaRPr b="0" sz="1100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77" name="Google Shape;177;p10"/>
          <p:cNvSpPr txBox="1"/>
          <p:nvPr/>
        </p:nvSpPr>
        <p:spPr>
          <a:xfrm>
            <a:off x="6991500" y="4835700"/>
            <a:ext cx="1994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A7074B"/>
                </a:solidFill>
              </a:rPr>
              <a:t>How_a_switch_works_6.pdf(129, 131)</a:t>
            </a:r>
            <a:endParaRPr sz="800">
              <a:solidFill>
                <a:srgbClr val="A7074B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d664018989_0_353"/>
          <p:cNvSpPr/>
          <p:nvPr/>
        </p:nvSpPr>
        <p:spPr>
          <a:xfrm>
            <a:off x="102050" y="0"/>
            <a:ext cx="9042000" cy="51435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800">
              <a:solidFill>
                <a:srgbClr val="A7074B"/>
              </a:solidFill>
            </a:endParaRPr>
          </a:p>
        </p:txBody>
      </p:sp>
      <p:sp>
        <p:nvSpPr>
          <p:cNvPr id="182" name="Google Shape;182;g3d664018989_0_353"/>
          <p:cNvSpPr txBox="1"/>
          <p:nvPr/>
        </p:nvSpPr>
        <p:spPr>
          <a:xfrm>
            <a:off x="476250" y="381000"/>
            <a:ext cx="81915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96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8. Μεταγωγέας Επιπέδου 3 vs Δρομολογητής</a:t>
            </a:r>
            <a:endParaRPr b="1" sz="296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g3d664018989_0_353"/>
          <p:cNvSpPr/>
          <p:nvPr/>
        </p:nvSpPr>
        <p:spPr>
          <a:xfrm>
            <a:off x="476250" y="1143000"/>
            <a:ext cx="8191500" cy="2190900"/>
          </a:xfrm>
          <a:prstGeom prst="roundRect">
            <a:avLst>
              <a:gd fmla="val 5217" name="adj"/>
            </a:avLst>
          </a:prstGeom>
          <a:solidFill>
            <a:srgbClr val="161B22"/>
          </a:solidFill>
          <a:ln cap="flat" cmpd="sng" w="14300">
            <a:solidFill>
              <a:srgbClr val="307E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84" name="Google Shape;184;g3d664018989_0_3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6175" y="1142983"/>
            <a:ext cx="8191500" cy="2190900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g3d664018989_0_353"/>
          <p:cNvSpPr txBox="1"/>
          <p:nvPr/>
        </p:nvSpPr>
        <p:spPr>
          <a:xfrm>
            <a:off x="476250" y="1143000"/>
            <a:ext cx="20478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ACB20C"/>
                </a:solidFill>
                <a:latin typeface="Calibri"/>
                <a:ea typeface="Calibri"/>
                <a:cs typeface="Calibri"/>
                <a:sym typeface="Calibri"/>
              </a:rPr>
              <a:t>Χαρακτηριστικό</a:t>
            </a:r>
            <a:endParaRPr b="1" sz="1200">
              <a:solidFill>
                <a:srgbClr val="ACB20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g3d664018989_0_353"/>
          <p:cNvSpPr txBox="1"/>
          <p:nvPr/>
        </p:nvSpPr>
        <p:spPr>
          <a:xfrm>
            <a:off x="2524125" y="1143000"/>
            <a:ext cx="30480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ACB20C"/>
                </a:solidFill>
                <a:latin typeface="Calibri"/>
                <a:ea typeface="Calibri"/>
                <a:cs typeface="Calibri"/>
                <a:sym typeface="Calibri"/>
              </a:rPr>
              <a:t>Μεταγωγέας Επιπέδου 3</a:t>
            </a:r>
            <a:endParaRPr b="1" sz="1200">
              <a:solidFill>
                <a:srgbClr val="ACB20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g3d664018989_0_353"/>
          <p:cNvSpPr txBox="1"/>
          <p:nvPr/>
        </p:nvSpPr>
        <p:spPr>
          <a:xfrm>
            <a:off x="5572125" y="1143000"/>
            <a:ext cx="30957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ACB20C"/>
                </a:solidFill>
                <a:latin typeface="Calibri"/>
                <a:ea typeface="Calibri"/>
                <a:cs typeface="Calibri"/>
                <a:sym typeface="Calibri"/>
              </a:rPr>
              <a:t>Δρομολογητής (Router)</a:t>
            </a:r>
            <a:endParaRPr b="1" sz="1200">
              <a:solidFill>
                <a:srgbClr val="ACB20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g3d664018989_0_353"/>
          <p:cNvSpPr txBox="1"/>
          <p:nvPr/>
        </p:nvSpPr>
        <p:spPr>
          <a:xfrm>
            <a:off x="571500" y="1714500"/>
            <a:ext cx="18573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4E9CF5"/>
                </a:solidFill>
                <a:latin typeface="Calibri"/>
                <a:ea typeface="Calibri"/>
                <a:cs typeface="Calibri"/>
                <a:sym typeface="Calibri"/>
              </a:rPr>
              <a:t>Ταχύτητα προώθησης</a:t>
            </a:r>
            <a:endParaRPr b="1" sz="1100">
              <a:solidFill>
                <a:srgbClr val="4E9CF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g3d664018989_0_353"/>
          <p:cNvSpPr txBox="1"/>
          <p:nvPr/>
        </p:nvSpPr>
        <p:spPr>
          <a:xfrm>
            <a:off x="2619375" y="1714500"/>
            <a:ext cx="28575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rPr>
              <a:t>Ταχύτητα καλωδίου (hardware)</a:t>
            </a:r>
            <a:endParaRPr b="0" sz="1100">
              <a:solidFill>
                <a:srgbClr val="E6EDF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g3d664018989_0_353"/>
          <p:cNvSpPr txBox="1"/>
          <p:nvPr/>
        </p:nvSpPr>
        <p:spPr>
          <a:xfrm>
            <a:off x="5667375" y="1714500"/>
            <a:ext cx="29052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rPr>
              <a:t>Πιο αργή (ιστορικά μέσω λογισμικού)</a:t>
            </a:r>
            <a:endParaRPr b="0" sz="1100">
              <a:solidFill>
                <a:srgbClr val="E6EDF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g3d664018989_0_353"/>
          <p:cNvSpPr txBox="1"/>
          <p:nvPr/>
        </p:nvSpPr>
        <p:spPr>
          <a:xfrm>
            <a:off x="571500" y="2143125"/>
            <a:ext cx="18573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4E9CF5"/>
                </a:solidFill>
                <a:latin typeface="Calibri"/>
                <a:ea typeface="Calibri"/>
                <a:cs typeface="Calibri"/>
                <a:sym typeface="Calibri"/>
              </a:rPr>
              <a:t>Βάση απόφασης</a:t>
            </a:r>
            <a:endParaRPr b="1" sz="1100">
              <a:solidFill>
                <a:srgbClr val="4E9CF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g3d664018989_0_353"/>
          <p:cNvSpPr txBox="1"/>
          <p:nvPr/>
        </p:nvSpPr>
        <p:spPr>
          <a:xfrm>
            <a:off x="2619375" y="2143125"/>
            <a:ext cx="28575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rPr>
              <a:t>Διευθύνσεις IP σε επίπεδο θύρας</a:t>
            </a:r>
            <a:endParaRPr b="0" sz="1100">
              <a:solidFill>
                <a:srgbClr val="E6EDF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g3d664018989_0_353"/>
          <p:cNvSpPr txBox="1"/>
          <p:nvPr/>
        </p:nvSpPr>
        <p:spPr>
          <a:xfrm>
            <a:off x="5667375" y="2143125"/>
            <a:ext cx="29052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rPr>
              <a:t>Πλήρης πίνακας δρομολόγησης</a:t>
            </a:r>
            <a:endParaRPr b="0" sz="1100">
              <a:solidFill>
                <a:srgbClr val="E6EDF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g3d664018989_0_353"/>
          <p:cNvSpPr txBox="1"/>
          <p:nvPr/>
        </p:nvSpPr>
        <p:spPr>
          <a:xfrm>
            <a:off x="571500" y="2571750"/>
            <a:ext cx="18573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4E9CF5"/>
                </a:solidFill>
                <a:latin typeface="Calibri"/>
                <a:ea typeface="Calibri"/>
                <a:cs typeface="Calibri"/>
                <a:sym typeface="Calibri"/>
              </a:rPr>
              <a:t>Ευελιξία</a:t>
            </a:r>
            <a:endParaRPr b="1" sz="1100">
              <a:solidFill>
                <a:srgbClr val="4E9CF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g3d664018989_0_353"/>
          <p:cNvSpPr txBox="1"/>
          <p:nvPr/>
        </p:nvSpPr>
        <p:spPr>
          <a:xfrm>
            <a:off x="2619375" y="2571750"/>
            <a:ext cx="28575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rPr>
              <a:t>Λιγότερο ευέλικτος</a:t>
            </a:r>
            <a:endParaRPr b="0" sz="1100">
              <a:solidFill>
                <a:srgbClr val="E6EDF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g3d664018989_0_353"/>
          <p:cNvSpPr txBox="1"/>
          <p:nvPr/>
        </p:nvSpPr>
        <p:spPr>
          <a:xfrm>
            <a:off x="5667375" y="2571750"/>
            <a:ext cx="29052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rPr>
              <a:t>Περισσότερο ευέλικτος (NAT, WAN)</a:t>
            </a:r>
            <a:endParaRPr b="0" sz="1100">
              <a:solidFill>
                <a:srgbClr val="E6EDF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g3d664018989_0_353"/>
          <p:cNvSpPr txBox="1"/>
          <p:nvPr/>
        </p:nvSpPr>
        <p:spPr>
          <a:xfrm>
            <a:off x="571500" y="3000375"/>
            <a:ext cx="18573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4E9CF5"/>
                </a:solidFill>
                <a:latin typeface="Calibri"/>
                <a:ea typeface="Calibri"/>
                <a:cs typeface="Calibri"/>
                <a:sym typeface="Calibri"/>
              </a:rPr>
              <a:t>Καλύτερη χρήση</a:t>
            </a:r>
            <a:endParaRPr b="1" sz="1100">
              <a:solidFill>
                <a:srgbClr val="4E9CF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g3d664018989_0_353"/>
          <p:cNvSpPr txBox="1"/>
          <p:nvPr/>
        </p:nvSpPr>
        <p:spPr>
          <a:xfrm>
            <a:off x="2619375" y="3000375"/>
            <a:ext cx="28575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rPr>
              <a:t>Περιβάλλον LAN</a:t>
            </a:r>
            <a:endParaRPr b="0" sz="1100">
              <a:solidFill>
                <a:srgbClr val="E6EDF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g3d664018989_0_353"/>
          <p:cNvSpPr txBox="1"/>
          <p:nvPr/>
        </p:nvSpPr>
        <p:spPr>
          <a:xfrm>
            <a:off x="5667375" y="3000375"/>
            <a:ext cx="29052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rPr>
              <a:t>Σύνθετη δρομολόγηση δικτύων</a:t>
            </a:r>
            <a:endParaRPr b="0" sz="1100">
              <a:solidFill>
                <a:srgbClr val="E6EDF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g3d664018989_0_353"/>
          <p:cNvSpPr/>
          <p:nvPr/>
        </p:nvSpPr>
        <p:spPr>
          <a:xfrm>
            <a:off x="476250" y="3667125"/>
            <a:ext cx="8044500" cy="1190700"/>
          </a:xfrm>
          <a:prstGeom prst="roundRect">
            <a:avLst>
              <a:gd fmla="val 8571" name="adj"/>
            </a:avLst>
          </a:prstGeom>
          <a:solidFill>
            <a:srgbClr val="161B22"/>
          </a:solidFill>
          <a:ln cap="flat" cmpd="sng" w="9525">
            <a:solidFill>
              <a:srgbClr val="3FAF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g3d664018989_0_353"/>
          <p:cNvSpPr txBox="1"/>
          <p:nvPr/>
        </p:nvSpPr>
        <p:spPr>
          <a:xfrm>
            <a:off x="714375" y="3667125"/>
            <a:ext cx="3476700" cy="104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3FAF46"/>
                </a:solidFill>
                <a:latin typeface="Calibri"/>
                <a:ea typeface="Calibri"/>
                <a:cs typeface="Calibri"/>
                <a:sym typeface="Calibri"/>
              </a:rPr>
              <a:t>Διεπαφές Δρομολογητή</a:t>
            </a:r>
            <a:endParaRPr b="1" sz="1400">
              <a:solidFill>
                <a:srgbClr val="3FAF4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8450" lvl="0" marL="457200" rtl="0" algn="l">
              <a:spcBef>
                <a:spcPts val="600"/>
              </a:spcBef>
              <a:spcAft>
                <a:spcPts val="0"/>
              </a:spcAft>
              <a:buClr>
                <a:srgbClr val="E6EDF3"/>
              </a:buClr>
              <a:buSzPts val="1100"/>
              <a:buFont typeface="Calibri"/>
              <a:buChar char="●"/>
            </a:pPr>
            <a:r>
              <a:rPr b="0" lang="en-US" sz="1100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rPr>
              <a:t>Ethernet, Serial (WAN)</a:t>
            </a:r>
            <a:endParaRPr b="0" sz="1100">
              <a:solidFill>
                <a:srgbClr val="E6EDF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100"/>
              <a:buFont typeface="Calibri"/>
              <a:buChar char="●"/>
            </a:pPr>
            <a:r>
              <a:rPr b="0" lang="en-US" sz="1100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rPr>
              <a:t>Token Ring support</a:t>
            </a:r>
            <a:endParaRPr b="0" sz="1100">
              <a:solidFill>
                <a:srgbClr val="E6EDF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Calibri"/>
              <a:buChar char="●"/>
            </a:pPr>
            <a:r>
              <a:rPr b="0" lang="en-US" sz="1100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rPr>
              <a:t>Πολλαπλοί τύποι media</a:t>
            </a:r>
            <a:endParaRPr b="0" sz="1100">
              <a:solidFill>
                <a:srgbClr val="E6EDF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g3d664018989_0_353"/>
          <p:cNvSpPr txBox="1"/>
          <p:nvPr/>
        </p:nvSpPr>
        <p:spPr>
          <a:xfrm>
            <a:off x="4953000" y="3667125"/>
            <a:ext cx="3476700" cy="104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3FAF46"/>
                </a:solidFill>
              </a:rPr>
              <a:t>Τρόποι Εκμάθησης Δικτύου</a:t>
            </a:r>
            <a:endParaRPr b="1">
              <a:solidFill>
                <a:srgbClr val="3FAF4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8450" lvl="0" marL="457200" rtl="0" algn="l">
              <a:spcBef>
                <a:spcPts val="600"/>
              </a:spcBef>
              <a:spcAft>
                <a:spcPts val="0"/>
              </a:spcAft>
              <a:buClr>
                <a:srgbClr val="E6EDF3"/>
              </a:buClr>
              <a:buSzPts val="1100"/>
              <a:buFont typeface="Calibri"/>
              <a:buAutoNum type="arabicPeriod"/>
            </a:pPr>
            <a:r>
              <a:rPr lang="en-US" sz="1100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rPr>
              <a:t>Τοπικά συνδεδεμένων θυρών </a:t>
            </a:r>
            <a:endParaRPr sz="1100">
              <a:solidFill>
                <a:srgbClr val="E6EDF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100"/>
              <a:buFont typeface="Calibri"/>
              <a:buAutoNum type="arabicPeriod"/>
            </a:pPr>
            <a:r>
              <a:rPr lang="en-US" sz="1100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rPr>
              <a:t>Στατικών καταχωρήσεων </a:t>
            </a:r>
            <a:endParaRPr sz="1100">
              <a:solidFill>
                <a:srgbClr val="E6EDF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100"/>
              <a:buFont typeface="Calibri"/>
              <a:buAutoNum type="arabicPeriod"/>
            </a:pPr>
            <a:r>
              <a:rPr lang="en-US" sz="1100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rPr>
              <a:t>Δυναμικών πρωτοκόλλων δρομολόγησης </a:t>
            </a:r>
            <a:endParaRPr sz="1100">
              <a:solidFill>
                <a:srgbClr val="E6EDF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E6EDF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3" name="Google Shape;203;g3d664018989_0_353"/>
          <p:cNvCxnSpPr>
            <a:endCxn id="200" idx="2"/>
          </p:cNvCxnSpPr>
          <p:nvPr/>
        </p:nvCxnSpPr>
        <p:spPr>
          <a:xfrm>
            <a:off x="4496700" y="3682125"/>
            <a:ext cx="1800" cy="1175700"/>
          </a:xfrm>
          <a:prstGeom prst="straightConnector1">
            <a:avLst/>
          </a:prstGeom>
          <a:noFill/>
          <a:ln cap="flat" cmpd="sng" w="9525">
            <a:solidFill>
              <a:srgbClr val="3FAF4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4" name="Google Shape;204;g3d664018989_0_353"/>
          <p:cNvSpPr txBox="1"/>
          <p:nvPr/>
        </p:nvSpPr>
        <p:spPr>
          <a:xfrm>
            <a:off x="7177775" y="4820800"/>
            <a:ext cx="21879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800">
                <a:solidFill>
                  <a:srgbClr val="A7074B"/>
                </a:solidFill>
              </a:rPr>
              <a:t>How_a_switch_works_6.pdf(132, 134)</a:t>
            </a:r>
            <a:endParaRPr sz="800">
              <a:solidFill>
                <a:srgbClr val="A7074B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0" name="Google Shape;210;p12"/>
          <p:cNvGrpSpPr/>
          <p:nvPr/>
        </p:nvGrpSpPr>
        <p:grpSpPr>
          <a:xfrm>
            <a:off x="548640" y="381000"/>
            <a:ext cx="8045700" cy="571500"/>
            <a:chOff x="548640" y="381000"/>
            <a:chExt cx="8045700" cy="571500"/>
          </a:xfrm>
        </p:grpSpPr>
        <p:sp>
          <p:nvSpPr>
            <p:cNvPr id="211" name="Google Shape;211;p12"/>
            <p:cNvSpPr/>
            <p:nvPr/>
          </p:nvSpPr>
          <p:spPr>
            <a:xfrm>
              <a:off x="548640" y="381000"/>
              <a:ext cx="8045700" cy="571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" name="Google Shape;212;p12"/>
            <p:cNvSpPr txBox="1"/>
            <p:nvPr/>
          </p:nvSpPr>
          <p:spPr>
            <a:xfrm>
              <a:off x="548640" y="381000"/>
              <a:ext cx="80457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96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9. Μεταγωγή Πακέτων και Μετάβαση Μέσου</a:t>
              </a:r>
              <a:endParaRPr b="1" sz="296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13" name="Google Shape;213;p12"/>
          <p:cNvGrpSpPr/>
          <p:nvPr/>
        </p:nvGrpSpPr>
        <p:grpSpPr>
          <a:xfrm>
            <a:off x="548640" y="1047750"/>
            <a:ext cx="8045700" cy="666900"/>
            <a:chOff x="548640" y="1047750"/>
            <a:chExt cx="8045700" cy="666900"/>
          </a:xfrm>
        </p:grpSpPr>
        <p:sp>
          <p:nvSpPr>
            <p:cNvPr id="214" name="Google Shape;214;p12"/>
            <p:cNvSpPr/>
            <p:nvPr/>
          </p:nvSpPr>
          <p:spPr>
            <a:xfrm>
              <a:off x="548640" y="1047750"/>
              <a:ext cx="8045700" cy="666900"/>
            </a:xfrm>
            <a:prstGeom prst="roundRect">
              <a:avLst>
                <a:gd fmla="val 11428" name="adj"/>
              </a:avLst>
            </a:prstGeom>
            <a:solidFill>
              <a:srgbClr val="161B22"/>
            </a:solidFill>
            <a:ln cap="flat" cmpd="sng" w="9525">
              <a:solidFill>
                <a:srgbClr val="307ED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" name="Google Shape;215;p12"/>
            <p:cNvSpPr txBox="1"/>
            <p:nvPr/>
          </p:nvSpPr>
          <p:spPr>
            <a:xfrm>
              <a:off x="739140" y="1047750"/>
              <a:ext cx="7664700" cy="66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rgbClr val="E6EDF3"/>
                  </a:solidFill>
                  <a:latin typeface="Calibri"/>
                  <a:ea typeface="Calibri"/>
                  <a:cs typeface="Calibri"/>
                  <a:sym typeface="Calibri"/>
                </a:rPr>
                <a:t>• Οι πληροφορίες Επιπέδου 3 μεταφέρονται μέσω </a:t>
              </a:r>
              <a:r>
                <a:rPr lang="en-US" sz="1400" u="sng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packet switching</a:t>
              </a:r>
              <a:endParaRPr sz="1400" u="sng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rgbClr val="E6EDF3"/>
                  </a:solidFill>
                  <a:latin typeface="Calibri"/>
                  <a:ea typeface="Calibri"/>
                  <a:cs typeface="Calibri"/>
                  <a:sym typeface="Calibri"/>
                </a:rPr>
                <a:t>• Τα πακέτα IP μεταφέρουν τη διεύθυνση </a:t>
              </a:r>
              <a:r>
                <a:rPr lang="en-US" sz="1400" u="sng">
                  <a:solidFill>
                    <a:srgbClr val="E6EDF3"/>
                  </a:solidFill>
                  <a:latin typeface="Calibri"/>
                  <a:ea typeface="Calibri"/>
                  <a:cs typeface="Calibri"/>
                  <a:sym typeface="Calibri"/>
                </a:rPr>
                <a:t>IP</a:t>
              </a:r>
              <a:r>
                <a:rPr lang="en-US">
                  <a:solidFill>
                    <a:srgbClr val="E6EDF3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r>
                <a:rPr lang="en-US" sz="1400" u="sng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πηγής</a:t>
              </a:r>
              <a:r>
                <a:rPr lang="en-US" sz="1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 και </a:t>
              </a:r>
              <a:r>
                <a:rPr lang="en-US" sz="1400" u="sng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προορισμού</a:t>
              </a:r>
              <a:endParaRPr sz="1400" u="sng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16" name="Google Shape;216;p12"/>
          <p:cNvGrpSpPr/>
          <p:nvPr/>
        </p:nvGrpSpPr>
        <p:grpSpPr>
          <a:xfrm>
            <a:off x="548640" y="1905000"/>
            <a:ext cx="8045700" cy="2190900"/>
            <a:chOff x="548640" y="1905000"/>
            <a:chExt cx="8045700" cy="2190900"/>
          </a:xfrm>
        </p:grpSpPr>
        <p:sp>
          <p:nvSpPr>
            <p:cNvPr id="217" name="Google Shape;217;p12"/>
            <p:cNvSpPr/>
            <p:nvPr/>
          </p:nvSpPr>
          <p:spPr>
            <a:xfrm>
              <a:off x="548640" y="1905000"/>
              <a:ext cx="8045700" cy="2190900"/>
            </a:xfrm>
            <a:prstGeom prst="roundRect">
              <a:avLst>
                <a:gd fmla="val 5217" name="adj"/>
              </a:avLst>
            </a:prstGeom>
            <a:solidFill>
              <a:srgbClr val="161B22"/>
            </a:solidFill>
            <a:ln cap="flat" cmpd="sng" w="9525">
              <a:solidFill>
                <a:srgbClr val="3FAF4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" name="Google Shape;218;p12"/>
            <p:cNvSpPr txBox="1"/>
            <p:nvPr/>
          </p:nvSpPr>
          <p:spPr>
            <a:xfrm>
              <a:off x="786765" y="2047875"/>
              <a:ext cx="75693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3FAF46"/>
                  </a:solidFill>
                  <a:latin typeface="Calibri"/>
                  <a:ea typeface="Calibri"/>
                  <a:cs typeface="Calibri"/>
                  <a:sym typeface="Calibri"/>
                </a:rPr>
                <a:t>Διαδικασία Media Transition σε όρια δικτύου</a:t>
              </a:r>
              <a:endParaRPr b="1" sz="1600">
                <a:solidFill>
                  <a:srgbClr val="3FAF46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19" name="Google Shape;219;p12"/>
            <p:cNvGrpSpPr/>
            <p:nvPr/>
          </p:nvGrpSpPr>
          <p:grpSpPr>
            <a:xfrm>
              <a:off x="786765" y="2476500"/>
              <a:ext cx="2286000" cy="1333500"/>
              <a:chOff x="786765" y="2476500"/>
              <a:chExt cx="2286000" cy="1333500"/>
            </a:xfrm>
          </p:grpSpPr>
          <p:sp>
            <p:nvSpPr>
              <p:cNvPr id="220" name="Google Shape;220;p12"/>
              <p:cNvSpPr/>
              <p:nvPr/>
            </p:nvSpPr>
            <p:spPr>
              <a:xfrm>
                <a:off x="786765" y="2476500"/>
                <a:ext cx="2286000" cy="1333500"/>
              </a:xfrm>
              <a:prstGeom prst="roundRect">
                <a:avLst>
                  <a:gd fmla="val 5714" name="adj"/>
                </a:avLst>
              </a:prstGeom>
              <a:solidFill>
                <a:srgbClr val="0D1117"/>
              </a:solidFill>
              <a:ln cap="flat" cmpd="sng" w="4775">
                <a:solidFill>
                  <a:srgbClr val="3FAF4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1" name="Google Shape;221;p12"/>
              <p:cNvSpPr txBox="1"/>
              <p:nvPr/>
            </p:nvSpPr>
            <p:spPr>
              <a:xfrm>
                <a:off x="882015" y="2476500"/>
                <a:ext cx="2095500" cy="1333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800">
                    <a:solidFill>
                      <a:srgbClr val="3FAF4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01</a:t>
                </a:r>
                <a:endParaRPr b="1" sz="1800">
                  <a:solidFill>
                    <a:srgbClr val="3FAF4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0" marL="0" rtl="0" algn="ctr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lang="en-US" sz="1100">
                    <a:solidFill>
                      <a:srgbClr val="E6EDF3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Αφαίρεση εισερχόμενης ενθυλάκωσης Επιπέδου 2 (π.χ. Ethernet)</a:t>
                </a:r>
                <a:endParaRPr sz="1100">
                  <a:solidFill>
                    <a:srgbClr val="E6EDF3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22" name="Google Shape;222;p12"/>
            <p:cNvGrpSpPr/>
            <p:nvPr/>
          </p:nvGrpSpPr>
          <p:grpSpPr>
            <a:xfrm>
              <a:off x="3428048" y="2476500"/>
              <a:ext cx="2286000" cy="1333500"/>
              <a:chOff x="3428048" y="2476500"/>
              <a:chExt cx="2286000" cy="1333500"/>
            </a:xfrm>
          </p:grpSpPr>
          <p:sp>
            <p:nvSpPr>
              <p:cNvPr id="223" name="Google Shape;223;p12"/>
              <p:cNvSpPr/>
              <p:nvPr/>
            </p:nvSpPr>
            <p:spPr>
              <a:xfrm>
                <a:off x="3428048" y="2476500"/>
                <a:ext cx="2286000" cy="1333500"/>
              </a:xfrm>
              <a:prstGeom prst="roundRect">
                <a:avLst>
                  <a:gd fmla="val 5714" name="adj"/>
                </a:avLst>
              </a:prstGeom>
              <a:solidFill>
                <a:srgbClr val="0D1117"/>
              </a:solidFill>
              <a:ln cap="flat" cmpd="sng" w="4775">
                <a:solidFill>
                  <a:srgbClr val="3FAF4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4" name="Google Shape;224;p12"/>
              <p:cNvSpPr txBox="1"/>
              <p:nvPr/>
            </p:nvSpPr>
            <p:spPr>
              <a:xfrm>
                <a:off x="3523298" y="2476500"/>
                <a:ext cx="2095500" cy="1333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800">
                    <a:solidFill>
                      <a:srgbClr val="3FAF4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02</a:t>
                </a:r>
                <a:endParaRPr b="1" sz="1800">
                  <a:solidFill>
                    <a:srgbClr val="3FAF4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0" marL="0" rtl="0" algn="ctr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lang="en-US" sz="1100">
                    <a:solidFill>
                      <a:srgbClr val="E6EDF3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Ανάγνωση πακέτου IP Επιπέδου 3</a:t>
                </a:r>
                <a:endParaRPr sz="1100">
                  <a:solidFill>
                    <a:srgbClr val="E6EDF3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25" name="Google Shape;225;p12"/>
            <p:cNvGrpSpPr/>
            <p:nvPr/>
          </p:nvGrpSpPr>
          <p:grpSpPr>
            <a:xfrm>
              <a:off x="6069330" y="2476500"/>
              <a:ext cx="2286000" cy="1333500"/>
              <a:chOff x="6069330" y="2476500"/>
              <a:chExt cx="2286000" cy="1333500"/>
            </a:xfrm>
          </p:grpSpPr>
          <p:sp>
            <p:nvSpPr>
              <p:cNvPr id="226" name="Google Shape;226;p12"/>
              <p:cNvSpPr/>
              <p:nvPr/>
            </p:nvSpPr>
            <p:spPr>
              <a:xfrm>
                <a:off x="6069330" y="2476500"/>
                <a:ext cx="2286000" cy="1333500"/>
              </a:xfrm>
              <a:prstGeom prst="roundRect">
                <a:avLst>
                  <a:gd fmla="val 5714" name="adj"/>
                </a:avLst>
              </a:prstGeom>
              <a:solidFill>
                <a:srgbClr val="0D1117"/>
              </a:solidFill>
              <a:ln cap="flat" cmpd="sng" w="4775">
                <a:solidFill>
                  <a:srgbClr val="3FAF4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7" name="Google Shape;227;p12"/>
              <p:cNvSpPr txBox="1"/>
              <p:nvPr/>
            </p:nvSpPr>
            <p:spPr>
              <a:xfrm>
                <a:off x="6164580" y="2476500"/>
                <a:ext cx="2095500" cy="1333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800">
                    <a:solidFill>
                      <a:srgbClr val="3FAF4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03</a:t>
                </a:r>
                <a:endParaRPr b="1" sz="1800">
                  <a:solidFill>
                    <a:srgbClr val="3FAF4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0" marL="0" rtl="0" algn="ctr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lang="en-US" sz="1100">
                    <a:solidFill>
                      <a:srgbClr val="E6EDF3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Επανενθυλάκωση στην τεχνολογία εξόδου (π.χ. Token Ring)</a:t>
                </a:r>
                <a:endParaRPr sz="1100">
                  <a:solidFill>
                    <a:srgbClr val="E6EDF3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28" name="Google Shape;228;p12"/>
          <p:cNvGrpSpPr/>
          <p:nvPr/>
        </p:nvGrpSpPr>
        <p:grpSpPr>
          <a:xfrm>
            <a:off x="548640" y="4286250"/>
            <a:ext cx="8045700" cy="571500"/>
            <a:chOff x="548640" y="4286250"/>
            <a:chExt cx="8045700" cy="571500"/>
          </a:xfrm>
        </p:grpSpPr>
        <p:sp>
          <p:nvSpPr>
            <p:cNvPr id="229" name="Google Shape;229;p12"/>
            <p:cNvSpPr/>
            <p:nvPr/>
          </p:nvSpPr>
          <p:spPr>
            <a:xfrm>
              <a:off x="548640" y="4286250"/>
              <a:ext cx="8045700" cy="571500"/>
            </a:xfrm>
            <a:prstGeom prst="roundRect">
              <a:avLst>
                <a:gd fmla="val 13333" name="adj"/>
              </a:avLst>
            </a:prstGeom>
            <a:solidFill>
              <a:srgbClr val="161B22"/>
            </a:solidFill>
            <a:ln cap="flat" cmpd="sng" w="9525">
              <a:solidFill>
                <a:srgbClr val="A7074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" name="Google Shape;230;p12"/>
            <p:cNvSpPr txBox="1"/>
            <p:nvPr/>
          </p:nvSpPr>
          <p:spPr>
            <a:xfrm>
              <a:off x="739140" y="4286250"/>
              <a:ext cx="76647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-311150" lvl="0" marL="457200" rtl="0" algn="l">
                <a:spcBef>
                  <a:spcPts val="0"/>
                </a:spcBef>
                <a:spcAft>
                  <a:spcPts val="0"/>
                </a:spcAft>
                <a:buClr>
                  <a:srgbClr val="E6EDF3"/>
                </a:buClr>
                <a:buSzPts val="1300"/>
                <a:buFont typeface="Calibri"/>
                <a:buChar char="➢"/>
              </a:pPr>
              <a:r>
                <a:rPr lang="en-US" sz="1300">
                  <a:solidFill>
                    <a:srgbClr val="E6EDF3"/>
                  </a:solidFill>
                  <a:latin typeface="Calibri"/>
                  <a:ea typeface="Calibri"/>
                  <a:cs typeface="Calibri"/>
                  <a:sym typeface="Calibri"/>
                </a:rPr>
                <a:t> Ο τύπος του προωθούμενου πλαισίου μπορεί να διαφέρει από τον τύπο του ληφθέντος</a:t>
              </a:r>
              <a:endParaRPr sz="1300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31" name="Google Shape;231;p12"/>
          <p:cNvSpPr txBox="1"/>
          <p:nvPr/>
        </p:nvSpPr>
        <p:spPr>
          <a:xfrm>
            <a:off x="7315450" y="4857750"/>
            <a:ext cx="2136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A7074B"/>
                </a:solidFill>
              </a:rPr>
              <a:t>How_a_switch_works_6.pdf(134,135)</a:t>
            </a:r>
            <a:endParaRPr sz="800">
              <a:solidFill>
                <a:srgbClr val="A7074B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13"/>
          <p:cNvSpPr txBox="1"/>
          <p:nvPr/>
        </p:nvSpPr>
        <p:spPr>
          <a:xfrm>
            <a:off x="476250" y="381000"/>
            <a:ext cx="81915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10. Αναζήτηση στον Πίνακα Δρομολόγησης</a:t>
            </a:r>
            <a:endParaRPr b="1" sz="2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38" name="Google Shape;238;p13"/>
          <p:cNvGrpSpPr/>
          <p:nvPr/>
        </p:nvGrpSpPr>
        <p:grpSpPr>
          <a:xfrm>
            <a:off x="476250" y="1047750"/>
            <a:ext cx="8191500" cy="714300"/>
            <a:chOff x="476250" y="1047750"/>
            <a:chExt cx="8191500" cy="714300"/>
          </a:xfrm>
        </p:grpSpPr>
        <p:sp>
          <p:nvSpPr>
            <p:cNvPr id="239" name="Google Shape;239;p13"/>
            <p:cNvSpPr/>
            <p:nvPr/>
          </p:nvSpPr>
          <p:spPr>
            <a:xfrm>
              <a:off x="476250" y="1047750"/>
              <a:ext cx="8191500" cy="714300"/>
            </a:xfrm>
            <a:prstGeom prst="roundRect">
              <a:avLst>
                <a:gd fmla="val 10666" name="adj"/>
              </a:avLst>
            </a:prstGeom>
            <a:solidFill>
              <a:srgbClr val="161B22"/>
            </a:solidFill>
            <a:ln cap="flat" cmpd="sng" w="9525">
              <a:solidFill>
                <a:srgbClr val="307ED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" name="Google Shape;240;p13"/>
            <p:cNvSpPr txBox="1"/>
            <p:nvPr/>
          </p:nvSpPr>
          <p:spPr>
            <a:xfrm>
              <a:off x="666750" y="1047750"/>
              <a:ext cx="7810500" cy="714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00">
                  <a:solidFill>
                    <a:srgbClr val="E6EDF3"/>
                  </a:solidFill>
                  <a:latin typeface="Calibri"/>
                  <a:ea typeface="Calibri"/>
                  <a:cs typeface="Calibri"/>
                  <a:sym typeface="Calibri"/>
                </a:rPr>
                <a:t>Το</a:t>
              </a:r>
              <a:r>
                <a:rPr lang="en-US" sz="1300">
                  <a:solidFill>
                    <a:srgbClr val="E6EDF3"/>
                  </a:solidFill>
                  <a:latin typeface="Calibri"/>
                  <a:ea typeface="Calibri"/>
                  <a:cs typeface="Calibri"/>
                  <a:sym typeface="Calibri"/>
                </a:rPr>
                <a:t> router εκτελεί αναζήτηση χρησιμοποιώντας τη διεύθυνση IP προορισμού με τη μέθοδο </a:t>
              </a:r>
              <a:r>
                <a:rPr lang="en-US" sz="13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longest prefix match</a:t>
              </a:r>
              <a:r>
                <a:rPr lang="en-US" sz="1300">
                  <a:solidFill>
                    <a:srgbClr val="E6EDF3"/>
                  </a:solidFill>
                  <a:latin typeface="Calibri"/>
                  <a:ea typeface="Calibri"/>
                  <a:cs typeface="Calibri"/>
                  <a:sym typeface="Calibri"/>
                </a:rPr>
                <a:t> (εύρεση της πιο συγκεκριμένης διαδρομής σε ιεραρχικό χώρο διευθύνσεων).</a:t>
              </a:r>
              <a:endParaRPr sz="1300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41" name="Google Shape;241;p13"/>
          <p:cNvGrpSpPr/>
          <p:nvPr/>
        </p:nvGrpSpPr>
        <p:grpSpPr>
          <a:xfrm>
            <a:off x="476375" y="1904927"/>
            <a:ext cx="2571900" cy="2476252"/>
            <a:chOff x="476250" y="1905000"/>
            <a:chExt cx="2571900" cy="2476500"/>
          </a:xfrm>
        </p:grpSpPr>
        <p:sp>
          <p:nvSpPr>
            <p:cNvPr id="242" name="Google Shape;242;p13"/>
            <p:cNvSpPr/>
            <p:nvPr/>
          </p:nvSpPr>
          <p:spPr>
            <a:xfrm>
              <a:off x="476250" y="1905000"/>
              <a:ext cx="2571900" cy="2476500"/>
            </a:xfrm>
            <a:prstGeom prst="roundRect">
              <a:avLst>
                <a:gd fmla="val 4615" name="adj"/>
              </a:avLst>
            </a:prstGeom>
            <a:solidFill>
              <a:srgbClr val="161B22"/>
            </a:solidFill>
            <a:ln cap="flat" cmpd="sng" w="14300">
              <a:solidFill>
                <a:srgbClr val="ACB20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" name="Google Shape;243;p13"/>
            <p:cNvSpPr txBox="1"/>
            <p:nvPr/>
          </p:nvSpPr>
          <p:spPr>
            <a:xfrm>
              <a:off x="476250" y="1905000"/>
              <a:ext cx="25719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5250" lIns="95250" spcFirstLastPara="1" rIns="95250" wrap="square" tIns="952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90">
                  <a:solidFill>
                    <a:srgbClr val="ACB20C"/>
                  </a:solidFill>
                  <a:latin typeface="Calibri"/>
                  <a:ea typeface="Calibri"/>
                  <a:cs typeface="Calibri"/>
                  <a:sym typeface="Calibri"/>
                </a:rPr>
                <a:t>1. Προορισμός Μη Προσβάσιμος</a:t>
              </a:r>
              <a:endParaRPr b="1" sz="1190">
                <a:solidFill>
                  <a:srgbClr val="ACB20C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4" name="Google Shape;244;p13"/>
            <p:cNvSpPr txBox="1"/>
            <p:nvPr/>
          </p:nvSpPr>
          <p:spPr>
            <a:xfrm>
              <a:off x="618675" y="2476504"/>
              <a:ext cx="2286600" cy="1418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-298446" lvl="0" marL="457200" rtl="0" algn="l">
                <a:spcBef>
                  <a:spcPts val="0"/>
                </a:spcBef>
                <a:spcAft>
                  <a:spcPts val="0"/>
                </a:spcAft>
                <a:buClr>
                  <a:srgbClr val="E6EDF3"/>
                </a:buClr>
                <a:buSzPts val="1100"/>
                <a:buFont typeface="Calibri"/>
                <a:buAutoNum type="arabicPeriod"/>
              </a:pPr>
              <a:r>
                <a:rPr lang="en-US" sz="1100">
                  <a:solidFill>
                    <a:srgbClr val="E6EDF3"/>
                  </a:solidFill>
                  <a:latin typeface="Calibri"/>
                  <a:ea typeface="Calibri"/>
                  <a:cs typeface="Calibri"/>
                  <a:sym typeface="Calibri"/>
                </a:rPr>
                <a:t>• Δεν υπάρχει διαδρομή ή default route.</a:t>
              </a:r>
              <a:endParaRPr sz="1100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298446" lvl="0" marL="457200" rtl="0" algn="l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100"/>
                <a:buFont typeface="Calibri"/>
                <a:buAutoNum type="arabicPeriod"/>
              </a:pPr>
              <a:r>
                <a:rPr lang="en-US" sz="1100">
                  <a:solidFill>
                    <a:srgbClr val="E6EDF3"/>
                  </a:solidFill>
                  <a:latin typeface="Calibri"/>
                  <a:ea typeface="Calibri"/>
                  <a:cs typeface="Calibri"/>
                  <a:sym typeface="Calibri"/>
                </a:rPr>
                <a:t>• Το πακέτο </a:t>
              </a:r>
              <a:r>
                <a:rPr lang="en-US" sz="11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απορρίπτεται</a:t>
              </a:r>
              <a:r>
                <a:rPr lang="en-US" sz="1100">
                  <a:solidFill>
                    <a:srgbClr val="E6EDF3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sz="1100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298446" lvl="0" marL="457200" rtl="0" algn="l">
                <a:spcBef>
                  <a:spcPts val="0"/>
                </a:spcBef>
                <a:spcAft>
                  <a:spcPts val="0"/>
                </a:spcAft>
                <a:buClr>
                  <a:srgbClr val="E6EDF3"/>
                </a:buClr>
                <a:buSzPts val="1100"/>
                <a:buFont typeface="Calibri"/>
                <a:buAutoNum type="arabicPeriod"/>
              </a:pPr>
              <a:r>
                <a:rPr lang="en-US" sz="1100">
                  <a:solidFill>
                    <a:srgbClr val="E6EDF3"/>
                  </a:solidFill>
                  <a:latin typeface="Calibri"/>
                  <a:ea typeface="Calibri"/>
                  <a:cs typeface="Calibri"/>
                  <a:sym typeface="Calibri"/>
                </a:rPr>
                <a:t>• Πιθανή αποστολή ICMP "Destination Unreachable".</a:t>
              </a:r>
              <a:endParaRPr sz="1100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45" name="Google Shape;245;p13"/>
          <p:cNvGrpSpPr/>
          <p:nvPr/>
        </p:nvGrpSpPr>
        <p:grpSpPr>
          <a:xfrm>
            <a:off x="3286125" y="1905000"/>
            <a:ext cx="2571900" cy="2476500"/>
            <a:chOff x="3286125" y="1905000"/>
            <a:chExt cx="2571900" cy="2476500"/>
          </a:xfrm>
        </p:grpSpPr>
        <p:sp>
          <p:nvSpPr>
            <p:cNvPr id="246" name="Google Shape;246;p13"/>
            <p:cNvSpPr/>
            <p:nvPr/>
          </p:nvSpPr>
          <p:spPr>
            <a:xfrm>
              <a:off x="3286125" y="1905000"/>
              <a:ext cx="2571900" cy="2476500"/>
            </a:xfrm>
            <a:prstGeom prst="roundRect">
              <a:avLst>
                <a:gd fmla="val 4615" name="adj"/>
              </a:avLst>
            </a:prstGeom>
            <a:solidFill>
              <a:srgbClr val="161B22"/>
            </a:solidFill>
            <a:ln cap="flat" cmpd="sng" w="14300">
              <a:solidFill>
                <a:srgbClr val="3FAF4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" name="Google Shape;247;p13"/>
            <p:cNvSpPr txBox="1"/>
            <p:nvPr/>
          </p:nvSpPr>
          <p:spPr>
            <a:xfrm>
              <a:off x="3286125" y="1905000"/>
              <a:ext cx="25719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5250" lIns="95250" spcFirstLastPara="1" rIns="95250" wrap="square" tIns="952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90">
                  <a:solidFill>
                    <a:srgbClr val="3FAF46"/>
                  </a:solidFill>
                  <a:latin typeface="Calibri"/>
                  <a:ea typeface="Calibri"/>
                  <a:cs typeface="Calibri"/>
                  <a:sym typeface="Calibri"/>
                </a:rPr>
                <a:t>2. Μέσω Άλλου Router (Next-Hop)</a:t>
              </a:r>
              <a:endParaRPr b="1" sz="1190">
                <a:solidFill>
                  <a:srgbClr val="3FAF46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8" name="Google Shape;248;p13"/>
            <p:cNvSpPr txBox="1"/>
            <p:nvPr/>
          </p:nvSpPr>
          <p:spPr>
            <a:xfrm>
              <a:off x="3429000" y="2476500"/>
              <a:ext cx="2286000" cy="180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-295275" lvl="0" marL="457200" rtl="0" algn="l">
                <a:spcBef>
                  <a:spcPts val="0"/>
                </a:spcBef>
                <a:spcAft>
                  <a:spcPts val="0"/>
                </a:spcAft>
                <a:buClr>
                  <a:srgbClr val="E6EDF3"/>
                </a:buClr>
                <a:buSzPts val="1050"/>
                <a:buFont typeface="Calibri"/>
                <a:buAutoNum type="arabicPeriod"/>
              </a:pPr>
              <a:r>
                <a:rPr lang="en-US" sz="1050">
                  <a:solidFill>
                    <a:srgbClr val="E6EDF3"/>
                  </a:solidFill>
                  <a:latin typeface="Calibri"/>
                  <a:ea typeface="Calibri"/>
                  <a:cs typeface="Calibri"/>
                  <a:sym typeface="Calibri"/>
                </a:rPr>
                <a:t>Αναγνώριση IP next-hop.</a:t>
              </a:r>
              <a:endParaRPr sz="1050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295275" lvl="0" marL="457200" rtl="0" algn="l">
                <a:spcBef>
                  <a:spcPts val="375"/>
                </a:spcBef>
                <a:spcAft>
                  <a:spcPts val="0"/>
                </a:spcAft>
                <a:buClr>
                  <a:srgbClr val="E6EDF3"/>
                </a:buClr>
                <a:buSzPts val="1050"/>
                <a:buFont typeface="Calibri"/>
                <a:buAutoNum type="arabicPeriod"/>
              </a:pPr>
              <a:r>
                <a:rPr lang="en-US" sz="1050">
                  <a:solidFill>
                    <a:srgbClr val="E6EDF3"/>
                  </a:solidFill>
                  <a:latin typeface="Calibri"/>
                  <a:ea typeface="Calibri"/>
                  <a:cs typeface="Calibri"/>
                  <a:sym typeface="Calibri"/>
                </a:rPr>
                <a:t>Εύρεση τοπικής διεπαφής εξόδου.</a:t>
              </a:r>
              <a:endParaRPr sz="1050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295275" lvl="0" marL="457200" rtl="0" algn="l">
                <a:spcBef>
                  <a:spcPts val="375"/>
                </a:spcBef>
                <a:spcAft>
                  <a:spcPts val="0"/>
                </a:spcAft>
                <a:buClr>
                  <a:srgbClr val="E6EDF3"/>
                </a:buClr>
                <a:buSzPts val="1050"/>
                <a:buFont typeface="Calibri"/>
                <a:buAutoNum type="arabicPeriod"/>
              </a:pPr>
              <a:r>
                <a:rPr lang="en-US" sz="1050">
                  <a:solidFill>
                    <a:srgbClr val="E6EDF3"/>
                  </a:solidFill>
                  <a:latin typeface="Calibri"/>
                  <a:ea typeface="Calibri"/>
                  <a:cs typeface="Calibri"/>
                  <a:sym typeface="Calibri"/>
                </a:rPr>
                <a:t>Έλεγχος/Αίτημα ARP για MAC του next-hop.</a:t>
              </a:r>
              <a:endParaRPr sz="1050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295275" lvl="0" marL="457200" rtl="0" algn="l">
                <a:spcBef>
                  <a:spcPts val="375"/>
                </a:spcBef>
                <a:spcAft>
                  <a:spcPts val="0"/>
                </a:spcAft>
                <a:buClr>
                  <a:srgbClr val="E6EDF3"/>
                </a:buClr>
                <a:buSzPts val="1050"/>
                <a:buFont typeface="Calibri"/>
                <a:buAutoNum type="arabicPeriod"/>
              </a:pPr>
              <a:r>
                <a:rPr lang="en-US" sz="1050">
                  <a:solidFill>
                    <a:srgbClr val="E6EDF3"/>
                  </a:solidFill>
                  <a:latin typeface="Calibri"/>
                  <a:ea typeface="Calibri"/>
                  <a:cs typeface="Calibri"/>
                  <a:sym typeface="Calibri"/>
                </a:rPr>
                <a:t>Νέα ενθυλάκωση και προώθηση.</a:t>
              </a:r>
              <a:endParaRPr sz="1050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49" name="Google Shape;249;p13"/>
          <p:cNvGrpSpPr/>
          <p:nvPr/>
        </p:nvGrpSpPr>
        <p:grpSpPr>
          <a:xfrm>
            <a:off x="6096000" y="1905000"/>
            <a:ext cx="2571900" cy="2476500"/>
            <a:chOff x="6096000" y="1905000"/>
            <a:chExt cx="2571900" cy="2476500"/>
          </a:xfrm>
        </p:grpSpPr>
        <p:sp>
          <p:nvSpPr>
            <p:cNvPr id="250" name="Google Shape;250;p13"/>
            <p:cNvSpPr/>
            <p:nvPr/>
          </p:nvSpPr>
          <p:spPr>
            <a:xfrm>
              <a:off x="6096000" y="1905000"/>
              <a:ext cx="2571900" cy="2476500"/>
            </a:xfrm>
            <a:prstGeom prst="roundRect">
              <a:avLst>
                <a:gd fmla="val 4615" name="adj"/>
              </a:avLst>
            </a:prstGeom>
            <a:solidFill>
              <a:srgbClr val="161B22"/>
            </a:solidFill>
            <a:ln cap="flat" cmpd="sng" w="14300">
              <a:solidFill>
                <a:srgbClr val="A7074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" name="Google Shape;251;p13"/>
            <p:cNvSpPr txBox="1"/>
            <p:nvPr/>
          </p:nvSpPr>
          <p:spPr>
            <a:xfrm>
              <a:off x="6096000" y="1905000"/>
              <a:ext cx="25719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5250" lIns="95250" spcFirstLastPara="1" rIns="95250" wrap="square" tIns="952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95">
                  <a:solidFill>
                    <a:srgbClr val="A7074B"/>
                  </a:solidFill>
                  <a:latin typeface="Calibri"/>
                  <a:ea typeface="Calibri"/>
                  <a:cs typeface="Calibri"/>
                  <a:sym typeface="Calibri"/>
                </a:rPr>
                <a:t>3. Άμεσα Συνδεδεμένο Δίκτυο</a:t>
              </a:r>
              <a:endParaRPr b="1" sz="1295">
                <a:solidFill>
                  <a:srgbClr val="A7074B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2" name="Google Shape;252;p13"/>
            <p:cNvSpPr txBox="1"/>
            <p:nvPr/>
          </p:nvSpPr>
          <p:spPr>
            <a:xfrm>
              <a:off x="6238875" y="2476500"/>
              <a:ext cx="2286000" cy="180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-295275" lvl="0" marL="457200" rtl="0" algn="l">
                <a:spcBef>
                  <a:spcPts val="0"/>
                </a:spcBef>
                <a:spcAft>
                  <a:spcPts val="0"/>
                </a:spcAft>
                <a:buClr>
                  <a:srgbClr val="E6EDF3"/>
                </a:buClr>
                <a:buSzPts val="1050"/>
                <a:buFont typeface="Calibri"/>
                <a:buAutoNum type="arabicPeriod"/>
              </a:pPr>
              <a:r>
                <a:rPr lang="en-US" sz="1050">
                  <a:solidFill>
                    <a:srgbClr val="E6EDF3"/>
                  </a:solidFill>
                  <a:latin typeface="Calibri"/>
                  <a:ea typeface="Calibri"/>
                  <a:cs typeface="Calibri"/>
                  <a:sym typeface="Calibri"/>
                </a:rPr>
                <a:t>Έλεγχος ARP cache για MAC προορισμού.</a:t>
              </a:r>
              <a:endParaRPr sz="1050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295275" lvl="0" marL="457200" rtl="0" algn="l">
                <a:spcBef>
                  <a:spcPts val="375"/>
                </a:spcBef>
                <a:spcAft>
                  <a:spcPts val="0"/>
                </a:spcAft>
                <a:buClr>
                  <a:srgbClr val="E6EDF3"/>
                </a:buClr>
                <a:buSzPts val="1050"/>
                <a:buFont typeface="Calibri"/>
                <a:buAutoNum type="arabicPeriod"/>
              </a:pPr>
              <a:r>
                <a:rPr lang="en-US" sz="1050">
                  <a:solidFill>
                    <a:srgbClr val="E6EDF3"/>
                  </a:solidFill>
                  <a:latin typeface="Calibri"/>
                  <a:ea typeface="Calibri"/>
                  <a:cs typeface="Calibri"/>
                  <a:sym typeface="Calibri"/>
                </a:rPr>
                <a:t>Αν βρεθεί: Άμεση αποστολή πλαισίου.</a:t>
              </a:r>
              <a:endParaRPr sz="1050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295275" lvl="0" marL="457200" rtl="0" algn="l">
                <a:spcBef>
                  <a:spcPts val="375"/>
                </a:spcBef>
                <a:spcAft>
                  <a:spcPts val="0"/>
                </a:spcAft>
                <a:buClr>
                  <a:srgbClr val="E6EDF3"/>
                </a:buClr>
                <a:buSzPts val="1050"/>
                <a:buFont typeface="Calibri"/>
                <a:buAutoNum type="arabicPeriod"/>
              </a:pPr>
              <a:r>
                <a:rPr lang="en-US" sz="1050">
                  <a:solidFill>
                    <a:srgbClr val="E6EDF3"/>
                  </a:solidFill>
                  <a:latin typeface="Calibri"/>
                  <a:ea typeface="Calibri"/>
                  <a:cs typeface="Calibri"/>
                  <a:sym typeface="Calibri"/>
                </a:rPr>
                <a:t>Αν δεν βρεθεί: Αίτημα ARP &amp; απόρριψη πακέτου-έναυσμα (Cisco IOS).</a:t>
              </a:r>
              <a:endParaRPr sz="1050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53" name="Google Shape;253;p13"/>
          <p:cNvSpPr txBox="1"/>
          <p:nvPr/>
        </p:nvSpPr>
        <p:spPr>
          <a:xfrm>
            <a:off x="6907225" y="4835700"/>
            <a:ext cx="3000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A7074B"/>
                </a:solidFill>
              </a:rPr>
              <a:t>How_a_switch_works_6.pdf(135, 139)</a:t>
            </a:r>
            <a:endParaRPr sz="800">
              <a:solidFill>
                <a:srgbClr val="A7074B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14"/>
          <p:cNvSpPr txBox="1"/>
          <p:nvPr/>
        </p:nvSpPr>
        <p:spPr>
          <a:xfrm>
            <a:off x="476250" y="381000"/>
            <a:ext cx="81915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11. Αντιστοίχιση ARP (IP → MAC)</a:t>
            </a:r>
            <a:endParaRPr b="1" sz="2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60" name="Google Shape;260;p14"/>
          <p:cNvGrpSpPr/>
          <p:nvPr/>
        </p:nvGrpSpPr>
        <p:grpSpPr>
          <a:xfrm>
            <a:off x="379050" y="1333500"/>
            <a:ext cx="2669100" cy="2699400"/>
            <a:chOff x="379050" y="1333500"/>
            <a:chExt cx="2669100" cy="2699400"/>
          </a:xfrm>
        </p:grpSpPr>
        <p:sp>
          <p:nvSpPr>
            <p:cNvPr id="261" name="Google Shape;261;p14"/>
            <p:cNvSpPr/>
            <p:nvPr/>
          </p:nvSpPr>
          <p:spPr>
            <a:xfrm>
              <a:off x="379050" y="1365900"/>
              <a:ext cx="2571900" cy="2667000"/>
            </a:xfrm>
            <a:prstGeom prst="roundRect">
              <a:avLst>
                <a:gd fmla="val 4444" name="adj"/>
              </a:avLst>
            </a:prstGeom>
            <a:solidFill>
              <a:srgbClr val="161B22"/>
            </a:solidFill>
            <a:ln cap="flat" cmpd="sng" w="14300">
              <a:solidFill>
                <a:srgbClr val="ACB20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" name="Google Shape;262;p14"/>
            <p:cNvSpPr txBox="1"/>
            <p:nvPr/>
          </p:nvSpPr>
          <p:spPr>
            <a:xfrm>
              <a:off x="476250" y="1333500"/>
              <a:ext cx="25719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ACB20C"/>
                  </a:solidFill>
                  <a:latin typeface="Calibri"/>
                  <a:ea typeface="Calibri"/>
                  <a:cs typeface="Calibri"/>
                  <a:sym typeface="Calibri"/>
                </a:rPr>
                <a:t>1. Broadcast</a:t>
              </a:r>
              <a:endParaRPr b="1" sz="1600">
                <a:solidFill>
                  <a:srgbClr val="ACB20C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3" name="Google Shape;263;p14"/>
            <p:cNvSpPr txBox="1"/>
            <p:nvPr/>
          </p:nvSpPr>
          <p:spPr>
            <a:xfrm>
              <a:off x="666750" y="1905000"/>
              <a:ext cx="2190900" cy="190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300">
                  <a:solidFill>
                    <a:srgbClr val="E6EDF3"/>
                  </a:solidFill>
                  <a:latin typeface="Calibri"/>
                  <a:ea typeface="Calibri"/>
                  <a:cs typeface="Calibri"/>
                  <a:sym typeface="Calibri"/>
                </a:rPr>
                <a:t>Η συσκευή εκπέμπει αίτημα ARP στο δίκτυο — </a:t>
              </a:r>
              <a:r>
                <a:rPr b="0" lang="en-US" sz="13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"Ποιος έχει αυτή την IP;"</a:t>
              </a:r>
              <a:endParaRPr b="0" sz="1300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64" name="Google Shape;264;p14"/>
          <p:cNvGrpSpPr/>
          <p:nvPr/>
        </p:nvGrpSpPr>
        <p:grpSpPr>
          <a:xfrm>
            <a:off x="3286125" y="1333500"/>
            <a:ext cx="2571900" cy="2667000"/>
            <a:chOff x="3286125" y="1333500"/>
            <a:chExt cx="2571900" cy="2667000"/>
          </a:xfrm>
        </p:grpSpPr>
        <p:sp>
          <p:nvSpPr>
            <p:cNvPr id="265" name="Google Shape;265;p14"/>
            <p:cNvSpPr/>
            <p:nvPr/>
          </p:nvSpPr>
          <p:spPr>
            <a:xfrm>
              <a:off x="3286125" y="1333500"/>
              <a:ext cx="2571900" cy="2667000"/>
            </a:xfrm>
            <a:prstGeom prst="roundRect">
              <a:avLst>
                <a:gd fmla="val 4444" name="adj"/>
              </a:avLst>
            </a:prstGeom>
            <a:solidFill>
              <a:srgbClr val="161B22"/>
            </a:solidFill>
            <a:ln cap="flat" cmpd="sng" w="14300">
              <a:solidFill>
                <a:srgbClr val="3FAF4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" name="Google Shape;266;p14"/>
            <p:cNvSpPr txBox="1"/>
            <p:nvPr/>
          </p:nvSpPr>
          <p:spPr>
            <a:xfrm>
              <a:off x="3286125" y="1333500"/>
              <a:ext cx="25719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3FAF46"/>
                  </a:solidFill>
                  <a:latin typeface="Calibri"/>
                  <a:ea typeface="Calibri"/>
                  <a:cs typeface="Calibri"/>
                  <a:sym typeface="Calibri"/>
                </a:rPr>
                <a:t>2. Reply</a:t>
              </a:r>
              <a:endParaRPr b="1" sz="1600">
                <a:solidFill>
                  <a:srgbClr val="3FAF46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7" name="Google Shape;267;p14"/>
            <p:cNvSpPr txBox="1"/>
            <p:nvPr/>
          </p:nvSpPr>
          <p:spPr>
            <a:xfrm>
              <a:off x="3476625" y="1905000"/>
              <a:ext cx="2190900" cy="190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300">
                  <a:solidFill>
                    <a:srgbClr val="E6EDF3"/>
                  </a:solidFill>
                  <a:latin typeface="Calibri"/>
                  <a:ea typeface="Calibri"/>
                  <a:cs typeface="Calibri"/>
                  <a:sym typeface="Calibri"/>
                </a:rPr>
                <a:t>Ο κεντρικός υπολογιστής με την αντίστοιχη IP απαντά με τη </a:t>
              </a:r>
              <a:r>
                <a:rPr b="0" lang="en-US" sz="13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διεύθυνση MAC του.</a:t>
              </a:r>
              <a:endParaRPr b="0" sz="1300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68" name="Google Shape;268;p14"/>
          <p:cNvGrpSpPr/>
          <p:nvPr/>
        </p:nvGrpSpPr>
        <p:grpSpPr>
          <a:xfrm>
            <a:off x="6096000" y="1333500"/>
            <a:ext cx="2571900" cy="2667000"/>
            <a:chOff x="6096000" y="1333500"/>
            <a:chExt cx="2571900" cy="2667000"/>
          </a:xfrm>
        </p:grpSpPr>
        <p:sp>
          <p:nvSpPr>
            <p:cNvPr id="269" name="Google Shape;269;p14"/>
            <p:cNvSpPr/>
            <p:nvPr/>
          </p:nvSpPr>
          <p:spPr>
            <a:xfrm>
              <a:off x="6096000" y="1333500"/>
              <a:ext cx="2571900" cy="2667000"/>
            </a:xfrm>
            <a:prstGeom prst="roundRect">
              <a:avLst>
                <a:gd fmla="val 4444" name="adj"/>
              </a:avLst>
            </a:prstGeom>
            <a:solidFill>
              <a:srgbClr val="161B22"/>
            </a:solidFill>
            <a:ln cap="flat" cmpd="sng" w="14300">
              <a:solidFill>
                <a:srgbClr val="A7074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" name="Google Shape;270;p14"/>
            <p:cNvSpPr txBox="1"/>
            <p:nvPr/>
          </p:nvSpPr>
          <p:spPr>
            <a:xfrm>
              <a:off x="6096000" y="1333500"/>
              <a:ext cx="25719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A7074B"/>
                  </a:solidFill>
                  <a:latin typeface="Calibri"/>
                  <a:ea typeface="Calibri"/>
                  <a:cs typeface="Calibri"/>
                  <a:sym typeface="Calibri"/>
                </a:rPr>
                <a:t>3. Cache</a:t>
              </a:r>
              <a:endParaRPr b="1" sz="1600">
                <a:solidFill>
                  <a:srgbClr val="A7074B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1" name="Google Shape;271;p14"/>
            <p:cNvSpPr txBox="1"/>
            <p:nvPr/>
          </p:nvSpPr>
          <p:spPr>
            <a:xfrm>
              <a:off x="6286500" y="1905000"/>
              <a:ext cx="2190900" cy="190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300">
                  <a:solidFill>
                    <a:srgbClr val="E6EDF3"/>
                  </a:solidFill>
                  <a:latin typeface="Calibri"/>
                  <a:ea typeface="Calibri"/>
                  <a:cs typeface="Calibri"/>
                  <a:sym typeface="Calibri"/>
                </a:rPr>
                <a:t>Η αντιστοίχιση IP→MAC αποθηκεύεται στην </a:t>
              </a:r>
              <a:r>
                <a:rPr b="0" lang="en-US" sz="13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ARP cache</a:t>
              </a:r>
              <a:r>
                <a:rPr b="0" lang="en-US" sz="1300">
                  <a:solidFill>
                    <a:srgbClr val="E6EDF3"/>
                  </a:solidFill>
                  <a:latin typeface="Calibri"/>
                  <a:ea typeface="Calibri"/>
                  <a:cs typeface="Calibri"/>
                  <a:sym typeface="Calibri"/>
                </a:rPr>
                <a:t> για μελλοντική χρήση.</a:t>
              </a:r>
              <a:endParaRPr b="0" sz="1300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72" name="Google Shape;272;p14"/>
          <p:cNvSpPr txBox="1"/>
          <p:nvPr/>
        </p:nvSpPr>
        <p:spPr>
          <a:xfrm>
            <a:off x="6619875" y="4810125"/>
            <a:ext cx="23814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9525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00">
                <a:solidFill>
                  <a:srgbClr val="A7074B"/>
                </a:solidFill>
                <a:latin typeface="Arial"/>
                <a:ea typeface="Arial"/>
                <a:cs typeface="Arial"/>
                <a:sym typeface="Arial"/>
              </a:rPr>
              <a:t>How_a_switch_works_6.pdf(134-139)</a:t>
            </a:r>
            <a:endParaRPr b="0" sz="800">
              <a:solidFill>
                <a:srgbClr val="A7074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" name="Google Shape;273;p14"/>
          <p:cNvSpPr txBox="1"/>
          <p:nvPr/>
        </p:nvSpPr>
        <p:spPr>
          <a:xfrm>
            <a:off x="379050" y="4304025"/>
            <a:ext cx="7814400" cy="4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Το ARP χρησιμοποιείται μόνο για τοπικά συνδεδεμένα δίκτυα, τα πακέτα για απομακρυσμένα δίκτυα πηγαίνουν στον δρομολογητή επόμενου άλματος.</a:t>
            </a:r>
            <a:endParaRPr sz="1050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</a:endParaRPr>
          </a:p>
        </p:txBody>
      </p:sp>
      <p:sp>
        <p:nvSpPr>
          <p:cNvPr id="274" name="Google Shape;274;p14"/>
          <p:cNvSpPr/>
          <p:nvPr/>
        </p:nvSpPr>
        <p:spPr>
          <a:xfrm>
            <a:off x="275550" y="4271025"/>
            <a:ext cx="8267700" cy="539100"/>
          </a:xfrm>
          <a:prstGeom prst="roundRect">
            <a:avLst>
              <a:gd fmla="val 7517" name="adj"/>
            </a:avLst>
          </a:prstGeom>
          <a:noFill/>
          <a:ln cap="flat" cmpd="sng" w="9525">
            <a:solidFill>
              <a:srgbClr val="307E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15"/>
          <p:cNvSpPr txBox="1"/>
          <p:nvPr/>
        </p:nvSpPr>
        <p:spPr>
          <a:xfrm>
            <a:off x="476250" y="342125"/>
            <a:ext cx="81915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12. Κρύπτη ARP Δρομολογητή</a:t>
            </a:r>
            <a:endParaRPr b="1" sz="2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81" name="Google Shape;281;p15"/>
          <p:cNvGrpSpPr/>
          <p:nvPr/>
        </p:nvGrpSpPr>
        <p:grpSpPr>
          <a:xfrm>
            <a:off x="476175" y="1267250"/>
            <a:ext cx="8191500" cy="551100"/>
            <a:chOff x="476250" y="962700"/>
            <a:chExt cx="8191500" cy="551100"/>
          </a:xfrm>
        </p:grpSpPr>
        <p:sp>
          <p:nvSpPr>
            <p:cNvPr id="282" name="Google Shape;282;p15"/>
            <p:cNvSpPr/>
            <p:nvPr/>
          </p:nvSpPr>
          <p:spPr>
            <a:xfrm>
              <a:off x="476250" y="962700"/>
              <a:ext cx="8191500" cy="465900"/>
            </a:xfrm>
            <a:prstGeom prst="roundRect">
              <a:avLst>
                <a:gd fmla="val 20000" name="adj"/>
              </a:avLst>
            </a:prstGeom>
            <a:solidFill>
              <a:srgbClr val="161B22"/>
            </a:solidFill>
            <a:ln cap="flat" cmpd="sng" w="9525">
              <a:solidFill>
                <a:srgbClr val="307ED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3" name="Google Shape;283;p15"/>
            <p:cNvSpPr txBox="1"/>
            <p:nvPr/>
          </p:nvSpPr>
          <p:spPr>
            <a:xfrm>
              <a:off x="666750" y="1070100"/>
              <a:ext cx="7810500" cy="443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lnSpc>
                  <a:spcPct val="135714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US" sz="900">
                  <a:solidFill>
                    <a:schemeClr val="lt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Ο δρομολογητής εκτελεί μια αναζήτηση στην κρύπτη ARP για πακέτα που προορίζονται για τοπικά συνδεδεμένα δίκτυα</a:t>
              </a:r>
              <a:endParaRPr sz="9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-285750" lvl="0" marL="457200" rtl="0" algn="l">
                <a:lnSpc>
                  <a:spcPct val="135714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900"/>
                <a:buFont typeface="Courier New"/>
                <a:buChar char="➢"/>
              </a:pPr>
              <a:r>
                <a:rPr lang="en-US" sz="900">
                  <a:solidFill>
                    <a:schemeClr val="lt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Τρία πιθανά αποτελέσματα:</a:t>
              </a:r>
              <a:endParaRPr sz="9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84" name="Google Shape;284;p15"/>
          <p:cNvGrpSpPr/>
          <p:nvPr/>
        </p:nvGrpSpPr>
        <p:grpSpPr>
          <a:xfrm>
            <a:off x="476175" y="1923800"/>
            <a:ext cx="2571900" cy="2476500"/>
            <a:chOff x="476250" y="1619250"/>
            <a:chExt cx="2571900" cy="2476500"/>
          </a:xfrm>
        </p:grpSpPr>
        <p:sp>
          <p:nvSpPr>
            <p:cNvPr id="285" name="Google Shape;285;p15"/>
            <p:cNvSpPr/>
            <p:nvPr/>
          </p:nvSpPr>
          <p:spPr>
            <a:xfrm>
              <a:off x="476250" y="1619250"/>
              <a:ext cx="2571900" cy="2476500"/>
            </a:xfrm>
            <a:prstGeom prst="roundRect">
              <a:avLst>
                <a:gd fmla="val 4615" name="adj"/>
              </a:avLst>
            </a:prstGeom>
            <a:solidFill>
              <a:srgbClr val="161B22"/>
            </a:solidFill>
            <a:ln cap="flat" cmpd="sng" w="14300">
              <a:solidFill>
                <a:srgbClr val="ACB20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6" name="Google Shape;286;p15"/>
            <p:cNvSpPr txBox="1"/>
            <p:nvPr/>
          </p:nvSpPr>
          <p:spPr>
            <a:xfrm>
              <a:off x="476250" y="1619250"/>
              <a:ext cx="25719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5250" lIns="95250" spcFirstLastPara="1" rIns="95250" wrap="square" tIns="952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rgbClr val="ACB20C"/>
                  </a:solidFill>
                  <a:latin typeface="Calibri"/>
                  <a:ea typeface="Calibri"/>
                  <a:cs typeface="Calibri"/>
                  <a:sym typeface="Calibri"/>
                </a:rPr>
                <a:t>1. Πακέτο για τον ίδιο τον δρομολογητή</a:t>
              </a:r>
              <a:endParaRPr b="1" sz="1200">
                <a:solidFill>
                  <a:srgbClr val="ACB20C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7" name="Google Shape;287;p15"/>
            <p:cNvSpPr txBox="1"/>
            <p:nvPr/>
          </p:nvSpPr>
          <p:spPr>
            <a:xfrm>
              <a:off x="619125" y="2190750"/>
              <a:ext cx="2286000" cy="171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100">
                  <a:solidFill>
                    <a:srgbClr val="E6EDF3"/>
                  </a:solidFill>
                  <a:latin typeface="Calibri"/>
                  <a:ea typeface="Calibri"/>
                  <a:cs typeface="Calibri"/>
                  <a:sym typeface="Calibri"/>
                </a:rPr>
                <a:t>• Προορίζεται για την IP της διεπαφής του router.</a:t>
              </a:r>
              <a:endParaRPr b="0" sz="1100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298450" lvl="0" marL="457200" rtl="0" algn="l">
                <a:spcBef>
                  <a:spcPts val="75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Char char="➢"/>
              </a:pPr>
              <a:r>
                <a:rPr b="0" lang="en-US" sz="11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Παραδίδεται σε εσωτερική επεξεργασία ανώτερου επιπέδου.</a:t>
              </a:r>
              <a:endParaRPr b="0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298450" lvl="0" marL="457200" rtl="0" algn="l">
                <a:spcBef>
                  <a:spcPts val="0"/>
                </a:spcBef>
                <a:spcAft>
                  <a:spcPts val="0"/>
                </a:spcAft>
                <a:buClr>
                  <a:srgbClr val="E6EDF3"/>
                </a:buClr>
                <a:buSzPts val="1100"/>
                <a:buFont typeface="Calibri"/>
                <a:buChar char="➢"/>
              </a:pPr>
              <a:r>
                <a:rPr b="0" lang="en-US" sz="1100">
                  <a:solidFill>
                    <a:srgbClr val="E6EDF3"/>
                  </a:solidFill>
                  <a:latin typeface="Calibri"/>
                  <a:ea typeface="Calibri"/>
                  <a:cs typeface="Calibri"/>
                  <a:sym typeface="Calibri"/>
                </a:rPr>
                <a:t>Δεν προωθείται στο δίκτυο.</a:t>
              </a:r>
              <a:endParaRPr b="0" sz="1100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88" name="Google Shape;288;p15"/>
          <p:cNvGrpSpPr/>
          <p:nvPr/>
        </p:nvGrpSpPr>
        <p:grpSpPr>
          <a:xfrm>
            <a:off x="3286050" y="1923800"/>
            <a:ext cx="2571900" cy="2476500"/>
            <a:chOff x="3286125" y="1619250"/>
            <a:chExt cx="2571900" cy="2476500"/>
          </a:xfrm>
        </p:grpSpPr>
        <p:sp>
          <p:nvSpPr>
            <p:cNvPr id="289" name="Google Shape;289;p15"/>
            <p:cNvSpPr/>
            <p:nvPr/>
          </p:nvSpPr>
          <p:spPr>
            <a:xfrm>
              <a:off x="3286125" y="1619250"/>
              <a:ext cx="2571900" cy="2476500"/>
            </a:xfrm>
            <a:prstGeom prst="roundRect">
              <a:avLst>
                <a:gd fmla="val 4615" name="adj"/>
              </a:avLst>
            </a:prstGeom>
            <a:solidFill>
              <a:srgbClr val="161B22"/>
            </a:solidFill>
            <a:ln cap="flat" cmpd="sng" w="14300">
              <a:solidFill>
                <a:srgbClr val="3FAF4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0" name="Google Shape;290;p15"/>
            <p:cNvSpPr txBox="1"/>
            <p:nvPr/>
          </p:nvSpPr>
          <p:spPr>
            <a:xfrm>
              <a:off x="3286125" y="1619250"/>
              <a:ext cx="25719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5250" lIns="95250" spcFirstLastPara="1" rIns="95250" wrap="square" tIns="952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rgbClr val="3FAF46"/>
                  </a:solidFill>
                  <a:latin typeface="Calibri"/>
                  <a:ea typeface="Calibri"/>
                  <a:cs typeface="Calibri"/>
                  <a:sym typeface="Calibri"/>
                </a:rPr>
                <a:t>2. Γνωστός κόμβος σε άμεσα συνδεδεμένο δίκτυο</a:t>
              </a:r>
              <a:endParaRPr b="1" sz="1200">
                <a:solidFill>
                  <a:srgbClr val="3FAF46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1" name="Google Shape;291;p15"/>
            <p:cNvSpPr txBox="1"/>
            <p:nvPr/>
          </p:nvSpPr>
          <p:spPr>
            <a:xfrm>
              <a:off x="3429000" y="2190750"/>
              <a:ext cx="2286000" cy="171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100">
                  <a:solidFill>
                    <a:srgbClr val="E6EDF3"/>
                  </a:solidFill>
                  <a:latin typeface="Calibri"/>
                  <a:ea typeface="Calibri"/>
                  <a:cs typeface="Calibri"/>
                  <a:sym typeface="Calibri"/>
                </a:rPr>
                <a:t>• Η αντιστοίχιση IP-MAC υπάρχει στην κρύπτη.</a:t>
              </a:r>
              <a:endParaRPr b="0" sz="1100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298450" lvl="0" marL="457200" rtl="0" algn="l">
                <a:spcBef>
                  <a:spcPts val="75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Char char="➢"/>
              </a:pPr>
              <a:r>
                <a:rPr b="0" lang="en-US" sz="11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Βρέθηκε αντιστοίχιση.</a:t>
              </a:r>
              <a:endParaRPr b="0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298450" lvl="0" marL="457200" rtl="0" algn="l">
                <a:spcBef>
                  <a:spcPts val="0"/>
                </a:spcBef>
                <a:spcAft>
                  <a:spcPts val="0"/>
                </a:spcAft>
                <a:buClr>
                  <a:srgbClr val="E6EDF3"/>
                </a:buClr>
                <a:buSzPts val="1100"/>
                <a:buFont typeface="Calibri"/>
                <a:buChar char="➢"/>
              </a:pPr>
              <a:r>
                <a:rPr b="0" lang="en-US" sz="1100">
                  <a:solidFill>
                    <a:srgbClr val="E6EDF3"/>
                  </a:solidFill>
                  <a:latin typeface="Calibri"/>
                  <a:ea typeface="Calibri"/>
                  <a:cs typeface="Calibri"/>
                  <a:sym typeface="Calibri"/>
                </a:rPr>
                <a:t>Άμεση προώθηση του πλαισίου.</a:t>
              </a:r>
              <a:endParaRPr b="0" sz="1100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92" name="Google Shape;292;p15"/>
          <p:cNvGrpSpPr/>
          <p:nvPr/>
        </p:nvGrpSpPr>
        <p:grpSpPr>
          <a:xfrm>
            <a:off x="6095925" y="1923800"/>
            <a:ext cx="2571900" cy="2476500"/>
            <a:chOff x="6096000" y="1619250"/>
            <a:chExt cx="2571900" cy="2476500"/>
          </a:xfrm>
        </p:grpSpPr>
        <p:sp>
          <p:nvSpPr>
            <p:cNvPr id="293" name="Google Shape;293;p15"/>
            <p:cNvSpPr/>
            <p:nvPr/>
          </p:nvSpPr>
          <p:spPr>
            <a:xfrm>
              <a:off x="6096000" y="1619250"/>
              <a:ext cx="2571900" cy="2476500"/>
            </a:xfrm>
            <a:prstGeom prst="roundRect">
              <a:avLst>
                <a:gd fmla="val 4615" name="adj"/>
              </a:avLst>
            </a:prstGeom>
            <a:solidFill>
              <a:srgbClr val="161B22"/>
            </a:solidFill>
            <a:ln cap="flat" cmpd="sng" w="14300">
              <a:solidFill>
                <a:srgbClr val="A7074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4" name="Google Shape;294;p15"/>
            <p:cNvSpPr txBox="1"/>
            <p:nvPr/>
          </p:nvSpPr>
          <p:spPr>
            <a:xfrm>
              <a:off x="6096000" y="1619250"/>
              <a:ext cx="25719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5250" lIns="95250" spcFirstLastPara="1" rIns="95250" wrap="square" tIns="952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rgbClr val="A7074B"/>
                  </a:solidFill>
                  <a:latin typeface="Calibri"/>
                  <a:ea typeface="Calibri"/>
                  <a:cs typeface="Calibri"/>
                  <a:sym typeface="Calibri"/>
                </a:rPr>
                <a:t>3. Άγνωστη αντιστοίχιση</a:t>
              </a:r>
              <a:endParaRPr b="1" sz="1200">
                <a:solidFill>
                  <a:srgbClr val="A7074B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5" name="Google Shape;295;p15"/>
            <p:cNvSpPr txBox="1"/>
            <p:nvPr/>
          </p:nvSpPr>
          <p:spPr>
            <a:xfrm>
              <a:off x="6238875" y="2190750"/>
              <a:ext cx="2286000" cy="171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100">
                  <a:solidFill>
                    <a:srgbClr val="E6EDF3"/>
                  </a:solidFill>
                  <a:latin typeface="Calibri"/>
                  <a:ea typeface="Calibri"/>
                  <a:cs typeface="Calibri"/>
                  <a:sym typeface="Calibri"/>
                </a:rPr>
                <a:t>• Δεν υπάρχει εγγραφή για την IP προορισμού.</a:t>
              </a:r>
              <a:endParaRPr b="0" sz="1100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298450" lvl="0" marL="457200" rtl="0" algn="l">
                <a:spcBef>
                  <a:spcPts val="75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Char char="➢"/>
              </a:pPr>
              <a:r>
                <a:rPr b="0" lang="en-US" sz="11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Εκκίνηση ARP discovery.</a:t>
              </a:r>
              <a:endParaRPr b="0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298450" lvl="0" marL="457200" rtl="0" algn="l">
                <a:spcBef>
                  <a:spcPts val="0"/>
                </a:spcBef>
                <a:spcAft>
                  <a:spcPts val="0"/>
                </a:spcAft>
                <a:buClr>
                  <a:srgbClr val="E6EDF3"/>
                </a:buClr>
                <a:buSzPts val="1100"/>
                <a:buFont typeface="Calibri"/>
                <a:buChar char="➢"/>
              </a:pPr>
              <a:r>
                <a:rPr b="0" lang="en-US" sz="1100">
                  <a:solidFill>
                    <a:srgbClr val="E6EDF3"/>
                  </a:solidFill>
                  <a:latin typeface="Calibri"/>
                  <a:ea typeface="Calibri"/>
                  <a:cs typeface="Calibri"/>
                  <a:sym typeface="Calibri"/>
                </a:rPr>
                <a:t>Πιθανή απόρριψη του αρχικού πακέτου.</a:t>
              </a:r>
              <a:endParaRPr b="0" sz="1100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96" name="Google Shape;296;p15"/>
          <p:cNvSpPr txBox="1"/>
          <p:nvPr/>
        </p:nvSpPr>
        <p:spPr>
          <a:xfrm>
            <a:off x="6848900" y="4809775"/>
            <a:ext cx="3000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A7074B"/>
                </a:solidFill>
              </a:rPr>
              <a:t>How_a_switch_works_6.pdf(139, 141)</a:t>
            </a:r>
            <a:endParaRPr sz="800">
              <a:solidFill>
                <a:srgbClr val="A7074B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2" name="Google Shape;302;p16"/>
          <p:cNvGrpSpPr/>
          <p:nvPr/>
        </p:nvGrpSpPr>
        <p:grpSpPr>
          <a:xfrm>
            <a:off x="476250" y="333375"/>
            <a:ext cx="8191500" cy="571500"/>
            <a:chOff x="476250" y="333375"/>
            <a:chExt cx="8191500" cy="571500"/>
          </a:xfrm>
        </p:grpSpPr>
        <p:sp>
          <p:nvSpPr>
            <p:cNvPr id="303" name="Google Shape;303;p16"/>
            <p:cNvSpPr/>
            <p:nvPr/>
          </p:nvSpPr>
          <p:spPr>
            <a:xfrm>
              <a:off x="476250" y="333375"/>
              <a:ext cx="8191500" cy="571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4" name="Google Shape;304;p16"/>
            <p:cNvSpPr txBox="1"/>
            <p:nvPr/>
          </p:nvSpPr>
          <p:spPr>
            <a:xfrm>
              <a:off x="476250" y="333375"/>
              <a:ext cx="81915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8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13. Κατακερματισμός (Fragmentation)</a:t>
              </a:r>
              <a:endParaRPr b="1" sz="2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05" name="Google Shape;305;p16"/>
          <p:cNvSpPr txBox="1"/>
          <p:nvPr/>
        </p:nvSpPr>
        <p:spPr>
          <a:xfrm>
            <a:off x="666750" y="1000125"/>
            <a:ext cx="78105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rPr>
              <a:t>Συμβαίνει όταν ένα πακέτο υπερβαίνει το </a:t>
            </a:r>
            <a:r>
              <a:rPr b="1" lang="en-US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MTU (Maximum Transmission Unit)</a:t>
            </a:r>
            <a:r>
              <a:rPr lang="en-US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rPr>
              <a:t> της διεπαφής εξόδου.</a:t>
            </a:r>
            <a:endParaRPr>
              <a:solidFill>
                <a:srgbClr val="E6EDF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06" name="Google Shape;306;p16"/>
          <p:cNvGrpSpPr/>
          <p:nvPr/>
        </p:nvGrpSpPr>
        <p:grpSpPr>
          <a:xfrm>
            <a:off x="476250" y="1619250"/>
            <a:ext cx="8191500" cy="2286000"/>
            <a:chOff x="476250" y="1619250"/>
            <a:chExt cx="8191500" cy="2286000"/>
          </a:xfrm>
        </p:grpSpPr>
        <p:grpSp>
          <p:nvGrpSpPr>
            <p:cNvPr id="307" name="Google Shape;307;p16"/>
            <p:cNvGrpSpPr/>
            <p:nvPr/>
          </p:nvGrpSpPr>
          <p:grpSpPr>
            <a:xfrm>
              <a:off x="476250" y="1619250"/>
              <a:ext cx="4000500" cy="2286000"/>
              <a:chOff x="476250" y="1619250"/>
              <a:chExt cx="4000500" cy="2286000"/>
            </a:xfrm>
          </p:grpSpPr>
          <p:sp>
            <p:nvSpPr>
              <p:cNvPr id="308" name="Google Shape;308;p16"/>
              <p:cNvSpPr/>
              <p:nvPr/>
            </p:nvSpPr>
            <p:spPr>
              <a:xfrm>
                <a:off x="476250" y="1619250"/>
                <a:ext cx="4000500" cy="2286000"/>
              </a:xfrm>
              <a:prstGeom prst="roundRect">
                <a:avLst>
                  <a:gd fmla="val 5000" name="adj"/>
                </a:avLst>
              </a:prstGeom>
              <a:solidFill>
                <a:srgbClr val="161B22"/>
              </a:solidFill>
              <a:ln cap="flat" cmpd="sng" w="14300">
                <a:solidFill>
                  <a:srgbClr val="3FAF4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9" name="Google Shape;309;p16"/>
              <p:cNvSpPr txBox="1"/>
              <p:nvPr/>
            </p:nvSpPr>
            <p:spPr>
              <a:xfrm>
                <a:off x="476250" y="1619250"/>
                <a:ext cx="4000500" cy="571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400">
                    <a:solidFill>
                      <a:srgbClr val="3FAF4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Μηχανισμός Λειτουργίας</a:t>
                </a:r>
                <a:endParaRPr b="1" sz="1400">
                  <a:solidFill>
                    <a:srgbClr val="3FAF4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0" name="Google Shape;310;p16"/>
              <p:cNvSpPr txBox="1"/>
              <p:nvPr/>
            </p:nvSpPr>
            <p:spPr>
              <a:xfrm>
                <a:off x="666750" y="2190750"/>
                <a:ext cx="3619500" cy="1524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150">
                    <a:solidFill>
                      <a:srgbClr val="E6EDF3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• Χειρίζεται από το </a:t>
                </a:r>
                <a:r>
                  <a:rPr lang="en-US" sz="1150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Επίπεδο 3 (IP)</a:t>
                </a:r>
                <a:r>
                  <a:rPr lang="en-US" sz="1150">
                    <a:solidFill>
                      <a:srgbClr val="E6EDF3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— όχι από γέφυρες ή μεταγωγείς L2.</a:t>
                </a:r>
                <a:endParaRPr sz="1150">
                  <a:solidFill>
                    <a:srgbClr val="E6EDF3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0" marL="0" rtl="0" algn="l">
                  <a:spcBef>
                    <a:spcPts val="750"/>
                  </a:spcBef>
                  <a:spcAft>
                    <a:spcPts val="0"/>
                  </a:spcAft>
                  <a:buNone/>
                </a:pPr>
                <a:r>
                  <a:rPr lang="en-US" sz="1150">
                    <a:solidFill>
                      <a:srgbClr val="E6EDF3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• Το πακέτο σπάει σε </a:t>
                </a:r>
                <a:r>
                  <a:rPr lang="en-US" sz="1150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μικρότερα τμήματα</a:t>
                </a:r>
                <a:r>
                  <a:rPr lang="en-US" sz="1150">
                    <a:solidFill>
                      <a:srgbClr val="E6EDF3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που χωρούν στο MTU.</a:t>
                </a:r>
                <a:endParaRPr sz="1150">
                  <a:solidFill>
                    <a:srgbClr val="E6EDF3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0" marL="0" rtl="0" algn="l">
                  <a:spcBef>
                    <a:spcPts val="750"/>
                  </a:spcBef>
                  <a:spcAft>
                    <a:spcPts val="0"/>
                  </a:spcAft>
                  <a:buNone/>
                </a:pPr>
                <a:r>
                  <a:rPr lang="en-US" sz="1150">
                    <a:solidFill>
                      <a:srgbClr val="E6EDF3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• Ο δέκτης αναλαμβάνει την </a:t>
                </a:r>
                <a:r>
                  <a:rPr lang="en-US" sz="1150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επανασυναρμολόγηση</a:t>
                </a:r>
                <a:r>
                  <a:rPr lang="en-US" sz="1150">
                    <a:solidFill>
                      <a:srgbClr val="E6EDF3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.</a:t>
                </a:r>
                <a:endParaRPr sz="1150">
                  <a:solidFill>
                    <a:srgbClr val="E6EDF3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11" name="Google Shape;311;p16"/>
            <p:cNvGrpSpPr/>
            <p:nvPr/>
          </p:nvGrpSpPr>
          <p:grpSpPr>
            <a:xfrm>
              <a:off x="4667250" y="1619250"/>
              <a:ext cx="4000500" cy="2286000"/>
              <a:chOff x="4667250" y="1619250"/>
              <a:chExt cx="4000500" cy="2286000"/>
            </a:xfrm>
          </p:grpSpPr>
          <p:sp>
            <p:nvSpPr>
              <p:cNvPr id="312" name="Google Shape;312;p16"/>
              <p:cNvSpPr/>
              <p:nvPr/>
            </p:nvSpPr>
            <p:spPr>
              <a:xfrm>
                <a:off x="4667250" y="1619250"/>
                <a:ext cx="4000500" cy="2286000"/>
              </a:xfrm>
              <a:prstGeom prst="roundRect">
                <a:avLst>
                  <a:gd fmla="val 5000" name="adj"/>
                </a:avLst>
              </a:prstGeom>
              <a:solidFill>
                <a:srgbClr val="161B22"/>
              </a:solidFill>
              <a:ln cap="flat" cmpd="sng" w="14300">
                <a:solidFill>
                  <a:srgbClr val="A7074B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3" name="Google Shape;313;p16"/>
              <p:cNvSpPr txBox="1"/>
              <p:nvPr/>
            </p:nvSpPr>
            <p:spPr>
              <a:xfrm>
                <a:off x="4667250" y="1619250"/>
                <a:ext cx="4000500" cy="571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400">
                    <a:solidFill>
                      <a:srgbClr val="A7074B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Επιπτώσεις &amp; Προκλήσεις</a:t>
                </a:r>
                <a:endParaRPr b="1" sz="1400">
                  <a:solidFill>
                    <a:srgbClr val="A7074B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4" name="Google Shape;314;p16"/>
              <p:cNvSpPr txBox="1"/>
              <p:nvPr/>
            </p:nvSpPr>
            <p:spPr>
              <a:xfrm>
                <a:off x="4857750" y="2190750"/>
                <a:ext cx="3619500" cy="1524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150">
                    <a:solidFill>
                      <a:srgbClr val="E6EDF3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• Τα τμήματα μπορεί να φτάσουν </a:t>
                </a:r>
                <a:r>
                  <a:rPr lang="en-US" sz="1150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εκτός σειράς</a:t>
                </a:r>
                <a:r>
                  <a:rPr lang="en-US" sz="1150">
                    <a:solidFill>
                      <a:srgbClr val="E6EDF3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στον προορισμό.</a:t>
                </a:r>
                <a:endParaRPr sz="1150">
                  <a:solidFill>
                    <a:srgbClr val="E6EDF3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0" marL="0" rtl="0" algn="l">
                  <a:spcBef>
                    <a:spcPts val="750"/>
                  </a:spcBef>
                  <a:spcAft>
                    <a:spcPts val="0"/>
                  </a:spcAft>
                  <a:buNone/>
                </a:pPr>
                <a:r>
                  <a:rPr lang="en-US" sz="1150">
                    <a:solidFill>
                      <a:srgbClr val="E6EDF3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• Αυξάνει την </a:t>
                </a:r>
                <a:r>
                  <a:rPr lang="en-US" sz="1150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επιβάρυνση επεξεργασίας</a:t>
                </a:r>
                <a:r>
                  <a:rPr lang="en-US" sz="1150">
                    <a:solidFill>
                      <a:srgbClr val="E6EDF3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στις ενδιάμεσες συσκευές.</a:t>
                </a:r>
                <a:endParaRPr sz="1150">
                  <a:solidFill>
                    <a:srgbClr val="E6EDF3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0" marL="0" rtl="0" algn="l">
                  <a:spcBef>
                    <a:spcPts val="750"/>
                  </a:spcBef>
                  <a:spcAft>
                    <a:spcPts val="0"/>
                  </a:spcAft>
                  <a:buNone/>
                </a:pPr>
                <a:r>
                  <a:rPr lang="en-US" sz="1150">
                    <a:solidFill>
                      <a:srgbClr val="E6EDF3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• Κατανάλωση πόρων για τη διαχείριση των fragments.</a:t>
                </a:r>
                <a:endParaRPr sz="1150">
                  <a:solidFill>
                    <a:srgbClr val="E6EDF3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315" name="Google Shape;315;p16"/>
          <p:cNvGrpSpPr/>
          <p:nvPr/>
        </p:nvGrpSpPr>
        <p:grpSpPr>
          <a:xfrm>
            <a:off x="476250" y="4048125"/>
            <a:ext cx="8191500" cy="619200"/>
            <a:chOff x="476250" y="4048125"/>
            <a:chExt cx="8191500" cy="619200"/>
          </a:xfrm>
        </p:grpSpPr>
        <p:sp>
          <p:nvSpPr>
            <p:cNvPr id="316" name="Google Shape;316;p16"/>
            <p:cNvSpPr/>
            <p:nvPr/>
          </p:nvSpPr>
          <p:spPr>
            <a:xfrm>
              <a:off x="476250" y="4048125"/>
              <a:ext cx="8191500" cy="619200"/>
            </a:xfrm>
            <a:prstGeom prst="roundRect">
              <a:avLst>
                <a:gd fmla="val 15384" name="adj"/>
              </a:avLst>
            </a:prstGeom>
            <a:solidFill>
              <a:srgbClr val="000000">
                <a:alpha val="0"/>
              </a:srgbClr>
            </a:solidFill>
            <a:ln cap="flat" cmpd="sng" w="9525">
              <a:solidFill>
                <a:srgbClr val="307ED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7" name="Google Shape;317;p16"/>
            <p:cNvSpPr txBox="1"/>
            <p:nvPr/>
          </p:nvSpPr>
          <p:spPr>
            <a:xfrm>
              <a:off x="666750" y="4048125"/>
              <a:ext cx="7810500" cy="619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-311150" lvl="0" marL="457200" rtl="0" algn="l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300"/>
                <a:buFont typeface="Courier New"/>
                <a:buChar char="➢"/>
              </a:pPr>
              <a:r>
                <a:rPr lang="en-US" sz="1300">
                  <a:solidFill>
                    <a:schemeClr val="lt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Βέλτιστη πρακτική: Τήρηση path MTU από την πηγή για την πλήρη αποφυγή του κατακερματισμού.</a:t>
              </a:r>
              <a:endParaRPr sz="13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</p:grpSp>
      <p:sp>
        <p:nvSpPr>
          <p:cNvPr id="318" name="Google Shape;318;p16"/>
          <p:cNvSpPr txBox="1"/>
          <p:nvPr/>
        </p:nvSpPr>
        <p:spPr>
          <a:xfrm>
            <a:off x="7036850" y="4775475"/>
            <a:ext cx="1981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A7074B"/>
                </a:solidFill>
              </a:rPr>
              <a:t>How_a_switch_works_6.pdf(141, 142)</a:t>
            </a:r>
            <a:endParaRPr sz="800">
              <a:solidFill>
                <a:srgbClr val="A7074B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2026-04-15T11:53:19Z</dcterms:created>
  <dc:creator>owner-ice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16</vt:i4>
  </property>
  <property fmtid="{D5CDD505-2E9C-101B-9397-08002B2CF9AE}" pid="3" name="PresentationFormat">
    <vt:lpwstr>On-screen Show (16:9)</vt:lpwstr>
  </property>
  <property fmtid="{D5CDD505-2E9C-101B-9397-08002B2CF9AE}" pid="4" name="Slides">
    <vt:i4>16</vt:i4>
  </property>
</Properties>
</file>
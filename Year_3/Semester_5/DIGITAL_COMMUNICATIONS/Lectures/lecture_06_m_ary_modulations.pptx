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337" r:id="rId2"/>
    <p:sldId id="374" r:id="rId3"/>
    <p:sldId id="338" r:id="rId4"/>
    <p:sldId id="339" r:id="rId5"/>
    <p:sldId id="375" r:id="rId6"/>
    <p:sldId id="340" r:id="rId7"/>
    <p:sldId id="341" r:id="rId8"/>
    <p:sldId id="342" r:id="rId9"/>
    <p:sldId id="344" r:id="rId10"/>
    <p:sldId id="348" r:id="rId11"/>
    <p:sldId id="349" r:id="rId12"/>
    <p:sldId id="376" r:id="rId13"/>
    <p:sldId id="354" r:id="rId14"/>
    <p:sldId id="355" r:id="rId15"/>
    <p:sldId id="361" r:id="rId16"/>
    <p:sldId id="358" r:id="rId17"/>
    <p:sldId id="360" r:id="rId18"/>
    <p:sldId id="378" r:id="rId19"/>
    <p:sldId id="351" r:id="rId20"/>
    <p:sldId id="352" r:id="rId21"/>
    <p:sldId id="353" r:id="rId22"/>
    <p:sldId id="377" r:id="rId23"/>
    <p:sldId id="379" r:id="rId24"/>
    <p:sldId id="380" r:id="rId25"/>
    <p:sldId id="381" r:id="rId26"/>
    <p:sldId id="382" r:id="rId27"/>
    <p:sldId id="383" r:id="rId28"/>
    <p:sldId id="384" r:id="rId29"/>
    <p:sldId id="385" r:id="rId30"/>
    <p:sldId id="386" r:id="rId31"/>
  </p:sldIdLst>
  <p:sldSz cx="8953500" cy="7239000"/>
  <p:notesSz cx="6985000" cy="92821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11">
          <p15:clr>
            <a:srgbClr val="A4A3A4"/>
          </p15:clr>
        </p15:guide>
        <p15:guide id="2" pos="16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99"/>
    <a:srgbClr val="003399"/>
    <a:srgbClr val="EAEAEA"/>
    <a:srgbClr val="000000"/>
    <a:srgbClr val="FFFFFF"/>
    <a:srgbClr val="676767"/>
    <a:srgbClr val="CC3300"/>
    <a:srgbClr val="E5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4F377C-EAD3-4353-936B-F98EA0592DE0}" v="126" dt="2025-01-08T09:32:01.6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0" autoAdjust="0"/>
    <p:restoredTop sz="95863" autoAdjust="0"/>
  </p:normalViewPr>
  <p:slideViewPr>
    <p:cSldViewPr snapToGrid="0">
      <p:cViewPr varScale="1">
        <p:scale>
          <a:sx n="74" d="100"/>
          <a:sy n="74" d="100"/>
        </p:scale>
        <p:origin x="1829" y="72"/>
      </p:cViewPr>
      <p:guideLst>
        <p:guide orient="horz" pos="4511"/>
        <p:guide pos="1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s Piperigkos" userId="b361276a-3497-4fae-9245-3cd0ad5fb2cd" providerId="ADAL" clId="{5BB7B9A0-6D0E-4557-BA7E-05F801FCE65B}"/>
    <pc:docChg chg="undo custSel addSld delSld modSld">
      <pc:chgData name="Nikos Piperigkos" userId="b361276a-3497-4fae-9245-3cd0ad5fb2cd" providerId="ADAL" clId="{5BB7B9A0-6D0E-4557-BA7E-05F801FCE65B}" dt="2024-12-18T08:04:27.343" v="8" actId="47"/>
      <pc:docMkLst>
        <pc:docMk/>
      </pc:docMkLst>
      <pc:sldChg chg="del">
        <pc:chgData name="Nikos Piperigkos" userId="b361276a-3497-4fae-9245-3cd0ad5fb2cd" providerId="ADAL" clId="{5BB7B9A0-6D0E-4557-BA7E-05F801FCE65B}" dt="2024-12-18T08:04:27.343" v="8" actId="47"/>
        <pc:sldMkLst>
          <pc:docMk/>
          <pc:sldMk cId="0" sldId="343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3682489419" sldId="345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3958378313" sldId="346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3595247726" sldId="347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3318248613" sldId="359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515595390" sldId="362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4129143651" sldId="363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2681447418" sldId="364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3919937259" sldId="365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3234171557" sldId="366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4037673333" sldId="367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3706785126" sldId="369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870242628" sldId="370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2657902753" sldId="371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678277472" sldId="372"/>
        </pc:sldMkLst>
      </pc:sldChg>
      <pc:sldChg chg="modSp add del mod">
        <pc:chgData name="Nikos Piperigkos" userId="b361276a-3497-4fae-9245-3cd0ad5fb2cd" providerId="ADAL" clId="{5BB7B9A0-6D0E-4557-BA7E-05F801FCE65B}" dt="2024-12-18T08:04:21.532" v="7" actId="47"/>
        <pc:sldMkLst>
          <pc:docMk/>
          <pc:sldMk cId="2826302252" sldId="373"/>
        </pc:sldMkLst>
      </pc:sldChg>
    </pc:docChg>
  </pc:docChgLst>
  <pc:docChgLst>
    <pc:chgData name="Nikos Piperigkos" userId="b361276a-3497-4fae-9245-3cd0ad5fb2cd" providerId="ADAL" clId="{AD4F377C-EAD3-4353-936B-F98EA0592DE0}"/>
    <pc:docChg chg="undo custSel addSld modSld">
      <pc:chgData name="Nikos Piperigkos" userId="b361276a-3497-4fae-9245-3cd0ad5fb2cd" providerId="ADAL" clId="{AD4F377C-EAD3-4353-936B-F98EA0592DE0}" dt="2025-01-09T11:41:56.382" v="401" actId="20577"/>
      <pc:docMkLst>
        <pc:docMk/>
      </pc:docMkLst>
      <pc:sldChg chg="delSp modSp add mod setBg">
        <pc:chgData name="Nikos Piperigkos" userId="b361276a-3497-4fae-9245-3cd0ad5fb2cd" providerId="ADAL" clId="{AD4F377C-EAD3-4353-936B-F98EA0592DE0}" dt="2025-01-08T09:22:21.817" v="30"/>
        <pc:sldMkLst>
          <pc:docMk/>
          <pc:sldMk cId="2665716523" sldId="379"/>
        </pc:sldMkLst>
        <pc:spChg chg="mod">
          <ac:chgData name="Nikos Piperigkos" userId="b361276a-3497-4fae-9245-3cd0ad5fb2cd" providerId="ADAL" clId="{AD4F377C-EAD3-4353-936B-F98EA0592DE0}" dt="2025-01-08T09:19:56.757" v="15" actId="123"/>
          <ac:spMkLst>
            <pc:docMk/>
            <pc:sldMk cId="2665716523" sldId="379"/>
            <ac:spMk id="4" creationId="{5C076557-1A9B-B84A-1A65-50D8C514E2EA}"/>
          </ac:spMkLst>
        </pc:spChg>
        <pc:spChg chg="del">
          <ac:chgData name="Nikos Piperigkos" userId="b361276a-3497-4fae-9245-3cd0ad5fb2cd" providerId="ADAL" clId="{AD4F377C-EAD3-4353-936B-F98EA0592DE0}" dt="2025-01-08T09:18:31.704" v="12" actId="478"/>
          <ac:spMkLst>
            <pc:docMk/>
            <pc:sldMk cId="2665716523" sldId="379"/>
            <ac:spMk id="10" creationId="{1CFEFB7B-AC31-B287-13A5-AF9ACCDBC853}"/>
          </ac:spMkLst>
        </pc:spChg>
        <pc:spChg chg="mod">
          <ac:chgData name="Nikos Piperigkos" userId="b361276a-3497-4fae-9245-3cd0ad5fb2cd" providerId="ADAL" clId="{AD4F377C-EAD3-4353-936B-F98EA0592DE0}" dt="2025-01-08T09:18:28.054" v="9" actId="20577"/>
          <ac:spMkLst>
            <pc:docMk/>
            <pc:sldMk cId="2665716523" sldId="379"/>
            <ac:spMk id="215042" creationId="{91879507-E557-FF5A-DD32-937C7D652570}"/>
          </ac:spMkLst>
        </pc:spChg>
        <pc:picChg chg="del">
          <ac:chgData name="Nikos Piperigkos" userId="b361276a-3497-4fae-9245-3cd0ad5fb2cd" providerId="ADAL" clId="{AD4F377C-EAD3-4353-936B-F98EA0592DE0}" dt="2025-01-08T09:18:30.164" v="10" actId="478"/>
          <ac:picMkLst>
            <pc:docMk/>
            <pc:sldMk cId="2665716523" sldId="379"/>
            <ac:picMk id="5" creationId="{E9106029-156D-05C3-9B2F-DB505938921E}"/>
          </ac:picMkLst>
        </pc:picChg>
        <pc:picChg chg="del">
          <ac:chgData name="Nikos Piperigkos" userId="b361276a-3497-4fae-9245-3cd0ad5fb2cd" providerId="ADAL" clId="{AD4F377C-EAD3-4353-936B-F98EA0592DE0}" dt="2025-01-08T09:18:30.628" v="11" actId="478"/>
          <ac:picMkLst>
            <pc:docMk/>
            <pc:sldMk cId="2665716523" sldId="379"/>
            <ac:picMk id="7" creationId="{AD13947C-90FD-52D2-68F6-06215FA39B06}"/>
          </ac:picMkLst>
        </pc:picChg>
      </pc:sldChg>
      <pc:sldChg chg="addSp modSp add mod setBg">
        <pc:chgData name="Nikos Piperigkos" userId="b361276a-3497-4fae-9245-3cd0ad5fb2cd" providerId="ADAL" clId="{AD4F377C-EAD3-4353-936B-F98EA0592DE0}" dt="2025-01-08T09:32:46.460" v="387" actId="20577"/>
        <pc:sldMkLst>
          <pc:docMk/>
          <pc:sldMk cId="3251197169" sldId="380"/>
        </pc:sldMkLst>
        <pc:spChg chg="mod">
          <ac:chgData name="Nikos Piperigkos" userId="b361276a-3497-4fae-9245-3cd0ad5fb2cd" providerId="ADAL" clId="{AD4F377C-EAD3-4353-936B-F98EA0592DE0}" dt="2025-01-08T09:32:46.460" v="387" actId="20577"/>
          <ac:spMkLst>
            <pc:docMk/>
            <pc:sldMk cId="3251197169" sldId="380"/>
            <ac:spMk id="4" creationId="{1A79B2B6-E023-8C36-E9E2-3CDCC55DC725}"/>
          </ac:spMkLst>
        </pc:spChg>
        <pc:picChg chg="add mod">
          <ac:chgData name="Nikos Piperigkos" userId="b361276a-3497-4fae-9245-3cd0ad5fb2cd" providerId="ADAL" clId="{AD4F377C-EAD3-4353-936B-F98EA0592DE0}" dt="2025-01-08T09:21:21.664" v="21" actId="14100"/>
          <ac:picMkLst>
            <pc:docMk/>
            <pc:sldMk cId="3251197169" sldId="380"/>
            <ac:picMk id="3" creationId="{C10FC0FE-EBC2-86B0-7677-A961968E3942}"/>
          </ac:picMkLst>
        </pc:picChg>
      </pc:sldChg>
      <pc:sldChg chg="addSp delSp modSp add mod setBg">
        <pc:chgData name="Nikos Piperigkos" userId="b361276a-3497-4fae-9245-3cd0ad5fb2cd" providerId="ADAL" clId="{AD4F377C-EAD3-4353-936B-F98EA0592DE0}" dt="2025-01-08T09:22:30.436" v="32"/>
        <pc:sldMkLst>
          <pc:docMk/>
          <pc:sldMk cId="1456011914" sldId="381"/>
        </pc:sldMkLst>
        <pc:spChg chg="mod">
          <ac:chgData name="Nikos Piperigkos" userId="b361276a-3497-4fae-9245-3cd0ad5fb2cd" providerId="ADAL" clId="{AD4F377C-EAD3-4353-936B-F98EA0592DE0}" dt="2025-01-08T09:21:58.363" v="29" actId="26606"/>
          <ac:spMkLst>
            <pc:docMk/>
            <pc:sldMk cId="1456011914" sldId="381"/>
            <ac:spMk id="4" creationId="{D8EA256D-851E-2555-FBD6-E4E7E88779EA}"/>
          </ac:spMkLst>
        </pc:spChg>
        <pc:spChg chg="mod">
          <ac:chgData name="Nikos Piperigkos" userId="b361276a-3497-4fae-9245-3cd0ad5fb2cd" providerId="ADAL" clId="{AD4F377C-EAD3-4353-936B-F98EA0592DE0}" dt="2025-01-08T09:21:58.363" v="29" actId="26606"/>
          <ac:spMkLst>
            <pc:docMk/>
            <pc:sldMk cId="1456011914" sldId="381"/>
            <ac:spMk id="215042" creationId="{39DBFCBB-3962-CAD7-24FB-1AA383B5FECD}"/>
          </ac:spMkLst>
        </pc:spChg>
        <pc:grpChg chg="add del">
          <ac:chgData name="Nikos Piperigkos" userId="b361276a-3497-4fae-9245-3cd0ad5fb2cd" providerId="ADAL" clId="{AD4F377C-EAD3-4353-936B-F98EA0592DE0}" dt="2025-01-08T09:21:58.363" v="29" actId="26606"/>
          <ac:grpSpMkLst>
            <pc:docMk/>
            <pc:sldMk cId="1456011914" sldId="381"/>
            <ac:grpSpMk id="215047" creationId="{6258F736-B256-8039-9DC6-F4E49A5C5AD5}"/>
          </ac:grpSpMkLst>
        </pc:grpChg>
        <pc:picChg chg="del">
          <ac:chgData name="Nikos Piperigkos" userId="b361276a-3497-4fae-9245-3cd0ad5fb2cd" providerId="ADAL" clId="{AD4F377C-EAD3-4353-936B-F98EA0592DE0}" dt="2025-01-08T09:21:51.432" v="24" actId="478"/>
          <ac:picMkLst>
            <pc:docMk/>
            <pc:sldMk cId="1456011914" sldId="381"/>
            <ac:picMk id="3" creationId="{CDA45880-810B-5E99-A70F-D554AD364B04}"/>
          </ac:picMkLst>
        </pc:picChg>
        <pc:picChg chg="add mod">
          <ac:chgData name="Nikos Piperigkos" userId="b361276a-3497-4fae-9245-3cd0ad5fb2cd" providerId="ADAL" clId="{AD4F377C-EAD3-4353-936B-F98EA0592DE0}" dt="2025-01-08T09:21:58.363" v="29" actId="26606"/>
          <ac:picMkLst>
            <pc:docMk/>
            <pc:sldMk cId="1456011914" sldId="381"/>
            <ac:picMk id="5" creationId="{A2F9BBC9-8A5E-ED6E-CBA5-8AD2281E2804}"/>
          </ac:picMkLst>
        </pc:picChg>
      </pc:sldChg>
      <pc:sldChg chg="delSp modSp add mod">
        <pc:chgData name="Nikos Piperigkos" userId="b361276a-3497-4fae-9245-3cd0ad5fb2cd" providerId="ADAL" clId="{AD4F377C-EAD3-4353-936B-F98EA0592DE0}" dt="2025-01-08T09:22:52.517" v="37" actId="478"/>
        <pc:sldMkLst>
          <pc:docMk/>
          <pc:sldMk cId="3296453807" sldId="382"/>
        </pc:sldMkLst>
        <pc:spChg chg="mod">
          <ac:chgData name="Nikos Piperigkos" userId="b361276a-3497-4fae-9245-3cd0ad5fb2cd" providerId="ADAL" clId="{AD4F377C-EAD3-4353-936B-F98EA0592DE0}" dt="2025-01-08T09:22:47.704" v="36" actId="20577"/>
          <ac:spMkLst>
            <pc:docMk/>
            <pc:sldMk cId="3296453807" sldId="382"/>
            <ac:spMk id="4" creationId="{8456DE19-51E2-6B9E-8D0F-9B9EFA209B37}"/>
          </ac:spMkLst>
        </pc:spChg>
        <pc:picChg chg="del">
          <ac:chgData name="Nikos Piperigkos" userId="b361276a-3497-4fae-9245-3cd0ad5fb2cd" providerId="ADAL" clId="{AD4F377C-EAD3-4353-936B-F98EA0592DE0}" dt="2025-01-08T09:22:52.517" v="37" actId="478"/>
          <ac:picMkLst>
            <pc:docMk/>
            <pc:sldMk cId="3296453807" sldId="382"/>
            <ac:picMk id="5" creationId="{865EFE10-FB4F-D682-2ACD-64B586122EBD}"/>
          </ac:picMkLst>
        </pc:picChg>
      </pc:sldChg>
      <pc:sldChg chg="addSp modSp add mod">
        <pc:chgData name="Nikos Piperigkos" userId="b361276a-3497-4fae-9245-3cd0ad5fb2cd" providerId="ADAL" clId="{AD4F377C-EAD3-4353-936B-F98EA0592DE0}" dt="2025-01-08T09:32:01.614" v="381"/>
        <pc:sldMkLst>
          <pc:docMk/>
          <pc:sldMk cId="1375578388" sldId="383"/>
        </pc:sldMkLst>
        <pc:spChg chg="mod">
          <ac:chgData name="Nikos Piperigkos" userId="b361276a-3497-4fae-9245-3cd0ad5fb2cd" providerId="ADAL" clId="{AD4F377C-EAD3-4353-936B-F98EA0592DE0}" dt="2025-01-08T09:23:07.014" v="39"/>
          <ac:spMkLst>
            <pc:docMk/>
            <pc:sldMk cId="1375578388" sldId="383"/>
            <ac:spMk id="4" creationId="{4F1C169A-C67E-55BA-DFC0-24A160E2945A}"/>
          </ac:spMkLst>
        </pc:spChg>
        <pc:picChg chg="add mod">
          <ac:chgData name="Nikos Piperigkos" userId="b361276a-3497-4fae-9245-3cd0ad5fb2cd" providerId="ADAL" clId="{AD4F377C-EAD3-4353-936B-F98EA0592DE0}" dt="2025-01-08T09:32:01.614" v="381"/>
          <ac:picMkLst>
            <pc:docMk/>
            <pc:sldMk cId="1375578388" sldId="383"/>
            <ac:picMk id="2" creationId="{6085C21B-B2DB-F122-08F7-AB0A00B6ED52}"/>
          </ac:picMkLst>
        </pc:picChg>
      </pc:sldChg>
      <pc:sldChg chg="modSp add mod">
        <pc:chgData name="Nikos Piperigkos" userId="b361276a-3497-4fae-9245-3cd0ad5fb2cd" providerId="ADAL" clId="{AD4F377C-EAD3-4353-936B-F98EA0592DE0}" dt="2025-01-09T11:41:56.382" v="401" actId="20577"/>
        <pc:sldMkLst>
          <pc:docMk/>
          <pc:sldMk cId="2125541942" sldId="384"/>
        </pc:sldMkLst>
        <pc:spChg chg="mod">
          <ac:chgData name="Nikos Piperigkos" userId="b361276a-3497-4fae-9245-3cd0ad5fb2cd" providerId="ADAL" clId="{AD4F377C-EAD3-4353-936B-F98EA0592DE0}" dt="2025-01-09T11:41:56.382" v="401" actId="20577"/>
          <ac:spMkLst>
            <pc:docMk/>
            <pc:sldMk cId="2125541942" sldId="384"/>
            <ac:spMk id="4" creationId="{12FDB2BB-5740-A43A-BC28-991AA13160C0}"/>
          </ac:spMkLst>
        </pc:spChg>
      </pc:sldChg>
      <pc:sldChg chg="modSp add mod">
        <pc:chgData name="Nikos Piperigkos" userId="b361276a-3497-4fae-9245-3cd0ad5fb2cd" providerId="ADAL" clId="{AD4F377C-EAD3-4353-936B-F98EA0592DE0}" dt="2025-01-08T09:25:47.943" v="326" actId="20577"/>
        <pc:sldMkLst>
          <pc:docMk/>
          <pc:sldMk cId="3637776143" sldId="385"/>
        </pc:sldMkLst>
        <pc:spChg chg="mod">
          <ac:chgData name="Nikos Piperigkos" userId="b361276a-3497-4fae-9245-3cd0ad5fb2cd" providerId="ADAL" clId="{AD4F377C-EAD3-4353-936B-F98EA0592DE0}" dt="2025-01-08T09:25:47.943" v="326" actId="20577"/>
          <ac:spMkLst>
            <pc:docMk/>
            <pc:sldMk cId="3637776143" sldId="385"/>
            <ac:spMk id="4" creationId="{FC603F30-C595-805D-99BE-F5CB90A324F2}"/>
          </ac:spMkLst>
        </pc:spChg>
      </pc:sldChg>
      <pc:sldChg chg="addSp modSp add mod">
        <pc:chgData name="Nikos Piperigkos" userId="b361276a-3497-4fae-9245-3cd0ad5fb2cd" providerId="ADAL" clId="{AD4F377C-EAD3-4353-936B-F98EA0592DE0}" dt="2025-01-08T09:29:17.215" v="380" actId="1076"/>
        <pc:sldMkLst>
          <pc:docMk/>
          <pc:sldMk cId="360158135" sldId="386"/>
        </pc:sldMkLst>
        <pc:spChg chg="add mod">
          <ac:chgData name="Nikos Piperigkos" userId="b361276a-3497-4fae-9245-3cd0ad5fb2cd" providerId="ADAL" clId="{AD4F377C-EAD3-4353-936B-F98EA0592DE0}" dt="2025-01-08T09:29:17.215" v="380" actId="1076"/>
          <ac:spMkLst>
            <pc:docMk/>
            <pc:sldMk cId="360158135" sldId="386"/>
            <ac:spMk id="3" creationId="{85842C4E-6DB0-5E3D-9DCF-4CAD4AAC4A39}"/>
          </ac:spMkLst>
        </pc:spChg>
        <pc:spChg chg="mod">
          <ac:chgData name="Nikos Piperigkos" userId="b361276a-3497-4fae-9245-3cd0ad5fb2cd" providerId="ADAL" clId="{AD4F377C-EAD3-4353-936B-F98EA0592DE0}" dt="2025-01-08T09:27:34.862" v="337"/>
          <ac:spMkLst>
            <pc:docMk/>
            <pc:sldMk cId="360158135" sldId="386"/>
            <ac:spMk id="4" creationId="{D4785E3C-D44E-7AE9-88FE-6EDD10911EEA}"/>
          </ac:spMkLst>
        </pc:spChg>
        <pc:spChg chg="add mod">
          <ac:chgData name="Nikos Piperigkos" userId="b361276a-3497-4fae-9245-3cd0ad5fb2cd" providerId="ADAL" clId="{AD4F377C-EAD3-4353-936B-F98EA0592DE0}" dt="2025-01-08T09:29:09.280" v="377" actId="14100"/>
          <ac:spMkLst>
            <pc:docMk/>
            <pc:sldMk cId="360158135" sldId="386"/>
            <ac:spMk id="6" creationId="{EBC8B8A0-3139-646B-FD17-3F8A3D97EA9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3027363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7638" y="-1588"/>
            <a:ext cx="3027362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5550"/>
            <a:ext cx="3027363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7638" y="8845550"/>
            <a:ext cx="3027362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>
                <a:latin typeface="Arial" panose="020B0604020202020204" pitchFamily="34" charset="0"/>
              </a:defRPr>
            </a:lvl1pPr>
          </a:lstStyle>
          <a:p>
            <a:fld id="{ADAA250D-B797-44A6-A8B0-DCDCB69069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3027363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-1588"/>
            <a:ext cx="3027362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5550"/>
            <a:ext cx="3027363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845550"/>
            <a:ext cx="3027362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5EBC083A-824A-48A2-B8CB-98F233FBF25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21275" cy="391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notes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5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63663" y="715963"/>
            <a:ext cx="4257675" cy="3440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9188" y="1184275"/>
            <a:ext cx="6715125" cy="252095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9188" y="3802063"/>
            <a:ext cx="6715125" cy="17478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2528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385763"/>
            <a:ext cx="7721600" cy="13985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950" y="1927225"/>
            <a:ext cx="7721600" cy="45926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6111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88" y="1804988"/>
            <a:ext cx="7721600" cy="301148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188" y="4845050"/>
            <a:ext cx="7721600" cy="1582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6148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385763"/>
            <a:ext cx="7721600" cy="13985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5950" y="1927225"/>
            <a:ext cx="3784600" cy="45926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2950" y="1927225"/>
            <a:ext cx="3784600" cy="45926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7556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385763"/>
            <a:ext cx="7723188" cy="13985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5950" y="1774825"/>
            <a:ext cx="3787775" cy="8699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5950" y="2644775"/>
            <a:ext cx="3787775" cy="3889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32313" y="1774825"/>
            <a:ext cx="3806825" cy="8699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32313" y="2644775"/>
            <a:ext cx="3806825" cy="3889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384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385763"/>
            <a:ext cx="7721600" cy="13985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72284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318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482600"/>
            <a:ext cx="2889250" cy="16891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6825" y="1042988"/>
            <a:ext cx="4532313" cy="51435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5950" y="2171700"/>
            <a:ext cx="2889250" cy="4022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1272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482600"/>
            <a:ext cx="2889250" cy="16891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06825" y="1042988"/>
            <a:ext cx="4532313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5950" y="2171700"/>
            <a:ext cx="2889250" cy="4022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6610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385763"/>
            <a:ext cx="7721600" cy="13985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5950" y="1927225"/>
            <a:ext cx="7721600" cy="45926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5159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7150" y="385763"/>
            <a:ext cx="1930400" cy="613410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5950" y="385763"/>
            <a:ext cx="5638800" cy="61341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41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1112838" y="6778625"/>
            <a:ext cx="166687" cy="96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5" name="Text Box 21"/>
          <p:cNvSpPr txBox="1">
            <a:spLocks noChangeArrowheads="1"/>
          </p:cNvSpPr>
          <p:nvPr userDrawn="1"/>
        </p:nvSpPr>
        <p:spPr bwMode="auto">
          <a:xfrm>
            <a:off x="0" y="0"/>
            <a:ext cx="8953500" cy="512763"/>
          </a:xfrm>
          <a:prstGeom prst="rect">
            <a:avLst/>
          </a:prstGeom>
          <a:solidFill>
            <a:srgbClr val="FF6600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l-GR" altLang="en-US" sz="1200" b="1" i="1">
                <a:latin typeface="Times New Roman" panose="02020603050405020304" pitchFamily="18" charset="0"/>
              </a:rPr>
              <a:t>ΨΗΦΙΑΚΕΣ ΤΗΛΕΠΙΚΟΙΝΩΝΙΕΣ	 </a:t>
            </a:r>
            <a:r>
              <a:rPr lang="en-US" altLang="en-US" sz="1200" b="1" i="1">
                <a:latin typeface="Times New Roman" panose="02020603050405020304" pitchFamily="18" charset="0"/>
              </a:rPr>
              <a:t>		</a:t>
            </a:r>
            <a:r>
              <a:rPr lang="en-GB" altLang="en-US" sz="1200" b="1" i="1">
                <a:latin typeface="Times New Roman" panose="02020603050405020304" pitchFamily="18" charset="0"/>
              </a:rPr>
              <a:t> </a:t>
            </a:r>
            <a:r>
              <a:rPr lang="el-GR" altLang="en-US" sz="1200" b="1" i="1">
                <a:latin typeface="Times New Roman" panose="02020603050405020304" pitchFamily="18" charset="0"/>
              </a:rPr>
              <a:t>		</a:t>
            </a:r>
            <a:r>
              <a:rPr lang="en-US" altLang="en-US" sz="1200" b="1" i="1">
                <a:latin typeface="Times New Roman" panose="02020603050405020304" pitchFamily="18" charset="0"/>
              </a:rPr>
              <a:t>1-</a:t>
            </a:r>
            <a:fld id="{9F375EAC-F755-4149-95CE-5B1FBD52E5D0}" type="slidenum">
              <a:rPr lang="en-US" altLang="en-US" sz="1200" b="1" i="1">
                <a:latin typeface="Times New Roman" panose="02020603050405020304" pitchFamily="18" charset="0"/>
              </a:rPr>
              <a:pPr algn="just"/>
              <a:t>‹#›</a:t>
            </a:fld>
            <a:endParaRPr lang="en-US" altLang="en-US" sz="1200" b="1" i="1">
              <a:latin typeface="Times New Roman" panose="02020603050405020304" pitchFamily="18" charset="0"/>
            </a:endParaRPr>
          </a:p>
          <a:p>
            <a:pPr algn="just"/>
            <a:r>
              <a:rPr lang="el-GR" altLang="en-US" sz="1200" b="1" i="1">
                <a:latin typeface="Times New Roman" panose="02020603050405020304" pitchFamily="18" charset="0"/>
              </a:rPr>
              <a:t>ΚΕΦΑΛΑΙΟ </a:t>
            </a:r>
            <a:r>
              <a:rPr lang="en-US" altLang="en-US" sz="1200" b="1" i="1">
                <a:latin typeface="Times New Roman" panose="02020603050405020304" pitchFamily="18" charset="0"/>
              </a:rPr>
              <a:t>6</a:t>
            </a:r>
            <a:r>
              <a:rPr lang="el-GR" altLang="en-US" sz="1200" b="1" i="1">
                <a:latin typeface="Times New Roman" panose="02020603050405020304" pitchFamily="18" charset="0"/>
              </a:rPr>
              <a:t>: ΨΗΦΙΑΚΗ ΔΙΑΜΟΡΦΩΣΗ ΔΙΕΛΕΥΣΗΣ ΖΩΝΗΣ</a:t>
            </a:r>
            <a:r>
              <a:rPr lang="en-US" altLang="en-US" sz="1200" b="1" i="1">
                <a:latin typeface="Times New Roman" panose="02020603050405020304" pitchFamily="18" charset="0"/>
              </a:rPr>
              <a:t> </a:t>
            </a:r>
            <a:r>
              <a:rPr lang="el-GR" altLang="en-US" sz="1200" b="1" i="1">
                <a:latin typeface="Times New Roman" panose="02020603050405020304" pitchFamily="18" charset="0"/>
              </a:rPr>
              <a:t>ΠΟΛΛΑΠΛΩΝ ΕΠΙΠΕΔΩΝ</a:t>
            </a:r>
            <a:r>
              <a:rPr lang="en-US" altLang="en-US"/>
              <a:t> </a:t>
            </a:r>
            <a:endParaRPr lang="en-GB" altLang="en-US"/>
          </a:p>
        </p:txBody>
      </p:sp>
      <p:pic>
        <p:nvPicPr>
          <p:cNvPr id="1047" name="Picture 23" descr="COSTAS1"/>
          <p:cNvPicPr>
            <a:picLocks noChangeAspect="1" noChangeArrowheads="1"/>
          </p:cNvPicPr>
          <p:nvPr userDrawn="1"/>
        </p:nvPicPr>
        <p:blipFill>
          <a:blip r:embed="rId1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74" t="-3836" r="-3586" b="-9258"/>
          <a:stretch>
            <a:fillRect/>
          </a:stretch>
        </p:blipFill>
        <p:spPr bwMode="auto">
          <a:xfrm>
            <a:off x="7872413" y="0"/>
            <a:ext cx="1081087" cy="969963"/>
          </a:xfrm>
          <a:prstGeom prst="rect">
            <a:avLst/>
          </a:prstGeom>
          <a:solidFill>
            <a:schemeClr val="folHlink"/>
          </a:solidFill>
          <a:ln w="28575">
            <a:solidFill>
              <a:srgbClr val="000099"/>
            </a:solidFill>
            <a:miter lim="800000"/>
            <a:headEnd/>
            <a:tailEnd/>
          </a:ln>
        </p:spPr>
      </p:pic>
      <p:sp>
        <p:nvSpPr>
          <p:cNvPr id="1049" name="Rectangle 25"/>
          <p:cNvSpPr>
            <a:spLocks noChangeArrowheads="1"/>
          </p:cNvSpPr>
          <p:nvPr userDrawn="1"/>
        </p:nvSpPr>
        <p:spPr bwMode="auto">
          <a:xfrm>
            <a:off x="0" y="7151688"/>
            <a:ext cx="8953500" cy="87312"/>
          </a:xfrm>
          <a:prstGeom prst="rect">
            <a:avLst/>
          </a:prstGeom>
          <a:solidFill>
            <a:srgbClr val="FF6600"/>
          </a:solidFill>
          <a:ln w="6350">
            <a:solidFill>
              <a:srgbClr val="FF6600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75000"/>
        <a:buFont typeface="Monotype Sorts" pitchFamily="2" charset="2"/>
        <a:buChar char="l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Font typeface="Monotype Sorts" pitchFamily="2" charset="2"/>
        <a:buChar char="l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Monotype Sorts" pitchFamily="2" charset="2"/>
        <a:buChar char="l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Monotype Sorts" pitchFamily="2" charset="2"/>
        <a:buChar char="l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Monotype Sorts" pitchFamily="2" charset="2"/>
        <a:buChar char="l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wmf"/><Relationship Id="rId7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file:///F:\02%20TELECOMS\01%20Theory\01%20Analog%20&amp;%20Digital%20Coms\!%20Bateman%20Book\A%20Bateman%20Book%20WWW\PAGES\CH6\ch6figs\sec2\Maskgen.gif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2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file:///F:\02%20TELECOMS\01%20Theory\01%20Analog%20&amp;%20Digital%20Coms\!%20Bateman%20Book\A%20Bateman%20Book%20WWW\PAGES\CH6\ch6figs\sec3\mfskprob.gif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wmf"/><Relationship Id="rId7" Type="http://schemas.openxmlformats.org/officeDocument/2006/relationships/image" Target="../media/image17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3.png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2" name="Text Box 4"/>
          <p:cNvSpPr txBox="1">
            <a:spLocks noChangeArrowheads="1"/>
          </p:cNvSpPr>
          <p:nvPr/>
        </p:nvSpPr>
        <p:spPr bwMode="auto">
          <a:xfrm>
            <a:off x="118663" y="2737517"/>
            <a:ext cx="8697269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Μ-ΑΔΙΚΕΣ ΨΗΦΙΑΚΕΣ ΔΙΑΜΟΡΦΩΣΕΙΣ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18662" y="3762436"/>
            <a:ext cx="8697269" cy="1446550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Μετάδοση περισσότερων του 1</a:t>
            </a:r>
            <a:r>
              <a:rPr lang="en-US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-bit</a:t>
            </a:r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 ταυτόχρονα</a:t>
            </a:r>
            <a:endParaRPr lang="en-US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ctr"/>
            <a:endParaRPr lang="en-US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ctr"/>
            <a:endParaRPr lang="en-US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ctr"/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Αύξηση χωρητικότητας καναλιού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Down Arrow 1"/>
          <p:cNvSpPr/>
          <p:nvPr/>
        </p:nvSpPr>
        <p:spPr bwMode="auto">
          <a:xfrm>
            <a:off x="4188092" y="4257893"/>
            <a:ext cx="321087" cy="572373"/>
          </a:xfrm>
          <a:prstGeom prst="downArrow">
            <a:avLst/>
          </a:prstGeom>
          <a:noFill/>
          <a:ln w="63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2" name="Text Box 4"/>
          <p:cNvSpPr txBox="1">
            <a:spLocks noChangeArrowheads="1"/>
          </p:cNvSpPr>
          <p:nvPr/>
        </p:nvSpPr>
        <p:spPr bwMode="auto">
          <a:xfrm>
            <a:off x="0" y="496888"/>
            <a:ext cx="7839075" cy="787400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 dirty="0">
                <a:solidFill>
                  <a:srgbClr val="000000"/>
                </a:solidFill>
              </a:rPr>
              <a:t>6</a:t>
            </a:r>
            <a:r>
              <a:rPr lang="en-US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.1</a:t>
            </a:r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	Μ-ΑΔΙΚΗ ΨΗΦΙΑΚΗ ΔΙΑΜΟΡΦΩΣΗ ΠΛΑΤΟΥΣ      (Μ-ASK)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45448" name="Object 40"/>
          <p:cNvGraphicFramePr>
            <a:graphicFrameLocks noChangeAspect="1"/>
          </p:cNvGraphicFramePr>
          <p:nvPr/>
        </p:nvGraphicFramePr>
        <p:xfrm>
          <a:off x="138113" y="1495425"/>
          <a:ext cx="45704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24200" imgH="342900" progId="Equation.3">
                  <p:embed/>
                </p:oleObj>
              </mc:Choice>
              <mc:Fallback>
                <p:oleObj name="Equation" r:id="rId2" imgW="3124200" imgH="342900" progId="Equation.3">
                  <p:embed/>
                  <p:pic>
                    <p:nvPicPr>
                      <p:cNvPr id="145448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3" y="1495425"/>
                        <a:ext cx="4570412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5450" name="Object 42"/>
              <p:cNvSpPr txBox="1"/>
              <p:nvPr/>
            </p:nvSpPr>
            <p:spPr bwMode="auto">
              <a:xfrm>
                <a:off x="146050" y="2035175"/>
                <a:ext cx="3808413" cy="3873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func>
                        <m:funcPr>
                          <m:ctrlP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)  </m:t>
                      </m:r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=1,2,...,</m:t>
                      </m:r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l-GR" sz="1600" dirty="0"/>
              </a:p>
            </p:txBody>
          </p:sp>
        </mc:Choice>
        <mc:Fallback xmlns="">
          <p:sp>
            <p:nvSpPr>
              <p:cNvPr id="145450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050" y="2035175"/>
                <a:ext cx="3808413" cy="387350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5452" name="Picture 44" descr="F:\02 TELECOMS\01 Theory\01 Analog &amp; Digital Coms\! Bateman Book\A Bateman Book WWW\PAGES\CH6\ch6figs\sec2\Maskgen.gif"/>
          <p:cNvPicPr>
            <a:picLocks noChangeAspect="1" noChangeArrowheads="1"/>
          </p:cNvPicPr>
          <p:nvPr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01888"/>
            <a:ext cx="6357938" cy="180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454" name="Picture 46"/>
          <p:cNvPicPr>
            <a:picLocks noChangeAspect="1" noChangeArrowheads="1"/>
          </p:cNvPicPr>
          <p:nvPr/>
        </p:nvPicPr>
        <p:blipFill>
          <a:blip r:embed="rId7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4" t="11292" r="29382" b="33482"/>
          <a:stretch>
            <a:fillRect/>
          </a:stretch>
        </p:blipFill>
        <p:spPr bwMode="auto">
          <a:xfrm>
            <a:off x="127000" y="4338638"/>
            <a:ext cx="3505200" cy="273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456" name="Picture 48"/>
          <p:cNvPicPr>
            <a:picLocks noChangeAspect="1" noChangeArrowheads="1"/>
          </p:cNvPicPr>
          <p:nvPr/>
        </p:nvPicPr>
        <p:blipFill>
          <a:blip r:embed="rId8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0" t="17430" r="33578" b="44000"/>
          <a:stretch>
            <a:fillRect/>
          </a:stretch>
        </p:blipFill>
        <p:spPr bwMode="auto">
          <a:xfrm rot="16200000">
            <a:off x="4251325" y="4786313"/>
            <a:ext cx="21336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907921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Text Box 2"/>
          <p:cNvSpPr txBox="1">
            <a:spLocks noChangeArrowheads="1"/>
          </p:cNvSpPr>
          <p:nvPr/>
        </p:nvSpPr>
        <p:spPr bwMode="auto">
          <a:xfrm>
            <a:off x="0" y="496888"/>
            <a:ext cx="7839075" cy="787400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>
                <a:solidFill>
                  <a:srgbClr val="000000"/>
                </a:solidFill>
              </a:rPr>
              <a:t>6</a:t>
            </a:r>
            <a:r>
              <a:rPr lang="en-US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.1</a:t>
            </a:r>
            <a:r>
              <a:rPr lang="el-GR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	Μ-ΑΔΙΚΗ ΨΗΦΙΑΚΗ ΔΙΑΜΟΡΦΩΣΗ ΠΛΑΤΟΥΣ      </a:t>
            </a:r>
            <a:r>
              <a:rPr lang="el-GR" altLang="en-US" sz="140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el-GR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(Μ-ASK)</a:t>
            </a:r>
            <a:r>
              <a:rPr lang="en-US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en-GB" altLang="en-US" sz="2200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208904" name="Object 8"/>
          <p:cNvGraphicFramePr>
            <a:graphicFrameLocks noChangeAspect="1"/>
          </p:cNvGraphicFramePr>
          <p:nvPr/>
        </p:nvGraphicFramePr>
        <p:xfrm>
          <a:off x="128588" y="1428750"/>
          <a:ext cx="34575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4000" imgH="508000" progId="Equation.3">
                  <p:embed/>
                </p:oleObj>
              </mc:Choice>
              <mc:Fallback>
                <p:oleObj name="Equation" r:id="rId2" imgW="2794000" imgH="508000" progId="Equation.3">
                  <p:embed/>
                  <p:pic>
                    <p:nvPicPr>
                      <p:cNvPr id="20890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8" y="1428750"/>
                        <a:ext cx="3457575" cy="625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06" name="Object 10"/>
          <p:cNvGraphicFramePr>
            <a:graphicFrameLocks noChangeAspect="1"/>
          </p:cNvGraphicFramePr>
          <p:nvPr/>
        </p:nvGraphicFramePr>
        <p:xfrm>
          <a:off x="138113" y="2216150"/>
          <a:ext cx="15208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588" imgH="444307" progId="Equation.3">
                  <p:embed/>
                </p:oleObj>
              </mc:Choice>
              <mc:Fallback>
                <p:oleObj name="Equation" r:id="rId4" imgW="1180588" imgH="444307" progId="Equation.3">
                  <p:embed/>
                  <p:pic>
                    <p:nvPicPr>
                      <p:cNvPr id="20890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3" y="2216150"/>
                        <a:ext cx="1520825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8908" name="Picture 12"/>
          <p:cNvPicPr>
            <a:picLocks noChangeAspect="1" noChangeArrowheads="1"/>
          </p:cNvPicPr>
          <p:nvPr/>
        </p:nvPicPr>
        <p:blipFill>
          <a:blip r:embed="rId6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8" t="18796" r="21022" b="22115"/>
          <a:stretch>
            <a:fillRect/>
          </a:stretch>
        </p:blipFill>
        <p:spPr bwMode="auto">
          <a:xfrm>
            <a:off x="2855168" y="1898586"/>
            <a:ext cx="5861374" cy="5180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Text Box 2"/>
          <p:cNvSpPr txBox="1">
            <a:spLocks noChangeArrowheads="1"/>
          </p:cNvSpPr>
          <p:nvPr/>
        </p:nvSpPr>
        <p:spPr bwMode="auto">
          <a:xfrm>
            <a:off x="0" y="496888"/>
            <a:ext cx="7839075" cy="787400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>
                <a:solidFill>
                  <a:srgbClr val="000000"/>
                </a:solidFill>
              </a:rPr>
              <a:t>6</a:t>
            </a:r>
            <a:r>
              <a:rPr lang="en-US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.2</a:t>
            </a:r>
            <a:r>
              <a:rPr lang="el-GR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	Μ-ΑΔΙΚΗ ΨΗΦΙΑΚΗ ΔΙΑΜΟΡΦΩΣΗ ΣΥΧΝΟΤΗTΑΣ (M-FSK)</a:t>
            </a:r>
            <a:r>
              <a:rPr lang="en-US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en-GB" altLang="en-US" sz="2200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209926" name="Object 6"/>
          <p:cNvGraphicFramePr>
            <a:graphicFrameLocks noChangeAspect="1"/>
          </p:cNvGraphicFramePr>
          <p:nvPr/>
        </p:nvGraphicFramePr>
        <p:xfrm>
          <a:off x="34925" y="1379538"/>
          <a:ext cx="4368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24200" imgH="342900" progId="Equation.3">
                  <p:embed/>
                </p:oleObj>
              </mc:Choice>
              <mc:Fallback>
                <p:oleObj name="Equation" r:id="rId2" imgW="3124200" imgH="342900" progId="Equation.3">
                  <p:embed/>
                  <p:pic>
                    <p:nvPicPr>
                      <p:cNvPr id="2099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1379538"/>
                        <a:ext cx="4368800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9928" name="Object 8"/>
              <p:cNvSpPr txBox="1"/>
              <p:nvPr/>
            </p:nvSpPr>
            <p:spPr bwMode="auto">
              <a:xfrm>
                <a:off x="39688" y="1982788"/>
                <a:ext cx="4206874" cy="22383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l-GR" sz="1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)  </m:t>
                      </m:r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=1,2,...,</m:t>
                      </m:r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l-GR" sz="1600" dirty="0"/>
              </a:p>
            </p:txBody>
          </p:sp>
        </mc:Choice>
        <mc:Fallback xmlns="">
          <p:sp>
            <p:nvSpPr>
              <p:cNvPr id="20992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88" y="1982788"/>
                <a:ext cx="4206874" cy="223837"/>
              </a:xfrm>
              <a:prstGeom prst="rect">
                <a:avLst/>
              </a:prstGeom>
              <a:blipFill>
                <a:blip r:embed="rId4"/>
                <a:stretch>
                  <a:fillRect b="-94595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9930" name="Picture 10" descr="4aryfsk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85" y="4716204"/>
            <a:ext cx="3265729" cy="1151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9931" name="Text Box 11"/>
          <p:cNvSpPr txBox="1">
            <a:spLocks noChangeArrowheads="1"/>
          </p:cNvSpPr>
          <p:nvPr/>
        </p:nvSpPr>
        <p:spPr bwMode="auto">
          <a:xfrm>
            <a:off x="0" y="3128963"/>
            <a:ext cx="8458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l-GR" altLang="en-US">
                <a:latin typeface="Times New Roman" panose="02020603050405020304" pitchFamily="18" charset="0"/>
              </a:rPr>
              <a:t>Δύο καταστάσεις συμβόλων ονομάζονται  </a:t>
            </a:r>
            <a:r>
              <a:rPr lang="el-GR" altLang="en-US" b="1">
                <a:latin typeface="Times New Roman" panose="02020603050405020304" pitchFamily="18" charset="0"/>
              </a:rPr>
              <a:t>ορθογώνιες (ή ορθογωνικές)</a:t>
            </a:r>
            <a:r>
              <a:rPr lang="el-GR" altLang="en-US">
                <a:latin typeface="Times New Roman" panose="02020603050405020304" pitchFamily="18" charset="0"/>
              </a:rPr>
              <a:t> στη διάρκεια της περιόδου συμβόλου T</a:t>
            </a:r>
            <a:r>
              <a:rPr lang="el-GR" altLang="en-US" baseline="-25000">
                <a:latin typeface="Times New Roman" panose="02020603050405020304" pitchFamily="18" charset="0"/>
              </a:rPr>
              <a:t>s</a:t>
            </a:r>
            <a:r>
              <a:rPr lang="el-GR" altLang="en-US">
                <a:latin typeface="Times New Roman" panose="02020603050405020304" pitchFamily="18" charset="0"/>
              </a:rPr>
              <a:t>, εάν ισχύει: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20993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1308618"/>
              </p:ext>
            </p:extLst>
          </p:nvPr>
        </p:nvGraphicFramePr>
        <p:xfrm>
          <a:off x="2549093" y="3652183"/>
          <a:ext cx="446718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95500" imgH="482600" progId="Equation.3">
                  <p:embed/>
                </p:oleObj>
              </mc:Choice>
              <mc:Fallback>
                <p:oleObj name="Equation" r:id="rId6" imgW="2095500" imgH="482600" progId="Equation.3">
                  <p:embed/>
                  <p:pic>
                    <p:nvPicPr>
                      <p:cNvPr id="20993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9093" y="3652183"/>
                        <a:ext cx="4467180" cy="1035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3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86845"/>
              </p:ext>
            </p:extLst>
          </p:nvPr>
        </p:nvGraphicFramePr>
        <p:xfrm>
          <a:off x="2988468" y="6259657"/>
          <a:ext cx="2516188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63560" imgH="482400" progId="Equation.3">
                  <p:embed/>
                </p:oleObj>
              </mc:Choice>
              <mc:Fallback>
                <p:oleObj name="Equation" r:id="rId8" imgW="1663560" imgH="482400" progId="Equation.3">
                  <p:embed/>
                  <p:pic>
                    <p:nvPicPr>
                      <p:cNvPr id="20993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8468" y="6259657"/>
                        <a:ext cx="2516188" cy="735013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36" name="Text Box 16"/>
          <p:cNvSpPr txBox="1">
            <a:spLocks noChangeArrowheads="1"/>
          </p:cNvSpPr>
          <p:nvPr/>
        </p:nvSpPr>
        <p:spPr bwMode="auto">
          <a:xfrm>
            <a:off x="47625" y="2693988"/>
            <a:ext cx="2441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l-GR" altLang="en-US" sz="2000" b="1">
                <a:latin typeface="Times New Roman" panose="02020603050405020304" pitchFamily="18" charset="0"/>
              </a:rPr>
              <a:t>Ορθογωνική </a:t>
            </a:r>
            <a:r>
              <a:rPr lang="en-US" altLang="en-US" sz="2000" b="1">
                <a:latin typeface="Times New Roman" panose="02020603050405020304" pitchFamily="18" charset="0"/>
              </a:rPr>
              <a:t>M-FSK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A79EB-8006-9F97-F994-6572F343B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Text Box 2">
            <a:extLst>
              <a:ext uri="{FF2B5EF4-FFF2-40B4-BE49-F238E27FC236}">
                <a16:creationId xmlns:a16="http://schemas.microsoft.com/office/drawing/2014/main" id="{6D392CDA-1186-11F8-3734-E8B64AF98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787400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>
                <a:solidFill>
                  <a:srgbClr val="000000"/>
                </a:solidFill>
              </a:rPr>
              <a:t>6</a:t>
            </a:r>
            <a:r>
              <a:rPr lang="en-US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.2</a:t>
            </a:r>
            <a:r>
              <a:rPr lang="el-GR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	Μ-ΑΔΙΚΗ ΨΗΦΙΑΚΗ ΔΙΑΜΟΡΦΩΣΗ ΣΥΧΝΟΤΗTΑΣ (M-FSK)</a:t>
            </a:r>
            <a:r>
              <a:rPr lang="en-US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en-GB" altLang="en-US" sz="2200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931" name="Text Box 11">
                <a:extLst>
                  <a:ext uri="{FF2B5EF4-FFF2-40B4-BE49-F238E27FC236}">
                    <a16:creationId xmlns:a16="http://schemas.microsoft.com/office/drawing/2014/main" id="{DA624A7D-0B06-6B8B-9EDE-0B1DBDDCCE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2152218"/>
                <a:ext cx="4476750" cy="42979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635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altLang="en-US" sz="1600" dirty="0">
                    <a:latin typeface="Times New Roman" panose="02020603050405020304" pitchFamily="18" charset="0"/>
                  </a:rPr>
                  <a:t>Αν ένα σύμβολο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16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l-GR" altLang="en-US" sz="16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16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altLang="en-US" sz="16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l-GR" altLang="en-US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altLang="en-US" sz="1600" dirty="0">
                    <a:latin typeface="Times New Roman" panose="02020603050405020304" pitchFamily="18" charset="0"/>
                  </a:rPr>
                  <a:t>αναμιχθεί με ένα φέρον αναφοράς που έχει τη φάση ενός άλλου συμβόλου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160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l-GR" altLang="en-US" sz="16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en-US" sz="16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altLang="en-US" sz="16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altLang="en-US" sz="1600" dirty="0">
                    <a:latin typeface="Times New Roman" panose="02020603050405020304" pitchFamily="18" charset="0"/>
                  </a:rPr>
                  <a:t>, τότε η μέση τιμή της εξόδου του </a:t>
                </a:r>
                <a:r>
                  <a:rPr lang="el-GR" altLang="en-US" sz="1600" dirty="0" err="1">
                    <a:latin typeface="Times New Roman" panose="02020603050405020304" pitchFamily="18" charset="0"/>
                  </a:rPr>
                  <a:t>μίκτη</a:t>
                </a:r>
                <a:r>
                  <a:rPr lang="el-GR" altLang="en-US" sz="1600" dirty="0">
                    <a:latin typeface="Times New Roman" panose="02020603050405020304" pitchFamily="18" charset="0"/>
                  </a:rPr>
                  <a:t> για χρονικό διάστημα μίας περιόδου, θα είναι μηδέν.</a:t>
                </a: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altLang="en-US" sz="1600" dirty="0">
                    <a:latin typeface="Times New Roman" panose="02020603050405020304" pitchFamily="18" charset="0"/>
                  </a:rPr>
                  <a:t>Με την ορθογώνια σηματοδοσία, είναι δυνατόν να αυξηθεί ο αριθμός των καταστάσεων συμβόλων που χρησιμοποιούνται χωρίς να επηρεαστεί η έξοδος από έναν μεμονωμένο συνεκτικό ανιχνευτή και, συνεπώς, χωρίς να αυξηθεί η πιθανότητα σφάλματος συμβόλου για κάθε ανιχνευτή.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altLang="en-US" sz="1600" dirty="0">
                    <a:latin typeface="Times New Roman" panose="02020603050405020304" pitchFamily="18" charset="0"/>
                  </a:rPr>
                  <a:t>Η ορθογώνια διαμόρφωση FSK, θεωρητικά, μπορεί να έχει οποιονδήποτε αριθμό ορθογώνιων καταστάσεων συμβόλων, αλλά αυτό γίνεται με το κόστος της συνεχώς αυξανόμενης καταλαμβανόμενης εύρους ζώνης.</a:t>
                </a:r>
                <a:endParaRPr lang="en-US" altLang="en-US" sz="16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9931" name="Text Box 11">
                <a:extLst>
                  <a:ext uri="{FF2B5EF4-FFF2-40B4-BE49-F238E27FC236}">
                    <a16:creationId xmlns:a16="http://schemas.microsoft.com/office/drawing/2014/main" id="{DA624A7D-0B06-6B8B-9EDE-0B1DBDDCC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2152218"/>
                <a:ext cx="4476750" cy="4297908"/>
              </a:xfrm>
              <a:prstGeom prst="rect">
                <a:avLst/>
              </a:prstGeom>
              <a:blipFill>
                <a:blip r:embed="rId2"/>
                <a:stretch>
                  <a:fillRect l="-545" t="-426" r="-681" b="-8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936" name="Text Box 16">
            <a:extLst>
              <a:ext uri="{FF2B5EF4-FFF2-40B4-BE49-F238E27FC236}">
                <a16:creationId xmlns:a16="http://schemas.microsoft.com/office/drawing/2014/main" id="{5FDBAA0D-2D15-154E-1EBE-C72D782C1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06460"/>
            <a:ext cx="23423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l-GR" altLang="en-US" sz="2000" b="1" dirty="0">
                <a:latin typeface="Times New Roman" panose="02020603050405020304" pitchFamily="18" charset="0"/>
              </a:rPr>
              <a:t>Πρακτική ερμηνεία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pic>
        <p:nvPicPr>
          <p:cNvPr id="2" name="Picture 17" descr="F:\02 TELECOMS\01 Theory\01 Analog &amp; Digital Coms\! Bateman Book\A Bateman Book WWW\PAGES\CH6\ch6figs\sec3\mfskprob.gif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4" r="3867"/>
          <a:stretch>
            <a:fillRect/>
          </a:stretch>
        </p:blipFill>
        <p:spPr bwMode="auto">
          <a:xfrm>
            <a:off x="4672666" y="1913871"/>
            <a:ext cx="4280834" cy="432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51691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Text Box 2"/>
          <p:cNvSpPr txBox="1">
            <a:spLocks noChangeArrowheads="1"/>
          </p:cNvSpPr>
          <p:nvPr/>
        </p:nvSpPr>
        <p:spPr bwMode="auto">
          <a:xfrm>
            <a:off x="0" y="496888"/>
            <a:ext cx="7839075" cy="45243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>
                <a:solidFill>
                  <a:srgbClr val="000000"/>
                </a:solidFill>
              </a:rPr>
              <a:t>6</a:t>
            </a:r>
            <a:r>
              <a:rPr lang="en-US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.3</a:t>
            </a:r>
            <a:r>
              <a:rPr lang="el-GR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	Μ-ΑΔΙΚΗ ΨΗΦΙΑΚΗ ΔΙΑΜΟΡΦΩΣΗ ΦΑΣΗΣ (Μ-PSK)</a:t>
            </a:r>
            <a:r>
              <a:rPr lang="en-US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en-GB" altLang="en-US" sz="2200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210959" name="Object 15"/>
          <p:cNvGraphicFramePr>
            <a:graphicFrameLocks noChangeAspect="1"/>
          </p:cNvGraphicFramePr>
          <p:nvPr/>
        </p:nvGraphicFramePr>
        <p:xfrm>
          <a:off x="0" y="1263650"/>
          <a:ext cx="43973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24200" imgH="342900" progId="Equation.3">
                  <p:embed/>
                </p:oleObj>
              </mc:Choice>
              <mc:Fallback>
                <p:oleObj name="Equation" r:id="rId2" imgW="3124200" imgH="342900" progId="Equation.3">
                  <p:embed/>
                  <p:pic>
                    <p:nvPicPr>
                      <p:cNvPr id="21095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63650"/>
                        <a:ext cx="4397375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0961" name="Object 17"/>
              <p:cNvSpPr txBox="1"/>
              <p:nvPr/>
            </p:nvSpPr>
            <p:spPr bwMode="auto">
              <a:xfrm>
                <a:off x="0" y="1852613"/>
                <a:ext cx="4623955" cy="20796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l-G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l-GR" sz="1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l-GR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l-GR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l-GR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l-GR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l-GR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l-GR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el-GR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  <m:r>
                                <a:rPr lang="el-GR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l-GR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l-GR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=1,2,...,</m:t>
                      </m:r>
                      <m:r>
                        <a:rPr lang="el-G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l-GR" sz="1600" dirty="0"/>
              </a:p>
            </p:txBody>
          </p:sp>
        </mc:Choice>
        <mc:Fallback xmlns="">
          <p:sp>
            <p:nvSpPr>
              <p:cNvPr id="210961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852613"/>
                <a:ext cx="4623955" cy="207962"/>
              </a:xfrm>
              <a:prstGeom prst="rect">
                <a:avLst/>
              </a:prstGeom>
              <a:blipFill>
                <a:blip r:embed="rId4"/>
                <a:stretch>
                  <a:fillRect b="-111765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096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328472"/>
              </p:ext>
            </p:extLst>
          </p:nvPr>
        </p:nvGraphicFramePr>
        <p:xfrm>
          <a:off x="0" y="2992294"/>
          <a:ext cx="162083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55700" imgH="393700" progId="Equation.3">
                  <p:embed/>
                </p:oleObj>
              </mc:Choice>
              <mc:Fallback>
                <p:oleObj name="Equation" r:id="rId5" imgW="1155700" imgH="393700" progId="Equation.3">
                  <p:embed/>
                  <p:pic>
                    <p:nvPicPr>
                      <p:cNvPr id="21096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992294"/>
                        <a:ext cx="1620838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0965" name="Picture 21" descr="MPSKPROB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35"/>
          <a:stretch>
            <a:fillRect/>
          </a:stretch>
        </p:blipFill>
        <p:spPr bwMode="auto">
          <a:xfrm>
            <a:off x="153122" y="3619500"/>
            <a:ext cx="3887787" cy="33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9">
                <a:extLst>
                  <a:ext uri="{FF2B5EF4-FFF2-40B4-BE49-F238E27FC236}">
                    <a16:creationId xmlns:a16="http://schemas.microsoft.com/office/drawing/2014/main" id="{AC01E6B3-D1DF-985F-B9D9-3A252AA1D652}"/>
                  </a:ext>
                </a:extLst>
              </p:cNvPr>
              <p:cNvSpPr txBox="1"/>
              <p:nvPr/>
            </p:nvSpPr>
            <p:spPr bwMode="auto">
              <a:xfrm>
                <a:off x="0" y="2305195"/>
                <a:ext cx="1620838" cy="54927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l-GR" sz="1050" dirty="0"/>
              </a:p>
            </p:txBody>
          </p:sp>
        </mc:Choice>
        <mc:Fallback xmlns="">
          <p:sp>
            <p:nvSpPr>
              <p:cNvPr id="4" name="Object 19">
                <a:extLst>
                  <a:ext uri="{FF2B5EF4-FFF2-40B4-BE49-F238E27FC236}">
                    <a16:creationId xmlns:a16="http://schemas.microsoft.com/office/drawing/2014/main" id="{AC01E6B3-D1DF-985F-B9D9-3A252AA1D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2305195"/>
                <a:ext cx="1620838" cy="549275"/>
              </a:xfrm>
              <a:prstGeom prst="rect">
                <a:avLst/>
              </a:prstGeom>
              <a:blipFill>
                <a:blip r:embed="rId8"/>
                <a:stretch>
                  <a:fillRect b="-24444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Text Box 2"/>
          <p:cNvSpPr txBox="1">
            <a:spLocks noChangeArrowheads="1"/>
          </p:cNvSpPr>
          <p:nvPr/>
        </p:nvSpPr>
        <p:spPr bwMode="auto">
          <a:xfrm>
            <a:off x="0" y="496888"/>
            <a:ext cx="7839075" cy="45243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 dirty="0">
                <a:solidFill>
                  <a:srgbClr val="000000"/>
                </a:solidFill>
              </a:rPr>
              <a:t>6</a:t>
            </a:r>
            <a:r>
              <a:rPr lang="en-US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.3</a:t>
            </a:r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	Μ-ΑΔΙΚΗ ΨΗΦΙΑΚΗ ΔΙΑΜΟΡΦΩΣΗ ΦΑΣΗΣ (Μ-PSK)</a:t>
            </a:r>
            <a:r>
              <a:rPr lang="en-US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11975" name="Text Box 7"/>
          <p:cNvSpPr txBox="1">
            <a:spLocks noChangeArrowheads="1"/>
          </p:cNvSpPr>
          <p:nvPr/>
        </p:nvSpPr>
        <p:spPr bwMode="auto">
          <a:xfrm>
            <a:off x="60325" y="1033463"/>
            <a:ext cx="61293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l-GR" altLang="en-US" sz="1800" b="1">
                <a:latin typeface="Times New Roman" panose="02020603050405020304" pitchFamily="18" charset="0"/>
              </a:rPr>
              <a:t>Διαμόρφωση Μετατόπισης Φάσης με Ορθογωνισμό (QPSK)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11976" name="Object 8"/>
          <p:cNvGraphicFramePr>
            <a:graphicFrameLocks noChangeAspect="1"/>
          </p:cNvGraphicFramePr>
          <p:nvPr/>
        </p:nvGraphicFramePr>
        <p:xfrm>
          <a:off x="30163" y="1479550"/>
          <a:ext cx="131445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900" imgH="939800" progId="Equation.3">
                  <p:embed/>
                </p:oleObj>
              </mc:Choice>
              <mc:Fallback>
                <p:oleObj name="Equation" r:id="rId2" imgW="977900" imgH="939800" progId="Equation.3">
                  <p:embed/>
                  <p:pic>
                    <p:nvPicPr>
                      <p:cNvPr id="21197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3" y="1479550"/>
                        <a:ext cx="1314450" cy="1263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8" name="Object 10"/>
          <p:cNvGraphicFramePr>
            <a:graphicFrameLocks noChangeAspect="1"/>
          </p:cNvGraphicFramePr>
          <p:nvPr/>
        </p:nvGraphicFramePr>
        <p:xfrm>
          <a:off x="28575" y="2894013"/>
          <a:ext cx="3471863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52700" imgH="939800" progId="Equation.3">
                  <p:embed/>
                </p:oleObj>
              </mc:Choice>
              <mc:Fallback>
                <p:oleObj name="Equation" r:id="rId4" imgW="2552700" imgH="939800" progId="Equation.3">
                  <p:embed/>
                  <p:pic>
                    <p:nvPicPr>
                      <p:cNvPr id="21197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" y="2894013"/>
                        <a:ext cx="3471863" cy="1282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1980" name="Picture 12" descr="QPSKCON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" y="4289425"/>
            <a:ext cx="3529013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3A4388-3348-480A-A8A8-4020AAC22CCC}"/>
              </a:ext>
            </a:extLst>
          </p:cNvPr>
          <p:cNvSpPr txBox="1"/>
          <p:nvPr/>
        </p:nvSpPr>
        <p:spPr>
          <a:xfrm>
            <a:off x="3649663" y="3058309"/>
            <a:ext cx="8770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00</a:t>
            </a:r>
          </a:p>
          <a:p>
            <a:r>
              <a:rPr lang="en-US" dirty="0"/>
              <a:t>01</a:t>
            </a:r>
          </a:p>
          <a:p>
            <a:r>
              <a:rPr lang="en-US" dirty="0"/>
              <a:t>10</a:t>
            </a:r>
          </a:p>
          <a:p>
            <a:r>
              <a:rPr lang="en-US" dirty="0"/>
              <a:t>11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B010677-04DD-41E2-8ED2-6F06088A04AC}"/>
              </a:ext>
            </a:extLst>
          </p:cNvPr>
          <p:cNvCxnSpPr/>
          <p:nvPr/>
        </p:nvCxnSpPr>
        <p:spPr bwMode="auto">
          <a:xfrm>
            <a:off x="3228392" y="3058309"/>
            <a:ext cx="421271" cy="142091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CB5ABC-30CB-4556-8A56-FBFCDC80CF07}"/>
              </a:ext>
            </a:extLst>
          </p:cNvPr>
          <p:cNvCxnSpPr/>
          <p:nvPr/>
        </p:nvCxnSpPr>
        <p:spPr bwMode="auto">
          <a:xfrm>
            <a:off x="3364415" y="3364696"/>
            <a:ext cx="285248" cy="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4C88FE0-1FE8-4A82-9CF6-FE337070F907}"/>
              </a:ext>
            </a:extLst>
          </p:cNvPr>
          <p:cNvCxnSpPr/>
          <p:nvPr/>
        </p:nvCxnSpPr>
        <p:spPr bwMode="auto">
          <a:xfrm>
            <a:off x="3500438" y="3699659"/>
            <a:ext cx="285248" cy="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7FD2B4-7B67-489A-9649-A6D6828AFC04}"/>
              </a:ext>
            </a:extLst>
          </p:cNvPr>
          <p:cNvCxnSpPr/>
          <p:nvPr/>
        </p:nvCxnSpPr>
        <p:spPr bwMode="auto">
          <a:xfrm flipV="1">
            <a:off x="3500438" y="3954035"/>
            <a:ext cx="285248" cy="154816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round/>
            <a:headEnd type="none" w="sm" len="sm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4107B0-9BF9-899A-DDC9-C709C1D836C3}"/>
                  </a:ext>
                </a:extLst>
              </p:cNvPr>
              <p:cNvSpPr txBox="1"/>
              <p:nvPr/>
            </p:nvSpPr>
            <p:spPr>
              <a:xfrm>
                <a:off x="4101597" y="1479550"/>
                <a:ext cx="482174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sz="1600" dirty="0"/>
                  <a:t>Αν εκπέμψουμε δυαδική πληροφορία PSK στο </a:t>
                </a:r>
                <a:r>
                  <a:rPr lang="el-GR" sz="1600" dirty="0" err="1"/>
                  <a:t>συνημιτονικό</a:t>
                </a:r>
                <a:r>
                  <a:rPr lang="en-US" sz="1600" dirty="0"/>
                  <a:t> </a:t>
                </a:r>
                <a:r>
                  <a:rPr lang="el-GR" sz="1600" dirty="0"/>
                  <a:t>όρο του φέροντος και ταυτόχρονα εκπέμψουμε πληροφορία και στον </a:t>
                </a:r>
                <a:r>
                  <a:rPr lang="el-GR" sz="1600" dirty="0" err="1"/>
                  <a:t>ημιτονικό</a:t>
                </a:r>
                <a:r>
                  <a:rPr lang="en-US" sz="1600" dirty="0"/>
                  <a:t> </a:t>
                </a:r>
                <a:r>
                  <a:rPr lang="el-GR" sz="1600" dirty="0"/>
                  <a:t>όρο του ίδιου φέροντος, τότε θα είναι δυνατό να ανιχνεύσουμε ανεξάρτητα τα δύο σήματα, σαν να μην είχε εκπεμφθεί το άλλο.</a:t>
                </a:r>
                <a:endParaRPr lang="en-US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sz="1600" b="1" dirty="0"/>
                  <a:t>Διαμόρφωση μετατόπισης φάσης με τετραγωνισμό (</a:t>
                </a:r>
                <a:r>
                  <a:rPr lang="el-GR" sz="1600" b="1" dirty="0" err="1"/>
                  <a:t>Quadrature</a:t>
                </a:r>
                <a:r>
                  <a:rPr lang="el-GR" sz="1600" b="1" dirty="0"/>
                  <a:t> PSK , QPSK)</a:t>
                </a:r>
                <a:r>
                  <a:rPr lang="el-GR" sz="1600" dirty="0"/>
                  <a:t>, η οποία χρησιμοποιεί τέσσερα σύμβολα, </a:t>
                </a:r>
                <a:r>
                  <a:rPr lang="el-GR" sz="1600" dirty="0" err="1"/>
                  <a:t>ορθογωνικά</a:t>
                </a:r>
                <a:r>
                  <a:rPr lang="el-GR" sz="1600" dirty="0"/>
                  <a:t> μεταξύ τους.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sz="1600" dirty="0"/>
                  <a:t>Το διάγραμμα αστερισμού της QPSK αποτελείται από 4 σημεία επάνω σε έναν κύκλο ακτίνας Α (= πλάτος φέροντος), τα οποία </a:t>
                </a:r>
                <a:r>
                  <a:rPr lang="el-GR" sz="1600" dirty="0" err="1"/>
                  <a:t>ισαπέχουν</a:t>
                </a:r>
                <a:r>
                  <a:rPr lang="el-GR" sz="1600" dirty="0"/>
                  <a:t> μεταξύ τους κατά γωνία </a:t>
                </a:r>
                <a14:m>
                  <m:oMath xmlns:m="http://schemas.openxmlformats.org/officeDocument/2006/math"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l-GR" sz="1600" dirty="0"/>
                  <a:t> </a:t>
                </a:r>
                <a:r>
                  <a:rPr lang="el-GR" sz="1600" dirty="0" err="1"/>
                  <a:t>rad</a:t>
                </a:r>
                <a:r>
                  <a:rPr lang="el-GR" sz="1600" dirty="0"/>
                  <a:t>. Οι καταστάσεις φάσεων είναι στραμμένες κατά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1600" i="1" dirty="0" smtClean="0"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l-GR" sz="1600" i="1" dirty="0" smtClean="0">
                            <a:latin typeface="Cambria Math" panose="02040503050406030204" pitchFamily="18" charset="0"/>
                          </a:rPr>
                          <m:t>𝜊</m:t>
                        </m:r>
                      </m:sup>
                    </m:sSup>
                  </m:oMath>
                </a14:m>
                <a:r>
                  <a:rPr lang="el-GR" sz="1600" dirty="0"/>
                  <a:t> ως προς τους δύο άξονες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0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l-GR" sz="1600" i="0" dirty="0" smtClean="0">
                        <a:latin typeface="Cambria Math" panose="02040503050406030204" pitchFamily="18" charset="0"/>
                      </a:rPr>
                      <m:t>⁡</m:t>
                    </m:r>
                    <m:sSub>
                      <m:sSubPr>
                        <m:ctrlPr>
                          <a:rPr lang="el-GR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l-GR" sz="16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1600" dirty="0"/>
                  <a:t>και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0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l-GR" sz="1600" i="0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6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sz="1600" b="1" dirty="0"/>
                  <a:t>Η QPSK λόγω της </a:t>
                </a:r>
                <a:r>
                  <a:rPr lang="el-GR" sz="1600" b="1" dirty="0" err="1"/>
                  <a:t>ορθογωνικότητας</a:t>
                </a:r>
                <a:r>
                  <a:rPr lang="en-US" sz="1600" b="1" dirty="0"/>
                  <a:t> </a:t>
                </a:r>
                <a:r>
                  <a:rPr lang="el-GR" sz="1600" b="1" dirty="0"/>
                  <a:t>επιτυγχάνει διπλάσια</a:t>
                </a:r>
                <a:r>
                  <a:rPr lang="en-US" sz="1600" b="1" dirty="0"/>
                  <a:t> </a:t>
                </a:r>
                <a:r>
                  <a:rPr lang="el-GR" sz="1600" b="1" dirty="0"/>
                  <a:t>ταχύτητα από την BPSK </a:t>
                </a:r>
                <a:r>
                  <a:rPr lang="el-GR" sz="1600" dirty="0"/>
                  <a:t>στο ίδιο εύρος ζώνης και χωρίς να υποβαθμίζεται η απόδοση ανίχνευσης.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4107B0-9BF9-899A-DDC9-C709C1D83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597" y="1479550"/>
                <a:ext cx="4821740" cy="5016758"/>
              </a:xfrm>
              <a:prstGeom prst="rect">
                <a:avLst/>
              </a:prstGeom>
              <a:blipFill>
                <a:blip r:embed="rId7"/>
                <a:stretch>
                  <a:fillRect l="-506" t="-365" r="-632" b="-608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Text Box 2"/>
          <p:cNvSpPr txBox="1">
            <a:spLocks noChangeArrowheads="1"/>
          </p:cNvSpPr>
          <p:nvPr/>
        </p:nvSpPr>
        <p:spPr bwMode="auto">
          <a:xfrm>
            <a:off x="0" y="496888"/>
            <a:ext cx="7839075" cy="45243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>
                <a:solidFill>
                  <a:srgbClr val="000000"/>
                </a:solidFill>
              </a:rPr>
              <a:t>6</a:t>
            </a:r>
            <a:r>
              <a:rPr lang="en-US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.3</a:t>
            </a:r>
            <a:r>
              <a:rPr lang="el-GR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	Μ-ΑΔΙΚΗ ΨΗΦΙΑΚΗ ΔΙΑΜΟΡΦΩΣΗ ΦΑΣΗΣ (Μ-PSK)</a:t>
            </a:r>
            <a:r>
              <a:rPr lang="en-US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en-GB" altLang="en-US" sz="2200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12995" name="Text Box 3"/>
          <p:cNvSpPr txBox="1">
            <a:spLocks noChangeArrowheads="1"/>
          </p:cNvSpPr>
          <p:nvPr/>
        </p:nvSpPr>
        <p:spPr bwMode="auto">
          <a:xfrm>
            <a:off x="60325" y="1033463"/>
            <a:ext cx="61293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l-GR" altLang="en-US" sz="1800" b="1">
                <a:latin typeface="Times New Roman" panose="02020603050405020304" pitchFamily="18" charset="0"/>
              </a:rPr>
              <a:t>Διαμόρφωση Μετατόπισης Φάσης με Ορθογωνισμό (QPSK)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212999" name="Picture 7" descr="QPSKG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283" y="2622551"/>
            <a:ext cx="4965744" cy="358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121F20-93BB-105F-6E52-54D2239C6D4C}"/>
                  </a:ext>
                </a:extLst>
              </p:cNvPr>
              <p:cNvSpPr txBox="1"/>
              <p:nvPr/>
            </p:nvSpPr>
            <p:spPr>
              <a:xfrm>
                <a:off x="475348" y="1484313"/>
                <a:ext cx="8273797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sz="1600" dirty="0"/>
                  <a:t>Τα δεδομένα εισόδου χωρίζονται σε δύο ακολουθίες (μία άρτια και μία περιττή), οι οποίες εμφανίζουν ρυθμό δεδομένων το ήμισυ του αρχικού ρυθμού. </a:t>
                </a:r>
                <a:endParaRPr lang="en-US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sz="1600" dirty="0"/>
                  <a:t>Οι ακολουθίες φιλτράρονται και διαμορφώνουν κατά BPSK δύο </a:t>
                </a:r>
                <a:r>
                  <a:rPr lang="el-GR" sz="1600" dirty="0" err="1"/>
                  <a:t>ορθογωνικά</a:t>
                </a:r>
                <a:r>
                  <a:rPr lang="el-GR" sz="1600" dirty="0"/>
                  <a:t> φέροντα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0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l-GR" sz="1600" i="0" dirty="0" smtClean="0">
                        <a:latin typeface="Cambria Math" panose="02040503050406030204" pitchFamily="18" charset="0"/>
                      </a:rPr>
                      <m:t>⁡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l-GR" sz="1600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l-GR" sz="16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l-GR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1600" dirty="0"/>
                  <a:t>και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0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l-GR" sz="1600" i="0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l-GR" sz="16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600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l-GR" sz="16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l-GR" sz="16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l-GR" sz="1600" dirty="0"/>
                  <a:t>τα οποία αθροίζονται παράλληλα.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121F20-93BB-105F-6E52-54D2239C6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48" y="1484313"/>
                <a:ext cx="8273797" cy="1077218"/>
              </a:xfrm>
              <a:prstGeom prst="rect">
                <a:avLst/>
              </a:prstGeom>
              <a:blipFill>
                <a:blip r:embed="rId3"/>
                <a:stretch>
                  <a:fillRect l="-295" t="-1695" r="-368" b="-6215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/>
          <p:cNvSpPr txBox="1">
            <a:spLocks noChangeArrowheads="1"/>
          </p:cNvSpPr>
          <p:nvPr/>
        </p:nvSpPr>
        <p:spPr bwMode="auto">
          <a:xfrm>
            <a:off x="0" y="496888"/>
            <a:ext cx="7839075" cy="45243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>
                <a:solidFill>
                  <a:srgbClr val="000000"/>
                </a:solidFill>
              </a:rPr>
              <a:t>6</a:t>
            </a:r>
            <a:r>
              <a:rPr lang="en-US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.3</a:t>
            </a:r>
            <a:r>
              <a:rPr lang="el-GR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	Μ-ΑΔΙΚΗ ΨΗΦΙΑΚΗ ΔΙΑΜΟΡΦΩΣΗ ΦΑΣΗΣ (Μ-PSK)</a:t>
            </a:r>
            <a:r>
              <a:rPr lang="en-US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en-GB" altLang="en-US" sz="2200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15043" name="Text Box 3"/>
          <p:cNvSpPr txBox="1">
            <a:spLocks noChangeArrowheads="1"/>
          </p:cNvSpPr>
          <p:nvPr/>
        </p:nvSpPr>
        <p:spPr bwMode="auto">
          <a:xfrm>
            <a:off x="60325" y="1033463"/>
            <a:ext cx="61293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l-GR" altLang="en-US" sz="1800" b="1" dirty="0">
                <a:latin typeface="Times New Roman" panose="02020603050405020304" pitchFamily="18" charset="0"/>
              </a:rPr>
              <a:t>Διαμόρφωση Μετατόπισης Φάσης με Ορθογωνισμό (QPSK)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150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407815"/>
              </p:ext>
            </p:extLst>
          </p:nvPr>
        </p:nvGraphicFramePr>
        <p:xfrm>
          <a:off x="130175" y="1560513"/>
          <a:ext cx="203221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6755" imgH="444307" progId="Equation.3">
                  <p:embed/>
                </p:oleObj>
              </mc:Choice>
              <mc:Fallback>
                <p:oleObj name="Equation" r:id="rId2" imgW="1256755" imgH="444307" progId="Equation.3">
                  <p:embed/>
                  <p:pic>
                    <p:nvPicPr>
                      <p:cNvPr id="21504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" y="1560513"/>
                        <a:ext cx="2032217" cy="723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051" name="Picture 11" descr="QPSKPR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83"/>
          <a:stretch>
            <a:fillRect/>
          </a:stretch>
        </p:blipFill>
        <p:spPr bwMode="auto">
          <a:xfrm>
            <a:off x="1707833" y="2649538"/>
            <a:ext cx="5081587" cy="418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23163"/>
              </p:ext>
            </p:extLst>
          </p:nvPr>
        </p:nvGraphicFramePr>
        <p:xfrm>
          <a:off x="2913063" y="1541463"/>
          <a:ext cx="225266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49080" imgH="507960" progId="Equation.3">
                  <p:embed/>
                </p:oleObj>
              </mc:Choice>
              <mc:Fallback>
                <p:oleObj name="Equation" r:id="rId5" imgW="1549080" imgH="507960" progId="Equation.3">
                  <p:embed/>
                  <p:pic>
                    <p:nvPicPr>
                      <p:cNvPr id="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063" y="1541463"/>
                        <a:ext cx="2252662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/>
          <p:cNvSpPr txBox="1">
            <a:spLocks noChangeArrowheads="1"/>
          </p:cNvSpPr>
          <p:nvPr/>
        </p:nvSpPr>
        <p:spPr bwMode="auto">
          <a:xfrm>
            <a:off x="0" y="496888"/>
            <a:ext cx="7839075" cy="45243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>
                <a:solidFill>
                  <a:srgbClr val="000000"/>
                </a:solidFill>
              </a:rPr>
              <a:t>6</a:t>
            </a:r>
            <a:r>
              <a:rPr lang="en-US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.3</a:t>
            </a:r>
            <a:r>
              <a:rPr lang="el-GR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	Μ-ΑΔΙΚΗ ΨΗΦΙΑΚΗ ΔΙΑΜΟΡΦΩΣΗ ΦΑΣΗΣ (Μ-PSK)</a:t>
            </a:r>
            <a:r>
              <a:rPr lang="en-US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en-GB" altLang="en-US" sz="2200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0325" y="1033463"/>
            <a:ext cx="901163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l-GR" altLang="en-US" sz="1600" b="1" dirty="0">
                <a:latin typeface="+mn-lt"/>
              </a:rPr>
              <a:t>Διαμόρφωση π/4 QPSK</a:t>
            </a:r>
          </a:p>
          <a:p>
            <a:endParaRPr lang="el-GR" altLang="en-US" sz="1600" b="1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dirty="0">
                <a:latin typeface="+mn-lt"/>
              </a:rPr>
              <a:t>Το σύνολο των τεσσάρων συμβόλων περιστρέφεται κατά π/4 σε κάθε νέα εκπομπή συμβόλου</a:t>
            </a:r>
            <a:r>
              <a:rPr lang="en-US" altLang="en-US" sz="1600" dirty="0">
                <a:latin typeface="+mn-lt"/>
              </a:rPr>
              <a:t> </a:t>
            </a:r>
          </a:p>
        </p:txBody>
      </p:sp>
      <p:pic>
        <p:nvPicPr>
          <p:cNvPr id="216066" name="Picture 2" descr="pi4sym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793" y="3339696"/>
            <a:ext cx="5207194" cy="2945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8CE656-8FB8-7022-4042-047AD86BEF57}"/>
              </a:ext>
            </a:extLst>
          </p:cNvPr>
          <p:cNvSpPr txBox="1"/>
          <p:nvPr/>
        </p:nvSpPr>
        <p:spPr>
          <a:xfrm>
            <a:off x="60325" y="2125870"/>
            <a:ext cx="85641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dirty="0">
                <a:latin typeface="+mn-lt"/>
              </a:rPr>
              <a:t>Αυτό γίνεται για να διασφαλιστεί ότι η διαμορφωμένη </a:t>
            </a:r>
            <a:r>
              <a:rPr lang="el-GR" sz="1600" dirty="0" err="1">
                <a:latin typeface="+mn-lt"/>
              </a:rPr>
              <a:t>περιβάλλουσα</a:t>
            </a:r>
            <a:r>
              <a:rPr lang="el-GR" sz="1600" dirty="0">
                <a:latin typeface="+mn-lt"/>
              </a:rPr>
              <a:t> δεν θα διέλθει ποτέ από το μηδέν, ελαχιστοποιώντας έτσι το λόγο τιμής κορυφής προς την μέση τιμή της διαμόρφωσης.</a:t>
            </a:r>
          </a:p>
        </p:txBody>
      </p:sp>
    </p:spTree>
    <p:extLst>
      <p:ext uri="{BB962C8B-B14F-4D97-AF65-F5344CB8AC3E}">
        <p14:creationId xmlns:p14="http://schemas.microsoft.com/office/powerpoint/2010/main" val="129167911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/>
          <p:cNvSpPr txBox="1">
            <a:spLocks noChangeArrowheads="1"/>
          </p:cNvSpPr>
          <p:nvPr/>
        </p:nvSpPr>
        <p:spPr bwMode="auto">
          <a:xfrm>
            <a:off x="0" y="496888"/>
            <a:ext cx="7839075" cy="76944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 dirty="0">
                <a:solidFill>
                  <a:srgbClr val="000000"/>
                </a:solidFill>
              </a:rPr>
              <a:t>6</a:t>
            </a:r>
            <a:r>
              <a:rPr lang="en-US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4	</a:t>
            </a:r>
            <a:r>
              <a:rPr lang="el-GR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ΣΥΝΔΥΑΣΜΕΝΗ ΨΗΦΙΑΚΗ ΔΙΑΜΟΡΦΩΣΗ ΠΛΑΤΟΥΣ ΚΑΙ ΦΑΣΗΣ (QAM / ΑΡΚ)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217090" name="Picture 2" descr="16APKC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664" y="3402626"/>
            <a:ext cx="3585845" cy="2845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917314-E81F-727C-B47A-BAD86AB516FB}"/>
              </a:ext>
            </a:extLst>
          </p:cNvPr>
          <p:cNvSpPr txBox="1"/>
          <p:nvPr/>
        </p:nvSpPr>
        <p:spPr>
          <a:xfrm>
            <a:off x="121112" y="1438807"/>
            <a:ext cx="849295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dirty="0"/>
              <a:t>Συνδυάζοντας το πλάτος και τη φάση συμβόλων προκύπτει ένα είδος σύνθετης διαμόρφωσης που άλλοτε αποκαλείται Μ-</a:t>
            </a:r>
            <a:r>
              <a:rPr lang="el-GR" sz="2000" dirty="0" err="1"/>
              <a:t>αδική</a:t>
            </a:r>
            <a:r>
              <a:rPr lang="en-US" sz="2000" dirty="0"/>
              <a:t> </a:t>
            </a:r>
            <a:r>
              <a:rPr lang="el-GR" sz="2000" dirty="0"/>
              <a:t>σηματοδοσία APK (</a:t>
            </a:r>
            <a:r>
              <a:rPr lang="el-GR" sz="2000" dirty="0" err="1"/>
              <a:t>Amplitude</a:t>
            </a:r>
            <a:r>
              <a:rPr lang="el-GR" sz="2000" dirty="0"/>
              <a:t> and </a:t>
            </a:r>
            <a:r>
              <a:rPr lang="el-GR" sz="2000" dirty="0" err="1"/>
              <a:t>Phase</a:t>
            </a:r>
            <a:r>
              <a:rPr lang="el-GR" sz="2000" dirty="0"/>
              <a:t> </a:t>
            </a:r>
            <a:r>
              <a:rPr lang="el-GR" sz="2000" dirty="0" err="1"/>
              <a:t>Keying</a:t>
            </a:r>
            <a:r>
              <a:rPr lang="el-GR" sz="2000" dirty="0"/>
              <a:t>) και άλλοτε </a:t>
            </a:r>
            <a:r>
              <a:rPr lang="el-GR" sz="2000" b="1" dirty="0"/>
              <a:t>Μ-</a:t>
            </a:r>
            <a:r>
              <a:rPr lang="el-GR" sz="2000" b="1" dirty="0" err="1"/>
              <a:t>αδική</a:t>
            </a:r>
            <a:r>
              <a:rPr lang="en-US" sz="2000" b="1" dirty="0"/>
              <a:t> </a:t>
            </a:r>
            <a:r>
              <a:rPr lang="el-GR" sz="2000" b="1" dirty="0"/>
              <a:t>σηματοδοσία</a:t>
            </a:r>
            <a:r>
              <a:rPr lang="en-US" sz="2000" b="1" dirty="0"/>
              <a:t> </a:t>
            </a:r>
            <a:r>
              <a:rPr lang="el-GR" sz="2000" b="1" dirty="0"/>
              <a:t>QAM</a:t>
            </a:r>
            <a:r>
              <a:rPr lang="el-GR" sz="2000" dirty="0"/>
              <a:t> (</a:t>
            </a:r>
            <a:r>
              <a:rPr lang="el-GR" sz="2000" b="1" dirty="0" err="1"/>
              <a:t>Quadrature</a:t>
            </a:r>
            <a:r>
              <a:rPr lang="el-GR" sz="2000" b="1" dirty="0"/>
              <a:t> </a:t>
            </a:r>
            <a:r>
              <a:rPr lang="el-GR" sz="2000" b="1" dirty="0" err="1"/>
              <a:t>Amplitude</a:t>
            </a:r>
            <a:r>
              <a:rPr lang="el-GR" sz="2000" b="1" dirty="0"/>
              <a:t> </a:t>
            </a:r>
            <a:r>
              <a:rPr lang="el-GR" sz="2000" b="1" dirty="0" err="1"/>
              <a:t>Modulation</a:t>
            </a:r>
            <a:r>
              <a:rPr lang="el-GR" sz="2000" dirty="0"/>
              <a:t>), ανάλογα με τους περιορισμούς στη σχέση πλάτους και φάσης. </a:t>
            </a:r>
          </a:p>
        </p:txBody>
      </p:sp>
    </p:spTree>
    <p:extLst>
      <p:ext uri="{BB962C8B-B14F-4D97-AF65-F5344CB8AC3E}">
        <p14:creationId xmlns:p14="http://schemas.microsoft.com/office/powerpoint/2010/main" val="216440364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28ADA-14C1-4D07-A311-73EF1044D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CA867057-033D-10AF-5E08-7FC7ECF62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76944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 dirty="0">
                <a:solidFill>
                  <a:srgbClr val="000000"/>
                </a:solidFill>
              </a:rPr>
              <a:t>6</a:t>
            </a:r>
            <a:r>
              <a:rPr lang="en-US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4	</a:t>
            </a:r>
            <a:r>
              <a:rPr lang="el-GR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ΣΥΝΔΥΑΣΜΕΝΗ ΨΗΦΙΑΚΗ ΔΙΑΜΟΡΦΩΣΗ ΠΛΑΤΟΥΣ ΚΑΙ ΦΑΣΗΣ (QAM / ΑΡΚ)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8E04C-32C5-46E3-76C7-492F3DDFCD0C}"/>
              </a:ext>
            </a:extLst>
          </p:cNvPr>
          <p:cNvSpPr txBox="1"/>
          <p:nvPr/>
        </p:nvSpPr>
        <p:spPr>
          <a:xfrm>
            <a:off x="121112" y="1438807"/>
            <a:ext cx="84929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800" dirty="0"/>
              <a:t>Η απλούστερη μορφή διαμόρφωσης QAM είναι στην πραγματικότητα το σύνολο συμβόλων της QPSK, το οποίο μπορεί να θεωρηθεί ως δύο ορθογώνιοι (με διαφορά φάσης 90°) φορείς, διαμορφωμένοι κατά πλάτος, με στάθμες πλάτους +Α και –Α.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17EE8A-FDBF-0F9D-3196-D358998E177A}"/>
              </a:ext>
            </a:extLst>
          </p:cNvPr>
          <p:cNvSpPr txBox="1"/>
          <p:nvPr/>
        </p:nvSpPr>
        <p:spPr>
          <a:xfrm>
            <a:off x="121112" y="5661544"/>
            <a:ext cx="85656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800" dirty="0"/>
              <a:t>Αυξάνοντας τον αριθμό των σταθμών πλάτους κάθε φορέα σε τέσσερις, για παράδειγμα ±Α και ±3Α, προκύπτουν 16 δυνατοί συνδυασμοί συμβόλων στην έξοδο του πομπού, οι οποίοι απέχουν εξίσου στο διάγραμμα αστερισμού και αντιπροσωπεύονται από συγκεκριμένο πλάτος και φάση ο καθένας.</a:t>
            </a: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A8E9146D-A3EE-AA16-60D1-2411D8739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911" y="2639136"/>
            <a:ext cx="4469678" cy="257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66697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/>
          <p:cNvSpPr txBox="1">
            <a:spLocks noChangeArrowheads="1"/>
          </p:cNvSpPr>
          <p:nvPr/>
        </p:nvSpPr>
        <p:spPr bwMode="auto">
          <a:xfrm>
            <a:off x="0" y="496888"/>
            <a:ext cx="7839075" cy="76944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 dirty="0">
                <a:solidFill>
                  <a:srgbClr val="000000"/>
                </a:solidFill>
              </a:rPr>
              <a:t>6</a:t>
            </a:r>
            <a:r>
              <a:rPr lang="en-US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4	</a:t>
            </a:r>
            <a:r>
              <a:rPr lang="el-GR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ΣΥΝΔΥΑΣΜΕΝΗ ΨΗΦΙΑΚΗ ΔΙΑΜΟΡΦΩΣΗ ΠΛΑΤΟΥΣ ΚΑΙ ΦΑΣΗΣ (QAM / ΑΡΚ)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0324" y="1387793"/>
            <a:ext cx="88931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l-GR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Μ-αδική σηματοδοσία QAM (Quadrature Amplitude Modulation)</a:t>
            </a:r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Amplitude and Phase of the Baseband Signal changes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976" t="20984" r="18617" b="6550"/>
          <a:stretch/>
        </p:blipFill>
        <p:spPr>
          <a:xfrm>
            <a:off x="914626" y="2166880"/>
            <a:ext cx="7242403" cy="48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49020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/>
          <p:cNvSpPr txBox="1">
            <a:spLocks noChangeArrowheads="1"/>
          </p:cNvSpPr>
          <p:nvPr/>
        </p:nvSpPr>
        <p:spPr bwMode="auto">
          <a:xfrm>
            <a:off x="0" y="496888"/>
            <a:ext cx="7839075" cy="76944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 dirty="0">
                <a:solidFill>
                  <a:srgbClr val="000000"/>
                </a:solidFill>
              </a:rPr>
              <a:t>6</a:t>
            </a:r>
            <a:r>
              <a:rPr lang="en-US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4	</a:t>
            </a:r>
            <a:r>
              <a:rPr lang="el-GR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ΣΥΝΔΥΑΣΜΕΝΗ ΨΗΦΙΑΚΗ ΔΙΑΜΟΡΦΩΣΗ ΠΛΑΤΟΥΣ ΚΑΙ ΦΑΣΗΣ (QAM / ΑΡΚ)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0324" y="1387793"/>
            <a:ext cx="88931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l-GR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Μ-αδική σηματοδοσία QAM (Quadrature Amplitude Modulation)</a:t>
            </a:r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Amplitude and Phase of the Baseband Signal changes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4080" t="20984" r="21581" b="14339"/>
          <a:stretch/>
        </p:blipFill>
        <p:spPr>
          <a:xfrm>
            <a:off x="580571" y="2206172"/>
            <a:ext cx="7881258" cy="495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1124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/>
          <p:cNvSpPr txBox="1">
            <a:spLocks noChangeArrowheads="1"/>
          </p:cNvSpPr>
          <p:nvPr/>
        </p:nvSpPr>
        <p:spPr bwMode="auto">
          <a:xfrm>
            <a:off x="0" y="496888"/>
            <a:ext cx="7839075" cy="76944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 dirty="0">
                <a:solidFill>
                  <a:srgbClr val="000000"/>
                </a:solidFill>
              </a:rPr>
              <a:t>6</a:t>
            </a:r>
            <a:r>
              <a:rPr lang="en-US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4	</a:t>
            </a:r>
            <a:r>
              <a:rPr lang="el-GR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ΣΥΝΔΥΑΣΜΕΝΗ ΨΗΦΙΑΚΗ ΔΙΑΜΟΡΦΩΣΗ ΠΛΑΤΟΥΣ ΚΑΙ ΦΑΣΗΣ (QAM / ΑΡΚ)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1647" t="20645" r="28988" b="7059"/>
          <a:stretch/>
        </p:blipFill>
        <p:spPr>
          <a:xfrm>
            <a:off x="609600" y="1295357"/>
            <a:ext cx="7661075" cy="583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3960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/>
          <p:cNvSpPr txBox="1">
            <a:spLocks noChangeArrowheads="1"/>
          </p:cNvSpPr>
          <p:nvPr/>
        </p:nvSpPr>
        <p:spPr bwMode="auto">
          <a:xfrm>
            <a:off x="0" y="496888"/>
            <a:ext cx="7839075" cy="76944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 dirty="0">
                <a:solidFill>
                  <a:srgbClr val="000000"/>
                </a:solidFill>
              </a:rPr>
              <a:t>6</a:t>
            </a:r>
            <a:r>
              <a:rPr lang="en-US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4	</a:t>
            </a:r>
            <a:r>
              <a:rPr lang="el-GR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ΣΥΝΔΥΑΣΜΕΝΗ ΨΗΦΙΑΚΗ ΔΙΑΜΟΡΦΩΣΗ ΠΛΑΤΟΥΣ ΚΑΙ ΦΑΣΗΣ (QAM / ΑΡΚ)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2071" t="20984" r="28035" b="7228"/>
          <a:stretch/>
        </p:blipFill>
        <p:spPr>
          <a:xfrm>
            <a:off x="695862" y="1436914"/>
            <a:ext cx="7461165" cy="558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3596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/>
          <p:cNvSpPr txBox="1">
            <a:spLocks noChangeArrowheads="1"/>
          </p:cNvSpPr>
          <p:nvPr/>
        </p:nvSpPr>
        <p:spPr bwMode="auto">
          <a:xfrm>
            <a:off x="0" y="496888"/>
            <a:ext cx="7839075" cy="76944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 dirty="0">
                <a:solidFill>
                  <a:srgbClr val="000000"/>
                </a:solidFill>
              </a:rPr>
              <a:t>6</a:t>
            </a:r>
            <a:r>
              <a:rPr lang="en-US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4	</a:t>
            </a:r>
            <a:r>
              <a:rPr lang="el-GR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ΣΥΝΔΥΑΣΜΕΝΗ ΨΗΦΙΑΚΗ ΔΙΑΜΟΡΦΩΣΗ ΠΛΑΤΟΥΣ ΚΑΙ ΦΑΣΗΣ (QAM / ΑΡΚ)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1859" t="20476" r="29200" b="9936"/>
          <a:stretch/>
        </p:blipFill>
        <p:spPr>
          <a:xfrm>
            <a:off x="650464" y="1407886"/>
            <a:ext cx="7651710" cy="564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40763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8CDB2-6F5E-E6FD-B006-6F52E8253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343BC930-86AF-2BBE-811F-B1247D032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76944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 dirty="0">
                <a:solidFill>
                  <a:srgbClr val="000000"/>
                </a:solidFill>
              </a:rPr>
              <a:t>6</a:t>
            </a:r>
            <a:r>
              <a:rPr lang="en-US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4	</a:t>
            </a:r>
            <a:r>
              <a:rPr lang="el-GR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ΣΥΝΔΥΑΣΜΕΝΗ ΨΗΦΙΑΚΗ ΔΙΑΜΟΡΦΩΣΗ ΠΛΑΤΟΥΣ ΚΑΙ ΦΑΣΗΣ (QAM / ΑΡΚ)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170171-2C6E-DD84-5A7C-48A9EB4522DF}"/>
              </a:ext>
            </a:extLst>
          </p:cNvPr>
          <p:cNvSpPr txBox="1"/>
          <p:nvPr/>
        </p:nvSpPr>
        <p:spPr>
          <a:xfrm>
            <a:off x="121112" y="1438807"/>
            <a:ext cx="84929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600" dirty="0"/>
              <a:t>Η διαμόρφωση QAM</a:t>
            </a:r>
            <a:r>
              <a:rPr lang="en-US" sz="1600" dirty="0"/>
              <a:t> </a:t>
            </a:r>
            <a:r>
              <a:rPr lang="el-GR" sz="1600" dirty="0"/>
              <a:t>μπορεί να αποκωδικοποιηθεί είτε με σύμφωνη είτε με διαφορικά σύμφωνη ανίχνευση, όπως η QPSK.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010C9-D221-1E11-ACF4-86B12A272602}"/>
              </a:ext>
            </a:extLst>
          </p:cNvPr>
          <p:cNvSpPr txBox="1"/>
          <p:nvPr/>
        </p:nvSpPr>
        <p:spPr>
          <a:xfrm>
            <a:off x="193906" y="4945812"/>
            <a:ext cx="856568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600" dirty="0"/>
              <a:t>Για την ανίχνευση του σήματος Μ-QAM απαιτείται η ανάκτηση των </a:t>
            </a:r>
            <a:r>
              <a:rPr lang="el-GR" sz="1600" dirty="0" err="1"/>
              <a:t>ορθογωνικών</a:t>
            </a:r>
            <a:r>
              <a:rPr lang="el-GR" sz="1600" dirty="0"/>
              <a:t> φερόντων. </a:t>
            </a:r>
            <a:endParaRPr lang="en-US" sz="1600" dirty="0"/>
          </a:p>
          <a:p>
            <a:endParaRPr lang="en-US" sz="1600" dirty="0"/>
          </a:p>
          <a:p>
            <a:r>
              <a:rPr lang="el-GR" sz="1600" dirty="0"/>
              <a:t>Το πρόβλημα της αβεβαιότητας φάσης περιπλέκεται ακόμα περισσότερο επειδή στα δεδομένα υπάρχει πλέον και το στοιχείο του πλάτους. </a:t>
            </a:r>
            <a:endParaRPr lang="en-US" sz="1600" dirty="0"/>
          </a:p>
          <a:p>
            <a:endParaRPr lang="en-US" sz="1600" dirty="0"/>
          </a:p>
          <a:p>
            <a:r>
              <a:rPr lang="el-GR" sz="1600" dirty="0"/>
              <a:t>Στην έξοδο κάθε </a:t>
            </a:r>
            <a:r>
              <a:rPr lang="el-GR" sz="1600" dirty="0" err="1"/>
              <a:t>ορθογωνικού</a:t>
            </a:r>
            <a:r>
              <a:rPr lang="el-GR" sz="1600" dirty="0"/>
              <a:t> </a:t>
            </a:r>
            <a:r>
              <a:rPr lang="el-GR" sz="1600" dirty="0" err="1"/>
              <a:t>αποδιαμορφωτή</a:t>
            </a:r>
            <a:r>
              <a:rPr lang="el-GR" sz="1600" dirty="0"/>
              <a:t> προκύπτουν τα σύμβολα βασικής ζώνης πολλαπλών επιπέδων, τα οποία θα πρέπει πριν αναγνωριστούν από το κύκλωμα ανίχνευσης του δέκτη να υποστούν προσαρμοσμένο φιλτράρισμα.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4B9925D0-8A4B-9381-3407-52EFC1570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895" y="2621193"/>
            <a:ext cx="4023709" cy="19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61197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/>
          <p:cNvSpPr txBox="1">
            <a:spLocks noChangeArrowheads="1"/>
          </p:cNvSpPr>
          <p:nvPr/>
        </p:nvSpPr>
        <p:spPr bwMode="auto">
          <a:xfrm>
            <a:off x="0" y="496888"/>
            <a:ext cx="7839075" cy="76944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 dirty="0">
                <a:solidFill>
                  <a:srgbClr val="000000"/>
                </a:solidFill>
              </a:rPr>
              <a:t>6</a:t>
            </a:r>
            <a:r>
              <a:rPr lang="en-US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4	</a:t>
            </a:r>
            <a:r>
              <a:rPr lang="el-GR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ΣΥΝΔΥΑΣΜΕΝΗ ΨΗΦΙΑΚΗ ΔΙΑΜΟΡΦΩΣΗ ΠΛΑΤΟΥΣ ΚΑΙ ΦΑΣΗΣ (QAM / ΑΡΚ)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0324" y="1387793"/>
            <a:ext cx="88931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l-GR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Μ-αδική σηματοδοσία QAM (Quadrature Amplitude Modulation)</a:t>
            </a:r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Amplitude and Phase of the Baseband Signal changes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3445" t="21999" r="17983" b="8074"/>
          <a:stretch/>
        </p:blipFill>
        <p:spPr>
          <a:xfrm>
            <a:off x="537025" y="2211727"/>
            <a:ext cx="7779658" cy="495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07628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/>
          <p:cNvSpPr txBox="1">
            <a:spLocks noChangeArrowheads="1"/>
          </p:cNvSpPr>
          <p:nvPr/>
        </p:nvSpPr>
        <p:spPr bwMode="auto">
          <a:xfrm>
            <a:off x="0" y="496888"/>
            <a:ext cx="7839075" cy="76944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 dirty="0">
                <a:solidFill>
                  <a:srgbClr val="000000"/>
                </a:solidFill>
              </a:rPr>
              <a:t>6</a:t>
            </a:r>
            <a:r>
              <a:rPr lang="en-US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4	</a:t>
            </a:r>
            <a:r>
              <a:rPr lang="el-GR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ΣΥΝΔΥΑΣΜΕΝΗ ΨΗΦΙΑΚΗ ΔΙΑΜΟΡΦΩΣΗ ΠΛΑΤΟΥΣ ΚΑΙ ΦΑΣΗΣ (QAM / ΑΡΚ)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0324" y="1387793"/>
            <a:ext cx="88931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l-GR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Μ-αδική σηματοδοσία QAM (Quadrature Amplitude Modulation)</a:t>
            </a:r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Amplitude and Phase of the Baseband Signal changes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869" t="21153" r="20523" b="9937"/>
          <a:stretch/>
        </p:blipFill>
        <p:spPr>
          <a:xfrm>
            <a:off x="740232" y="2175644"/>
            <a:ext cx="7431314" cy="48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95337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/>
          <p:cNvSpPr txBox="1">
            <a:spLocks noChangeArrowheads="1"/>
          </p:cNvSpPr>
          <p:nvPr/>
        </p:nvSpPr>
        <p:spPr bwMode="auto">
          <a:xfrm>
            <a:off x="0" y="496888"/>
            <a:ext cx="7839075" cy="76944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 dirty="0">
                <a:solidFill>
                  <a:srgbClr val="000000"/>
                </a:solidFill>
              </a:rPr>
              <a:t>6</a:t>
            </a:r>
            <a:r>
              <a:rPr lang="en-US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4	</a:t>
            </a:r>
            <a:r>
              <a:rPr lang="el-GR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ΣΥΝΔΥΑΣΜΕΝΗ ΨΗΦΙΑΚΗ ΔΙΑΜΟΡΦΩΣΗ ΠΛΑΤΟΥΣ ΚΑΙ ΦΑΣΗΣ (QAM / ΑΡΚ)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0324" y="1387793"/>
            <a:ext cx="88931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l-GR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Μ-αδική σηματοδοσία QAM (Quadrature Amplitude Modulation)</a:t>
            </a:r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Amplitude and Phase of the Baseband Signal changes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3763" t="20645" r="19146" b="11122"/>
          <a:stretch/>
        </p:blipFill>
        <p:spPr>
          <a:xfrm>
            <a:off x="696686" y="2154845"/>
            <a:ext cx="7547428" cy="479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2396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87EB1-D243-1BA0-CABC-BC1075B52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409D852B-2F6B-E9BE-AD5E-B9EC0184A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76944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00" b="1" dirty="0">
                <a:solidFill>
                  <a:srgbClr val="000000"/>
                </a:solidFill>
              </a:rPr>
              <a:t>6</a:t>
            </a:r>
            <a:r>
              <a:rPr lang="en-US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4	</a:t>
            </a:r>
            <a:r>
              <a:rPr lang="el-GR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ΣΥΝΔΥΑΣΜΕΝΗ ΨΗΦΙΑΚΗ ΔΙΑΜΟΡΦΩΣΗ ΠΛΑΤΟΥΣ ΚΑΙ ΦΑΣΗΣ (QAM / ΑΡΚ)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1E60BA09-91D5-7AB8-721A-130F39A50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1377402"/>
            <a:ext cx="889317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Συγκρίνοντας τις καμπύλες πιθανότητας εμφάνισης σφάλματος για τις τεχνικές PSK και QAM, διαπιστώνεται το πλεονέκτημα της QAM έναντι της PSK, το οποίο </a:t>
            </a:r>
            <a:r>
              <a:rPr lang="el-GR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είναι η επιπλέον ανοχή στο θόρυβο κατά περίπου 3,5dB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ανάμεσα στις 16-QAM και 16PSK. 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Η βελτίωση αυτή προκύπτει σε βάρος της σχεδίασης του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αποδιαμορφωτή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καθώς η QAM </a:t>
            </a:r>
            <a:r>
              <a:rPr lang="el-GR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απαιτεί πιο περίπλοκα κυκλώματα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 ικανά να διαχειριστούν πληροφορία που μεταφέρεται στο πλάτος αλλά και στη φάση, και να αντιμετωπίσουν τα σφάλματα στο πλάτος και στη φάση που προκαλούνται στο κανάλι. 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Στην πράξη, τα οφέλη λόγω της καλύτερης συμπεριφοράς αντισταθμίζουν την πολυπλοκότητα, και έτσι σήμερα η μέθοδος διαμόρφωσης QAM χρησιμοποιείται </a:t>
            </a:r>
            <a:r>
              <a:rPr lang="el-GR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πιο συχνά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από την PSK.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CEC6BF91-64B1-0D6C-5A55-977C3BA1F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0" y="4519439"/>
            <a:ext cx="2653913" cy="2513618"/>
          </a:xfrm>
          <a:prstGeom prst="rect">
            <a:avLst/>
          </a:prstGeom>
        </p:spPr>
      </p:pic>
      <p:pic>
        <p:nvPicPr>
          <p:cNvPr id="7" name="Εικόνα 6">
            <a:extLst>
              <a:ext uri="{FF2B5EF4-FFF2-40B4-BE49-F238E27FC236}">
                <a16:creationId xmlns:a16="http://schemas.microsoft.com/office/drawing/2014/main" id="{E466A44B-B9DB-CAE4-D460-B85D0BF38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277" y="4519439"/>
            <a:ext cx="2461473" cy="22938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A21C2A5-838D-0482-8121-2D642EC26B3A}"/>
                  </a:ext>
                </a:extLst>
              </p:cNvPr>
              <p:cNvSpPr txBox="1"/>
              <p:nvPr/>
            </p:nvSpPr>
            <p:spPr>
              <a:xfrm>
                <a:off x="7315200" y="6213764"/>
                <a:ext cx="14339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l-GR" sz="1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A21C2A5-838D-0482-8121-2D642EC26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6213764"/>
                <a:ext cx="143394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568478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A0D5D-EF6B-F5D5-DC03-F8B1DE7B6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91879507-E557-FF5A-DD32-937C7D652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5C076557-1A9B-B84A-1A65-50D8C514E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1377402"/>
            <a:ext cx="889317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Ένα σύστημα ψηφιακής τηλεόρασης λαμβάνει ένα αναλογικό σήμα εικόνας (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video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signal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) με εύρος ζώνης από 0 έως 2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MHz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. Το σήμα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δειγματοληπτείται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με συχνότητα τετραπλάσια της μέγιστης χρησιμοποιώντας έναν μετατροπέα αναλογικού σε ψηφιακό (A/D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converter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) με 16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bit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. Το σήμα δεδομένων που προκύπτει εκπέμπεται στον αέρα χρησιμοποιώντας διαμόρφωση 16-QAM και φίλτρα μορφοποίησης παλμών με παράγοντα κλίσης α = 0,5. Ποιο είναι το εύρος ζώνης που καταλαμβάνεται από το εκπεμπόμενο ψηφιακό σήμα εικόνας;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71652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615692-0941-3380-23EB-486C1904C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A1A48A11-D5EC-A0A0-5C46-3DBFAD2FC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1A79B2B6-E023-8C36-E9E2-3CDCC55DC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1377402"/>
            <a:ext cx="88931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Σχεδιάστε το διάγραμμα αστερισμού της τετραγωνικής 16-QAM. Εάν το μέγιστο μήκος διανυσμάτων στο διάγραμμα αστερισμού της τετραγωνικής 16-QAM είναι 100 𝑚𝑉, προσδιορίστε τη μέση ισχύ που θα μεταφερθεί σε μία κεραία αντίστασης φορτίου 50Ω, εάν κάθε σημείο του αστερισμού έχει την ίδια πιθανότητα να εκπεμφθεί.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C10FC0FE-EBC2-86B0-7677-A961968E3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2577731"/>
            <a:ext cx="1724025" cy="163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9716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76CDE1-8263-BD64-80FE-E28D68A99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39DBFCBB-3962-CAD7-24FB-1AA383B5F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D8EA256D-851E-2555-FBD6-E4E7E8877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1377402"/>
            <a:ext cx="88931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l-GR" altLang="en-US" sz="1800">
                <a:latin typeface="Calibri" panose="020F0502020204030204" pitchFamily="34" charset="0"/>
                <a:cs typeface="Calibri" panose="020F0502020204030204" pitchFamily="34" charset="0"/>
              </a:rPr>
              <a:t>Ο πομπός ενός συστήματος ψηφιακής ραδιοεπικοινωνίας μπορεί να εκπέμπει ισχύ έως μία μέγιστη τιμή 150 W. Προσδιορίστε τη μέση ισχύ που μπορεί να υποστηριχθεί όταν η κεραία έχει αντίσταση φορτίου 50 Ω και η εκπομπή γίνεται με διαμόρφωση 16-PSK και τετραγωνική διαμόρφωση 16-QAM.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A2F9BBC9-8A5E-ED6E-CBA5-8AD2281E2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859" y="2577731"/>
            <a:ext cx="3448531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01191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37AEA-9F24-285B-4523-53C352AC6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346526B6-E2DA-8E49-D67F-8AD4635FD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8456DE19-51E2-6B9E-8D0F-9B9EFA209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1377402"/>
            <a:ext cx="889317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Ένα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modem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ορθογωνικής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4-δικής διαμόρφωσης FSK έχει ρυθμό εκπομπής συμβόλων 2400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baud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. Εάν η χαμηλότερη συχνότητα των συμβόλων είναι 8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kHz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ποιες θα είναι οι άλλες τρεις συχνότητες;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45380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C15EF-59ED-359F-4C7D-DF05966B9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C83C13B1-BDD2-65D7-57FE-889DCE5A0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4F1C169A-C67E-55BA-DFC0-24A160E29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1377402"/>
            <a:ext cx="889317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Εάν η μέγιστη ισχύς συμβόλων ενός τετραγωνικού 16-αδικού συστήματος QAM είναι 200 W, μετρημένη σε ένα φορτίο 50 Ω, ποια είναι τα πλάτη των διαφόρων διανυσμάτων συμβόλων της μεταδιδόμενης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κυματομορφής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; (αγνοήστε τυχόν επιδράσεις φιλτραρίσματος)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Εικόνα 1">
            <a:extLst>
              <a:ext uri="{FF2B5EF4-FFF2-40B4-BE49-F238E27FC236}">
                <a16:creationId xmlns:a16="http://schemas.microsoft.com/office/drawing/2014/main" id="{6085C21B-B2DB-F122-08F7-AB0A00B6E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2577731"/>
            <a:ext cx="1724025" cy="163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7838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2AA1DB-4F8F-6D36-F4E2-E4866BBF2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5CDE195F-A7BF-61DD-3697-492377B24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12FDB2BB-5740-A43A-BC28-991AA1316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1377402"/>
            <a:ext cx="889317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Ποιο είναι το ελάχιστο εύρος ζώνης που απαιτείται για να υποστηριχθεί μία ακολουθία δεδομένων ρυθμού 256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kbps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χρησιμοποιώντας: </a:t>
            </a:r>
          </a:p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(α) Διπολική σηματοδοσία βασικής ζώνης 4 επιπέδων, </a:t>
            </a:r>
          </a:p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(β) Μονοπολική σηματοδοσία βασικής ζώνης 4 επιπέδων, </a:t>
            </a:r>
          </a:p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(γ) BPSK, </a:t>
            </a:r>
          </a:p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(δ) QPSK, </a:t>
            </a:r>
          </a:p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(ε) 64-QAM;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54194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3A2012-EA94-54B2-DF13-4284FD9CE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626894F0-E47B-BEAB-3E78-4E3ECF85C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FC603F30-C595-805D-99BE-F5CB90A324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325" y="1377402"/>
                <a:ext cx="8893175" cy="923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635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Ψηφιακή ζεύξη που χρησιμοποιεί </a:t>
                </a:r>
                <a:r>
                  <a:rPr lang="el-GR" altLang="en-US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ορθογωνική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διαμόρφωση </a:t>
                </a: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64-PSK 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έχει ρυθμό μετάδοσης συμβόλων 2400000 </a:t>
                </a: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symbols/sec. 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Εάν η χαμηλότερη διαφορά φάσης του διαμορφωτή είναι</a:t>
                </a: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en-US" altLang="en-US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υπολογίστε τις υπόλοιπες διαφορές φάσης.</a:t>
                </a:r>
                <a:endPara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FC603F30-C595-805D-99BE-F5CB90A32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325" y="1377402"/>
                <a:ext cx="8893175" cy="923330"/>
              </a:xfrm>
              <a:prstGeom prst="rect">
                <a:avLst/>
              </a:prstGeom>
              <a:blipFill>
                <a:blip r:embed="rId2"/>
                <a:stretch>
                  <a:fillRect l="-617" t="-3974" r="-548" b="-993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77614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A4483A-6FC8-03B2-7200-01A7B58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5C418632-26D9-B145-0C35-C0FDD91B8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D4785E3C-D44E-7AE9-88FE-6EDD10911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1377402"/>
            <a:ext cx="889317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l-GR" sz="1800" dirty="0"/>
              <a:t>Ψηφιακή ζεύξη χρησιμοποιείται για τη μετάδοση δεδομένων με ρυθμό μετάδοσης συμβόλων 12000000 </a:t>
            </a:r>
            <a:r>
              <a:rPr lang="el-GR" sz="1800" dirty="0" err="1"/>
              <a:t>symbols</a:t>
            </a:r>
            <a:r>
              <a:rPr lang="el-GR" sz="1800" dirty="0"/>
              <a:t>/</a:t>
            </a:r>
            <a:r>
              <a:rPr lang="en-US" sz="1800" dirty="0"/>
              <a:t>sec</a:t>
            </a:r>
            <a:r>
              <a:rPr lang="el-GR" sz="1800" dirty="0"/>
              <a:t>. Ο τοπικός ταλαντωτής που χρησιμοποιείται στη βαθμίδα διαμόρφωσης παράγει σήμα της μορφής: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842C4E-6DB0-5E3D-9DCF-4CAD4AAC4A39}"/>
                  </a:ext>
                </a:extLst>
              </p:cNvPr>
              <p:cNvSpPr txBox="1"/>
              <p:nvPr/>
            </p:nvSpPr>
            <p:spPr>
              <a:xfrm>
                <a:off x="1236464" y="2461076"/>
                <a:ext cx="6480572" cy="368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​</m:t>
                      </m:r>
                      <m:func>
                        <m:func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i="0" dirty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l-GR" sz="1600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l-GR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6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l-GR" sz="16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l-GR" sz="1600" i="1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</m:func>
                      <m:r>
                        <a:rPr lang="el-GR" sz="16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l-GR" sz="1600" b="0" i="1" dirty="0" smtClean="0">
                          <a:latin typeface="Cambria Math" panose="02040503050406030204" pitchFamily="18" charset="0"/>
                        </a:rPr>
                        <m:t>ό</m:t>
                      </m:r>
                      <m:r>
                        <a:rPr lang="el-GR" sz="1600" b="0" i="1" dirty="0" smtClean="0">
                          <a:latin typeface="Cambria Math" panose="02040503050406030204" pitchFamily="18" charset="0"/>
                        </a:rPr>
                        <m:t>𝜋𝜊𝜐</m:t>
                      </m:r>
                      <m:r>
                        <a:rPr lang="el-GR" sz="16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​=1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𝑉𝑜𝑙𝑡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​=1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𝐺𝐻𝑧</m:t>
                      </m:r>
                      <m:r>
                        <a:rPr lang="el-GR" sz="16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1600" i="1" dirty="0">
                          <a:latin typeface="Cambria Math" panose="02040503050406030204" pitchFamily="18" charset="0"/>
                        </a:rPr>
                        <m:t>𝜅𝛼𝜄</m:t>
                      </m:r>
                      <m:r>
                        <a:rPr lang="el-GR" sz="160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l-GR" sz="16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l-GR" sz="1600" i="1" dirty="0">
                          <a:latin typeface="Cambria Math" panose="02040503050406030204" pitchFamily="18" charset="0"/>
                        </a:rPr>
                        <m:t>​=</m:t>
                      </m:r>
                      <m:sSup>
                        <m:sSupPr>
                          <m:ctrlPr>
                            <a:rPr lang="el-GR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16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l-GR" sz="1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l-GR" sz="1600" i="1" dirty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el-GR" sz="1600" i="1" dirty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l-GR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842C4E-6DB0-5E3D-9DCF-4CAD4AAC4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464" y="2461076"/>
                <a:ext cx="6480572" cy="368627"/>
              </a:xfrm>
              <a:prstGeom prst="rect">
                <a:avLst/>
              </a:prstGeom>
              <a:blipFill>
                <a:blip r:embed="rId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BC8B8A0-3139-646B-FD17-3F8A3D97EA9D}"/>
              </a:ext>
            </a:extLst>
          </p:cNvPr>
          <p:cNvSpPr txBox="1"/>
          <p:nvPr/>
        </p:nvSpPr>
        <p:spPr>
          <a:xfrm>
            <a:off x="60325" y="2990047"/>
            <a:ext cx="8788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800" dirty="0"/>
              <a:t>Υπολογίστε τα επιμέρους σήματα που χρησιμοποιούνται για την περιγραφή των αντίστοιχων συμβόλων στην περίπτωση που ο πομπός χρησιμοποιεί διαμόρφωση 16-PSK.</a:t>
            </a:r>
          </a:p>
        </p:txBody>
      </p:sp>
    </p:spTree>
    <p:extLst>
      <p:ext uri="{BB962C8B-B14F-4D97-AF65-F5344CB8AC3E}">
        <p14:creationId xmlns:p14="http://schemas.microsoft.com/office/powerpoint/2010/main" val="36015813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i">
  <a:themeElements>
    <a:clrScheme name="">
      <a:dk1>
        <a:srgbClr val="FFFFFF"/>
      </a:dk1>
      <a:lt1>
        <a:srgbClr val="FFFFFF"/>
      </a:lt1>
      <a:dk2>
        <a:srgbClr val="FFFF00"/>
      </a:dk2>
      <a:lt2>
        <a:srgbClr val="081D58"/>
      </a:lt2>
      <a:accent1>
        <a:srgbClr val="FF8000"/>
      </a:accent1>
      <a:accent2>
        <a:srgbClr val="00FF00"/>
      </a:accent2>
      <a:accent3>
        <a:srgbClr val="FFFFFF"/>
      </a:accent3>
      <a:accent4>
        <a:srgbClr val="DADADA"/>
      </a:accent4>
      <a:accent5>
        <a:srgbClr val="FFC0AA"/>
      </a:accent5>
      <a:accent6>
        <a:srgbClr val="00E700"/>
      </a:accent6>
      <a:hlink>
        <a:srgbClr val="FF0000"/>
      </a:hlink>
      <a:folHlink>
        <a:srgbClr val="8080FF"/>
      </a:folHlink>
    </a:clrScheme>
    <a:fontScheme name="t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rgbClr val="000000"/>
          </a:solidFill>
          <a:prstDash val="solid"/>
          <a:round/>
          <a:headEnd type="none" w="sm" len="sm"/>
          <a:tailEnd type="none" w="med" len="lg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rgbClr val="000000"/>
          </a:solidFill>
          <a:prstDash val="solid"/>
          <a:round/>
          <a:headEnd type="none" w="sm" len="sm"/>
          <a:tailEnd type="none" w="med" len="lg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" panose="020B0604020202020204" pitchFamily="34" charset="0"/>
          </a:defRPr>
        </a:defPPr>
      </a:lstStyle>
    </a:lnDef>
  </a:objectDefaults>
  <a:extraClrSchemeLst>
    <a:extraClrScheme>
      <a:clrScheme name="ti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d:\msoffice\powerpnt\template\clrovrhd\ti.ppt</Template>
  <TotalTime>542</TotalTime>
  <Pages>14</Pages>
  <Words>1548</Words>
  <Application>Microsoft Office PowerPoint</Application>
  <PresentationFormat>Προσαρμογή</PresentationFormat>
  <Paragraphs>99</Paragraphs>
  <Slides>30</Slides>
  <Notes>0</Notes>
  <HiddenSlides>0</HiddenSlides>
  <MMClips>0</MMClips>
  <ScaleCrop>false</ScaleCrop>
  <HeadingPairs>
    <vt:vector size="8" baseType="variant">
      <vt:variant>
        <vt:lpstr>Γραμματοσειρές που χρησιμοποιούνται</vt:lpstr>
      </vt:variant>
      <vt:variant>
        <vt:i4>7</vt:i4>
      </vt:variant>
      <vt:variant>
        <vt:lpstr>Θέμα</vt:lpstr>
      </vt:variant>
      <vt:variant>
        <vt:i4>1</vt:i4>
      </vt:variant>
      <vt:variant>
        <vt:lpstr>Ενσωματωμένοι διακομιστές OLE</vt:lpstr>
      </vt:variant>
      <vt:variant>
        <vt:i4>1</vt:i4>
      </vt:variant>
      <vt:variant>
        <vt:lpstr>Τίτλοι διαφανειών</vt:lpstr>
      </vt:variant>
      <vt:variant>
        <vt:i4>30</vt:i4>
      </vt:variant>
    </vt:vector>
  </HeadingPairs>
  <TitlesOfParts>
    <vt:vector size="39" baseType="lpstr">
      <vt:lpstr>Arial</vt:lpstr>
      <vt:lpstr>Book Antiqua</vt:lpstr>
      <vt:lpstr>Calibri</vt:lpstr>
      <vt:lpstr>Cambria Math</vt:lpstr>
      <vt:lpstr>Helvetica</vt:lpstr>
      <vt:lpstr>Monotype Sorts</vt:lpstr>
      <vt:lpstr>Times New Roman</vt:lpstr>
      <vt:lpstr>ti</vt:lpstr>
      <vt:lpstr>Equation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DSP?</dc:title>
  <dc:subject/>
  <dc:creator>m b akhan</dc:creator>
  <cp:keywords/>
  <dc:description/>
  <cp:lastModifiedBy>Nikos Piperigkos</cp:lastModifiedBy>
  <cp:revision>329</cp:revision>
  <cp:lastPrinted>1998-03-17T19:32:38Z</cp:lastPrinted>
  <dcterms:created xsi:type="dcterms:W3CDTF">1995-10-24T16:03:36Z</dcterms:created>
  <dcterms:modified xsi:type="dcterms:W3CDTF">2025-01-09T11:41:59Z</dcterms:modified>
</cp:coreProperties>
</file>
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1"/>
  </p:notesMasterIdLst>
  <p:handoutMasterIdLst>
    <p:handoutMasterId r:id="rId42"/>
  </p:handoutMasterIdLst>
  <p:sldIdLst>
    <p:sldId id="362" r:id="rId2"/>
    <p:sldId id="363" r:id="rId3"/>
    <p:sldId id="337" r:id="rId4"/>
    <p:sldId id="361" r:id="rId5"/>
    <p:sldId id="365" r:id="rId6"/>
    <p:sldId id="367" r:id="rId7"/>
    <p:sldId id="339" r:id="rId8"/>
    <p:sldId id="340" r:id="rId9"/>
    <p:sldId id="341" r:id="rId10"/>
    <p:sldId id="342" r:id="rId11"/>
    <p:sldId id="343" r:id="rId12"/>
    <p:sldId id="344" r:id="rId13"/>
    <p:sldId id="364" r:id="rId14"/>
    <p:sldId id="372" r:id="rId15"/>
    <p:sldId id="345" r:id="rId16"/>
    <p:sldId id="368" r:id="rId17"/>
    <p:sldId id="346" r:id="rId18"/>
    <p:sldId id="347" r:id="rId19"/>
    <p:sldId id="375" r:id="rId20"/>
    <p:sldId id="370" r:id="rId21"/>
    <p:sldId id="369" r:id="rId22"/>
    <p:sldId id="349" r:id="rId23"/>
    <p:sldId id="374" r:id="rId24"/>
    <p:sldId id="373" r:id="rId25"/>
    <p:sldId id="351" r:id="rId26"/>
    <p:sldId id="352" r:id="rId27"/>
    <p:sldId id="376" r:id="rId28"/>
    <p:sldId id="377" r:id="rId29"/>
    <p:sldId id="378" r:id="rId30"/>
    <p:sldId id="379" r:id="rId31"/>
    <p:sldId id="380" r:id="rId32"/>
    <p:sldId id="381" r:id="rId33"/>
    <p:sldId id="354" r:id="rId34"/>
    <p:sldId id="355" r:id="rId35"/>
    <p:sldId id="356" r:id="rId36"/>
    <p:sldId id="357" r:id="rId37"/>
    <p:sldId id="358" r:id="rId38"/>
    <p:sldId id="359" r:id="rId39"/>
    <p:sldId id="360" r:id="rId40"/>
  </p:sldIdLst>
  <p:sldSz cx="8953500" cy="7239000"/>
  <p:notesSz cx="6985000" cy="9282113"/>
  <p:defaultTextStyle>
    <a:defPPr>
      <a:defRPr lang="en-US"/>
    </a:defPPr>
    <a:lvl1pPr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1pPr>
    <a:lvl2pPr marL="4572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2pPr>
    <a:lvl3pPr marL="9144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3pPr>
    <a:lvl4pPr marL="13716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4pPr>
    <a:lvl5pPr marL="18288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5pPr>
    <a:lvl6pPr marL="2286000" algn="l" defTabSz="914400" rtl="0" eaLnBrk="1" latinLnBrk="0" hangingPunct="1">
      <a:defRPr sz="1400" kern="1200">
        <a:solidFill>
          <a:srgbClr val="000000"/>
        </a:solidFill>
        <a:latin typeface="Helvetica" panose="020B0604020202020204" pitchFamily="34" charset="0"/>
        <a:ea typeface="+mn-ea"/>
        <a:cs typeface="+mn-cs"/>
      </a:defRPr>
    </a:lvl6pPr>
    <a:lvl7pPr marL="2743200" algn="l" defTabSz="914400" rtl="0" eaLnBrk="1" latinLnBrk="0" hangingPunct="1">
      <a:defRPr sz="1400" kern="1200">
        <a:solidFill>
          <a:srgbClr val="000000"/>
        </a:solidFill>
        <a:latin typeface="Helvetica" panose="020B0604020202020204" pitchFamily="34" charset="0"/>
        <a:ea typeface="+mn-ea"/>
        <a:cs typeface="+mn-cs"/>
      </a:defRPr>
    </a:lvl7pPr>
    <a:lvl8pPr marL="3200400" algn="l" defTabSz="914400" rtl="0" eaLnBrk="1" latinLnBrk="0" hangingPunct="1">
      <a:defRPr sz="1400" kern="1200">
        <a:solidFill>
          <a:srgbClr val="000000"/>
        </a:solidFill>
        <a:latin typeface="Helvetica" panose="020B0604020202020204" pitchFamily="34" charset="0"/>
        <a:ea typeface="+mn-ea"/>
        <a:cs typeface="+mn-cs"/>
      </a:defRPr>
    </a:lvl8pPr>
    <a:lvl9pPr marL="3657600" algn="l" defTabSz="914400" rtl="0" eaLnBrk="1" latinLnBrk="0" hangingPunct="1">
      <a:defRPr sz="1400" kern="1200">
        <a:solidFill>
          <a:srgbClr val="000000"/>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4511">
          <p15:clr>
            <a:srgbClr val="A4A3A4"/>
          </p15:clr>
        </p15:guide>
        <p15:guide id="2" pos="16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3300"/>
    <a:srgbClr val="000000"/>
    <a:srgbClr val="000099"/>
    <a:srgbClr val="003399"/>
    <a:srgbClr val="EAEAEA"/>
    <a:srgbClr val="FFFFFF"/>
    <a:srgbClr val="676767"/>
    <a:srgbClr val="C9C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DA6CD3-9182-4390-8ADB-9BB8855CCFA8}" v="1281" dt="2024-11-20T17:07:22.0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50" autoAdjust="0"/>
    <p:restoredTop sz="95863" autoAdjust="0"/>
  </p:normalViewPr>
  <p:slideViewPr>
    <p:cSldViewPr snapToGrid="0">
      <p:cViewPr varScale="1">
        <p:scale>
          <a:sx n="74" d="100"/>
          <a:sy n="74" d="100"/>
        </p:scale>
        <p:origin x="1829" y="72"/>
      </p:cViewPr>
      <p:guideLst>
        <p:guide orient="horz" pos="4511"/>
        <p:guide pos="16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os Piperigkos" userId="b361276a-3497-4fae-9245-3cd0ad5fb2cd" providerId="ADAL" clId="{90DA6CD3-9182-4390-8ADB-9BB8855CCFA8}"/>
    <pc:docChg chg="undo custSel addSld delSld modSld sldOrd">
      <pc:chgData name="Nikos Piperigkos" userId="b361276a-3497-4fae-9245-3cd0ad5fb2cd" providerId="ADAL" clId="{90DA6CD3-9182-4390-8ADB-9BB8855CCFA8}" dt="2024-11-21T12:16:48.846" v="3115" actId="729"/>
      <pc:docMkLst>
        <pc:docMk/>
      </pc:docMkLst>
      <pc:sldChg chg="addSp delSp modSp del mod">
        <pc:chgData name="Nikos Piperigkos" userId="b361276a-3497-4fae-9245-3cd0ad5fb2cd" providerId="ADAL" clId="{90DA6CD3-9182-4390-8ADB-9BB8855CCFA8}" dt="2024-11-13T17:33:01.877" v="1193" actId="47"/>
        <pc:sldMkLst>
          <pc:docMk/>
          <pc:sldMk cId="0" sldId="338"/>
        </pc:sldMkLst>
        <pc:spChg chg="add del mod">
          <ac:chgData name="Nikos Piperigkos" userId="b361276a-3497-4fae-9245-3cd0ad5fb2cd" providerId="ADAL" clId="{90DA6CD3-9182-4390-8ADB-9BB8855CCFA8}" dt="2024-11-13T17:30:13.311" v="1192" actId="478"/>
          <ac:spMkLst>
            <pc:docMk/>
            <pc:sldMk cId="0" sldId="338"/>
            <ac:spMk id="3" creationId="{D36ED80A-31DD-639B-7B40-CCC4E87D26FB}"/>
          </ac:spMkLst>
        </pc:spChg>
      </pc:sldChg>
      <pc:sldChg chg="addSp delSp modSp mod">
        <pc:chgData name="Nikos Piperigkos" userId="b361276a-3497-4fae-9245-3cd0ad5fb2cd" providerId="ADAL" clId="{90DA6CD3-9182-4390-8ADB-9BB8855CCFA8}" dt="2024-11-13T17:33:33.441" v="1201" actId="478"/>
        <pc:sldMkLst>
          <pc:docMk/>
          <pc:sldMk cId="0" sldId="340"/>
        </pc:sldMkLst>
        <pc:spChg chg="add del mod">
          <ac:chgData name="Nikos Piperigkos" userId="b361276a-3497-4fae-9245-3cd0ad5fb2cd" providerId="ADAL" clId="{90DA6CD3-9182-4390-8ADB-9BB8855CCFA8}" dt="2024-11-13T17:33:33.441" v="1201" actId="478"/>
          <ac:spMkLst>
            <pc:docMk/>
            <pc:sldMk cId="0" sldId="340"/>
            <ac:spMk id="3" creationId="{96080A5D-D49C-16D5-7B66-B257EEBBC7DE}"/>
          </ac:spMkLst>
        </pc:spChg>
      </pc:sldChg>
      <pc:sldChg chg="addSp delSp modSp mod">
        <pc:chgData name="Nikos Piperigkos" userId="b361276a-3497-4fae-9245-3cd0ad5fb2cd" providerId="ADAL" clId="{90DA6CD3-9182-4390-8ADB-9BB8855CCFA8}" dt="2024-11-12T10:01:44.623" v="21" actId="1076"/>
        <pc:sldMkLst>
          <pc:docMk/>
          <pc:sldMk cId="0" sldId="341"/>
        </pc:sldMkLst>
        <pc:spChg chg="add del mod">
          <ac:chgData name="Nikos Piperigkos" userId="b361276a-3497-4fae-9245-3cd0ad5fb2cd" providerId="ADAL" clId="{90DA6CD3-9182-4390-8ADB-9BB8855CCFA8}" dt="2024-11-12T10:00:55.053" v="7" actId="478"/>
          <ac:spMkLst>
            <pc:docMk/>
            <pc:sldMk cId="0" sldId="341"/>
            <ac:spMk id="4" creationId="{07FED007-A83D-57D0-65EC-46B15DDD5021}"/>
          </ac:spMkLst>
        </pc:spChg>
        <pc:spChg chg="add mod">
          <ac:chgData name="Nikos Piperigkos" userId="b361276a-3497-4fae-9245-3cd0ad5fb2cd" providerId="ADAL" clId="{90DA6CD3-9182-4390-8ADB-9BB8855CCFA8}" dt="2024-11-12T10:01:36.620" v="19" actId="1076"/>
          <ac:spMkLst>
            <pc:docMk/>
            <pc:sldMk cId="0" sldId="341"/>
            <ac:spMk id="6" creationId="{059D57A0-19DA-1655-C01F-62BD60792A16}"/>
          </ac:spMkLst>
        </pc:spChg>
        <pc:spChg chg="add mod">
          <ac:chgData name="Nikos Piperigkos" userId="b361276a-3497-4fae-9245-3cd0ad5fb2cd" providerId="ADAL" clId="{90DA6CD3-9182-4390-8ADB-9BB8855CCFA8}" dt="2024-11-12T10:01:44.623" v="21" actId="1076"/>
          <ac:spMkLst>
            <pc:docMk/>
            <pc:sldMk cId="0" sldId="341"/>
            <ac:spMk id="7" creationId="{6EEB010D-2985-2CDC-A5F3-6F85F6B99A73}"/>
          </ac:spMkLst>
        </pc:spChg>
        <pc:picChg chg="add del">
          <ac:chgData name="Nikos Piperigkos" userId="b361276a-3497-4fae-9245-3cd0ad5fb2cd" providerId="ADAL" clId="{90DA6CD3-9182-4390-8ADB-9BB8855CCFA8}" dt="2024-11-12T10:00:48.087" v="5" actId="478"/>
          <ac:picMkLst>
            <pc:docMk/>
            <pc:sldMk cId="0" sldId="341"/>
            <ac:picMk id="3" creationId="{C37DC2A4-D65C-8B4C-FBD3-35643D32DD94}"/>
          </ac:picMkLst>
        </pc:picChg>
        <pc:picChg chg="add mod">
          <ac:chgData name="Nikos Piperigkos" userId="b361276a-3497-4fae-9245-3cd0ad5fb2cd" providerId="ADAL" clId="{90DA6CD3-9182-4390-8ADB-9BB8855CCFA8}" dt="2024-11-12T10:01:09.633" v="12" actId="1076"/>
          <ac:picMkLst>
            <pc:docMk/>
            <pc:sldMk cId="0" sldId="341"/>
            <ac:picMk id="5" creationId="{B0118A85-440A-1C48-B2FA-6FD3FE5ED3F9}"/>
          </ac:picMkLst>
        </pc:picChg>
      </pc:sldChg>
      <pc:sldChg chg="addSp modSp mod">
        <pc:chgData name="Nikos Piperigkos" userId="b361276a-3497-4fae-9245-3cd0ad5fb2cd" providerId="ADAL" clId="{90DA6CD3-9182-4390-8ADB-9BB8855CCFA8}" dt="2024-11-12T10:22:10.314" v="22" actId="1076"/>
        <pc:sldMkLst>
          <pc:docMk/>
          <pc:sldMk cId="0" sldId="342"/>
        </pc:sldMkLst>
        <pc:picChg chg="add mod">
          <ac:chgData name="Nikos Piperigkos" userId="b361276a-3497-4fae-9245-3cd0ad5fb2cd" providerId="ADAL" clId="{90DA6CD3-9182-4390-8ADB-9BB8855CCFA8}" dt="2024-11-12T10:22:10.314" v="22" actId="1076"/>
          <ac:picMkLst>
            <pc:docMk/>
            <pc:sldMk cId="0" sldId="342"/>
            <ac:picMk id="3" creationId="{04287F8E-FC11-98EA-0F94-147BD3980D85}"/>
          </ac:picMkLst>
        </pc:picChg>
      </pc:sldChg>
      <pc:sldChg chg="addSp modSp mod">
        <pc:chgData name="Nikos Piperigkos" userId="b361276a-3497-4fae-9245-3cd0ad5fb2cd" providerId="ADAL" clId="{90DA6CD3-9182-4390-8ADB-9BB8855CCFA8}" dt="2024-11-12T11:01:17.675" v="216" actId="115"/>
        <pc:sldMkLst>
          <pc:docMk/>
          <pc:sldMk cId="0" sldId="343"/>
        </pc:sldMkLst>
        <pc:spChg chg="add mod">
          <ac:chgData name="Nikos Piperigkos" userId="b361276a-3497-4fae-9245-3cd0ad5fb2cd" providerId="ADAL" clId="{90DA6CD3-9182-4390-8ADB-9BB8855CCFA8}" dt="2024-11-12T11:01:17.675" v="216" actId="115"/>
          <ac:spMkLst>
            <pc:docMk/>
            <pc:sldMk cId="0" sldId="343"/>
            <ac:spMk id="3" creationId="{FB2EC970-28B2-33DB-0848-57F6F8BF9C24}"/>
          </ac:spMkLst>
        </pc:spChg>
        <pc:picChg chg="mod">
          <ac:chgData name="Nikos Piperigkos" userId="b361276a-3497-4fae-9245-3cd0ad5fb2cd" providerId="ADAL" clId="{90DA6CD3-9182-4390-8ADB-9BB8855CCFA8}" dt="2024-11-12T11:00:56.574" v="210" actId="1076"/>
          <ac:picMkLst>
            <pc:docMk/>
            <pc:sldMk cId="0" sldId="343"/>
            <ac:picMk id="11268" creationId="{00000000-0000-0000-0000-000000000000}"/>
          </ac:picMkLst>
        </pc:picChg>
      </pc:sldChg>
      <pc:sldChg chg="addSp delSp modSp mod">
        <pc:chgData name="Nikos Piperigkos" userId="b361276a-3497-4fae-9245-3cd0ad5fb2cd" providerId="ADAL" clId="{90DA6CD3-9182-4390-8ADB-9BB8855CCFA8}" dt="2024-11-20T06:26:58.659" v="1698" actId="403"/>
        <pc:sldMkLst>
          <pc:docMk/>
          <pc:sldMk cId="0" sldId="345"/>
        </pc:sldMkLst>
        <pc:spChg chg="add del mod">
          <ac:chgData name="Nikos Piperigkos" userId="b361276a-3497-4fae-9245-3cd0ad5fb2cd" providerId="ADAL" clId="{90DA6CD3-9182-4390-8ADB-9BB8855CCFA8}" dt="2024-11-20T06:26:58.659" v="1698" actId="403"/>
          <ac:spMkLst>
            <pc:docMk/>
            <pc:sldMk cId="0" sldId="345"/>
            <ac:spMk id="13318" creationId="{00000000-0000-0000-0000-000000000000}"/>
          </ac:spMkLst>
        </pc:spChg>
        <pc:graphicFrameChg chg="add del mod replId">
          <ac:chgData name="Nikos Piperigkos" userId="b361276a-3497-4fae-9245-3cd0ad5fb2cd" providerId="ADAL" clId="{90DA6CD3-9182-4390-8ADB-9BB8855CCFA8}" dt="2024-11-20T06:26:43.612" v="1684"/>
          <ac:graphicFrameMkLst>
            <pc:docMk/>
            <pc:sldMk cId="0" sldId="345"/>
            <ac:graphicFrameMk id="2" creationId="{00000000-0000-0000-0000-000000000000}"/>
          </ac:graphicFrameMkLst>
        </pc:graphicFrameChg>
      </pc:sldChg>
      <pc:sldChg chg="addSp delSp modSp mod">
        <pc:chgData name="Nikos Piperigkos" userId="b361276a-3497-4fae-9245-3cd0ad5fb2cd" providerId="ADAL" clId="{90DA6CD3-9182-4390-8ADB-9BB8855CCFA8}" dt="2024-11-19T14:44:21.683" v="1514" actId="14100"/>
        <pc:sldMkLst>
          <pc:docMk/>
          <pc:sldMk cId="0" sldId="346"/>
        </pc:sldMkLst>
        <pc:spChg chg="add mod">
          <ac:chgData name="Nikos Piperigkos" userId="b361276a-3497-4fae-9245-3cd0ad5fb2cd" providerId="ADAL" clId="{90DA6CD3-9182-4390-8ADB-9BB8855CCFA8}" dt="2024-11-19T14:44:21.683" v="1514" actId="14100"/>
          <ac:spMkLst>
            <pc:docMk/>
            <pc:sldMk cId="0" sldId="346"/>
            <ac:spMk id="4" creationId="{72BFA7E9-D404-114E-E688-55F208675630}"/>
          </ac:spMkLst>
        </pc:spChg>
        <pc:spChg chg="mod">
          <ac:chgData name="Nikos Piperigkos" userId="b361276a-3497-4fae-9245-3cd0ad5fb2cd" providerId="ADAL" clId="{90DA6CD3-9182-4390-8ADB-9BB8855CCFA8}" dt="2024-11-19T14:40:26.043" v="1374" actId="1076"/>
          <ac:spMkLst>
            <pc:docMk/>
            <pc:sldMk cId="0" sldId="346"/>
            <ac:spMk id="14338" creationId="{00000000-0000-0000-0000-000000000000}"/>
          </ac:spMkLst>
        </pc:spChg>
        <pc:spChg chg="mod">
          <ac:chgData name="Nikos Piperigkos" userId="b361276a-3497-4fae-9245-3cd0ad5fb2cd" providerId="ADAL" clId="{90DA6CD3-9182-4390-8ADB-9BB8855CCFA8}" dt="2024-11-19T14:40:23.955" v="1372" actId="1076"/>
          <ac:spMkLst>
            <pc:docMk/>
            <pc:sldMk cId="0" sldId="346"/>
            <ac:spMk id="14340" creationId="{00000000-0000-0000-0000-000000000000}"/>
          </ac:spMkLst>
        </pc:spChg>
        <pc:spChg chg="add mod">
          <ac:chgData name="Nikos Piperigkos" userId="b361276a-3497-4fae-9245-3cd0ad5fb2cd" providerId="ADAL" clId="{90DA6CD3-9182-4390-8ADB-9BB8855CCFA8}" dt="2024-11-19T14:44:17.552" v="1512" actId="404"/>
          <ac:spMkLst>
            <pc:docMk/>
            <pc:sldMk cId="0" sldId="346"/>
            <ac:spMk id="14344" creationId="{00000000-0000-0000-0000-000000000000}"/>
          </ac:spMkLst>
        </pc:spChg>
        <pc:graphicFrameChg chg="del mod replId">
          <ac:chgData name="Nikos Piperigkos" userId="b361276a-3497-4fae-9245-3cd0ad5fb2cd" providerId="ADAL" clId="{90DA6CD3-9182-4390-8ADB-9BB8855CCFA8}" dt="2024-11-19T14:40:01.778" v="1345"/>
          <ac:graphicFrameMkLst>
            <pc:docMk/>
            <pc:sldMk cId="0" sldId="346"/>
            <ac:graphicFrameMk id="2" creationId="{00000000-0000-0000-0000-000000000000}"/>
          </ac:graphicFrameMkLst>
        </pc:graphicFrameChg>
        <pc:graphicFrameChg chg="mod">
          <ac:chgData name="Nikos Piperigkos" userId="b361276a-3497-4fae-9245-3cd0ad5fb2cd" providerId="ADAL" clId="{90DA6CD3-9182-4390-8ADB-9BB8855CCFA8}" dt="2024-11-19T14:38:54.077" v="1343" actId="1076"/>
          <ac:graphicFrameMkLst>
            <pc:docMk/>
            <pc:sldMk cId="0" sldId="346"/>
            <ac:graphicFrameMk id="14341" creationId="{00000000-0000-0000-0000-000000000000}"/>
          </ac:graphicFrameMkLst>
        </pc:graphicFrameChg>
        <pc:graphicFrameChg chg="mod">
          <ac:chgData name="Nikos Piperigkos" userId="b361276a-3497-4fae-9245-3cd0ad5fb2cd" providerId="ADAL" clId="{90DA6CD3-9182-4390-8ADB-9BB8855CCFA8}" dt="2024-11-19T14:38:51.505" v="1342" actId="1076"/>
          <ac:graphicFrameMkLst>
            <pc:docMk/>
            <pc:sldMk cId="0" sldId="346"/>
            <ac:graphicFrameMk id="14342" creationId="{00000000-0000-0000-0000-000000000000}"/>
          </ac:graphicFrameMkLst>
        </pc:graphicFrameChg>
        <pc:picChg chg="mod">
          <ac:chgData name="Nikos Piperigkos" userId="b361276a-3497-4fae-9245-3cd0ad5fb2cd" providerId="ADAL" clId="{90DA6CD3-9182-4390-8ADB-9BB8855CCFA8}" dt="2024-11-19T14:38:46.487" v="1341" actId="1076"/>
          <ac:picMkLst>
            <pc:docMk/>
            <pc:sldMk cId="0" sldId="346"/>
            <ac:picMk id="14345" creationId="{00000000-0000-0000-0000-000000000000}"/>
          </ac:picMkLst>
        </pc:picChg>
      </pc:sldChg>
      <pc:sldChg chg="addSp delSp modSp mod">
        <pc:chgData name="Nikos Piperigkos" userId="b361276a-3497-4fae-9245-3cd0ad5fb2cd" providerId="ADAL" clId="{90DA6CD3-9182-4390-8ADB-9BB8855CCFA8}" dt="2024-11-20T16:34:46.937" v="1746" actId="478"/>
        <pc:sldMkLst>
          <pc:docMk/>
          <pc:sldMk cId="0" sldId="347"/>
        </pc:sldMkLst>
        <pc:spChg chg="add del mod">
          <ac:chgData name="Nikos Piperigkos" userId="b361276a-3497-4fae-9245-3cd0ad5fb2cd" providerId="ADAL" clId="{90DA6CD3-9182-4390-8ADB-9BB8855CCFA8}" dt="2024-11-20T16:34:40.437" v="1743" actId="478"/>
          <ac:spMkLst>
            <pc:docMk/>
            <pc:sldMk cId="0" sldId="347"/>
            <ac:spMk id="4" creationId="{27A1D221-5F1E-EE83-AFC9-762C6D1A7219}"/>
          </ac:spMkLst>
        </pc:spChg>
        <pc:spChg chg="mod">
          <ac:chgData name="Nikos Piperigkos" userId="b361276a-3497-4fae-9245-3cd0ad5fb2cd" providerId="ADAL" clId="{90DA6CD3-9182-4390-8ADB-9BB8855CCFA8}" dt="2024-11-20T16:34:35.659" v="1738" actId="20577"/>
          <ac:spMkLst>
            <pc:docMk/>
            <pc:sldMk cId="0" sldId="347"/>
            <ac:spMk id="15362" creationId="{00000000-0000-0000-0000-000000000000}"/>
          </ac:spMkLst>
        </pc:spChg>
        <pc:spChg chg="del">
          <ac:chgData name="Nikos Piperigkos" userId="b361276a-3497-4fae-9245-3cd0ad5fb2cd" providerId="ADAL" clId="{90DA6CD3-9182-4390-8ADB-9BB8855CCFA8}" dt="2024-11-20T16:34:41.892" v="1744" actId="478"/>
          <ac:spMkLst>
            <pc:docMk/>
            <pc:sldMk cId="0" sldId="347"/>
            <ac:spMk id="15373" creationId="{00000000-0000-0000-0000-000000000000}"/>
          </ac:spMkLst>
        </pc:spChg>
        <pc:graphicFrameChg chg="del">
          <ac:chgData name="Nikos Piperigkos" userId="b361276a-3497-4fae-9245-3cd0ad5fb2cd" providerId="ADAL" clId="{90DA6CD3-9182-4390-8ADB-9BB8855CCFA8}" dt="2024-11-20T16:34:38.265" v="1742" actId="478"/>
          <ac:graphicFrameMkLst>
            <pc:docMk/>
            <pc:sldMk cId="0" sldId="347"/>
            <ac:graphicFrameMk id="15365" creationId="{00000000-0000-0000-0000-000000000000}"/>
          </ac:graphicFrameMkLst>
        </pc:graphicFrameChg>
        <pc:graphicFrameChg chg="del">
          <ac:chgData name="Nikos Piperigkos" userId="b361276a-3497-4fae-9245-3cd0ad5fb2cd" providerId="ADAL" clId="{90DA6CD3-9182-4390-8ADB-9BB8855CCFA8}" dt="2024-11-20T16:34:36.722" v="1739" actId="478"/>
          <ac:graphicFrameMkLst>
            <pc:docMk/>
            <pc:sldMk cId="0" sldId="347"/>
            <ac:graphicFrameMk id="15368" creationId="{00000000-0000-0000-0000-000000000000}"/>
          </ac:graphicFrameMkLst>
        </pc:graphicFrameChg>
        <pc:graphicFrameChg chg="del">
          <ac:chgData name="Nikos Piperigkos" userId="b361276a-3497-4fae-9245-3cd0ad5fb2cd" providerId="ADAL" clId="{90DA6CD3-9182-4390-8ADB-9BB8855CCFA8}" dt="2024-11-20T16:34:37.181" v="1740" actId="478"/>
          <ac:graphicFrameMkLst>
            <pc:docMk/>
            <pc:sldMk cId="0" sldId="347"/>
            <ac:graphicFrameMk id="15370" creationId="{00000000-0000-0000-0000-000000000000}"/>
          </ac:graphicFrameMkLst>
        </pc:graphicFrameChg>
        <pc:graphicFrameChg chg="del">
          <ac:chgData name="Nikos Piperigkos" userId="b361276a-3497-4fae-9245-3cd0ad5fb2cd" providerId="ADAL" clId="{90DA6CD3-9182-4390-8ADB-9BB8855CCFA8}" dt="2024-11-20T16:34:37.716" v="1741" actId="478"/>
          <ac:graphicFrameMkLst>
            <pc:docMk/>
            <pc:sldMk cId="0" sldId="347"/>
            <ac:graphicFrameMk id="15372" creationId="{00000000-0000-0000-0000-000000000000}"/>
          </ac:graphicFrameMkLst>
        </pc:graphicFrameChg>
        <pc:cxnChg chg="del">
          <ac:chgData name="Nikos Piperigkos" userId="b361276a-3497-4fae-9245-3cd0ad5fb2cd" providerId="ADAL" clId="{90DA6CD3-9182-4390-8ADB-9BB8855CCFA8}" dt="2024-11-20T16:34:46.937" v="1746" actId="478"/>
          <ac:cxnSpMkLst>
            <pc:docMk/>
            <pc:sldMk cId="0" sldId="347"/>
            <ac:cxnSpMk id="3" creationId="{00000000-0000-0000-0000-000000000000}"/>
          </ac:cxnSpMkLst>
        </pc:cxnChg>
        <pc:cxnChg chg="del">
          <ac:chgData name="Nikos Piperigkos" userId="b361276a-3497-4fae-9245-3cd0ad5fb2cd" providerId="ADAL" clId="{90DA6CD3-9182-4390-8ADB-9BB8855CCFA8}" dt="2024-11-20T16:34:46.067" v="1745" actId="478"/>
          <ac:cxnSpMkLst>
            <pc:docMk/>
            <pc:sldMk cId="0" sldId="347"/>
            <ac:cxnSpMk id="18" creationId="{00000000-0000-0000-0000-000000000000}"/>
          </ac:cxnSpMkLst>
        </pc:cxnChg>
      </pc:sldChg>
      <pc:sldChg chg="modSp del mod ord">
        <pc:chgData name="Nikos Piperigkos" userId="b361276a-3497-4fae-9245-3cd0ad5fb2cd" providerId="ADAL" clId="{90DA6CD3-9182-4390-8ADB-9BB8855CCFA8}" dt="2024-11-19T14:56:36.308" v="1572" actId="47"/>
        <pc:sldMkLst>
          <pc:docMk/>
          <pc:sldMk cId="855928970" sldId="348"/>
        </pc:sldMkLst>
        <pc:spChg chg="mod">
          <ac:chgData name="Nikos Piperigkos" userId="b361276a-3497-4fae-9245-3cd0ad5fb2cd" providerId="ADAL" clId="{90DA6CD3-9182-4390-8ADB-9BB8855CCFA8}" dt="2024-11-19T14:22:50.340" v="1226" actId="20577"/>
          <ac:spMkLst>
            <pc:docMk/>
            <pc:sldMk cId="855928970" sldId="348"/>
            <ac:spMk id="15363" creationId="{00000000-0000-0000-0000-000000000000}"/>
          </ac:spMkLst>
        </pc:spChg>
      </pc:sldChg>
      <pc:sldChg chg="addSp delSp modSp del mod">
        <pc:chgData name="Nikos Piperigkos" userId="b361276a-3497-4fae-9245-3cd0ad5fb2cd" providerId="ADAL" clId="{90DA6CD3-9182-4390-8ADB-9BB8855CCFA8}" dt="2024-11-20T16:34:23.816" v="1736" actId="47"/>
        <pc:sldMkLst>
          <pc:docMk/>
          <pc:sldMk cId="3981311559" sldId="350"/>
        </pc:sldMkLst>
        <pc:spChg chg="add del mod">
          <ac:chgData name="Nikos Piperigkos" userId="b361276a-3497-4fae-9245-3cd0ad5fb2cd" providerId="ADAL" clId="{90DA6CD3-9182-4390-8ADB-9BB8855CCFA8}" dt="2024-11-20T16:33:53.370" v="1734" actId="478"/>
          <ac:spMkLst>
            <pc:docMk/>
            <pc:sldMk cId="3981311559" sldId="350"/>
            <ac:spMk id="3" creationId="{406BDEA2-BD73-5DD6-875D-71A8927D7473}"/>
          </ac:spMkLst>
        </pc:spChg>
        <pc:spChg chg="mod">
          <ac:chgData name="Nikos Piperigkos" userId="b361276a-3497-4fae-9245-3cd0ad5fb2cd" providerId="ADAL" clId="{90DA6CD3-9182-4390-8ADB-9BB8855CCFA8}" dt="2024-11-20T16:33:49.911" v="1730" actId="6549"/>
          <ac:spMkLst>
            <pc:docMk/>
            <pc:sldMk cId="3981311559" sldId="350"/>
            <ac:spMk id="15362" creationId="{00000000-0000-0000-0000-000000000000}"/>
          </ac:spMkLst>
        </pc:spChg>
        <pc:spChg chg="del mod">
          <ac:chgData name="Nikos Piperigkos" userId="b361276a-3497-4fae-9245-3cd0ad5fb2cd" providerId="ADAL" clId="{90DA6CD3-9182-4390-8ADB-9BB8855CCFA8}" dt="2024-11-20T16:33:54.853" v="1735" actId="478"/>
          <ac:spMkLst>
            <pc:docMk/>
            <pc:sldMk cId="3981311559" sldId="350"/>
            <ac:spMk id="15373" creationId="{00000000-0000-0000-0000-000000000000}"/>
          </ac:spMkLst>
        </pc:spChg>
        <pc:graphicFrameChg chg="del">
          <ac:chgData name="Nikos Piperigkos" userId="b361276a-3497-4fae-9245-3cd0ad5fb2cd" providerId="ADAL" clId="{90DA6CD3-9182-4390-8ADB-9BB8855CCFA8}" dt="2024-11-20T06:06:25.047" v="1682" actId="478"/>
          <ac:graphicFrameMkLst>
            <pc:docMk/>
            <pc:sldMk cId="3981311559" sldId="350"/>
            <ac:graphicFrameMk id="15" creationId="{00000000-0000-0000-0000-000000000000}"/>
          </ac:graphicFrameMkLst>
        </pc:graphicFrameChg>
        <pc:graphicFrameChg chg="del">
          <ac:chgData name="Nikos Piperigkos" userId="b361276a-3497-4fae-9245-3cd0ad5fb2cd" providerId="ADAL" clId="{90DA6CD3-9182-4390-8ADB-9BB8855CCFA8}" dt="2024-11-20T16:33:51.637" v="1732" actId="478"/>
          <ac:graphicFrameMkLst>
            <pc:docMk/>
            <pc:sldMk cId="3981311559" sldId="350"/>
            <ac:graphicFrameMk id="15365" creationId="{00000000-0000-0000-0000-000000000000}"/>
          </ac:graphicFrameMkLst>
        </pc:graphicFrameChg>
        <pc:graphicFrameChg chg="del">
          <ac:chgData name="Nikos Piperigkos" userId="b361276a-3497-4fae-9245-3cd0ad5fb2cd" providerId="ADAL" clId="{90DA6CD3-9182-4390-8ADB-9BB8855CCFA8}" dt="2024-11-20T16:33:46.855" v="1728" actId="478"/>
          <ac:graphicFrameMkLst>
            <pc:docMk/>
            <pc:sldMk cId="3981311559" sldId="350"/>
            <ac:graphicFrameMk id="15368" creationId="{00000000-0000-0000-0000-000000000000}"/>
          </ac:graphicFrameMkLst>
        </pc:graphicFrameChg>
        <pc:graphicFrameChg chg="del">
          <ac:chgData name="Nikos Piperigkos" userId="b361276a-3497-4fae-9245-3cd0ad5fb2cd" providerId="ADAL" clId="{90DA6CD3-9182-4390-8ADB-9BB8855CCFA8}" dt="2024-11-20T16:33:47.530" v="1729" actId="478"/>
          <ac:graphicFrameMkLst>
            <pc:docMk/>
            <pc:sldMk cId="3981311559" sldId="350"/>
            <ac:graphicFrameMk id="15370" creationId="{00000000-0000-0000-0000-000000000000}"/>
          </ac:graphicFrameMkLst>
        </pc:graphicFrameChg>
        <pc:graphicFrameChg chg="del">
          <ac:chgData name="Nikos Piperigkos" userId="b361276a-3497-4fae-9245-3cd0ad5fb2cd" providerId="ADAL" clId="{90DA6CD3-9182-4390-8ADB-9BB8855CCFA8}" dt="2024-11-20T16:33:51.081" v="1731" actId="478"/>
          <ac:graphicFrameMkLst>
            <pc:docMk/>
            <pc:sldMk cId="3981311559" sldId="350"/>
            <ac:graphicFrameMk id="15372" creationId="{00000000-0000-0000-0000-000000000000}"/>
          </ac:graphicFrameMkLst>
        </pc:graphicFrameChg>
      </pc:sldChg>
      <pc:sldChg chg="modSp mod modShow">
        <pc:chgData name="Nikos Piperigkos" userId="b361276a-3497-4fae-9245-3cd0ad5fb2cd" providerId="ADAL" clId="{90DA6CD3-9182-4390-8ADB-9BB8855CCFA8}" dt="2024-11-21T12:16:48.846" v="3115" actId="729"/>
        <pc:sldMkLst>
          <pc:docMk/>
          <pc:sldMk cId="3729988491" sldId="351"/>
        </pc:sldMkLst>
        <pc:spChg chg="mod">
          <ac:chgData name="Nikos Piperigkos" userId="b361276a-3497-4fae-9245-3cd0ad5fb2cd" providerId="ADAL" clId="{90DA6CD3-9182-4390-8ADB-9BB8855CCFA8}" dt="2024-11-19T14:22:58.569" v="1236" actId="20577"/>
          <ac:spMkLst>
            <pc:docMk/>
            <pc:sldMk cId="3729988491" sldId="351"/>
            <ac:spMk id="15363" creationId="{00000000-0000-0000-0000-000000000000}"/>
          </ac:spMkLst>
        </pc:spChg>
      </pc:sldChg>
      <pc:sldChg chg="modSp mod modShow">
        <pc:chgData name="Nikos Piperigkos" userId="b361276a-3497-4fae-9245-3cd0ad5fb2cd" providerId="ADAL" clId="{90DA6CD3-9182-4390-8ADB-9BB8855CCFA8}" dt="2024-11-21T12:16:48.846" v="3115" actId="729"/>
        <pc:sldMkLst>
          <pc:docMk/>
          <pc:sldMk cId="1041002090" sldId="352"/>
        </pc:sldMkLst>
        <pc:spChg chg="mod">
          <ac:chgData name="Nikos Piperigkos" userId="b361276a-3497-4fae-9245-3cd0ad5fb2cd" providerId="ADAL" clId="{90DA6CD3-9182-4390-8ADB-9BB8855CCFA8}" dt="2024-11-19T14:22:53.344" v="1231" actId="20577"/>
          <ac:spMkLst>
            <pc:docMk/>
            <pc:sldMk cId="1041002090" sldId="352"/>
            <ac:spMk id="15363" creationId="{00000000-0000-0000-0000-000000000000}"/>
          </ac:spMkLst>
        </pc:spChg>
      </pc:sldChg>
      <pc:sldChg chg="mod modShow">
        <pc:chgData name="Nikos Piperigkos" userId="b361276a-3497-4fae-9245-3cd0ad5fb2cd" providerId="ADAL" clId="{90DA6CD3-9182-4390-8ADB-9BB8855CCFA8}" dt="2024-11-20T15:15:04.778" v="1701" actId="729"/>
        <pc:sldMkLst>
          <pc:docMk/>
          <pc:sldMk cId="1861820433" sldId="354"/>
        </pc:sldMkLst>
      </pc:sldChg>
      <pc:sldChg chg="mod modShow">
        <pc:chgData name="Nikos Piperigkos" userId="b361276a-3497-4fae-9245-3cd0ad5fb2cd" providerId="ADAL" clId="{90DA6CD3-9182-4390-8ADB-9BB8855CCFA8}" dt="2024-11-20T15:15:04.778" v="1701" actId="729"/>
        <pc:sldMkLst>
          <pc:docMk/>
          <pc:sldMk cId="34039940" sldId="355"/>
        </pc:sldMkLst>
      </pc:sldChg>
      <pc:sldChg chg="mod modShow">
        <pc:chgData name="Nikos Piperigkos" userId="b361276a-3497-4fae-9245-3cd0ad5fb2cd" providerId="ADAL" clId="{90DA6CD3-9182-4390-8ADB-9BB8855CCFA8}" dt="2024-11-20T15:15:04.778" v="1701" actId="729"/>
        <pc:sldMkLst>
          <pc:docMk/>
          <pc:sldMk cId="3462802798" sldId="356"/>
        </pc:sldMkLst>
      </pc:sldChg>
      <pc:sldChg chg="mod modShow">
        <pc:chgData name="Nikos Piperigkos" userId="b361276a-3497-4fae-9245-3cd0ad5fb2cd" providerId="ADAL" clId="{90DA6CD3-9182-4390-8ADB-9BB8855CCFA8}" dt="2024-11-20T15:15:04.778" v="1701" actId="729"/>
        <pc:sldMkLst>
          <pc:docMk/>
          <pc:sldMk cId="1045981932" sldId="357"/>
        </pc:sldMkLst>
      </pc:sldChg>
      <pc:sldChg chg="mod modShow">
        <pc:chgData name="Nikos Piperigkos" userId="b361276a-3497-4fae-9245-3cd0ad5fb2cd" providerId="ADAL" clId="{90DA6CD3-9182-4390-8ADB-9BB8855CCFA8}" dt="2024-11-20T15:15:04.778" v="1701" actId="729"/>
        <pc:sldMkLst>
          <pc:docMk/>
          <pc:sldMk cId="3714993036" sldId="358"/>
        </pc:sldMkLst>
      </pc:sldChg>
      <pc:sldChg chg="mod modShow">
        <pc:chgData name="Nikos Piperigkos" userId="b361276a-3497-4fae-9245-3cd0ad5fb2cd" providerId="ADAL" clId="{90DA6CD3-9182-4390-8ADB-9BB8855CCFA8}" dt="2024-11-20T15:15:04.778" v="1701" actId="729"/>
        <pc:sldMkLst>
          <pc:docMk/>
          <pc:sldMk cId="4155371124" sldId="359"/>
        </pc:sldMkLst>
      </pc:sldChg>
      <pc:sldChg chg="mod modShow">
        <pc:chgData name="Nikos Piperigkos" userId="b361276a-3497-4fae-9245-3cd0ad5fb2cd" providerId="ADAL" clId="{90DA6CD3-9182-4390-8ADB-9BB8855CCFA8}" dt="2024-11-20T15:15:04.778" v="1701" actId="729"/>
        <pc:sldMkLst>
          <pc:docMk/>
          <pc:sldMk cId="1396100810" sldId="360"/>
        </pc:sldMkLst>
      </pc:sldChg>
      <pc:sldChg chg="addSp delSp modSp add mod ord">
        <pc:chgData name="Nikos Piperigkos" userId="b361276a-3497-4fae-9245-3cd0ad5fb2cd" providerId="ADAL" clId="{90DA6CD3-9182-4390-8ADB-9BB8855CCFA8}" dt="2024-11-13T17:02:51.900" v="1189" actId="20577"/>
        <pc:sldMkLst>
          <pc:docMk/>
          <pc:sldMk cId="3757365300" sldId="362"/>
        </pc:sldMkLst>
        <pc:spChg chg="add mod">
          <ac:chgData name="Nikos Piperigkos" userId="b361276a-3497-4fae-9245-3cd0ad5fb2cd" providerId="ADAL" clId="{90DA6CD3-9182-4390-8ADB-9BB8855CCFA8}" dt="2024-11-13T17:02:51.900" v="1189" actId="20577"/>
          <ac:spMkLst>
            <pc:docMk/>
            <pc:sldMk cId="3757365300" sldId="362"/>
            <ac:spMk id="2" creationId="{21D249D1-B581-3132-BC25-78795F80FBFF}"/>
          </ac:spMkLst>
        </pc:spChg>
        <pc:spChg chg="del">
          <ac:chgData name="Nikos Piperigkos" userId="b361276a-3497-4fae-9245-3cd0ad5fb2cd" providerId="ADAL" clId="{90DA6CD3-9182-4390-8ADB-9BB8855CCFA8}" dt="2024-11-12T10:31:14.502" v="27" actId="478"/>
          <ac:spMkLst>
            <pc:docMk/>
            <pc:sldMk cId="3757365300" sldId="362"/>
            <ac:spMk id="4098" creationId="{7A8BD995-AD29-493C-7582-C7E75549FE53}"/>
          </ac:spMkLst>
        </pc:spChg>
        <pc:picChg chg="del">
          <ac:chgData name="Nikos Piperigkos" userId="b361276a-3497-4fae-9245-3cd0ad5fb2cd" providerId="ADAL" clId="{90DA6CD3-9182-4390-8ADB-9BB8855CCFA8}" dt="2024-11-12T10:31:13.508" v="26" actId="478"/>
          <ac:picMkLst>
            <pc:docMk/>
            <pc:sldMk cId="3757365300" sldId="362"/>
            <ac:picMk id="4100" creationId="{80682BC3-8937-6E8E-74A4-A2237486DE49}"/>
          </ac:picMkLst>
        </pc:picChg>
      </pc:sldChg>
      <pc:sldChg chg="addSp delSp modSp add mod">
        <pc:chgData name="Nikos Piperigkos" userId="b361276a-3497-4fae-9245-3cd0ad5fb2cd" providerId="ADAL" clId="{90DA6CD3-9182-4390-8ADB-9BB8855CCFA8}" dt="2024-11-12T10:35:14.169" v="97" actId="20577"/>
        <pc:sldMkLst>
          <pc:docMk/>
          <pc:sldMk cId="1007207015" sldId="363"/>
        </pc:sldMkLst>
        <pc:spChg chg="del">
          <ac:chgData name="Nikos Piperigkos" userId="b361276a-3497-4fae-9245-3cd0ad5fb2cd" providerId="ADAL" clId="{90DA6CD3-9182-4390-8ADB-9BB8855CCFA8}" dt="2024-11-12T10:33:35.255" v="59" actId="478"/>
          <ac:spMkLst>
            <pc:docMk/>
            <pc:sldMk cId="1007207015" sldId="363"/>
            <ac:spMk id="2" creationId="{23C39ECD-DCAD-288A-7CB2-4892B3B4384E}"/>
          </ac:spMkLst>
        </pc:spChg>
        <pc:spChg chg="add mod">
          <ac:chgData name="Nikos Piperigkos" userId="b361276a-3497-4fae-9245-3cd0ad5fb2cd" providerId="ADAL" clId="{90DA6CD3-9182-4390-8ADB-9BB8855CCFA8}" dt="2024-11-12T10:35:14.169" v="97" actId="20577"/>
          <ac:spMkLst>
            <pc:docMk/>
            <pc:sldMk cId="1007207015" sldId="363"/>
            <ac:spMk id="4" creationId="{44D95F0D-E7E4-15D6-EE46-DC0C26E71FB4}"/>
          </ac:spMkLst>
        </pc:spChg>
      </pc:sldChg>
      <pc:sldChg chg="addSp delSp modSp add mod">
        <pc:chgData name="Nikos Piperigkos" userId="b361276a-3497-4fae-9245-3cd0ad5fb2cd" providerId="ADAL" clId="{90DA6CD3-9182-4390-8ADB-9BB8855CCFA8}" dt="2024-11-20T15:55:38" v="1726" actId="20577"/>
        <pc:sldMkLst>
          <pc:docMk/>
          <pc:sldMk cId="1921215536" sldId="364"/>
        </pc:sldMkLst>
        <pc:spChg chg="add del">
          <ac:chgData name="Nikos Piperigkos" userId="b361276a-3497-4fae-9245-3cd0ad5fb2cd" providerId="ADAL" clId="{90DA6CD3-9182-4390-8ADB-9BB8855CCFA8}" dt="2024-11-12T11:17:24.132" v="955" actId="22"/>
          <ac:spMkLst>
            <pc:docMk/>
            <pc:sldMk cId="1921215536" sldId="364"/>
            <ac:spMk id="3" creationId="{86FADFBB-D40E-0D0F-5AA6-EB233B86C6CF}"/>
          </ac:spMkLst>
        </pc:spChg>
        <pc:spChg chg="mod">
          <ac:chgData name="Nikos Piperigkos" userId="b361276a-3497-4fae-9245-3cd0ad5fb2cd" providerId="ADAL" clId="{90DA6CD3-9182-4390-8ADB-9BB8855CCFA8}" dt="2024-11-20T15:55:38" v="1726" actId="20577"/>
          <ac:spMkLst>
            <pc:docMk/>
            <pc:sldMk cId="1921215536" sldId="364"/>
            <ac:spMk id="12290" creationId="{4DE8846F-6DC2-69F0-C0F7-1A40AC0A922C}"/>
          </ac:spMkLst>
        </pc:spChg>
        <pc:spChg chg="del">
          <ac:chgData name="Nikos Piperigkos" userId="b361276a-3497-4fae-9245-3cd0ad5fb2cd" providerId="ADAL" clId="{90DA6CD3-9182-4390-8ADB-9BB8855CCFA8}" dt="2024-11-12T11:08:07.755" v="218" actId="478"/>
          <ac:spMkLst>
            <pc:docMk/>
            <pc:sldMk cId="1921215536" sldId="364"/>
            <ac:spMk id="12295" creationId="{DE6E9F2C-D9F3-6618-B691-1789693CD12A}"/>
          </ac:spMkLst>
        </pc:spChg>
        <pc:graphicFrameChg chg="del">
          <ac:chgData name="Nikos Piperigkos" userId="b361276a-3497-4fae-9245-3cd0ad5fb2cd" providerId="ADAL" clId="{90DA6CD3-9182-4390-8ADB-9BB8855CCFA8}" dt="2024-11-12T11:08:09.550" v="220" actId="478"/>
          <ac:graphicFrameMkLst>
            <pc:docMk/>
            <pc:sldMk cId="1921215536" sldId="364"/>
            <ac:graphicFrameMk id="12294" creationId="{92BB5727-EAC7-DF59-BBC9-676DB82B0EB6}"/>
          </ac:graphicFrameMkLst>
        </pc:graphicFrameChg>
        <pc:picChg chg="add del mod">
          <ac:chgData name="Nikos Piperigkos" userId="b361276a-3497-4fae-9245-3cd0ad5fb2cd" providerId="ADAL" clId="{90DA6CD3-9182-4390-8ADB-9BB8855CCFA8}" dt="2024-11-12T11:18:14.547" v="969" actId="22"/>
          <ac:picMkLst>
            <pc:docMk/>
            <pc:sldMk cId="1921215536" sldId="364"/>
            <ac:picMk id="5" creationId="{65FA5A52-19C7-4B28-2812-1F17DA428C0A}"/>
          </ac:picMkLst>
        </pc:picChg>
        <pc:picChg chg="del">
          <ac:chgData name="Nikos Piperigkos" userId="b361276a-3497-4fae-9245-3cd0ad5fb2cd" providerId="ADAL" clId="{90DA6CD3-9182-4390-8ADB-9BB8855CCFA8}" dt="2024-11-12T11:08:08.265" v="219" actId="478"/>
          <ac:picMkLst>
            <pc:docMk/>
            <pc:sldMk cId="1921215536" sldId="364"/>
            <ac:picMk id="12296" creationId="{78B6711D-779E-9ED3-384E-EDE59723AE90}"/>
          </ac:picMkLst>
        </pc:picChg>
      </pc:sldChg>
      <pc:sldChg chg="addSp delSp modSp add mod">
        <pc:chgData name="Nikos Piperigkos" userId="b361276a-3497-4fae-9245-3cd0ad5fb2cd" providerId="ADAL" clId="{90DA6CD3-9182-4390-8ADB-9BB8855CCFA8}" dt="2024-11-14T11:37:53.683" v="1217" actId="478"/>
        <pc:sldMkLst>
          <pc:docMk/>
          <pc:sldMk cId="1955442598" sldId="365"/>
        </pc:sldMkLst>
        <pc:spChg chg="del">
          <ac:chgData name="Nikos Piperigkos" userId="b361276a-3497-4fae-9245-3cd0ad5fb2cd" providerId="ADAL" clId="{90DA6CD3-9182-4390-8ADB-9BB8855CCFA8}" dt="2024-11-13T17:33:03.957" v="1194" actId="21"/>
          <ac:spMkLst>
            <pc:docMk/>
            <pc:sldMk cId="1955442598" sldId="365"/>
            <ac:spMk id="3" creationId="{96080A5D-D49C-16D5-7B66-B257EEBBC7DE}"/>
          </ac:spMkLst>
        </pc:spChg>
        <pc:spChg chg="add mod">
          <ac:chgData name="Nikos Piperigkos" userId="b361276a-3497-4fae-9245-3cd0ad5fb2cd" providerId="ADAL" clId="{90DA6CD3-9182-4390-8ADB-9BB8855CCFA8}" dt="2024-11-14T11:37:31.106" v="1213" actId="20577"/>
          <ac:spMkLst>
            <pc:docMk/>
            <pc:sldMk cId="1955442598" sldId="365"/>
            <ac:spMk id="3" creationId="{A058D89B-DC9F-CBDB-84E0-9B21A594D78F}"/>
          </ac:spMkLst>
        </pc:spChg>
        <pc:picChg chg="del">
          <ac:chgData name="Nikos Piperigkos" userId="b361276a-3497-4fae-9245-3cd0ad5fb2cd" providerId="ADAL" clId="{90DA6CD3-9182-4390-8ADB-9BB8855CCFA8}" dt="2024-11-14T11:37:53.683" v="1217" actId="478"/>
          <ac:picMkLst>
            <pc:docMk/>
            <pc:sldMk cId="1955442598" sldId="365"/>
            <ac:picMk id="5125" creationId="{9DCC1C38-7A47-8D75-15BC-33CC1966484F}"/>
          </ac:picMkLst>
        </pc:picChg>
      </pc:sldChg>
      <pc:sldChg chg="delSp add del mod">
        <pc:chgData name="Nikos Piperigkos" userId="b361276a-3497-4fae-9245-3cd0ad5fb2cd" providerId="ADAL" clId="{90DA6CD3-9182-4390-8ADB-9BB8855CCFA8}" dt="2024-11-14T11:38:15.139" v="1218" actId="47"/>
        <pc:sldMkLst>
          <pc:docMk/>
          <pc:sldMk cId="1932331170" sldId="366"/>
        </pc:sldMkLst>
        <pc:spChg chg="del">
          <ac:chgData name="Nikos Piperigkos" userId="b361276a-3497-4fae-9245-3cd0ad5fb2cd" providerId="ADAL" clId="{90DA6CD3-9182-4390-8ADB-9BB8855CCFA8}" dt="2024-11-14T11:36:50.023" v="1203" actId="478"/>
          <ac:spMkLst>
            <pc:docMk/>
            <pc:sldMk cId="1932331170" sldId="366"/>
            <ac:spMk id="3" creationId="{EADA508B-9346-E6CA-63F0-ABAD9729A6A8}"/>
          </ac:spMkLst>
        </pc:spChg>
      </pc:sldChg>
      <pc:sldChg chg="addSp delSp add">
        <pc:chgData name="Nikos Piperigkos" userId="b361276a-3497-4fae-9245-3cd0ad5fb2cd" providerId="ADAL" clId="{90DA6CD3-9182-4390-8ADB-9BB8855CCFA8}" dt="2024-11-14T11:37:51.633" v="1216" actId="478"/>
        <pc:sldMkLst>
          <pc:docMk/>
          <pc:sldMk cId="641296907" sldId="367"/>
        </pc:sldMkLst>
        <pc:picChg chg="add del">
          <ac:chgData name="Nikos Piperigkos" userId="b361276a-3497-4fae-9245-3cd0ad5fb2cd" providerId="ADAL" clId="{90DA6CD3-9182-4390-8ADB-9BB8855CCFA8}" dt="2024-11-14T11:37:51.633" v="1216" actId="478"/>
          <ac:picMkLst>
            <pc:docMk/>
            <pc:sldMk cId="641296907" sldId="367"/>
            <ac:picMk id="5125" creationId="{09E1CCDF-854B-C63C-197D-7B18E782B6FF}"/>
          </ac:picMkLst>
        </pc:picChg>
      </pc:sldChg>
      <pc:sldChg chg="addSp delSp modSp add mod">
        <pc:chgData name="Nikos Piperigkos" userId="b361276a-3497-4fae-9245-3cd0ad5fb2cd" providerId="ADAL" clId="{90DA6CD3-9182-4390-8ADB-9BB8855CCFA8}" dt="2024-11-19T14:38:06.961" v="1340" actId="20577"/>
        <pc:sldMkLst>
          <pc:docMk/>
          <pc:sldMk cId="691887880" sldId="368"/>
        </pc:sldMkLst>
        <pc:spChg chg="add del mod">
          <ac:chgData name="Nikos Piperigkos" userId="b361276a-3497-4fae-9245-3cd0ad5fb2cd" providerId="ADAL" clId="{90DA6CD3-9182-4390-8ADB-9BB8855CCFA8}" dt="2024-11-19T14:33:26.435" v="1245" actId="478"/>
          <ac:spMkLst>
            <pc:docMk/>
            <pc:sldMk cId="691887880" sldId="368"/>
            <ac:spMk id="3" creationId="{1D6F4034-349C-9045-F5BC-73AD7A33FE07}"/>
          </ac:spMkLst>
        </pc:spChg>
        <pc:spChg chg="add del mod">
          <ac:chgData name="Nikos Piperigkos" userId="b361276a-3497-4fae-9245-3cd0ad5fb2cd" providerId="ADAL" clId="{90DA6CD3-9182-4390-8ADB-9BB8855CCFA8}" dt="2024-11-19T14:33:31.523" v="1248" actId="478"/>
          <ac:spMkLst>
            <pc:docMk/>
            <pc:sldMk cId="691887880" sldId="368"/>
            <ac:spMk id="5" creationId="{E82EC587-AA10-C5BB-4839-A0E10B5AAD8E}"/>
          </ac:spMkLst>
        </pc:spChg>
        <pc:spChg chg="add mod">
          <ac:chgData name="Nikos Piperigkos" userId="b361276a-3497-4fae-9245-3cd0ad5fb2cd" providerId="ADAL" clId="{90DA6CD3-9182-4390-8ADB-9BB8855CCFA8}" dt="2024-11-19T14:38:06.961" v="1340" actId="20577"/>
          <ac:spMkLst>
            <pc:docMk/>
            <pc:sldMk cId="691887880" sldId="368"/>
            <ac:spMk id="10" creationId="{E336AE62-589D-1E42-89AC-0E666BB0B8B0}"/>
          </ac:spMkLst>
        </pc:spChg>
        <pc:spChg chg="del">
          <ac:chgData name="Nikos Piperigkos" userId="b361276a-3497-4fae-9245-3cd0ad5fb2cd" providerId="ADAL" clId="{90DA6CD3-9182-4390-8ADB-9BB8855CCFA8}" dt="2024-11-19T14:33:17.375" v="1238" actId="478"/>
          <ac:spMkLst>
            <pc:docMk/>
            <pc:sldMk cId="691887880" sldId="368"/>
            <ac:spMk id="13314" creationId="{5C9718AA-4A11-DD43-CEEA-98FE8F317029}"/>
          </ac:spMkLst>
        </pc:spChg>
        <pc:spChg chg="del">
          <ac:chgData name="Nikos Piperigkos" userId="b361276a-3497-4fae-9245-3cd0ad5fb2cd" providerId="ADAL" clId="{90DA6CD3-9182-4390-8ADB-9BB8855CCFA8}" dt="2024-11-19T14:33:19.539" v="1240" actId="478"/>
          <ac:spMkLst>
            <pc:docMk/>
            <pc:sldMk cId="691887880" sldId="368"/>
            <ac:spMk id="13317" creationId="{47890A5E-407B-340E-245D-DADE2E2CB64A}"/>
          </ac:spMkLst>
        </pc:spChg>
        <pc:graphicFrameChg chg="del">
          <ac:chgData name="Nikos Piperigkos" userId="b361276a-3497-4fae-9245-3cd0ad5fb2cd" providerId="ADAL" clId="{90DA6CD3-9182-4390-8ADB-9BB8855CCFA8}" dt="2024-11-19T14:33:18.473" v="1239" actId="478"/>
          <ac:graphicFrameMkLst>
            <pc:docMk/>
            <pc:sldMk cId="691887880" sldId="368"/>
            <ac:graphicFrameMk id="13316" creationId="{AD61CD5B-801D-2812-DA69-95A1819868BA}"/>
          </ac:graphicFrameMkLst>
        </pc:graphicFrameChg>
        <pc:graphicFrameChg chg="del">
          <ac:chgData name="Nikos Piperigkos" userId="b361276a-3497-4fae-9245-3cd0ad5fb2cd" providerId="ADAL" clId="{90DA6CD3-9182-4390-8ADB-9BB8855CCFA8}" dt="2024-11-19T14:33:20.514" v="1241" actId="478"/>
          <ac:graphicFrameMkLst>
            <pc:docMk/>
            <pc:sldMk cId="691887880" sldId="368"/>
            <ac:graphicFrameMk id="13318" creationId="{67727177-7144-5EA9-9CE8-61070EC58FD2}"/>
          </ac:graphicFrameMkLst>
        </pc:graphicFrameChg>
        <pc:graphicFrameChg chg="del">
          <ac:chgData name="Nikos Piperigkos" userId="b361276a-3497-4fae-9245-3cd0ad5fb2cd" providerId="ADAL" clId="{90DA6CD3-9182-4390-8ADB-9BB8855CCFA8}" dt="2024-11-19T14:33:28.781" v="1246" actId="478"/>
          <ac:graphicFrameMkLst>
            <pc:docMk/>
            <pc:sldMk cId="691887880" sldId="368"/>
            <ac:graphicFrameMk id="13320" creationId="{DC80DDB8-DC1F-B6B2-EF33-0BD5A5B5DD6B}"/>
          </ac:graphicFrameMkLst>
        </pc:graphicFrameChg>
        <pc:graphicFrameChg chg="add del">
          <ac:chgData name="Nikos Piperigkos" userId="b361276a-3497-4fae-9245-3cd0ad5fb2cd" providerId="ADAL" clId="{90DA6CD3-9182-4390-8ADB-9BB8855CCFA8}" dt="2024-11-19T14:33:30.103" v="1247" actId="478"/>
          <ac:graphicFrameMkLst>
            <pc:docMk/>
            <pc:sldMk cId="691887880" sldId="368"/>
            <ac:graphicFrameMk id="13321" creationId="{78CA6660-8B90-B4CD-BBDF-B1DA56BD234E}"/>
          </ac:graphicFrameMkLst>
        </pc:graphicFrameChg>
        <pc:picChg chg="add mod">
          <ac:chgData name="Nikos Piperigkos" userId="b361276a-3497-4fae-9245-3cd0ad5fb2cd" providerId="ADAL" clId="{90DA6CD3-9182-4390-8ADB-9BB8855CCFA8}" dt="2024-11-19T14:33:38.183" v="1253" actId="1076"/>
          <ac:picMkLst>
            <pc:docMk/>
            <pc:sldMk cId="691887880" sldId="368"/>
            <ac:picMk id="7" creationId="{90ABAA82-713D-5836-2595-D4426A9A4C4E}"/>
          </ac:picMkLst>
        </pc:picChg>
        <pc:picChg chg="add mod">
          <ac:chgData name="Nikos Piperigkos" userId="b361276a-3497-4fae-9245-3cd0ad5fb2cd" providerId="ADAL" clId="{90DA6CD3-9182-4390-8ADB-9BB8855CCFA8}" dt="2024-11-19T14:34:52.001" v="1258" actId="1076"/>
          <ac:picMkLst>
            <pc:docMk/>
            <pc:sldMk cId="691887880" sldId="368"/>
            <ac:picMk id="9" creationId="{A92AFFA5-C587-CCD0-113F-A84A0DB97F45}"/>
          </ac:picMkLst>
        </pc:picChg>
        <pc:picChg chg="del">
          <ac:chgData name="Nikos Piperigkos" userId="b361276a-3497-4fae-9245-3cd0ad5fb2cd" providerId="ADAL" clId="{90DA6CD3-9182-4390-8ADB-9BB8855CCFA8}" dt="2024-11-19T14:33:21.025" v="1242" actId="478"/>
          <ac:picMkLst>
            <pc:docMk/>
            <pc:sldMk cId="691887880" sldId="368"/>
            <ac:picMk id="13319" creationId="{C21AA851-9C14-1A48-950A-64DBE58BA626}"/>
          </ac:picMkLst>
        </pc:picChg>
      </pc:sldChg>
      <pc:sldChg chg="addSp delSp modSp add mod ord">
        <pc:chgData name="Nikos Piperigkos" userId="b361276a-3497-4fae-9245-3cd0ad5fb2cd" providerId="ADAL" clId="{90DA6CD3-9182-4390-8ADB-9BB8855CCFA8}" dt="2024-11-20T06:28:12.599" v="1699" actId="164"/>
        <pc:sldMkLst>
          <pc:docMk/>
          <pc:sldMk cId="2990377054" sldId="369"/>
        </pc:sldMkLst>
        <pc:spChg chg="add mod">
          <ac:chgData name="Nikos Piperigkos" userId="b361276a-3497-4fae-9245-3cd0ad5fb2cd" providerId="ADAL" clId="{90DA6CD3-9182-4390-8ADB-9BB8855CCFA8}" dt="2024-11-20T06:28:12.599" v="1699" actId="164"/>
          <ac:spMkLst>
            <pc:docMk/>
            <pc:sldMk cId="2990377054" sldId="369"/>
            <ac:spMk id="8" creationId="{142B7874-020D-C3DE-FCCC-E12F5151BDB9}"/>
          </ac:spMkLst>
        </pc:spChg>
        <pc:spChg chg="add mod">
          <ac:chgData name="Nikos Piperigkos" userId="b361276a-3497-4fae-9245-3cd0ad5fb2cd" providerId="ADAL" clId="{90DA6CD3-9182-4390-8ADB-9BB8855CCFA8}" dt="2024-11-20T06:28:12.599" v="1699" actId="164"/>
          <ac:spMkLst>
            <pc:docMk/>
            <pc:sldMk cId="2990377054" sldId="369"/>
            <ac:spMk id="9" creationId="{BCE05A7B-28F3-814E-4474-6E62C00AE53B}"/>
          </ac:spMkLst>
        </pc:spChg>
        <pc:spChg chg="add mod">
          <ac:chgData name="Nikos Piperigkos" userId="b361276a-3497-4fae-9245-3cd0ad5fb2cd" providerId="ADAL" clId="{90DA6CD3-9182-4390-8ADB-9BB8855CCFA8}" dt="2024-11-20T06:28:12.599" v="1699" actId="164"/>
          <ac:spMkLst>
            <pc:docMk/>
            <pc:sldMk cId="2990377054" sldId="369"/>
            <ac:spMk id="10" creationId="{5B55301A-9E10-F282-6173-6706E6E85637}"/>
          </ac:spMkLst>
        </pc:spChg>
        <pc:spChg chg="add mod">
          <ac:chgData name="Nikos Piperigkos" userId="b361276a-3497-4fae-9245-3cd0ad5fb2cd" providerId="ADAL" clId="{90DA6CD3-9182-4390-8ADB-9BB8855CCFA8}" dt="2024-11-20T06:28:12.599" v="1699" actId="164"/>
          <ac:spMkLst>
            <pc:docMk/>
            <pc:sldMk cId="2990377054" sldId="369"/>
            <ac:spMk id="11" creationId="{923BF948-67CC-628C-B971-76BB692D6CBA}"/>
          </ac:spMkLst>
        </pc:spChg>
        <pc:spChg chg="add mod">
          <ac:chgData name="Nikos Piperigkos" userId="b361276a-3497-4fae-9245-3cd0ad5fb2cd" providerId="ADAL" clId="{90DA6CD3-9182-4390-8ADB-9BB8855CCFA8}" dt="2024-11-20T06:28:12.599" v="1699" actId="164"/>
          <ac:spMkLst>
            <pc:docMk/>
            <pc:sldMk cId="2990377054" sldId="369"/>
            <ac:spMk id="12" creationId="{ABDE511F-6587-98E1-AF88-986548DD1ABE}"/>
          </ac:spMkLst>
        </pc:spChg>
        <pc:spChg chg="mod">
          <ac:chgData name="Nikos Piperigkos" userId="b361276a-3497-4fae-9245-3cd0ad5fb2cd" providerId="ADAL" clId="{90DA6CD3-9182-4390-8ADB-9BB8855CCFA8}" dt="2024-11-19T14:51:23.641" v="1522"/>
          <ac:spMkLst>
            <pc:docMk/>
            <pc:sldMk cId="2990377054" sldId="369"/>
            <ac:spMk id="15363" creationId="{C17E6E39-42B7-204B-6F33-CACFFCF65460}"/>
          </ac:spMkLst>
        </pc:spChg>
        <pc:grpChg chg="add mod">
          <ac:chgData name="Nikos Piperigkos" userId="b361276a-3497-4fae-9245-3cd0ad5fb2cd" providerId="ADAL" clId="{90DA6CD3-9182-4390-8ADB-9BB8855CCFA8}" dt="2024-11-20T06:28:12.599" v="1699" actId="164"/>
          <ac:grpSpMkLst>
            <pc:docMk/>
            <pc:sldMk cId="2990377054" sldId="369"/>
            <ac:grpSpMk id="2" creationId="{5E5433F3-E3AC-42EF-140B-74FF6B18DD8B}"/>
          </ac:grpSpMkLst>
        </pc:grpChg>
        <pc:grpChg chg="del">
          <ac:chgData name="Nikos Piperigkos" userId="b361276a-3497-4fae-9245-3cd0ad5fb2cd" providerId="ADAL" clId="{90DA6CD3-9182-4390-8ADB-9BB8855CCFA8}" dt="2024-11-19T14:52:08.727" v="1523" actId="478"/>
          <ac:grpSpMkLst>
            <pc:docMk/>
            <pc:sldMk cId="2990377054" sldId="369"/>
            <ac:grpSpMk id="5" creationId="{37DA2CE7-56A4-73A8-01ED-8C4A1B2E542E}"/>
          </ac:grpSpMkLst>
        </pc:grpChg>
        <pc:picChg chg="add mod">
          <ac:chgData name="Nikos Piperigkos" userId="b361276a-3497-4fae-9245-3cd0ad5fb2cd" providerId="ADAL" clId="{90DA6CD3-9182-4390-8ADB-9BB8855CCFA8}" dt="2024-11-19T14:57:18.216" v="1576" actId="1076"/>
          <ac:picMkLst>
            <pc:docMk/>
            <pc:sldMk cId="2990377054" sldId="369"/>
            <ac:picMk id="3" creationId="{0DAF593A-000F-C4FA-B6AB-34E7039DCD27}"/>
          </ac:picMkLst>
        </pc:picChg>
        <pc:picChg chg="add mod">
          <ac:chgData name="Nikos Piperigkos" userId="b361276a-3497-4fae-9245-3cd0ad5fb2cd" providerId="ADAL" clId="{90DA6CD3-9182-4390-8ADB-9BB8855CCFA8}" dt="2024-11-20T06:28:12.599" v="1699" actId="164"/>
          <ac:picMkLst>
            <pc:docMk/>
            <pc:sldMk cId="2990377054" sldId="369"/>
            <ac:picMk id="7" creationId="{B047C892-4057-BF70-CC3E-4AD43F35FE34}"/>
          </ac:picMkLst>
        </pc:picChg>
      </pc:sldChg>
      <pc:sldChg chg="add del">
        <pc:chgData name="Nikos Piperigkos" userId="b361276a-3497-4fae-9245-3cd0ad5fb2cd" providerId="ADAL" clId="{90DA6CD3-9182-4390-8ADB-9BB8855CCFA8}" dt="2024-11-19T14:51:11.792" v="1518" actId="47"/>
        <pc:sldMkLst>
          <pc:docMk/>
          <pc:sldMk cId="3539017826" sldId="369"/>
        </pc:sldMkLst>
      </pc:sldChg>
      <pc:sldChg chg="addSp delSp modSp add mod ord">
        <pc:chgData name="Nikos Piperigkos" userId="b361276a-3497-4fae-9245-3cd0ad5fb2cd" providerId="ADAL" clId="{90DA6CD3-9182-4390-8ADB-9BB8855CCFA8}" dt="2024-11-19T15:01:48.747" v="1643" actId="20577"/>
        <pc:sldMkLst>
          <pc:docMk/>
          <pc:sldMk cId="347022411" sldId="370"/>
        </pc:sldMkLst>
        <pc:spChg chg="add">
          <ac:chgData name="Nikos Piperigkos" userId="b361276a-3497-4fae-9245-3cd0ad5fb2cd" providerId="ADAL" clId="{90DA6CD3-9182-4390-8ADB-9BB8855CCFA8}" dt="2024-11-19T14:59:31.880" v="1589"/>
          <ac:spMkLst>
            <pc:docMk/>
            <pc:sldMk cId="347022411" sldId="370"/>
            <ac:spMk id="2" creationId="{26263B43-09ED-8815-3C58-D056DB33983F}"/>
          </ac:spMkLst>
        </pc:spChg>
        <pc:spChg chg="add">
          <ac:chgData name="Nikos Piperigkos" userId="b361276a-3497-4fae-9245-3cd0ad5fb2cd" providerId="ADAL" clId="{90DA6CD3-9182-4390-8ADB-9BB8855CCFA8}" dt="2024-11-19T14:59:36.026" v="1590"/>
          <ac:spMkLst>
            <pc:docMk/>
            <pc:sldMk cId="347022411" sldId="370"/>
            <ac:spMk id="4" creationId="{9A28DFA1-918C-91D1-6521-9FCDB23AE67E}"/>
          </ac:spMkLst>
        </pc:spChg>
        <pc:spChg chg="del">
          <ac:chgData name="Nikos Piperigkos" userId="b361276a-3497-4fae-9245-3cd0ad5fb2cd" providerId="ADAL" clId="{90DA6CD3-9182-4390-8ADB-9BB8855CCFA8}" dt="2024-11-19T14:57:26.700" v="1582" actId="478"/>
          <ac:spMkLst>
            <pc:docMk/>
            <pc:sldMk cId="347022411" sldId="370"/>
            <ac:spMk id="8" creationId="{E1B1FFF6-7E00-1AC5-7810-8D25F6D8BBA8}"/>
          </ac:spMkLst>
        </pc:spChg>
        <pc:spChg chg="del">
          <ac:chgData name="Nikos Piperigkos" userId="b361276a-3497-4fae-9245-3cd0ad5fb2cd" providerId="ADAL" clId="{90DA6CD3-9182-4390-8ADB-9BB8855CCFA8}" dt="2024-11-19T14:57:26.700" v="1582" actId="478"/>
          <ac:spMkLst>
            <pc:docMk/>
            <pc:sldMk cId="347022411" sldId="370"/>
            <ac:spMk id="9" creationId="{64BC470B-C251-3F82-5F84-FC63D6FED6A5}"/>
          </ac:spMkLst>
        </pc:spChg>
        <pc:spChg chg="del">
          <ac:chgData name="Nikos Piperigkos" userId="b361276a-3497-4fae-9245-3cd0ad5fb2cd" providerId="ADAL" clId="{90DA6CD3-9182-4390-8ADB-9BB8855CCFA8}" dt="2024-11-19T14:57:26.700" v="1582" actId="478"/>
          <ac:spMkLst>
            <pc:docMk/>
            <pc:sldMk cId="347022411" sldId="370"/>
            <ac:spMk id="10" creationId="{EC8CAEE2-6D4B-62A0-E15E-422D0152052C}"/>
          </ac:spMkLst>
        </pc:spChg>
        <pc:spChg chg="del">
          <ac:chgData name="Nikos Piperigkos" userId="b361276a-3497-4fae-9245-3cd0ad5fb2cd" providerId="ADAL" clId="{90DA6CD3-9182-4390-8ADB-9BB8855CCFA8}" dt="2024-11-19T14:57:26.700" v="1582" actId="478"/>
          <ac:spMkLst>
            <pc:docMk/>
            <pc:sldMk cId="347022411" sldId="370"/>
            <ac:spMk id="11" creationId="{C57ECE4A-5A28-B7A9-D122-7C25688CD4D0}"/>
          </ac:spMkLst>
        </pc:spChg>
        <pc:spChg chg="del">
          <ac:chgData name="Nikos Piperigkos" userId="b361276a-3497-4fae-9245-3cd0ad5fb2cd" providerId="ADAL" clId="{90DA6CD3-9182-4390-8ADB-9BB8855CCFA8}" dt="2024-11-19T14:57:26.700" v="1582" actId="478"/>
          <ac:spMkLst>
            <pc:docMk/>
            <pc:sldMk cId="347022411" sldId="370"/>
            <ac:spMk id="12" creationId="{0222490B-A8B3-F82A-7598-DD95EF89652D}"/>
          </ac:spMkLst>
        </pc:spChg>
        <pc:spChg chg="mod">
          <ac:chgData name="Nikos Piperigkos" userId="b361276a-3497-4fae-9245-3cd0ad5fb2cd" providerId="ADAL" clId="{90DA6CD3-9182-4390-8ADB-9BB8855CCFA8}" dt="2024-11-19T15:01:48.747" v="1643" actId="20577"/>
          <ac:spMkLst>
            <pc:docMk/>
            <pc:sldMk cId="347022411" sldId="370"/>
            <ac:spMk id="15362" creationId="{A647CE95-EDA4-D648-8DE0-CB865A840A1C}"/>
          </ac:spMkLst>
        </pc:spChg>
        <pc:picChg chg="del">
          <ac:chgData name="Nikos Piperigkos" userId="b361276a-3497-4fae-9245-3cd0ad5fb2cd" providerId="ADAL" clId="{90DA6CD3-9182-4390-8ADB-9BB8855CCFA8}" dt="2024-11-19T14:57:25.216" v="1581" actId="478"/>
          <ac:picMkLst>
            <pc:docMk/>
            <pc:sldMk cId="347022411" sldId="370"/>
            <ac:picMk id="3" creationId="{5C6B03E6-45E5-B729-A52E-00C79B54EF49}"/>
          </ac:picMkLst>
        </pc:picChg>
        <pc:picChg chg="del">
          <ac:chgData name="Nikos Piperigkos" userId="b361276a-3497-4fae-9245-3cd0ad5fb2cd" providerId="ADAL" clId="{90DA6CD3-9182-4390-8ADB-9BB8855CCFA8}" dt="2024-11-19T14:57:24.718" v="1580" actId="478"/>
          <ac:picMkLst>
            <pc:docMk/>
            <pc:sldMk cId="347022411" sldId="370"/>
            <ac:picMk id="7" creationId="{1893DC27-F63F-0500-B32F-6026F7FE890E}"/>
          </ac:picMkLst>
        </pc:picChg>
      </pc:sldChg>
      <pc:sldChg chg="add del ord">
        <pc:chgData name="Nikos Piperigkos" userId="b361276a-3497-4fae-9245-3cd0ad5fb2cd" providerId="ADAL" clId="{90DA6CD3-9182-4390-8ADB-9BB8855CCFA8}" dt="2024-11-19T15:25:10.785" v="1680" actId="47"/>
        <pc:sldMkLst>
          <pc:docMk/>
          <pc:sldMk cId="2168466740" sldId="371"/>
        </pc:sldMkLst>
      </pc:sldChg>
      <pc:sldChg chg="addSp delSp modSp add mod ord">
        <pc:chgData name="Nikos Piperigkos" userId="b361276a-3497-4fae-9245-3cd0ad5fb2cd" providerId="ADAL" clId="{90DA6CD3-9182-4390-8ADB-9BB8855CCFA8}" dt="2024-11-20T15:14:30.283" v="1700" actId="20577"/>
        <pc:sldMkLst>
          <pc:docMk/>
          <pc:sldMk cId="1942391899" sldId="372"/>
        </pc:sldMkLst>
        <pc:spChg chg="add del mod">
          <ac:chgData name="Nikos Piperigkos" userId="b361276a-3497-4fae-9245-3cd0ad5fb2cd" providerId="ADAL" clId="{90DA6CD3-9182-4390-8ADB-9BB8855CCFA8}" dt="2024-11-19T15:22:36.334" v="1652" actId="478"/>
          <ac:spMkLst>
            <pc:docMk/>
            <pc:sldMk cId="1942391899" sldId="372"/>
            <ac:spMk id="3" creationId="{5805BA26-D3AE-588C-86CC-92E6A88CBAE8}"/>
          </ac:spMkLst>
        </pc:spChg>
        <pc:spChg chg="mod">
          <ac:chgData name="Nikos Piperigkos" userId="b361276a-3497-4fae-9245-3cd0ad5fb2cd" providerId="ADAL" clId="{90DA6CD3-9182-4390-8ADB-9BB8855CCFA8}" dt="2024-11-20T15:14:30.283" v="1700" actId="20577"/>
          <ac:spMkLst>
            <pc:docMk/>
            <pc:sldMk cId="1942391899" sldId="372"/>
            <ac:spMk id="13314" creationId="{3528802C-588A-2C5B-B758-1F73BA4DC2DB}"/>
          </ac:spMkLst>
        </pc:spChg>
        <pc:spChg chg="del">
          <ac:chgData name="Nikos Piperigkos" userId="b361276a-3497-4fae-9245-3cd0ad5fb2cd" providerId="ADAL" clId="{90DA6CD3-9182-4390-8ADB-9BB8855CCFA8}" dt="2024-11-19T15:23:42.008" v="1656" actId="478"/>
          <ac:spMkLst>
            <pc:docMk/>
            <pc:sldMk cId="1942391899" sldId="372"/>
            <ac:spMk id="13317" creationId="{FB03201E-9320-ACA0-C428-129420B54FA8}"/>
          </ac:spMkLst>
        </pc:spChg>
        <pc:graphicFrameChg chg="del">
          <ac:chgData name="Nikos Piperigkos" userId="b361276a-3497-4fae-9245-3cd0ad5fb2cd" providerId="ADAL" clId="{90DA6CD3-9182-4390-8ADB-9BB8855CCFA8}" dt="2024-11-19T15:23:44.309" v="1658" actId="478"/>
          <ac:graphicFrameMkLst>
            <pc:docMk/>
            <pc:sldMk cId="1942391899" sldId="372"/>
            <ac:graphicFrameMk id="13316" creationId="{483A9D5C-7304-3F5F-476D-D7343EFD96FB}"/>
          </ac:graphicFrameMkLst>
        </pc:graphicFrameChg>
        <pc:graphicFrameChg chg="del">
          <ac:chgData name="Nikos Piperigkos" userId="b361276a-3497-4fae-9245-3cd0ad5fb2cd" providerId="ADAL" clId="{90DA6CD3-9182-4390-8ADB-9BB8855CCFA8}" dt="2024-11-19T15:23:43.287" v="1657" actId="478"/>
          <ac:graphicFrameMkLst>
            <pc:docMk/>
            <pc:sldMk cId="1942391899" sldId="372"/>
            <ac:graphicFrameMk id="13318" creationId="{B3C484E1-1260-1AC3-8AA7-EC9C8E95C297}"/>
          </ac:graphicFrameMkLst>
        </pc:graphicFrameChg>
        <pc:graphicFrameChg chg="del">
          <ac:chgData name="Nikos Piperigkos" userId="b361276a-3497-4fae-9245-3cd0ad5fb2cd" providerId="ADAL" clId="{90DA6CD3-9182-4390-8ADB-9BB8855CCFA8}" dt="2024-11-19T15:22:37.565" v="1653" actId="478"/>
          <ac:graphicFrameMkLst>
            <pc:docMk/>
            <pc:sldMk cId="1942391899" sldId="372"/>
            <ac:graphicFrameMk id="13320" creationId="{B0CDC160-B761-95E8-59DE-C94993C29672}"/>
          </ac:graphicFrameMkLst>
        </pc:graphicFrameChg>
        <pc:graphicFrameChg chg="del">
          <ac:chgData name="Nikos Piperigkos" userId="b361276a-3497-4fae-9245-3cd0ad5fb2cd" providerId="ADAL" clId="{90DA6CD3-9182-4390-8ADB-9BB8855CCFA8}" dt="2024-11-19T15:22:31.818" v="1651" actId="478"/>
          <ac:graphicFrameMkLst>
            <pc:docMk/>
            <pc:sldMk cId="1942391899" sldId="372"/>
            <ac:graphicFrameMk id="13321" creationId="{EB9DD9A9-11CB-55FF-B53D-7F151A7156E7}"/>
          </ac:graphicFrameMkLst>
        </pc:graphicFrameChg>
        <pc:picChg chg="add mod">
          <ac:chgData name="Nikos Piperigkos" userId="b361276a-3497-4fae-9245-3cd0ad5fb2cd" providerId="ADAL" clId="{90DA6CD3-9182-4390-8ADB-9BB8855CCFA8}" dt="2024-11-19T15:24:19.963" v="1674" actId="1076"/>
          <ac:picMkLst>
            <pc:docMk/>
            <pc:sldMk cId="1942391899" sldId="372"/>
            <ac:picMk id="5" creationId="{09C23142-091B-0111-F958-14A32C208D4E}"/>
          </ac:picMkLst>
        </pc:picChg>
        <pc:picChg chg="del">
          <ac:chgData name="Nikos Piperigkos" userId="b361276a-3497-4fae-9245-3cd0ad5fb2cd" providerId="ADAL" clId="{90DA6CD3-9182-4390-8ADB-9BB8855CCFA8}" dt="2024-11-19T15:22:30.304" v="1650" actId="478"/>
          <ac:picMkLst>
            <pc:docMk/>
            <pc:sldMk cId="1942391899" sldId="372"/>
            <ac:picMk id="13319" creationId="{58466648-A373-01B2-22CC-BFADA5A31E2F}"/>
          </ac:picMkLst>
        </pc:picChg>
      </pc:sldChg>
      <pc:sldChg chg="add">
        <pc:chgData name="Nikos Piperigkos" userId="b361276a-3497-4fae-9245-3cd0ad5fb2cd" providerId="ADAL" clId="{90DA6CD3-9182-4390-8ADB-9BB8855CCFA8}" dt="2024-11-20T06:06:22.588" v="1681" actId="2890"/>
        <pc:sldMkLst>
          <pc:docMk/>
          <pc:sldMk cId="1258824754" sldId="373"/>
        </pc:sldMkLst>
      </pc:sldChg>
      <pc:sldChg chg="add">
        <pc:chgData name="Nikos Piperigkos" userId="b361276a-3497-4fae-9245-3cd0ad5fb2cd" providerId="ADAL" clId="{90DA6CD3-9182-4390-8ADB-9BB8855CCFA8}" dt="2024-11-20T16:33:42.764" v="1727" actId="2890"/>
        <pc:sldMkLst>
          <pc:docMk/>
          <pc:sldMk cId="2350670534" sldId="374"/>
        </pc:sldMkLst>
      </pc:sldChg>
      <pc:sldChg chg="add">
        <pc:chgData name="Nikos Piperigkos" userId="b361276a-3497-4fae-9245-3cd0ad5fb2cd" providerId="ADAL" clId="{90DA6CD3-9182-4390-8ADB-9BB8855CCFA8}" dt="2024-11-20T16:34:30.022" v="1737" actId="2890"/>
        <pc:sldMkLst>
          <pc:docMk/>
          <pc:sldMk cId="4221718394" sldId="375"/>
        </pc:sldMkLst>
      </pc:sldChg>
      <pc:sldChg chg="addSp delSp modSp add mod">
        <pc:chgData name="Nikos Piperigkos" userId="b361276a-3497-4fae-9245-3cd0ad5fb2cd" providerId="ADAL" clId="{90DA6CD3-9182-4390-8ADB-9BB8855CCFA8}" dt="2024-11-20T16:38:22.638" v="1884" actId="20577"/>
        <pc:sldMkLst>
          <pc:docMk/>
          <pc:sldMk cId="2492224948" sldId="376"/>
        </pc:sldMkLst>
        <pc:spChg chg="del">
          <ac:chgData name="Nikos Piperigkos" userId="b361276a-3497-4fae-9245-3cd0ad5fb2cd" providerId="ADAL" clId="{90DA6CD3-9182-4390-8ADB-9BB8855CCFA8}" dt="2024-11-20T16:35:18.927" v="1763" actId="478"/>
          <ac:spMkLst>
            <pc:docMk/>
            <pc:sldMk cId="2492224948" sldId="376"/>
            <ac:spMk id="2" creationId="{DF309345-5DE2-8F19-59BF-95195A4BB4F7}"/>
          </ac:spMkLst>
        </pc:spChg>
        <pc:spChg chg="add mod">
          <ac:chgData name="Nikos Piperigkos" userId="b361276a-3497-4fae-9245-3cd0ad5fb2cd" providerId="ADAL" clId="{90DA6CD3-9182-4390-8ADB-9BB8855CCFA8}" dt="2024-11-20T16:38:22.638" v="1884" actId="20577"/>
          <ac:spMkLst>
            <pc:docMk/>
            <pc:sldMk cId="2492224948" sldId="376"/>
            <ac:spMk id="4" creationId="{49923001-353F-909B-C36A-A42A01960445}"/>
          </ac:spMkLst>
        </pc:spChg>
        <pc:spChg chg="mod">
          <ac:chgData name="Nikos Piperigkos" userId="b361276a-3497-4fae-9245-3cd0ad5fb2cd" providerId="ADAL" clId="{90DA6CD3-9182-4390-8ADB-9BB8855CCFA8}" dt="2024-11-20T16:35:24.655" v="1777" actId="20577"/>
          <ac:spMkLst>
            <pc:docMk/>
            <pc:sldMk cId="2492224948" sldId="376"/>
            <ac:spMk id="15362" creationId="{2F20F4E3-C38C-D19B-6A4F-451F930BA3AF}"/>
          </ac:spMkLst>
        </pc:spChg>
        <pc:spChg chg="mod">
          <ac:chgData name="Nikos Piperigkos" userId="b361276a-3497-4fae-9245-3cd0ad5fb2cd" providerId="ADAL" clId="{90DA6CD3-9182-4390-8ADB-9BB8855CCFA8}" dt="2024-11-20T16:35:15.163" v="1759" actId="20577"/>
          <ac:spMkLst>
            <pc:docMk/>
            <pc:sldMk cId="2492224948" sldId="376"/>
            <ac:spMk id="15363" creationId="{3E93B8F2-A9C0-809E-9910-A8386816CCBD}"/>
          </ac:spMkLst>
        </pc:spChg>
        <pc:graphicFrameChg chg="del">
          <ac:chgData name="Nikos Piperigkos" userId="b361276a-3497-4fae-9245-3cd0ad5fb2cd" providerId="ADAL" clId="{90DA6CD3-9182-4390-8ADB-9BB8855CCFA8}" dt="2024-11-20T16:35:17.038" v="1761" actId="478"/>
          <ac:graphicFrameMkLst>
            <pc:docMk/>
            <pc:sldMk cId="2492224948" sldId="376"/>
            <ac:graphicFrameMk id="25" creationId="{02402A93-0F31-3093-B79E-8C17B638BD89}"/>
          </ac:graphicFrameMkLst>
        </pc:graphicFrameChg>
        <pc:picChg chg="del">
          <ac:chgData name="Nikos Piperigkos" userId="b361276a-3497-4fae-9245-3cd0ad5fb2cd" providerId="ADAL" clId="{90DA6CD3-9182-4390-8ADB-9BB8855CCFA8}" dt="2024-11-20T16:35:17.490" v="1762" actId="478"/>
          <ac:picMkLst>
            <pc:docMk/>
            <pc:sldMk cId="2492224948" sldId="376"/>
            <ac:picMk id="17" creationId="{9ECA30B6-CCAD-75F5-6241-3585E97B8732}"/>
          </ac:picMkLst>
        </pc:picChg>
        <pc:picChg chg="del">
          <ac:chgData name="Nikos Piperigkos" userId="b361276a-3497-4fae-9245-3cd0ad5fb2cd" providerId="ADAL" clId="{90DA6CD3-9182-4390-8ADB-9BB8855CCFA8}" dt="2024-11-20T16:35:16.475" v="1760" actId="478"/>
          <ac:picMkLst>
            <pc:docMk/>
            <pc:sldMk cId="2492224948" sldId="376"/>
            <ac:picMk id="19" creationId="{61E90773-D90F-A7BD-1D36-9D02C6558288}"/>
          </ac:picMkLst>
        </pc:picChg>
      </pc:sldChg>
      <pc:sldChg chg="addSp modSp add mod">
        <pc:chgData name="Nikos Piperigkos" userId="b361276a-3497-4fae-9245-3cd0ad5fb2cd" providerId="ADAL" clId="{90DA6CD3-9182-4390-8ADB-9BB8855CCFA8}" dt="2024-11-20T16:43:11.388" v="1943" actId="20577"/>
        <pc:sldMkLst>
          <pc:docMk/>
          <pc:sldMk cId="743241513" sldId="377"/>
        </pc:sldMkLst>
        <pc:spChg chg="mod">
          <ac:chgData name="Nikos Piperigkos" userId="b361276a-3497-4fae-9245-3cd0ad5fb2cd" providerId="ADAL" clId="{90DA6CD3-9182-4390-8ADB-9BB8855CCFA8}" dt="2024-11-20T16:42:50.387" v="1939" actId="20577"/>
          <ac:spMkLst>
            <pc:docMk/>
            <pc:sldMk cId="743241513" sldId="377"/>
            <ac:spMk id="4" creationId="{C6847C26-283F-51CE-2EA5-92D7982B6BE4}"/>
          </ac:spMkLst>
        </pc:spChg>
        <pc:spChg chg="mod">
          <ac:chgData name="Nikos Piperigkos" userId="b361276a-3497-4fae-9245-3cd0ad5fb2cd" providerId="ADAL" clId="{90DA6CD3-9182-4390-8ADB-9BB8855CCFA8}" dt="2024-11-20T16:43:11.388" v="1943" actId="20577"/>
          <ac:spMkLst>
            <pc:docMk/>
            <pc:sldMk cId="743241513" sldId="377"/>
            <ac:spMk id="15362" creationId="{81921F5F-659B-2AC8-FDB1-C56E97167002}"/>
          </ac:spMkLst>
        </pc:spChg>
        <pc:graphicFrameChg chg="add mod">
          <ac:chgData name="Nikos Piperigkos" userId="b361276a-3497-4fae-9245-3cd0ad5fb2cd" providerId="ADAL" clId="{90DA6CD3-9182-4390-8ADB-9BB8855CCFA8}" dt="2024-11-20T16:43:08.583" v="1942" actId="14100"/>
          <ac:graphicFrameMkLst>
            <pc:docMk/>
            <pc:sldMk cId="743241513" sldId="377"/>
            <ac:graphicFrameMk id="2" creationId="{38A594B7-DE57-F689-56D8-E264B7D8861D}"/>
          </ac:graphicFrameMkLst>
        </pc:graphicFrameChg>
        <pc:graphicFrameChg chg="add mod">
          <ac:chgData name="Nikos Piperigkos" userId="b361276a-3497-4fae-9245-3cd0ad5fb2cd" providerId="ADAL" clId="{90DA6CD3-9182-4390-8ADB-9BB8855CCFA8}" dt="2024-11-20T16:43:08.583" v="1942" actId="14100"/>
          <ac:graphicFrameMkLst>
            <pc:docMk/>
            <pc:sldMk cId="743241513" sldId="377"/>
            <ac:graphicFrameMk id="5" creationId="{40EB80FE-AE10-CFDA-3E94-078FD5DEFB2B}"/>
          </ac:graphicFrameMkLst>
        </pc:graphicFrameChg>
        <pc:picChg chg="add mod">
          <ac:chgData name="Nikos Piperigkos" userId="b361276a-3497-4fae-9245-3cd0ad5fb2cd" providerId="ADAL" clId="{90DA6CD3-9182-4390-8ADB-9BB8855CCFA8}" dt="2024-11-20T16:43:08.583" v="1942" actId="14100"/>
          <ac:picMkLst>
            <pc:docMk/>
            <pc:sldMk cId="743241513" sldId="377"/>
            <ac:picMk id="3" creationId="{C87F0CEC-5699-251C-9F38-EF888339B634}"/>
          </ac:picMkLst>
        </pc:picChg>
      </pc:sldChg>
      <pc:sldChg chg="delSp modSp add mod">
        <pc:chgData name="Nikos Piperigkos" userId="b361276a-3497-4fae-9245-3cd0ad5fb2cd" providerId="ADAL" clId="{90DA6CD3-9182-4390-8ADB-9BB8855CCFA8}" dt="2024-11-20T16:47:03.926" v="2225" actId="20577"/>
        <pc:sldMkLst>
          <pc:docMk/>
          <pc:sldMk cId="3811277801" sldId="378"/>
        </pc:sldMkLst>
        <pc:spChg chg="mod">
          <ac:chgData name="Nikos Piperigkos" userId="b361276a-3497-4fae-9245-3cd0ad5fb2cd" providerId="ADAL" clId="{90DA6CD3-9182-4390-8ADB-9BB8855CCFA8}" dt="2024-11-20T16:47:03.926" v="2225" actId="20577"/>
          <ac:spMkLst>
            <pc:docMk/>
            <pc:sldMk cId="3811277801" sldId="378"/>
            <ac:spMk id="4" creationId="{AC16CE16-46F3-24A2-F029-B4304FA21540}"/>
          </ac:spMkLst>
        </pc:spChg>
        <pc:spChg chg="mod">
          <ac:chgData name="Nikos Piperigkos" userId="b361276a-3497-4fae-9245-3cd0ad5fb2cd" providerId="ADAL" clId="{90DA6CD3-9182-4390-8ADB-9BB8855CCFA8}" dt="2024-11-20T16:44:12.648" v="1945" actId="20577"/>
          <ac:spMkLst>
            <pc:docMk/>
            <pc:sldMk cId="3811277801" sldId="378"/>
            <ac:spMk id="15362" creationId="{408E9118-93B0-506A-CD89-37095E364775}"/>
          </ac:spMkLst>
        </pc:spChg>
        <pc:graphicFrameChg chg="del">
          <ac:chgData name="Nikos Piperigkos" userId="b361276a-3497-4fae-9245-3cd0ad5fb2cd" providerId="ADAL" clId="{90DA6CD3-9182-4390-8ADB-9BB8855CCFA8}" dt="2024-11-20T16:45:00.693" v="1948" actId="478"/>
          <ac:graphicFrameMkLst>
            <pc:docMk/>
            <pc:sldMk cId="3811277801" sldId="378"/>
            <ac:graphicFrameMk id="2" creationId="{20E41280-3B16-84D3-6DB3-A136554ADE4E}"/>
          </ac:graphicFrameMkLst>
        </pc:graphicFrameChg>
        <pc:graphicFrameChg chg="del">
          <ac:chgData name="Nikos Piperigkos" userId="b361276a-3497-4fae-9245-3cd0ad5fb2cd" providerId="ADAL" clId="{90DA6CD3-9182-4390-8ADB-9BB8855CCFA8}" dt="2024-11-20T16:45:00.094" v="1947" actId="478"/>
          <ac:graphicFrameMkLst>
            <pc:docMk/>
            <pc:sldMk cId="3811277801" sldId="378"/>
            <ac:graphicFrameMk id="5" creationId="{FD309603-F251-A930-2152-49BB2B75A58C}"/>
          </ac:graphicFrameMkLst>
        </pc:graphicFrameChg>
        <pc:picChg chg="del">
          <ac:chgData name="Nikos Piperigkos" userId="b361276a-3497-4fae-9245-3cd0ad5fb2cd" providerId="ADAL" clId="{90DA6CD3-9182-4390-8ADB-9BB8855CCFA8}" dt="2024-11-20T16:44:59.418" v="1946" actId="478"/>
          <ac:picMkLst>
            <pc:docMk/>
            <pc:sldMk cId="3811277801" sldId="378"/>
            <ac:picMk id="3" creationId="{B2CFA0C2-5F66-C7BF-0743-B6C11A0699E5}"/>
          </ac:picMkLst>
        </pc:picChg>
      </pc:sldChg>
      <pc:sldChg chg="addSp modSp add mod">
        <pc:chgData name="Nikos Piperigkos" userId="b361276a-3497-4fae-9245-3cd0ad5fb2cd" providerId="ADAL" clId="{90DA6CD3-9182-4390-8ADB-9BB8855CCFA8}" dt="2024-11-20T16:59:39.892" v="2801"/>
        <pc:sldMkLst>
          <pc:docMk/>
          <pc:sldMk cId="2216248984" sldId="379"/>
        </pc:sldMkLst>
        <pc:spChg chg="mod">
          <ac:chgData name="Nikos Piperigkos" userId="b361276a-3497-4fae-9245-3cd0ad5fb2cd" providerId="ADAL" clId="{90DA6CD3-9182-4390-8ADB-9BB8855CCFA8}" dt="2024-11-20T16:52:17.586" v="2486" actId="20577"/>
          <ac:spMkLst>
            <pc:docMk/>
            <pc:sldMk cId="2216248984" sldId="379"/>
            <ac:spMk id="4" creationId="{78E8F264-7300-FB35-06F7-A4A711C46E6B}"/>
          </ac:spMkLst>
        </pc:spChg>
        <pc:spChg chg="mod">
          <ac:chgData name="Nikos Piperigkos" userId="b361276a-3497-4fae-9245-3cd0ad5fb2cd" providerId="ADAL" clId="{90DA6CD3-9182-4390-8ADB-9BB8855CCFA8}" dt="2024-11-20T16:47:14.703" v="2227" actId="20577"/>
          <ac:spMkLst>
            <pc:docMk/>
            <pc:sldMk cId="2216248984" sldId="379"/>
            <ac:spMk id="15362" creationId="{6D4A700C-FAF0-69DC-E6A0-7268FC4BFF0F}"/>
          </ac:spMkLst>
        </pc:spChg>
        <pc:graphicFrameChg chg="add mod">
          <ac:chgData name="Nikos Piperigkos" userId="b361276a-3497-4fae-9245-3cd0ad5fb2cd" providerId="ADAL" clId="{90DA6CD3-9182-4390-8ADB-9BB8855CCFA8}" dt="2024-11-20T16:59:39.892" v="2801"/>
          <ac:graphicFrameMkLst>
            <pc:docMk/>
            <pc:sldMk cId="2216248984" sldId="379"/>
            <ac:graphicFrameMk id="2" creationId="{629142DD-EA6A-BF8B-0CBC-09828F912F1A}"/>
          </ac:graphicFrameMkLst>
        </pc:graphicFrameChg>
        <pc:graphicFrameChg chg="add mod">
          <ac:chgData name="Nikos Piperigkos" userId="b361276a-3497-4fae-9245-3cd0ad5fb2cd" providerId="ADAL" clId="{90DA6CD3-9182-4390-8ADB-9BB8855CCFA8}" dt="2024-11-20T16:59:39.892" v="2801"/>
          <ac:graphicFrameMkLst>
            <pc:docMk/>
            <pc:sldMk cId="2216248984" sldId="379"/>
            <ac:graphicFrameMk id="5" creationId="{F85F1641-1595-5BC6-60DC-E515163B339C}"/>
          </ac:graphicFrameMkLst>
        </pc:graphicFrameChg>
        <pc:picChg chg="add mod">
          <ac:chgData name="Nikos Piperigkos" userId="b361276a-3497-4fae-9245-3cd0ad5fb2cd" providerId="ADAL" clId="{90DA6CD3-9182-4390-8ADB-9BB8855CCFA8}" dt="2024-11-20T16:59:39.892" v="2801"/>
          <ac:picMkLst>
            <pc:docMk/>
            <pc:sldMk cId="2216248984" sldId="379"/>
            <ac:picMk id="3" creationId="{3AC6A256-1A54-F02F-BAB5-96BCB4F0D255}"/>
          </ac:picMkLst>
        </pc:picChg>
      </pc:sldChg>
      <pc:sldChg chg="addSp modSp add mod">
        <pc:chgData name="Nikos Piperigkos" userId="b361276a-3497-4fae-9245-3cd0ad5fb2cd" providerId="ADAL" clId="{90DA6CD3-9182-4390-8ADB-9BB8855CCFA8}" dt="2024-11-20T16:59:45.982" v="2802"/>
        <pc:sldMkLst>
          <pc:docMk/>
          <pc:sldMk cId="1180597568" sldId="380"/>
        </pc:sldMkLst>
        <pc:spChg chg="mod">
          <ac:chgData name="Nikos Piperigkos" userId="b361276a-3497-4fae-9245-3cd0ad5fb2cd" providerId="ADAL" clId="{90DA6CD3-9182-4390-8ADB-9BB8855CCFA8}" dt="2024-11-20T16:59:33.052" v="2800" actId="20577"/>
          <ac:spMkLst>
            <pc:docMk/>
            <pc:sldMk cId="1180597568" sldId="380"/>
            <ac:spMk id="4" creationId="{110069CF-48DF-A881-DE70-A2A3C97E119A}"/>
          </ac:spMkLst>
        </pc:spChg>
        <pc:spChg chg="mod">
          <ac:chgData name="Nikos Piperigkos" userId="b361276a-3497-4fae-9245-3cd0ad5fb2cd" providerId="ADAL" clId="{90DA6CD3-9182-4390-8ADB-9BB8855CCFA8}" dt="2024-11-20T16:54:26.892" v="2488" actId="20577"/>
          <ac:spMkLst>
            <pc:docMk/>
            <pc:sldMk cId="1180597568" sldId="380"/>
            <ac:spMk id="15362" creationId="{6D3827A6-B9A8-5657-3C07-72B657D177B9}"/>
          </ac:spMkLst>
        </pc:spChg>
        <pc:graphicFrameChg chg="add mod">
          <ac:chgData name="Nikos Piperigkos" userId="b361276a-3497-4fae-9245-3cd0ad5fb2cd" providerId="ADAL" clId="{90DA6CD3-9182-4390-8ADB-9BB8855CCFA8}" dt="2024-11-20T16:59:45.982" v="2802"/>
          <ac:graphicFrameMkLst>
            <pc:docMk/>
            <pc:sldMk cId="1180597568" sldId="380"/>
            <ac:graphicFrameMk id="2" creationId="{19086698-A8D1-4319-067E-E84AF3C4AEF1}"/>
          </ac:graphicFrameMkLst>
        </pc:graphicFrameChg>
        <pc:graphicFrameChg chg="add mod">
          <ac:chgData name="Nikos Piperigkos" userId="b361276a-3497-4fae-9245-3cd0ad5fb2cd" providerId="ADAL" clId="{90DA6CD3-9182-4390-8ADB-9BB8855CCFA8}" dt="2024-11-20T16:59:45.982" v="2802"/>
          <ac:graphicFrameMkLst>
            <pc:docMk/>
            <pc:sldMk cId="1180597568" sldId="380"/>
            <ac:graphicFrameMk id="5" creationId="{8941D636-01AF-354E-7FD8-7C5293D30AD1}"/>
          </ac:graphicFrameMkLst>
        </pc:graphicFrameChg>
        <pc:picChg chg="add mod">
          <ac:chgData name="Nikos Piperigkos" userId="b361276a-3497-4fae-9245-3cd0ad5fb2cd" providerId="ADAL" clId="{90DA6CD3-9182-4390-8ADB-9BB8855CCFA8}" dt="2024-11-20T16:59:45.982" v="2802"/>
          <ac:picMkLst>
            <pc:docMk/>
            <pc:sldMk cId="1180597568" sldId="380"/>
            <ac:picMk id="3" creationId="{F08D79E3-DBA1-5027-0DF2-EF74AF111C03}"/>
          </ac:picMkLst>
        </pc:picChg>
      </pc:sldChg>
      <pc:sldChg chg="delSp modSp add mod">
        <pc:chgData name="Nikos Piperigkos" userId="b361276a-3497-4fae-9245-3cd0ad5fb2cd" providerId="ADAL" clId="{90DA6CD3-9182-4390-8ADB-9BB8855CCFA8}" dt="2024-11-20T17:07:22.061" v="3114" actId="20577"/>
        <pc:sldMkLst>
          <pc:docMk/>
          <pc:sldMk cId="1095771064" sldId="381"/>
        </pc:sldMkLst>
        <pc:spChg chg="mod">
          <ac:chgData name="Nikos Piperigkos" userId="b361276a-3497-4fae-9245-3cd0ad5fb2cd" providerId="ADAL" clId="{90DA6CD3-9182-4390-8ADB-9BB8855CCFA8}" dt="2024-11-20T17:07:22.061" v="3114" actId="20577"/>
          <ac:spMkLst>
            <pc:docMk/>
            <pc:sldMk cId="1095771064" sldId="381"/>
            <ac:spMk id="4" creationId="{27E79056-AE5B-BB7F-76E7-4228DC1C542D}"/>
          </ac:spMkLst>
        </pc:spChg>
        <pc:spChg chg="mod">
          <ac:chgData name="Nikos Piperigkos" userId="b361276a-3497-4fae-9245-3cd0ad5fb2cd" providerId="ADAL" clId="{90DA6CD3-9182-4390-8ADB-9BB8855CCFA8}" dt="2024-11-20T17:03:24.891" v="2807" actId="20577"/>
          <ac:spMkLst>
            <pc:docMk/>
            <pc:sldMk cId="1095771064" sldId="381"/>
            <ac:spMk id="15362" creationId="{562E808C-2A4E-FA6C-D5AA-6EDCFB2FDA5F}"/>
          </ac:spMkLst>
        </pc:spChg>
        <pc:graphicFrameChg chg="del">
          <ac:chgData name="Nikos Piperigkos" userId="b361276a-3497-4fae-9245-3cd0ad5fb2cd" providerId="ADAL" clId="{90DA6CD3-9182-4390-8ADB-9BB8855CCFA8}" dt="2024-11-20T17:01:54.778" v="2806" actId="478"/>
          <ac:graphicFrameMkLst>
            <pc:docMk/>
            <pc:sldMk cId="1095771064" sldId="381"/>
            <ac:graphicFrameMk id="2" creationId="{72392EFF-ADB3-CACF-2AA8-6ED4EACE7085}"/>
          </ac:graphicFrameMkLst>
        </pc:graphicFrameChg>
        <pc:graphicFrameChg chg="del">
          <ac:chgData name="Nikos Piperigkos" userId="b361276a-3497-4fae-9245-3cd0ad5fb2cd" providerId="ADAL" clId="{90DA6CD3-9182-4390-8ADB-9BB8855CCFA8}" dt="2024-11-20T17:01:54.130" v="2805" actId="478"/>
          <ac:graphicFrameMkLst>
            <pc:docMk/>
            <pc:sldMk cId="1095771064" sldId="381"/>
            <ac:graphicFrameMk id="5" creationId="{2CFEB06D-428A-5EDA-D9F2-9E525CED1900}"/>
          </ac:graphicFrameMkLst>
        </pc:graphicFrameChg>
        <pc:picChg chg="del">
          <ac:chgData name="Nikos Piperigkos" userId="b361276a-3497-4fae-9245-3cd0ad5fb2cd" providerId="ADAL" clId="{90DA6CD3-9182-4390-8ADB-9BB8855CCFA8}" dt="2024-11-20T17:01:53.032" v="2804" actId="478"/>
          <ac:picMkLst>
            <pc:docMk/>
            <pc:sldMk cId="1095771064" sldId="381"/>
            <ac:picMk id="3" creationId="{F3FAD0CA-0F4C-BEF5-9187-F8D93F91689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588"/>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smtClean="0">
                <a:latin typeface="Arial" panose="020B0604020202020204" pitchFamily="34" charset="0"/>
              </a:defRPr>
            </a:lvl1pPr>
          </a:lstStyle>
          <a:p>
            <a:pPr>
              <a:defRPr/>
            </a:pPr>
            <a:endParaRPr lang="en-US" altLang="en-US"/>
          </a:p>
        </p:txBody>
      </p:sp>
      <p:sp>
        <p:nvSpPr>
          <p:cNvPr id="3075" name="Rectangle 3"/>
          <p:cNvSpPr>
            <a:spLocks noGrp="1" noChangeArrowheads="1"/>
          </p:cNvSpPr>
          <p:nvPr>
            <p:ph type="dt" sz="quarter" idx="1"/>
          </p:nvPr>
        </p:nvSpPr>
        <p:spPr bwMode="auto">
          <a:xfrm>
            <a:off x="3957638" y="-1588"/>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smtClean="0">
                <a:latin typeface="Arial" panose="020B0604020202020204" pitchFamily="34" charset="0"/>
              </a:defRPr>
            </a:lvl1pPr>
          </a:lstStyle>
          <a:p>
            <a:pPr>
              <a:defRPr/>
            </a:pPr>
            <a:endParaRPr lang="en-US" altLang="en-US"/>
          </a:p>
        </p:txBody>
      </p:sp>
      <p:sp>
        <p:nvSpPr>
          <p:cNvPr id="3076" name="Rectangle 4"/>
          <p:cNvSpPr>
            <a:spLocks noGrp="1" noChangeArrowheads="1"/>
          </p:cNvSpPr>
          <p:nvPr>
            <p:ph type="ftr" sz="quarter" idx="2"/>
          </p:nvPr>
        </p:nvSpPr>
        <p:spPr bwMode="auto">
          <a:xfrm>
            <a:off x="0" y="8845550"/>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smtClean="0">
                <a:latin typeface="Arial" panose="020B0604020202020204" pitchFamily="34" charset="0"/>
              </a:defRPr>
            </a:lvl1pPr>
          </a:lstStyle>
          <a:p>
            <a:pPr>
              <a:defRPr/>
            </a:pPr>
            <a:endParaRPr lang="en-US" altLang="en-US"/>
          </a:p>
        </p:txBody>
      </p:sp>
      <p:sp>
        <p:nvSpPr>
          <p:cNvPr id="3077" name="Rectangle 5"/>
          <p:cNvSpPr>
            <a:spLocks noGrp="1" noChangeArrowheads="1"/>
          </p:cNvSpPr>
          <p:nvPr>
            <p:ph type="sldNum" sz="quarter" idx="3"/>
          </p:nvPr>
        </p:nvSpPr>
        <p:spPr bwMode="auto">
          <a:xfrm>
            <a:off x="3957638" y="8845550"/>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smtClean="0">
                <a:latin typeface="Arial" panose="020B0604020202020204" pitchFamily="34" charset="0"/>
              </a:defRPr>
            </a:lvl1pPr>
          </a:lstStyle>
          <a:p>
            <a:pPr>
              <a:defRPr/>
            </a:pPr>
            <a:fld id="{39253A41-CE60-4A85-B5B8-9B94CE08D34C}"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smtClean="0">
                <a:solidFill>
                  <a:schemeClr val="tx1"/>
                </a:solidFill>
                <a:latin typeface="Times New Roman" panose="02020603050405020304" pitchFamily="18" charset="0"/>
              </a:defRPr>
            </a:lvl1pPr>
          </a:lstStyle>
          <a:p>
            <a:pPr>
              <a:defRPr/>
            </a:pPr>
            <a:endParaRPr lang="en-US" altLang="en-US"/>
          </a:p>
        </p:txBody>
      </p:sp>
      <p:sp>
        <p:nvSpPr>
          <p:cNvPr id="2051" name="Rectangle 3"/>
          <p:cNvSpPr>
            <a:spLocks noGrp="1" noChangeArrowheads="1"/>
          </p:cNvSpPr>
          <p:nvPr>
            <p:ph type="dt" idx="1"/>
          </p:nvPr>
        </p:nvSpPr>
        <p:spPr bwMode="auto">
          <a:xfrm>
            <a:off x="3957638" y="-1588"/>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smtClean="0">
                <a:solidFill>
                  <a:schemeClr val="tx1"/>
                </a:solidFill>
                <a:latin typeface="Times New Roman" panose="02020603050405020304" pitchFamily="18" charset="0"/>
              </a:defRPr>
            </a:lvl1pPr>
          </a:lstStyle>
          <a:p>
            <a:pPr>
              <a:defRPr/>
            </a:pPr>
            <a:endParaRPr lang="en-US" altLang="en-US"/>
          </a:p>
        </p:txBody>
      </p:sp>
      <p:sp>
        <p:nvSpPr>
          <p:cNvPr id="2052" name="Rectangle 4"/>
          <p:cNvSpPr>
            <a:spLocks noGrp="1" noChangeArrowheads="1"/>
          </p:cNvSpPr>
          <p:nvPr>
            <p:ph type="ftr" sz="quarter" idx="4"/>
          </p:nvPr>
        </p:nvSpPr>
        <p:spPr bwMode="auto">
          <a:xfrm>
            <a:off x="0" y="8845550"/>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smtClean="0">
                <a:solidFill>
                  <a:schemeClr val="tx1"/>
                </a:solidFill>
                <a:latin typeface="Times New Roman" panose="02020603050405020304" pitchFamily="18" charset="0"/>
              </a:defRPr>
            </a:lvl1pPr>
          </a:lstStyle>
          <a:p>
            <a:pPr>
              <a:defRPr/>
            </a:pPr>
            <a:endParaRPr lang="en-US" altLang="en-US"/>
          </a:p>
        </p:txBody>
      </p:sp>
      <p:sp>
        <p:nvSpPr>
          <p:cNvPr id="2053" name="Rectangle 5"/>
          <p:cNvSpPr>
            <a:spLocks noGrp="1" noChangeArrowheads="1"/>
          </p:cNvSpPr>
          <p:nvPr>
            <p:ph type="sldNum" sz="quarter" idx="5"/>
          </p:nvPr>
        </p:nvSpPr>
        <p:spPr bwMode="auto">
          <a:xfrm>
            <a:off x="3957638" y="8845550"/>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smtClean="0">
                <a:solidFill>
                  <a:schemeClr val="tx1"/>
                </a:solidFill>
                <a:latin typeface="Times New Roman" panose="02020603050405020304" pitchFamily="18" charset="0"/>
              </a:defRPr>
            </a:lvl1pPr>
          </a:lstStyle>
          <a:p>
            <a:pPr>
              <a:defRPr/>
            </a:pPr>
            <a:fld id="{48FA1754-D943-4EA3-ACD7-8A0D0469932A}" type="slidenum">
              <a:rPr lang="en-US" altLang="en-US"/>
              <a:pPr>
                <a:defRPr/>
              </a:pPr>
              <a:t>‹#›</a:t>
            </a:fld>
            <a:endParaRPr lang="en-US" altLang="en-US"/>
          </a:p>
        </p:txBody>
      </p:sp>
      <p:sp>
        <p:nvSpPr>
          <p:cNvPr id="2054" name="Rectangle 6"/>
          <p:cNvSpPr>
            <a:spLocks noGrp="1" noChangeArrowheads="1"/>
          </p:cNvSpPr>
          <p:nvPr>
            <p:ph type="body" sz="quarter" idx="3"/>
          </p:nvPr>
        </p:nvSpPr>
        <p:spPr bwMode="auto">
          <a:xfrm>
            <a:off x="931863" y="4410075"/>
            <a:ext cx="5121275" cy="391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noProof="0"/>
              <a:t>Click to edit Master notes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055" name="Rectangle 7"/>
          <p:cNvSpPr>
            <a:spLocks noGrp="1" noRot="1" noChangeAspect="1" noChangeArrowheads="1" noTextEdit="1"/>
          </p:cNvSpPr>
          <p:nvPr>
            <p:ph type="sldImg" idx="2"/>
          </p:nvPr>
        </p:nvSpPr>
        <p:spPr bwMode="auto">
          <a:xfrm>
            <a:off x="1363663" y="715963"/>
            <a:ext cx="4257675" cy="34401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Grp="1" noChangeArrowheads="1"/>
          </p:cNvSpPr>
          <p:nvPr>
            <p:ph type="sldNum" sz="quarter" idx="5"/>
          </p:nvPr>
        </p:nvSpPr>
        <p:spPr>
          <a:noFill/>
        </p:spPr>
        <p:txBody>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fld id="{1C39A24F-9382-4613-9A1D-2FA30B50B961}" type="slidenum">
              <a:rPr lang="en-US" altLang="en-US" sz="1000">
                <a:solidFill>
                  <a:schemeClr val="tx1"/>
                </a:solidFill>
                <a:latin typeface="Times New Roman" panose="02020603050405020304" pitchFamily="18" charset="0"/>
              </a:rPr>
              <a:pPr/>
              <a:t>10</a:t>
            </a:fld>
            <a:endParaRPr lang="en-US" altLang="en-US" sz="1000">
              <a:solidFill>
                <a:schemeClr val="tx1"/>
              </a:solidFill>
              <a:latin typeface="Times New Roman" panose="02020603050405020304" pitchFamily="18" charset="0"/>
            </a:endParaRPr>
          </a:p>
        </p:txBody>
      </p:sp>
      <p:sp>
        <p:nvSpPr>
          <p:cNvPr id="10243" name="Rectangle 2"/>
          <p:cNvSpPr>
            <a:spLocks noGrp="1" noRot="1" noChangeAspect="1" noChangeArrowheads="1" noTextEdit="1"/>
          </p:cNvSpPr>
          <p:nvPr>
            <p:ph type="sldImg"/>
          </p:nvPr>
        </p:nvSpPr>
        <p:spPr>
          <a:xfrm>
            <a:off x="1365250" y="715963"/>
            <a:ext cx="4254500" cy="3440112"/>
          </a:xfrm>
          <a:ln/>
        </p:spPr>
      </p:sp>
      <p:sp>
        <p:nvSpPr>
          <p:cNvPr id="10244"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pPr>
              <a:defRPr/>
            </a:pPr>
            <a:fld id="{48FA1754-D943-4EA3-ACD7-8A0D0469932A}" type="slidenum">
              <a:rPr lang="en-US" altLang="en-US" smtClean="0"/>
              <a:pPr>
                <a:defRPr/>
              </a:pPr>
              <a:t>20</a:t>
            </a:fld>
            <a:endParaRPr lang="en-US" altLang="en-US"/>
          </a:p>
        </p:txBody>
      </p:sp>
    </p:spTree>
    <p:extLst>
      <p:ext uri="{BB962C8B-B14F-4D97-AF65-F5344CB8AC3E}">
        <p14:creationId xmlns:p14="http://schemas.microsoft.com/office/powerpoint/2010/main" val="1238586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19188" y="1184275"/>
            <a:ext cx="6715125" cy="252095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19188" y="3802063"/>
            <a:ext cx="6715125" cy="174783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726443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15950" y="1927225"/>
            <a:ext cx="7721600" cy="45926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4313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1188" y="1804988"/>
            <a:ext cx="7721600" cy="301148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11188" y="4845050"/>
            <a:ext cx="7721600" cy="15827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2028418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15950" y="1927225"/>
            <a:ext cx="3784600" cy="45926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52950" y="1927225"/>
            <a:ext cx="3784600" cy="45926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401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3188" cy="1398587"/>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15950" y="1774825"/>
            <a:ext cx="3787775" cy="8699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15950" y="2644775"/>
            <a:ext cx="3787775" cy="38893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532313" y="1774825"/>
            <a:ext cx="3806825" cy="8699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532313" y="2644775"/>
            <a:ext cx="3806825" cy="38893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08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075822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733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5950" y="482600"/>
            <a:ext cx="2889250" cy="16891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06825" y="1042988"/>
            <a:ext cx="4532313" cy="51435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5950" y="2171700"/>
            <a:ext cx="2889250" cy="402272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79959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5950" y="482600"/>
            <a:ext cx="2889250" cy="16891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06825" y="1042988"/>
            <a:ext cx="4532313" cy="51435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15950" y="2171700"/>
            <a:ext cx="2889250" cy="402272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605303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15950" y="1927225"/>
            <a:ext cx="7721600" cy="45926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1283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7150" y="385763"/>
            <a:ext cx="1930400" cy="613410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15950" y="385763"/>
            <a:ext cx="5638800" cy="6134100"/>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747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15950" y="385763"/>
            <a:ext cx="7721600" cy="61341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3462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15950" y="385763"/>
            <a:ext cx="7721600" cy="13985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15950" y="1927225"/>
            <a:ext cx="3784600" cy="45926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52950" y="1927225"/>
            <a:ext cx="3784600" cy="221932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52950" y="4298950"/>
            <a:ext cx="3784600" cy="222091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4400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1026" name="Rectangle 11"/>
          <p:cNvSpPr>
            <a:spLocks noChangeArrowheads="1"/>
          </p:cNvSpPr>
          <p:nvPr/>
        </p:nvSpPr>
        <p:spPr bwMode="auto">
          <a:xfrm>
            <a:off x="1112838" y="6778625"/>
            <a:ext cx="166687" cy="9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027" name="Text Box 21"/>
          <p:cNvSpPr txBox="1">
            <a:spLocks noChangeArrowheads="1"/>
          </p:cNvSpPr>
          <p:nvPr userDrawn="1"/>
        </p:nvSpPr>
        <p:spPr bwMode="auto">
          <a:xfrm>
            <a:off x="0" y="0"/>
            <a:ext cx="8953500" cy="482600"/>
          </a:xfrm>
          <a:prstGeom prst="rect">
            <a:avLst/>
          </a:prstGeom>
          <a:solidFill>
            <a:srgbClr val="FF6600"/>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r>
              <a:rPr lang="el-GR" altLang="en-US" sz="1200" b="1" i="1">
                <a:latin typeface="Arial" panose="020B0604020202020204" pitchFamily="34" charset="0"/>
              </a:rPr>
              <a:t>ΨΗΦΙΑΚΕΣ ΤΗΛΕΠΙΚΟΙΝΩΝΙΕΣ	 </a:t>
            </a:r>
            <a:r>
              <a:rPr lang="en-US" altLang="en-US" sz="1200" b="1" i="1">
                <a:latin typeface="Arial" panose="020B0604020202020204" pitchFamily="34" charset="0"/>
              </a:rPr>
              <a:t>		</a:t>
            </a:r>
            <a:r>
              <a:rPr lang="en-GB" altLang="en-US" sz="1200" b="1" i="1">
                <a:latin typeface="Arial" panose="020B0604020202020204" pitchFamily="34" charset="0"/>
              </a:rPr>
              <a:t> </a:t>
            </a:r>
            <a:r>
              <a:rPr lang="el-GR" altLang="en-US" sz="1200" b="1" i="1">
                <a:latin typeface="Arial" panose="020B0604020202020204" pitchFamily="34" charset="0"/>
              </a:rPr>
              <a:t>		</a:t>
            </a:r>
            <a:r>
              <a:rPr lang="en-US" altLang="en-US" sz="1200" b="1" i="1">
                <a:latin typeface="Arial" panose="020B0604020202020204" pitchFamily="34" charset="0"/>
              </a:rPr>
              <a:t>1-</a:t>
            </a:r>
            <a:fld id="{417F27D7-AA74-460D-9C64-47F95FDA2968}" type="slidenum">
              <a:rPr lang="en-US" altLang="en-US" sz="1200" b="1" i="1">
                <a:latin typeface="Arial" panose="020B0604020202020204" pitchFamily="34" charset="0"/>
              </a:rPr>
              <a:pPr algn="just"/>
              <a:t>‹#›</a:t>
            </a:fld>
            <a:endParaRPr lang="en-US" altLang="en-US" sz="1200" b="1" i="1">
              <a:latin typeface="Arial" panose="020B0604020202020204" pitchFamily="34" charset="0"/>
            </a:endParaRPr>
          </a:p>
          <a:p>
            <a:pPr algn="just"/>
            <a:r>
              <a:rPr lang="el-GR" altLang="en-US" sz="1200" b="1" i="1">
                <a:latin typeface="Times New Roman" panose="02020603050405020304" pitchFamily="18" charset="0"/>
              </a:rPr>
              <a:t>ΚΕΦΑΛΑΙΟ 3: ΜΕΤΑΔΟΣΗ</a:t>
            </a:r>
            <a:r>
              <a:rPr lang="el-GR" altLang="en-US" sz="1200" b="1" i="1">
                <a:latin typeface="Times New Roman" panose="02020603050405020304" pitchFamily="18" charset="0"/>
                <a:cs typeface="Times New Roman" panose="02020603050405020304" pitchFamily="18" charset="0"/>
              </a:rPr>
              <a:t> ΔΕΔΟΜΕΝΩΝ</a:t>
            </a:r>
            <a:r>
              <a:rPr lang="el-GR" altLang="en-US" sz="1200" b="1" i="1">
                <a:latin typeface="Times New Roman" panose="02020603050405020304" pitchFamily="18" charset="0"/>
              </a:rPr>
              <a:t> ΣΤΗ ΒΑΣΙΚΗ ΖΩΝΗ</a:t>
            </a:r>
            <a:endParaRPr lang="en-GB" altLang="en-US" sz="1200" b="1" i="1">
              <a:latin typeface="Times New Roman" panose="02020603050405020304" pitchFamily="18" charset="0"/>
            </a:endParaRPr>
          </a:p>
        </p:txBody>
      </p:sp>
      <p:pic>
        <p:nvPicPr>
          <p:cNvPr id="1028" name="Picture 23" descr="COSTAS1"/>
          <p:cNvPicPr>
            <a:picLocks noChangeAspect="1" noChangeArrowheads="1"/>
          </p:cNvPicPr>
          <p:nvPr userDrawn="1"/>
        </p:nvPicPr>
        <p:blipFill>
          <a:blip r:embed="rId15" cstate="print">
            <a:grayscl/>
            <a:extLst>
              <a:ext uri="{28A0092B-C50C-407E-A947-70E740481C1C}">
                <a14:useLocalDpi xmlns:a14="http://schemas.microsoft.com/office/drawing/2010/main" val="0"/>
              </a:ext>
            </a:extLst>
          </a:blip>
          <a:srcRect l="-2274" t="-3836" r="-3586" b="-9258"/>
          <a:stretch>
            <a:fillRect/>
          </a:stretch>
        </p:blipFill>
        <p:spPr bwMode="auto">
          <a:xfrm>
            <a:off x="7872413" y="0"/>
            <a:ext cx="1081087" cy="969963"/>
          </a:xfrm>
          <a:prstGeom prst="rect">
            <a:avLst/>
          </a:prstGeom>
          <a:solidFill>
            <a:schemeClr val="folHlink"/>
          </a:solidFill>
          <a:ln w="28575">
            <a:solidFill>
              <a:srgbClr val="000099"/>
            </a:solidFill>
            <a:miter lim="800000"/>
            <a:headEnd/>
            <a:tailEnd/>
          </a:ln>
        </p:spPr>
      </p:pic>
      <p:sp>
        <p:nvSpPr>
          <p:cNvPr id="1029" name="Rectangle 25"/>
          <p:cNvSpPr>
            <a:spLocks noChangeArrowheads="1"/>
          </p:cNvSpPr>
          <p:nvPr userDrawn="1"/>
        </p:nvSpPr>
        <p:spPr bwMode="auto">
          <a:xfrm>
            <a:off x="0" y="7151688"/>
            <a:ext cx="8953500" cy="87312"/>
          </a:xfrm>
          <a:prstGeom prst="rect">
            <a:avLst/>
          </a:prstGeom>
          <a:solidFill>
            <a:srgbClr val="FF6600"/>
          </a:solidFill>
          <a:ln w="6350">
            <a:solidFill>
              <a:srgbClr val="FF6600"/>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3600" b="1" kern="1200">
          <a:solidFill>
            <a:srgbClr val="000000"/>
          </a:solidFill>
          <a:latin typeface="+mj-lt"/>
          <a:ea typeface="+mj-ea"/>
          <a:cs typeface="+mj-cs"/>
        </a:defRPr>
      </a:lvl1pPr>
      <a:lvl2pPr algn="ctr" rtl="0" eaLnBrk="0" fontAlgn="base" hangingPunct="0">
        <a:spcBef>
          <a:spcPct val="0"/>
        </a:spcBef>
        <a:spcAft>
          <a:spcPct val="0"/>
        </a:spcAft>
        <a:defRPr sz="3600" b="1">
          <a:solidFill>
            <a:srgbClr val="000000"/>
          </a:solidFill>
          <a:latin typeface="Arial" panose="020B0604020202020204" pitchFamily="34" charset="0"/>
        </a:defRPr>
      </a:lvl2pPr>
      <a:lvl3pPr algn="ctr" rtl="0" eaLnBrk="0" fontAlgn="base" hangingPunct="0">
        <a:spcBef>
          <a:spcPct val="0"/>
        </a:spcBef>
        <a:spcAft>
          <a:spcPct val="0"/>
        </a:spcAft>
        <a:defRPr sz="3600" b="1">
          <a:solidFill>
            <a:srgbClr val="000000"/>
          </a:solidFill>
          <a:latin typeface="Arial" panose="020B0604020202020204" pitchFamily="34" charset="0"/>
        </a:defRPr>
      </a:lvl3pPr>
      <a:lvl4pPr algn="ctr" rtl="0" eaLnBrk="0" fontAlgn="base" hangingPunct="0">
        <a:spcBef>
          <a:spcPct val="0"/>
        </a:spcBef>
        <a:spcAft>
          <a:spcPct val="0"/>
        </a:spcAft>
        <a:defRPr sz="3600" b="1">
          <a:solidFill>
            <a:srgbClr val="000000"/>
          </a:solidFill>
          <a:latin typeface="Arial" panose="020B0604020202020204" pitchFamily="34" charset="0"/>
        </a:defRPr>
      </a:lvl4pPr>
      <a:lvl5pPr algn="ctr" rtl="0" eaLnBrk="0" fontAlgn="base" hangingPunct="0">
        <a:spcBef>
          <a:spcPct val="0"/>
        </a:spcBef>
        <a:spcAft>
          <a:spcPct val="0"/>
        </a:spcAft>
        <a:defRPr sz="3600" b="1">
          <a:solidFill>
            <a:srgbClr val="000000"/>
          </a:solidFill>
          <a:latin typeface="Arial" panose="020B0604020202020204" pitchFamily="34" charset="0"/>
        </a:defRPr>
      </a:lvl5pPr>
      <a:lvl6pPr marL="457200" algn="ctr" rtl="0" eaLnBrk="0" fontAlgn="base" hangingPunct="0">
        <a:spcBef>
          <a:spcPct val="0"/>
        </a:spcBef>
        <a:spcAft>
          <a:spcPct val="0"/>
        </a:spcAft>
        <a:defRPr sz="3600" b="1">
          <a:solidFill>
            <a:srgbClr val="000000"/>
          </a:solidFill>
          <a:latin typeface="Arial" panose="020B0604020202020204" pitchFamily="34" charset="0"/>
        </a:defRPr>
      </a:lvl6pPr>
      <a:lvl7pPr marL="914400" algn="ctr" rtl="0" eaLnBrk="0" fontAlgn="base" hangingPunct="0">
        <a:spcBef>
          <a:spcPct val="0"/>
        </a:spcBef>
        <a:spcAft>
          <a:spcPct val="0"/>
        </a:spcAft>
        <a:defRPr sz="3600" b="1">
          <a:solidFill>
            <a:srgbClr val="000000"/>
          </a:solidFill>
          <a:latin typeface="Arial" panose="020B0604020202020204" pitchFamily="34" charset="0"/>
        </a:defRPr>
      </a:lvl7pPr>
      <a:lvl8pPr marL="1371600" algn="ctr" rtl="0" eaLnBrk="0" fontAlgn="base" hangingPunct="0">
        <a:spcBef>
          <a:spcPct val="0"/>
        </a:spcBef>
        <a:spcAft>
          <a:spcPct val="0"/>
        </a:spcAft>
        <a:defRPr sz="3600" b="1">
          <a:solidFill>
            <a:srgbClr val="000000"/>
          </a:solidFill>
          <a:latin typeface="Arial" panose="020B0604020202020204" pitchFamily="34" charset="0"/>
        </a:defRPr>
      </a:lvl8pPr>
      <a:lvl9pPr marL="1828800" algn="ctr" rtl="0" eaLnBrk="0" fontAlgn="base" hangingPunct="0">
        <a:spcBef>
          <a:spcPct val="0"/>
        </a:spcBef>
        <a:spcAft>
          <a:spcPct val="0"/>
        </a:spcAft>
        <a:defRPr sz="3600" b="1">
          <a:solidFill>
            <a:srgbClr val="000000"/>
          </a:solidFill>
          <a:latin typeface="Arial" panose="020B0604020202020204" pitchFamily="34" charset="0"/>
        </a:defRPr>
      </a:lvl9pPr>
    </p:titleStyle>
    <p:bodyStyle>
      <a:lvl1pPr marL="342900" indent="-342900" algn="l" rtl="0" eaLnBrk="0" fontAlgn="base" hangingPunct="0">
        <a:spcBef>
          <a:spcPct val="20000"/>
        </a:spcBef>
        <a:spcAft>
          <a:spcPct val="0"/>
        </a:spcAft>
        <a:buSzPct val="75000"/>
        <a:buFont typeface="Monotype Sorts" pitchFamily="2" charset="2"/>
        <a:buChar char="l"/>
        <a:defRPr sz="3200" kern="1200">
          <a:solidFill>
            <a:srgbClr val="000000"/>
          </a:solidFill>
          <a:latin typeface="+mn-lt"/>
          <a:ea typeface="+mn-ea"/>
          <a:cs typeface="+mn-cs"/>
        </a:defRPr>
      </a:lvl1pPr>
      <a:lvl2pPr marL="742950" indent="-285750" algn="l" rtl="0" eaLnBrk="0" fontAlgn="base" hangingPunct="0">
        <a:spcBef>
          <a:spcPct val="20000"/>
        </a:spcBef>
        <a:spcAft>
          <a:spcPct val="0"/>
        </a:spcAft>
        <a:buSzPct val="75000"/>
        <a:buFont typeface="Monotype Sorts" pitchFamily="2" charset="2"/>
        <a:buChar char="l"/>
        <a:defRPr sz="2800" kern="1200">
          <a:solidFill>
            <a:srgbClr val="000000"/>
          </a:solidFill>
          <a:latin typeface="+mn-lt"/>
          <a:ea typeface="+mn-ea"/>
          <a:cs typeface="+mn-cs"/>
        </a:defRPr>
      </a:lvl2pPr>
      <a:lvl3pPr marL="1143000" indent="-228600" algn="l" rtl="0" eaLnBrk="0" fontAlgn="base" hangingPunct="0">
        <a:spcBef>
          <a:spcPct val="20000"/>
        </a:spcBef>
        <a:spcAft>
          <a:spcPct val="0"/>
        </a:spcAft>
        <a:buSzPct val="75000"/>
        <a:buFont typeface="Monotype Sorts" pitchFamily="2" charset="2"/>
        <a:buChar char="l"/>
        <a:defRPr sz="2400" kern="1200">
          <a:solidFill>
            <a:srgbClr val="000000"/>
          </a:solidFill>
          <a:latin typeface="+mn-lt"/>
          <a:ea typeface="+mn-ea"/>
          <a:cs typeface="+mn-cs"/>
        </a:defRPr>
      </a:lvl3pPr>
      <a:lvl4pPr marL="1600200" indent="-228600" algn="l" rtl="0" eaLnBrk="0" fontAlgn="base" hangingPunct="0">
        <a:spcBef>
          <a:spcPct val="20000"/>
        </a:spcBef>
        <a:spcAft>
          <a:spcPct val="0"/>
        </a:spcAft>
        <a:buSzPct val="75000"/>
        <a:buFont typeface="Monotype Sorts" pitchFamily="2" charset="2"/>
        <a:buChar char="l"/>
        <a:defRPr sz="2000" kern="1200">
          <a:solidFill>
            <a:srgbClr val="000000"/>
          </a:solidFill>
          <a:latin typeface="+mn-lt"/>
          <a:ea typeface="+mn-ea"/>
          <a:cs typeface="+mn-cs"/>
        </a:defRPr>
      </a:lvl4pPr>
      <a:lvl5pPr marL="2057400" indent="-228600" algn="l" rtl="0" eaLnBrk="0" fontAlgn="base" hangingPunct="0">
        <a:spcBef>
          <a:spcPct val="20000"/>
        </a:spcBef>
        <a:spcAft>
          <a:spcPct val="0"/>
        </a:spcAft>
        <a:buSzPct val="75000"/>
        <a:buFont typeface="Monotype Sorts" pitchFamily="2" charset="2"/>
        <a:buChar char="l"/>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3" Type="http://schemas.openxmlformats.org/officeDocument/2006/relationships/image" Target="file:///F:\01%20EDUCATION\02%20TEI\01_&#936;&#919;&#934;&#921;&#913;&#922;&#917;&#931;%20&#932;&#919;&#923;&#925;&#921;&#917;&#931;\A%20Bateman%20Book\PAGES\CH3\INDEPTH\Image139.gif" TargetMode="Externa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4.bin"/><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20.wmf"/><Relationship Id="rId7" Type="http://schemas.openxmlformats.org/officeDocument/2006/relationships/image" Target="../media/image23.wmf"/><Relationship Id="rId2" Type="http://schemas.openxmlformats.org/officeDocument/2006/relationships/oleObject" Target="../embeddings/oleObject5.bin"/><Relationship Id="rId1" Type="http://schemas.openxmlformats.org/officeDocument/2006/relationships/slideLayout" Target="../slideLayouts/slideLayout12.xml"/><Relationship Id="rId6" Type="http://schemas.openxmlformats.org/officeDocument/2006/relationships/oleObject" Target="../embeddings/oleObject6.bin"/><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4.wmf"/></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3.wmf"/><Relationship Id="rId7" Type="http://schemas.openxmlformats.org/officeDocument/2006/relationships/image" Target="../media/image29.png"/><Relationship Id="rId2" Type="http://schemas.openxmlformats.org/officeDocument/2006/relationships/oleObject" Target="../embeddings/oleObject8.bin"/><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4.wmf"/><Relationship Id="rId4"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0.bin"/><Relationship Id="rId1" Type="http://schemas.openxmlformats.org/officeDocument/2006/relationships/slideLayout" Target="../slideLayouts/slideLayout13.xml"/><Relationship Id="rId6" Type="http://schemas.openxmlformats.org/officeDocument/2006/relationships/image" Target="../media/image24.wmf"/><Relationship Id="rId5" Type="http://schemas.openxmlformats.org/officeDocument/2006/relationships/oleObject" Target="../embeddings/oleObject9.bin"/><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9.bin"/><Relationship Id="rId3" Type="http://schemas.openxmlformats.org/officeDocument/2006/relationships/image" Target="../media/image23.wmf"/><Relationship Id="rId7" Type="http://schemas.openxmlformats.org/officeDocument/2006/relationships/oleObject" Target="../embeddings/oleObject12.bin"/><Relationship Id="rId12" Type="http://schemas.openxmlformats.org/officeDocument/2006/relationships/image" Target="../media/image33.wmf"/><Relationship Id="rId2" Type="http://schemas.openxmlformats.org/officeDocument/2006/relationships/oleObject" Target="../embeddings/oleObject10.bin"/><Relationship Id="rId1" Type="http://schemas.openxmlformats.org/officeDocument/2006/relationships/slideLayout" Target="../slideLayouts/slideLayout13.xml"/><Relationship Id="rId6" Type="http://schemas.openxmlformats.org/officeDocument/2006/relationships/image" Target="../media/image29.png"/><Relationship Id="rId11" Type="http://schemas.openxmlformats.org/officeDocument/2006/relationships/oleObject" Target="../embeddings/oleObject14.bin"/><Relationship Id="rId5" Type="http://schemas.openxmlformats.org/officeDocument/2006/relationships/image" Target="../media/image30.wmf"/><Relationship Id="rId10" Type="http://schemas.openxmlformats.org/officeDocument/2006/relationships/image" Target="../media/image32.wmf"/><Relationship Id="rId4" Type="http://schemas.openxmlformats.org/officeDocument/2006/relationships/oleObject" Target="../embeddings/oleObject11.bin"/><Relationship Id="rId9" Type="http://schemas.openxmlformats.org/officeDocument/2006/relationships/oleObject" Target="../embeddings/oleObject13.bin"/><Relationship Id="rId14" Type="http://schemas.openxmlformats.org/officeDocument/2006/relationships/image" Target="../media/image24.wmf"/></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15.bin"/><Relationship Id="rId1" Type="http://schemas.openxmlformats.org/officeDocument/2006/relationships/slideLayout" Target="../slideLayouts/slideLayout13.xml"/><Relationship Id="rId5" Type="http://schemas.openxmlformats.org/officeDocument/2006/relationships/image" Target="../media/image38.wmf"/><Relationship Id="rId4" Type="http://schemas.openxmlformats.org/officeDocument/2006/relationships/oleObject" Target="../embeddings/oleObject16.bin"/></Relationships>
</file>

<file path=ppt/slides/_rels/slide23.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9.bin"/><Relationship Id="rId3" Type="http://schemas.openxmlformats.org/officeDocument/2006/relationships/image" Target="../media/image23.wmf"/><Relationship Id="rId7" Type="http://schemas.openxmlformats.org/officeDocument/2006/relationships/oleObject" Target="../embeddings/oleObject12.bin"/><Relationship Id="rId12" Type="http://schemas.openxmlformats.org/officeDocument/2006/relationships/image" Target="../media/image33.wmf"/><Relationship Id="rId2" Type="http://schemas.openxmlformats.org/officeDocument/2006/relationships/oleObject" Target="../embeddings/oleObject10.bin"/><Relationship Id="rId1" Type="http://schemas.openxmlformats.org/officeDocument/2006/relationships/slideLayout" Target="../slideLayouts/slideLayout13.xml"/><Relationship Id="rId6" Type="http://schemas.openxmlformats.org/officeDocument/2006/relationships/image" Target="../media/image29.png"/><Relationship Id="rId11" Type="http://schemas.openxmlformats.org/officeDocument/2006/relationships/oleObject" Target="../embeddings/oleObject14.bin"/><Relationship Id="rId5" Type="http://schemas.openxmlformats.org/officeDocument/2006/relationships/image" Target="../media/image30.wmf"/><Relationship Id="rId10" Type="http://schemas.openxmlformats.org/officeDocument/2006/relationships/image" Target="../media/image32.wmf"/><Relationship Id="rId4" Type="http://schemas.openxmlformats.org/officeDocument/2006/relationships/oleObject" Target="../embeddings/oleObject11.bin"/><Relationship Id="rId9" Type="http://schemas.openxmlformats.org/officeDocument/2006/relationships/oleObject" Target="../embeddings/oleObject13.bin"/><Relationship Id="rId14" Type="http://schemas.openxmlformats.org/officeDocument/2006/relationships/image" Target="../media/image24.wmf"/></Relationships>
</file>

<file path=ppt/slides/_rels/slide24.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9.bin"/><Relationship Id="rId3" Type="http://schemas.openxmlformats.org/officeDocument/2006/relationships/image" Target="../media/image23.wmf"/><Relationship Id="rId7" Type="http://schemas.openxmlformats.org/officeDocument/2006/relationships/oleObject" Target="../embeddings/oleObject12.bin"/><Relationship Id="rId12" Type="http://schemas.openxmlformats.org/officeDocument/2006/relationships/image" Target="../media/image33.wmf"/><Relationship Id="rId2" Type="http://schemas.openxmlformats.org/officeDocument/2006/relationships/oleObject" Target="../embeddings/oleObject10.bin"/><Relationship Id="rId16" Type="http://schemas.openxmlformats.org/officeDocument/2006/relationships/image" Target="../media/image39.wmf"/><Relationship Id="rId1" Type="http://schemas.openxmlformats.org/officeDocument/2006/relationships/slideLayout" Target="../slideLayouts/slideLayout13.xml"/><Relationship Id="rId6" Type="http://schemas.openxmlformats.org/officeDocument/2006/relationships/image" Target="../media/image29.png"/><Relationship Id="rId11" Type="http://schemas.openxmlformats.org/officeDocument/2006/relationships/oleObject" Target="../embeddings/oleObject14.bin"/><Relationship Id="rId5" Type="http://schemas.openxmlformats.org/officeDocument/2006/relationships/image" Target="../media/image30.wmf"/><Relationship Id="rId15" Type="http://schemas.openxmlformats.org/officeDocument/2006/relationships/oleObject" Target="../embeddings/oleObject17.bin"/><Relationship Id="rId10" Type="http://schemas.openxmlformats.org/officeDocument/2006/relationships/image" Target="../media/image32.wmf"/><Relationship Id="rId4" Type="http://schemas.openxmlformats.org/officeDocument/2006/relationships/oleObject" Target="../embeddings/oleObject11.bin"/><Relationship Id="rId9" Type="http://schemas.openxmlformats.org/officeDocument/2006/relationships/oleObject" Target="../embeddings/oleObject13.bin"/><Relationship Id="rId14" Type="http://schemas.openxmlformats.org/officeDocument/2006/relationships/image" Target="../media/image24.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41.png"/><Relationship Id="rId7" Type="http://schemas.openxmlformats.org/officeDocument/2006/relationships/image" Target="../media/image43.wmf"/><Relationship Id="rId12" Type="http://schemas.openxmlformats.org/officeDocument/2006/relationships/image" Target="../media/image46.png"/><Relationship Id="rId2" Type="http://schemas.openxmlformats.org/officeDocument/2006/relationships/image" Target="../media/image40.png"/><Relationship Id="rId1" Type="http://schemas.openxmlformats.org/officeDocument/2006/relationships/slideLayout" Target="../slideLayouts/slideLayout13.xml"/><Relationship Id="rId6" Type="http://schemas.openxmlformats.org/officeDocument/2006/relationships/oleObject" Target="../embeddings/oleObject19.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44.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image" Target="../media/image40.png"/><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image" Target="../media/image47.wmf"/></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24.wmf"/><Relationship Id="rId2" Type="http://schemas.openxmlformats.org/officeDocument/2006/relationships/image" Target="../media/image49.png"/><Relationship Id="rId1" Type="http://schemas.openxmlformats.org/officeDocument/2006/relationships/slideLayout" Target="../slideLayouts/slideLayout13.xml"/><Relationship Id="rId6" Type="http://schemas.openxmlformats.org/officeDocument/2006/relationships/oleObject" Target="../embeddings/oleObject9.bin"/><Relationship Id="rId5" Type="http://schemas.openxmlformats.org/officeDocument/2006/relationships/image" Target="../media/image29.png"/><Relationship Id="rId4" Type="http://schemas.openxmlformats.org/officeDocument/2006/relationships/image" Target="../media/image23.wmf"/></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24.wmf"/><Relationship Id="rId2" Type="http://schemas.openxmlformats.org/officeDocument/2006/relationships/image" Target="../media/image52.png"/><Relationship Id="rId1" Type="http://schemas.openxmlformats.org/officeDocument/2006/relationships/slideLayout" Target="../slideLayouts/slideLayout13.xml"/><Relationship Id="rId6" Type="http://schemas.openxmlformats.org/officeDocument/2006/relationships/oleObject" Target="../embeddings/oleObject9.bin"/><Relationship Id="rId5" Type="http://schemas.openxmlformats.org/officeDocument/2006/relationships/image" Target="../media/image29.png"/><Relationship Id="rId4" Type="http://schemas.openxmlformats.org/officeDocument/2006/relationships/image" Target="../media/image23.wmf"/></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61.wmf"/><Relationship Id="rId3" Type="http://schemas.openxmlformats.org/officeDocument/2006/relationships/image" Target="../media/image56.wmf"/><Relationship Id="rId7" Type="http://schemas.openxmlformats.org/officeDocument/2006/relationships/image" Target="../media/image58.wmf"/><Relationship Id="rId12" Type="http://schemas.openxmlformats.org/officeDocument/2006/relationships/oleObject" Target="../embeddings/oleObject28.bin"/><Relationship Id="rId17" Type="http://schemas.openxmlformats.org/officeDocument/2006/relationships/image" Target="../media/image63.wmf"/><Relationship Id="rId2" Type="http://schemas.openxmlformats.org/officeDocument/2006/relationships/oleObject" Target="../embeddings/oleObject23.bin"/><Relationship Id="rId16" Type="http://schemas.openxmlformats.org/officeDocument/2006/relationships/oleObject" Target="../embeddings/oleObject30.bin"/><Relationship Id="rId1" Type="http://schemas.openxmlformats.org/officeDocument/2006/relationships/slideLayout" Target="../slideLayouts/slideLayout13.xml"/><Relationship Id="rId6" Type="http://schemas.openxmlformats.org/officeDocument/2006/relationships/oleObject" Target="../embeddings/oleObject25.bin"/><Relationship Id="rId11" Type="http://schemas.openxmlformats.org/officeDocument/2006/relationships/image" Target="../media/image60.wmf"/><Relationship Id="rId5" Type="http://schemas.openxmlformats.org/officeDocument/2006/relationships/image" Target="../media/image57.wmf"/><Relationship Id="rId15" Type="http://schemas.openxmlformats.org/officeDocument/2006/relationships/image" Target="../media/image62.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59.wmf"/><Relationship Id="rId14" Type="http://schemas.openxmlformats.org/officeDocument/2006/relationships/oleObject" Target="../embeddings/oleObject29.bin"/></Relationships>
</file>

<file path=ppt/slides/_rels/slide3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0.bin"/><Relationship Id="rId1" Type="http://schemas.openxmlformats.org/officeDocument/2006/relationships/slideLayout" Target="../slideLayouts/slideLayout13.xml"/><Relationship Id="rId6" Type="http://schemas.openxmlformats.org/officeDocument/2006/relationships/image" Target="../media/image24.wmf"/><Relationship Id="rId5" Type="http://schemas.openxmlformats.org/officeDocument/2006/relationships/oleObject" Target="../embeddings/oleObject9.bin"/><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image" Target="../media/image40.png"/><Relationship Id="rId1" Type="http://schemas.openxmlformats.org/officeDocument/2006/relationships/slideLayout" Target="../slideLayouts/slideLayout13.xml"/><Relationship Id="rId4" Type="http://schemas.openxmlformats.org/officeDocument/2006/relationships/image" Target="../media/image65.wmf"/></Relationships>
</file>

<file path=ppt/slides/_rels/slide3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C5F75-8B8E-9E34-6099-5E9A99709D8A}"/>
            </a:ext>
          </a:extLst>
        </p:cNvPr>
        <p:cNvGrpSpPr/>
        <p:nvPr/>
      </p:nvGrpSpPr>
      <p:grpSpPr>
        <a:xfrm>
          <a:off x="0" y="0"/>
          <a:ext cx="0" cy="0"/>
          <a:chOff x="0" y="0"/>
          <a:chExt cx="0" cy="0"/>
        </a:xfrm>
      </p:grpSpPr>
      <p:sp>
        <p:nvSpPr>
          <p:cNvPr id="4099" name="Text Box 4">
            <a:extLst>
              <a:ext uri="{FF2B5EF4-FFF2-40B4-BE49-F238E27FC236}">
                <a16:creationId xmlns:a16="http://schemas.microsoft.com/office/drawing/2014/main" id="{9AA324CC-1834-EF4F-E8AE-A8C8302856E4}"/>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ΔΙΑΣΥΜΒΟΛΙΚΗ ΠΑΡΕΜΒΟΛΗ (ISI)</a:t>
            </a:r>
            <a:endParaRPr lang="en-GB" altLang="en-US" sz="2200" b="1">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21D249D1-B581-3132-BC25-78795F80FBFF}"/>
              </a:ext>
            </a:extLst>
          </p:cNvPr>
          <p:cNvSpPr txBox="1">
            <a:spLocks noChangeArrowheads="1"/>
          </p:cNvSpPr>
          <p:nvPr/>
        </p:nvSpPr>
        <p:spPr>
          <a:xfrm>
            <a:off x="238911" y="1070873"/>
            <a:ext cx="8305800" cy="5943600"/>
          </a:xfrm>
          <a:prstGeom prst="rect">
            <a:avLst/>
          </a:prstGeom>
        </p:spPr>
        <p:txBody>
          <a:bodyPr lIns="71113" tIns="35556" rIns="71113" bIns="35556"/>
          <a:lstStyle>
            <a:lvl1pPr marL="342900" indent="-342900" algn="l" rtl="0" eaLnBrk="0" fontAlgn="base" hangingPunct="0">
              <a:spcBef>
                <a:spcPct val="20000"/>
              </a:spcBef>
              <a:spcAft>
                <a:spcPct val="0"/>
              </a:spcAft>
              <a:buSzPct val="75000"/>
              <a:buFont typeface="Monotype Sorts" pitchFamily="2" charset="2"/>
              <a:buChar char="l"/>
              <a:defRPr sz="3200" kern="1200">
                <a:solidFill>
                  <a:srgbClr val="000000"/>
                </a:solidFill>
                <a:latin typeface="+mn-lt"/>
                <a:ea typeface="+mn-ea"/>
                <a:cs typeface="+mn-cs"/>
              </a:defRPr>
            </a:lvl1pPr>
            <a:lvl2pPr marL="742950" indent="-285750" algn="l" rtl="0" eaLnBrk="0" fontAlgn="base" hangingPunct="0">
              <a:spcBef>
                <a:spcPct val="20000"/>
              </a:spcBef>
              <a:spcAft>
                <a:spcPct val="0"/>
              </a:spcAft>
              <a:buSzPct val="75000"/>
              <a:buFont typeface="Monotype Sorts" pitchFamily="2" charset="2"/>
              <a:buChar char="l"/>
              <a:defRPr sz="2800" kern="1200">
                <a:solidFill>
                  <a:srgbClr val="000000"/>
                </a:solidFill>
                <a:latin typeface="+mn-lt"/>
                <a:ea typeface="+mn-ea"/>
                <a:cs typeface="+mn-cs"/>
              </a:defRPr>
            </a:lvl2pPr>
            <a:lvl3pPr marL="1143000" indent="-228600" algn="l" rtl="0" eaLnBrk="0" fontAlgn="base" hangingPunct="0">
              <a:spcBef>
                <a:spcPct val="20000"/>
              </a:spcBef>
              <a:spcAft>
                <a:spcPct val="0"/>
              </a:spcAft>
              <a:buSzPct val="75000"/>
              <a:buFont typeface="Monotype Sorts" pitchFamily="2" charset="2"/>
              <a:buChar char="l"/>
              <a:defRPr sz="2400" kern="1200">
                <a:solidFill>
                  <a:srgbClr val="000000"/>
                </a:solidFill>
                <a:latin typeface="+mn-lt"/>
                <a:ea typeface="+mn-ea"/>
                <a:cs typeface="+mn-cs"/>
              </a:defRPr>
            </a:lvl3pPr>
            <a:lvl4pPr marL="1600200" indent="-228600" algn="l" rtl="0" eaLnBrk="0" fontAlgn="base" hangingPunct="0">
              <a:spcBef>
                <a:spcPct val="20000"/>
              </a:spcBef>
              <a:spcAft>
                <a:spcPct val="0"/>
              </a:spcAft>
              <a:buSzPct val="75000"/>
              <a:buFont typeface="Monotype Sorts" pitchFamily="2" charset="2"/>
              <a:buChar char="l"/>
              <a:defRPr sz="2000" kern="1200">
                <a:solidFill>
                  <a:srgbClr val="000000"/>
                </a:solidFill>
                <a:latin typeface="+mn-lt"/>
                <a:ea typeface="+mn-ea"/>
                <a:cs typeface="+mn-cs"/>
              </a:defRPr>
            </a:lvl4pPr>
            <a:lvl5pPr marL="2057400" indent="-228600" algn="l" rtl="0" eaLnBrk="0" fontAlgn="base" hangingPunct="0">
              <a:spcBef>
                <a:spcPct val="20000"/>
              </a:spcBef>
              <a:spcAft>
                <a:spcPct val="0"/>
              </a:spcAft>
              <a:buSzPct val="75000"/>
              <a:buFont typeface="Monotype Sorts" pitchFamily="2" charset="2"/>
              <a:buChar char="l"/>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8925" indent="-288925" algn="just">
              <a:lnSpc>
                <a:spcPct val="90000"/>
              </a:lnSpc>
              <a:spcBef>
                <a:spcPct val="0"/>
              </a:spcBef>
              <a:buFont typeface="Wingdings" panose="05000000000000000000" pitchFamily="2" charset="2"/>
              <a:buChar char="§"/>
              <a:defRPr/>
            </a:pPr>
            <a:r>
              <a:rPr lang="el-GR" sz="2200" b="1" dirty="0">
                <a:solidFill>
                  <a:srgbClr val="990000"/>
                </a:solidFill>
                <a:latin typeface="Times New Roman" panose="02020603050405020304" pitchFamily="18" charset="0"/>
              </a:rPr>
              <a:t>Στην πράξη μας ενδιαφέρει η μετάδοση ψηφιακών σημάτων μέσα από </a:t>
            </a:r>
            <a:r>
              <a:rPr lang="el-GR" sz="2200" b="1" u="sng" dirty="0" err="1">
                <a:solidFill>
                  <a:srgbClr val="990000"/>
                </a:solidFill>
                <a:latin typeface="Times New Roman" panose="02020603050405020304" pitchFamily="18" charset="0"/>
              </a:rPr>
              <a:t>ζωνοπεριορισμένα</a:t>
            </a:r>
            <a:r>
              <a:rPr lang="el-GR" sz="2200" b="1" dirty="0">
                <a:solidFill>
                  <a:srgbClr val="990000"/>
                </a:solidFill>
                <a:latin typeface="Times New Roman" panose="02020603050405020304" pitchFamily="18" charset="0"/>
              </a:rPr>
              <a:t> κανάλια</a:t>
            </a:r>
            <a:endParaRPr lang="en-US" sz="2200" b="1" dirty="0">
              <a:solidFill>
                <a:srgbClr val="990000"/>
              </a:solidFill>
              <a:latin typeface="Times New Roman" panose="02020603050405020304" pitchFamily="18" charset="0"/>
            </a:endParaRPr>
          </a:p>
          <a:p>
            <a:pPr marL="288925" indent="-288925" algn="just">
              <a:lnSpc>
                <a:spcPct val="90000"/>
              </a:lnSpc>
              <a:spcBef>
                <a:spcPct val="0"/>
              </a:spcBef>
              <a:buFont typeface="Wingdings" panose="05000000000000000000" pitchFamily="2" charset="2"/>
              <a:buChar char="§"/>
              <a:defRPr/>
            </a:pPr>
            <a:endParaRPr lang="el-GR" sz="2200" b="1" dirty="0">
              <a:solidFill>
                <a:srgbClr val="990000"/>
              </a:solidFill>
              <a:latin typeface="Times New Roman" panose="02020603050405020304" pitchFamily="18" charset="0"/>
            </a:endParaRPr>
          </a:p>
          <a:p>
            <a:pPr marL="288925" indent="-288925" algn="just">
              <a:lnSpc>
                <a:spcPct val="90000"/>
              </a:lnSpc>
              <a:spcBef>
                <a:spcPct val="0"/>
              </a:spcBef>
              <a:buFont typeface="Wingdings" panose="05000000000000000000" pitchFamily="2" charset="2"/>
              <a:buChar char="§"/>
              <a:defRPr/>
            </a:pPr>
            <a:r>
              <a:rPr lang="el-GR" sz="2200" b="1" dirty="0">
                <a:solidFill>
                  <a:srgbClr val="990000"/>
                </a:solidFill>
                <a:latin typeface="Times New Roman" panose="02020603050405020304" pitchFamily="18" charset="0"/>
              </a:rPr>
              <a:t>Πράγματι τα περισσότερα κανάλια είναι περιορισμένου εύρους ζώνης, π.χ. :</a:t>
            </a:r>
            <a:r>
              <a:rPr lang="en-US" sz="2200" b="1" dirty="0">
                <a:solidFill>
                  <a:srgbClr val="990000"/>
                </a:solidFill>
                <a:latin typeface="Times New Roman" panose="02020603050405020304" pitchFamily="18" charset="0"/>
              </a:rPr>
              <a:t> </a:t>
            </a:r>
            <a:endParaRPr lang="el-GR" sz="2200" b="1" dirty="0">
              <a:solidFill>
                <a:srgbClr val="990000"/>
              </a:solidFill>
              <a:latin typeface="Times New Roman" panose="02020603050405020304" pitchFamily="18" charset="0"/>
            </a:endParaRPr>
          </a:p>
          <a:p>
            <a:pPr marL="688975" lvl="2" indent="-288925" algn="just">
              <a:lnSpc>
                <a:spcPct val="90000"/>
              </a:lnSpc>
              <a:spcBef>
                <a:spcPct val="0"/>
              </a:spcBef>
              <a:buFont typeface="Wingdings" panose="05000000000000000000" pitchFamily="2" charset="2"/>
              <a:buChar char="§"/>
              <a:defRPr/>
            </a:pPr>
            <a:r>
              <a:rPr lang="el-GR" sz="1800" b="1" dirty="0">
                <a:solidFill>
                  <a:srgbClr val="990000"/>
                </a:solidFill>
                <a:latin typeface="Times New Roman" panose="02020603050405020304" pitchFamily="18" charset="0"/>
              </a:rPr>
              <a:t>Ενσύρματα </a:t>
            </a:r>
            <a:r>
              <a:rPr lang="el-GR" sz="1800" b="1" dirty="0" err="1">
                <a:solidFill>
                  <a:srgbClr val="990000"/>
                </a:solidFill>
                <a:latin typeface="Times New Roman" panose="02020603050405020304" pitchFamily="18" charset="0"/>
              </a:rPr>
              <a:t>ευρυζωνικά</a:t>
            </a:r>
            <a:r>
              <a:rPr lang="el-GR" sz="1800" b="1" dirty="0">
                <a:solidFill>
                  <a:srgbClr val="990000"/>
                </a:solidFill>
                <a:latin typeface="Times New Roman" panose="02020603050405020304" pitchFamily="18" charset="0"/>
              </a:rPr>
              <a:t> κανάλια</a:t>
            </a:r>
            <a:endParaRPr lang="en-US" sz="1800" b="1" dirty="0">
              <a:solidFill>
                <a:srgbClr val="990000"/>
              </a:solidFill>
              <a:latin typeface="Times New Roman" panose="02020603050405020304" pitchFamily="18" charset="0"/>
            </a:endParaRPr>
          </a:p>
          <a:p>
            <a:pPr marL="688975" lvl="2" indent="-288925" algn="just">
              <a:lnSpc>
                <a:spcPct val="90000"/>
              </a:lnSpc>
              <a:spcBef>
                <a:spcPct val="0"/>
              </a:spcBef>
              <a:buFont typeface="Wingdings" panose="05000000000000000000" pitchFamily="2" charset="2"/>
              <a:buChar char="§"/>
              <a:defRPr/>
            </a:pPr>
            <a:r>
              <a:rPr lang="el-GR" sz="1800" b="1" dirty="0">
                <a:solidFill>
                  <a:srgbClr val="990000"/>
                </a:solidFill>
                <a:latin typeface="Times New Roman" panose="02020603050405020304" pitchFamily="18" charset="0"/>
              </a:rPr>
              <a:t>Οπτικές ίνες</a:t>
            </a:r>
          </a:p>
          <a:p>
            <a:pPr marL="688975" lvl="2" indent="-288925" algn="just">
              <a:lnSpc>
                <a:spcPct val="90000"/>
              </a:lnSpc>
              <a:spcBef>
                <a:spcPct val="0"/>
              </a:spcBef>
              <a:buFont typeface="Wingdings" panose="05000000000000000000" pitchFamily="2" charset="2"/>
              <a:buChar char="§"/>
              <a:defRPr/>
            </a:pPr>
            <a:r>
              <a:rPr lang="el-GR" sz="1800" b="1" dirty="0">
                <a:solidFill>
                  <a:srgbClr val="990000"/>
                </a:solidFill>
                <a:latin typeface="Times New Roman" panose="02020603050405020304" pitchFamily="18" charset="0"/>
              </a:rPr>
              <a:t>Ασύρματα επίγεια και δορυφορικά </a:t>
            </a:r>
            <a:r>
              <a:rPr lang="el-GR" sz="1800" b="1" dirty="0" err="1">
                <a:solidFill>
                  <a:srgbClr val="990000"/>
                </a:solidFill>
                <a:latin typeface="Times New Roman" panose="02020603050405020304" pitchFamily="18" charset="0"/>
              </a:rPr>
              <a:t>ραδιοκανάλια</a:t>
            </a:r>
            <a:endParaRPr lang="el-GR" sz="1800" b="1" dirty="0">
              <a:solidFill>
                <a:srgbClr val="990000"/>
              </a:solidFill>
              <a:latin typeface="Times New Roman" panose="02020603050405020304" pitchFamily="18" charset="0"/>
            </a:endParaRPr>
          </a:p>
          <a:p>
            <a:pPr marL="688975" lvl="2" indent="-288925" algn="just">
              <a:lnSpc>
                <a:spcPct val="90000"/>
              </a:lnSpc>
              <a:spcBef>
                <a:spcPct val="0"/>
              </a:spcBef>
              <a:buFont typeface="Wingdings" panose="05000000000000000000" pitchFamily="2" charset="2"/>
              <a:buChar char="§"/>
              <a:defRPr/>
            </a:pPr>
            <a:r>
              <a:rPr lang="el-GR" sz="1800" b="1" dirty="0">
                <a:solidFill>
                  <a:srgbClr val="990000"/>
                </a:solidFill>
                <a:latin typeface="Times New Roman" panose="02020603050405020304" pitchFamily="18" charset="0"/>
              </a:rPr>
              <a:t>Υποβρύχια ακουστικά κανάλια</a:t>
            </a:r>
            <a:endParaRPr lang="en-US" sz="1800" b="1" dirty="0">
              <a:solidFill>
                <a:srgbClr val="990000"/>
              </a:solidFill>
              <a:latin typeface="Times New Roman" panose="02020603050405020304" pitchFamily="18" charset="0"/>
            </a:endParaRPr>
          </a:p>
          <a:p>
            <a:pPr marL="688975" lvl="2" indent="-288925" algn="just">
              <a:lnSpc>
                <a:spcPct val="90000"/>
              </a:lnSpc>
              <a:spcBef>
                <a:spcPct val="0"/>
              </a:spcBef>
              <a:buFont typeface="Wingdings" panose="05000000000000000000" pitchFamily="2" charset="2"/>
              <a:buChar char="§"/>
              <a:defRPr/>
            </a:pPr>
            <a:r>
              <a:rPr lang="el-GR" sz="1800" b="1" dirty="0">
                <a:solidFill>
                  <a:srgbClr val="990000"/>
                </a:solidFill>
                <a:latin typeface="Times New Roman" panose="02020603050405020304" pitchFamily="18" charset="0"/>
              </a:rPr>
              <a:t>Κανάλια εγγραφής και ανάγνωσης </a:t>
            </a:r>
            <a:endParaRPr lang="en-US" sz="1800" b="1" dirty="0">
              <a:solidFill>
                <a:srgbClr val="990000"/>
              </a:solidFill>
              <a:latin typeface="Times New Roman" panose="02020603050405020304" pitchFamily="18" charset="0"/>
            </a:endParaRPr>
          </a:p>
          <a:p>
            <a:pPr marL="688975" lvl="2" indent="-288925" algn="just">
              <a:lnSpc>
                <a:spcPct val="90000"/>
              </a:lnSpc>
              <a:spcBef>
                <a:spcPct val="0"/>
              </a:spcBef>
              <a:buFont typeface="Wingdings" panose="05000000000000000000" pitchFamily="2" charset="2"/>
              <a:buChar char="§"/>
              <a:defRPr/>
            </a:pPr>
            <a:endParaRPr lang="el-GR" sz="1800" b="1" dirty="0">
              <a:solidFill>
                <a:srgbClr val="990000"/>
              </a:solidFill>
              <a:latin typeface="Times New Roman" panose="02020603050405020304" pitchFamily="18" charset="0"/>
            </a:endParaRPr>
          </a:p>
          <a:p>
            <a:pPr marL="288925" indent="-288925" algn="just">
              <a:lnSpc>
                <a:spcPct val="90000"/>
              </a:lnSpc>
              <a:spcBef>
                <a:spcPct val="0"/>
              </a:spcBef>
              <a:buFont typeface="Wingdings" panose="05000000000000000000" pitchFamily="2" charset="2"/>
              <a:buChar char="§"/>
              <a:defRPr/>
            </a:pPr>
            <a:r>
              <a:rPr lang="el-GR" sz="2200" b="1" dirty="0">
                <a:solidFill>
                  <a:srgbClr val="990000"/>
                </a:solidFill>
                <a:latin typeface="Times New Roman" panose="02020603050405020304" pitchFamily="18" charset="0"/>
              </a:rPr>
              <a:t>Το εύρος ζώνης του σήματος θα πρέπει να περιοριστεί στο εύρος ζώνης του καναλιού</a:t>
            </a:r>
            <a:r>
              <a:rPr lang="en-US" sz="2200" b="1" dirty="0">
                <a:solidFill>
                  <a:srgbClr val="990000"/>
                </a:solidFill>
                <a:latin typeface="Times New Roman" panose="02020603050405020304" pitchFamily="18" charset="0"/>
              </a:rPr>
              <a:t> </a:t>
            </a:r>
            <a:endParaRPr lang="el-GR" sz="2200" b="1" dirty="0">
              <a:solidFill>
                <a:srgbClr val="990000"/>
              </a:solidFill>
              <a:latin typeface="Times New Roman" panose="02020603050405020304" pitchFamily="18" charset="0"/>
            </a:endParaRPr>
          </a:p>
          <a:p>
            <a:pPr marL="0" indent="0" eaLnBrk="1" hangingPunct="1">
              <a:buNone/>
              <a:defRPr/>
            </a:pPr>
            <a:endParaRPr lang="en-GB"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736530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C2F25-A8CE-CA64-D5D5-836931F856D9}"/>
            </a:ext>
          </a:extLst>
        </p:cNvPr>
        <p:cNvGrpSpPr/>
        <p:nvPr/>
      </p:nvGrpSpPr>
      <p:grpSpPr>
        <a:xfrm>
          <a:off x="0" y="0"/>
          <a:ext cx="0" cy="0"/>
          <a:chOff x="0" y="0"/>
          <a:chExt cx="0" cy="0"/>
        </a:xfrm>
      </p:grpSpPr>
      <p:sp>
        <p:nvSpPr>
          <p:cNvPr id="4099" name="Text Box 4">
            <a:extLst>
              <a:ext uri="{FF2B5EF4-FFF2-40B4-BE49-F238E27FC236}">
                <a16:creationId xmlns:a16="http://schemas.microsoft.com/office/drawing/2014/main" id="{EC0B1A61-4B17-8351-7ACF-DEA585B49155}"/>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ΔΙΑΣΥΜΒΟΛΙΚΗ ΠΑΡΕΜΒΟΛΗ (ISI)</a:t>
            </a:r>
            <a:endParaRPr lang="en-GB" altLang="en-US" sz="22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4D95F0D-E7E4-15D6-EE46-DC0C26E71FB4}"/>
                  </a:ext>
                </a:extLst>
              </p:cNvPr>
              <p:cNvSpPr txBox="1"/>
              <p:nvPr/>
            </p:nvSpPr>
            <p:spPr>
              <a:xfrm>
                <a:off x="159544" y="1135743"/>
                <a:ext cx="8432006" cy="3139321"/>
              </a:xfrm>
              <a:prstGeom prst="rect">
                <a:avLst/>
              </a:prstGeom>
              <a:noFill/>
            </p:spPr>
            <p:txBody>
              <a:bodyPr wrap="square">
                <a:spAutoFit/>
              </a:bodyPr>
              <a:lstStyle/>
              <a:p>
                <a:pPr marL="342900" indent="-342900" algn="just">
                  <a:lnSpc>
                    <a:spcPct val="90000"/>
                  </a:lnSpc>
                  <a:buFont typeface="Wingdings" panose="05000000000000000000" pitchFamily="2" charset="2"/>
                  <a:buChar char="§"/>
                  <a:defRPr/>
                </a:pPr>
                <a:r>
                  <a:rPr lang="el-GR" sz="2200" b="1" dirty="0">
                    <a:solidFill>
                      <a:srgbClr val="990000"/>
                    </a:solidFill>
                    <a:latin typeface="Times New Roman" panose="02020603050405020304" pitchFamily="18" charset="0"/>
                  </a:rPr>
                  <a:t>Αν το κανάλι είναι </a:t>
                </a:r>
              </a:p>
              <a:p>
                <a:pPr marL="800100" lvl="2" indent="-342900" algn="just">
                  <a:lnSpc>
                    <a:spcPct val="90000"/>
                  </a:lnSpc>
                  <a:buFont typeface="Wingdings" panose="05000000000000000000" pitchFamily="2" charset="2"/>
                  <a:buChar char="ü"/>
                  <a:defRPr/>
                </a:pPr>
                <a:r>
                  <a:rPr lang="el-GR" sz="2200" b="1" dirty="0">
                    <a:solidFill>
                      <a:srgbClr val="990000"/>
                    </a:solidFill>
                    <a:latin typeface="Times New Roman" panose="02020603050405020304" pitchFamily="18" charset="0"/>
                  </a:rPr>
                  <a:t>βασικής ζώνης </a:t>
                </a:r>
              </a:p>
              <a:p>
                <a:pPr marL="800100" lvl="2" indent="-342900" algn="just">
                  <a:lnSpc>
                    <a:spcPct val="90000"/>
                  </a:lnSpc>
                  <a:buFont typeface="Wingdings" panose="05000000000000000000" pitchFamily="2" charset="2"/>
                  <a:buChar char="ü"/>
                  <a:defRPr/>
                </a:pPr>
                <a:r>
                  <a:rPr lang="el-GR" sz="2200" b="1" dirty="0">
                    <a:solidFill>
                      <a:srgbClr val="990000"/>
                    </a:solidFill>
                    <a:latin typeface="Times New Roman" panose="02020603050405020304" pitchFamily="18" charset="0"/>
                  </a:rPr>
                  <a:t>και περιορισμένου εύρους ζώνης </a:t>
                </a:r>
                <a14:m>
                  <m:oMath xmlns:m="http://schemas.openxmlformats.org/officeDocument/2006/math">
                    <m:sSub>
                      <m:sSubPr>
                        <m:ctrlPr>
                          <a:rPr lang="en-US" sz="2200" b="1" i="1" dirty="0" smtClean="0">
                            <a:solidFill>
                              <a:srgbClr val="990000"/>
                            </a:solidFill>
                            <a:latin typeface="Cambria Math" panose="02040503050406030204" pitchFamily="18" charset="0"/>
                          </a:rPr>
                        </m:ctrlPr>
                      </m:sSubPr>
                      <m:e>
                        <m:r>
                          <a:rPr lang="en-US" sz="2200" b="1" i="1" dirty="0" smtClean="0">
                            <a:solidFill>
                              <a:srgbClr val="990000"/>
                            </a:solidFill>
                            <a:latin typeface="Cambria Math" panose="02040503050406030204" pitchFamily="18" charset="0"/>
                          </a:rPr>
                          <m:t>𝑩</m:t>
                        </m:r>
                      </m:e>
                      <m:sub>
                        <m:r>
                          <a:rPr lang="en-US" sz="2200" b="1" i="1" dirty="0" smtClean="0">
                            <a:solidFill>
                              <a:srgbClr val="990000"/>
                            </a:solidFill>
                            <a:latin typeface="Cambria Math" panose="02040503050406030204" pitchFamily="18" charset="0"/>
                          </a:rPr>
                          <m:t>𝒄</m:t>
                        </m:r>
                      </m:sub>
                    </m:sSub>
                  </m:oMath>
                </a14:m>
                <a:r>
                  <a:rPr lang="el-GR" sz="2200" b="1" dirty="0">
                    <a:solidFill>
                      <a:srgbClr val="990000"/>
                    </a:solidFill>
                    <a:latin typeface="Times New Roman" panose="02020603050405020304" pitchFamily="18" charset="0"/>
                  </a:rPr>
                  <a:t>,</a:t>
                </a:r>
              </a:p>
              <a:p>
                <a:pPr marL="288925" indent="-288925" algn="just">
                  <a:lnSpc>
                    <a:spcPct val="90000"/>
                  </a:lnSpc>
                  <a:defRPr/>
                </a:pPr>
                <a:endParaRPr lang="el-GR" sz="2200" b="1" dirty="0">
                  <a:solidFill>
                    <a:srgbClr val="990000"/>
                  </a:solidFill>
                  <a:latin typeface="Times New Roman" panose="02020603050405020304" pitchFamily="18" charset="0"/>
                </a:endParaRPr>
              </a:p>
              <a:p>
                <a:pPr marL="342900" indent="-342900" algn="just">
                  <a:lnSpc>
                    <a:spcPct val="90000"/>
                  </a:lnSpc>
                  <a:buFont typeface="Wingdings" panose="05000000000000000000" pitchFamily="2" charset="2"/>
                  <a:buChar char="§"/>
                  <a:defRPr/>
                </a:pPr>
                <a:r>
                  <a:rPr lang="el-GR" sz="2200" b="1" dirty="0">
                    <a:solidFill>
                      <a:srgbClr val="990000"/>
                    </a:solidFill>
                    <a:latin typeface="Times New Roman" panose="02020603050405020304" pitchFamily="18" charset="0"/>
                  </a:rPr>
                  <a:t>Αυτό πρακτικά σημαίνει ότι αν το σήμα εισόδου του καναλιού έχει </a:t>
                </a:r>
                <a:r>
                  <a:rPr lang="el-GR" sz="2200" b="1" dirty="0" err="1">
                    <a:solidFill>
                      <a:srgbClr val="990000"/>
                    </a:solidFill>
                    <a:latin typeface="Times New Roman" panose="02020603050405020304" pitchFamily="18" charset="0"/>
                  </a:rPr>
                  <a:t>συχνοτικές</a:t>
                </a:r>
                <a:r>
                  <a:rPr lang="el-GR" sz="2200" b="1" dirty="0">
                    <a:solidFill>
                      <a:srgbClr val="990000"/>
                    </a:solidFill>
                    <a:latin typeface="Times New Roman" panose="02020603050405020304" pitchFamily="18" charset="0"/>
                  </a:rPr>
                  <a:t> συνιστώσες με συχνότητες </a:t>
                </a:r>
                <a14:m>
                  <m:oMath xmlns:m="http://schemas.openxmlformats.org/officeDocument/2006/math">
                    <m:r>
                      <a:rPr lang="en-US" sz="2200" b="1" i="1" dirty="0" smtClean="0">
                        <a:solidFill>
                          <a:srgbClr val="990000"/>
                        </a:solidFill>
                        <a:latin typeface="Cambria Math" panose="02040503050406030204" pitchFamily="18" charset="0"/>
                      </a:rPr>
                      <m:t>𝒇</m:t>
                    </m:r>
                    <m:r>
                      <a:rPr lang="el-GR" sz="2200" b="1" i="1" dirty="0">
                        <a:solidFill>
                          <a:srgbClr val="990000"/>
                        </a:solidFill>
                        <a:latin typeface="Cambria Math" panose="02040503050406030204" pitchFamily="18" charset="0"/>
                      </a:rPr>
                      <m:t> </m:t>
                    </m:r>
                    <m:r>
                      <a:rPr lang="en-US" sz="2200" b="1" i="1" dirty="0" smtClean="0">
                        <a:solidFill>
                          <a:srgbClr val="990000"/>
                        </a:solidFill>
                        <a:latin typeface="Cambria Math" panose="02040503050406030204" pitchFamily="18" charset="0"/>
                      </a:rPr>
                      <m:t>&gt;</m:t>
                    </m:r>
                    <m:r>
                      <a:rPr lang="el-GR" sz="2200" b="1" i="1" dirty="0">
                        <a:solidFill>
                          <a:srgbClr val="990000"/>
                        </a:solidFill>
                        <a:latin typeface="Cambria Math" panose="02040503050406030204" pitchFamily="18" charset="0"/>
                      </a:rPr>
                      <m:t> </m:t>
                    </m:r>
                    <m:sSub>
                      <m:sSubPr>
                        <m:ctrlPr>
                          <a:rPr lang="en-US" sz="2200" b="1" i="1" dirty="0" smtClean="0">
                            <a:solidFill>
                              <a:srgbClr val="990000"/>
                            </a:solidFill>
                            <a:latin typeface="Cambria Math" panose="02040503050406030204" pitchFamily="18" charset="0"/>
                          </a:rPr>
                        </m:ctrlPr>
                      </m:sSubPr>
                      <m:e>
                        <m:r>
                          <a:rPr lang="en-US" sz="2200" b="1" i="1" dirty="0" err="1" smtClean="0">
                            <a:solidFill>
                              <a:srgbClr val="990000"/>
                            </a:solidFill>
                            <a:latin typeface="Cambria Math" panose="02040503050406030204" pitchFamily="18" charset="0"/>
                          </a:rPr>
                          <m:t>𝑩</m:t>
                        </m:r>
                      </m:e>
                      <m:sub>
                        <m:r>
                          <a:rPr lang="en-US" sz="2200" b="1" i="1" dirty="0" err="1" smtClean="0">
                            <a:solidFill>
                              <a:srgbClr val="990000"/>
                            </a:solidFill>
                            <a:latin typeface="Cambria Math" panose="02040503050406030204" pitchFamily="18" charset="0"/>
                          </a:rPr>
                          <m:t>𝒄</m:t>
                        </m:r>
                      </m:sub>
                    </m:sSub>
                    <m:r>
                      <a:rPr lang="el-GR" sz="2200" b="1" i="1" dirty="0">
                        <a:solidFill>
                          <a:srgbClr val="990000"/>
                        </a:solidFill>
                        <a:latin typeface="Cambria Math" panose="02040503050406030204" pitchFamily="18" charset="0"/>
                      </a:rPr>
                      <m:t> </m:t>
                    </m:r>
                  </m:oMath>
                </a14:m>
                <a:r>
                  <a:rPr lang="el-GR" sz="2200" b="1" dirty="0">
                    <a:solidFill>
                      <a:srgbClr val="990000"/>
                    </a:solidFill>
                    <a:latin typeface="Times New Roman" panose="02020603050405020304" pitchFamily="18" charset="0"/>
                  </a:rPr>
                  <a:t>, </a:t>
                </a:r>
              </a:p>
              <a:p>
                <a:pPr marL="800100" lvl="2" indent="-342900" algn="just">
                  <a:lnSpc>
                    <a:spcPct val="90000"/>
                  </a:lnSpc>
                  <a:buFont typeface="Wingdings" panose="05000000000000000000" pitchFamily="2" charset="2"/>
                  <a:buChar char="ü"/>
                  <a:defRPr/>
                </a:pPr>
                <a:r>
                  <a:rPr lang="el-GR" sz="2200" b="1" dirty="0">
                    <a:solidFill>
                      <a:srgbClr val="990000"/>
                    </a:solidFill>
                    <a:latin typeface="Times New Roman" panose="02020603050405020304" pitchFamily="18" charset="0"/>
                  </a:rPr>
                  <a:t>τότε οι συνιστώσες αυτές δε θα μεταδοθούν</a:t>
                </a:r>
              </a:p>
              <a:p>
                <a:pPr marL="288925" indent="-288925" algn="just">
                  <a:lnSpc>
                    <a:spcPct val="90000"/>
                  </a:lnSpc>
                  <a:defRPr/>
                </a:pPr>
                <a:endParaRPr lang="el-GR" sz="2200" b="1" dirty="0">
                  <a:solidFill>
                    <a:srgbClr val="990000"/>
                  </a:solidFill>
                  <a:latin typeface="Times New Roman" panose="02020603050405020304" pitchFamily="18" charset="0"/>
                </a:endParaRPr>
              </a:p>
              <a:p>
                <a:pPr marL="342900" indent="-342900" algn="just">
                  <a:lnSpc>
                    <a:spcPct val="90000"/>
                  </a:lnSpc>
                  <a:buFont typeface="Wingdings" panose="05000000000000000000" pitchFamily="2" charset="2"/>
                  <a:buChar char="§"/>
                  <a:defRPr/>
                </a:pPr>
                <a:r>
                  <a:rPr lang="el-GR" sz="2200" b="1" dirty="0">
                    <a:solidFill>
                      <a:srgbClr val="990000"/>
                    </a:solidFill>
                    <a:latin typeface="Times New Roman" panose="02020603050405020304" pitchFamily="18" charset="0"/>
                  </a:rPr>
                  <a:t>Άρα, το φάσμα του μεταδιδόμενου σήματος θα πρέπει να περιορίζεται στο εύρος ζώνης του καναλιού</a:t>
                </a:r>
                <a:endParaRPr lang="en-GB" sz="2200" b="1" dirty="0">
                  <a:solidFill>
                    <a:srgbClr val="990000"/>
                  </a:solidFill>
                  <a:latin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44D95F0D-E7E4-15D6-EE46-DC0C26E71FB4}"/>
                  </a:ext>
                </a:extLst>
              </p:cNvPr>
              <p:cNvSpPr txBox="1">
                <a:spLocks noRot="1" noChangeAspect="1" noMove="1" noResize="1" noEditPoints="1" noAdjustHandles="1" noChangeArrowheads="1" noChangeShapeType="1" noTextEdit="1"/>
              </p:cNvSpPr>
              <p:nvPr/>
            </p:nvSpPr>
            <p:spPr>
              <a:xfrm>
                <a:off x="159544" y="1135743"/>
                <a:ext cx="8432006" cy="3139321"/>
              </a:xfrm>
              <a:prstGeom prst="rect">
                <a:avLst/>
              </a:prstGeom>
              <a:blipFill>
                <a:blip r:embed="rId2"/>
                <a:stretch>
                  <a:fillRect l="-795" t="-2136" r="-940" b="-3107"/>
                </a:stretch>
              </a:blipFill>
            </p:spPr>
            <p:txBody>
              <a:bodyPr/>
              <a:lstStyle/>
              <a:p>
                <a:r>
                  <a:rPr lang="el-GR">
                    <a:noFill/>
                  </a:rPr>
                  <a:t> </a:t>
                </a:r>
              </a:p>
            </p:txBody>
          </p:sp>
        </mc:Fallback>
      </mc:AlternateContent>
    </p:spTree>
    <p:extLst>
      <p:ext uri="{BB962C8B-B14F-4D97-AF65-F5344CB8AC3E}">
        <p14:creationId xmlns:p14="http://schemas.microsoft.com/office/powerpoint/2010/main" val="10072070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0" y="10636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8925" indent="-288925">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Το πρόβλημα της </a:t>
            </a:r>
            <a:r>
              <a:rPr lang="en-US" altLang="en-US" sz="2200" b="1" dirty="0">
                <a:solidFill>
                  <a:srgbClr val="990000"/>
                </a:solidFill>
                <a:latin typeface="Times New Roman" panose="02020603050405020304" pitchFamily="18" charset="0"/>
              </a:rPr>
              <a:t>ISI</a:t>
            </a:r>
            <a:endParaRPr lang="el-GR" altLang="en-US" sz="2200" b="1" dirty="0">
              <a:solidFill>
                <a:srgbClr val="990000"/>
              </a:solidFill>
              <a:latin typeface="Times New Roman" panose="02020603050405020304" pitchFamily="18" charset="0"/>
            </a:endParaRPr>
          </a:p>
        </p:txBody>
      </p:sp>
      <p:sp>
        <p:nvSpPr>
          <p:cNvPr id="4099" name="Text Box 4"/>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ΔΙΑΣΥΜΒΟΛΙΚΗ ΠΑΡΕΜΒΟΛΗ (ISI)</a:t>
            </a:r>
            <a:endParaRPr lang="en-GB" altLang="en-US" sz="2200" b="1">
              <a:latin typeface="Times New Roman" panose="02020603050405020304" pitchFamily="18" charset="0"/>
              <a:cs typeface="Times New Roman" panose="02020603050405020304" pitchFamily="18" charset="0"/>
            </a:endParaRPr>
          </a:p>
        </p:txBody>
      </p:sp>
      <p:pic>
        <p:nvPicPr>
          <p:cNvPr id="4100" name="Picture 33" descr="plse_f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3" y="1581150"/>
            <a:ext cx="3144837"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0" y="10636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8925" indent="-288925">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Το πρόβλημα της </a:t>
            </a:r>
            <a:r>
              <a:rPr lang="en-US" altLang="en-US" sz="2200" b="1">
                <a:solidFill>
                  <a:srgbClr val="990000"/>
                </a:solidFill>
                <a:latin typeface="Times New Roman" panose="02020603050405020304" pitchFamily="18" charset="0"/>
              </a:rPr>
              <a:t>ISI</a:t>
            </a:r>
            <a:endParaRPr lang="el-GR" altLang="en-US" sz="2200" b="1">
              <a:solidFill>
                <a:srgbClr val="990000"/>
              </a:solidFill>
              <a:latin typeface="Times New Roman" panose="02020603050405020304" pitchFamily="18" charset="0"/>
            </a:endParaRPr>
          </a:p>
        </p:txBody>
      </p:sp>
      <p:sp>
        <p:nvSpPr>
          <p:cNvPr id="4099" name="Text Box 4"/>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ΔΙΑΣΥΜΒΟΛΙΚΗ ΠΑΡΕΜΒΟΛΗ (ISI)</a:t>
            </a:r>
            <a:endParaRPr lang="en-GB" altLang="en-US" sz="2200" b="1">
              <a:latin typeface="Times New Roman" panose="02020603050405020304" pitchFamily="18" charset="0"/>
              <a:cs typeface="Times New Roman" panose="02020603050405020304" pitchFamily="18" charset="0"/>
            </a:endParaRPr>
          </a:p>
        </p:txBody>
      </p:sp>
      <p:pic>
        <p:nvPicPr>
          <p:cNvPr id="4100" name="Picture 33" descr="plse_f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3" y="1581150"/>
            <a:ext cx="3144837"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35" descr="ch3fig1"/>
          <p:cNvPicPr>
            <a:picLocks noChangeAspect="1" noChangeArrowheads="1"/>
          </p:cNvPicPr>
          <p:nvPr/>
        </p:nvPicPr>
        <p:blipFill>
          <a:blip r:embed="rId3">
            <a:lum bright="-30000"/>
            <a:extLst>
              <a:ext uri="{28A0092B-C50C-407E-A947-70E740481C1C}">
                <a14:useLocalDpi xmlns:a14="http://schemas.microsoft.com/office/drawing/2010/main" val="0"/>
              </a:ext>
            </a:extLst>
          </a:blip>
          <a:srcRect/>
          <a:stretch>
            <a:fillRect/>
          </a:stretch>
        </p:blipFill>
        <p:spPr bwMode="auto">
          <a:xfrm>
            <a:off x="76200" y="2943225"/>
            <a:ext cx="7935913"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35179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5FF34-7DA5-998A-67C0-A6EDC77BBD48}"/>
            </a:ext>
          </a:extLst>
        </p:cNvPr>
        <p:cNvGrpSpPr/>
        <p:nvPr/>
      </p:nvGrpSpPr>
      <p:grpSpPr>
        <a:xfrm>
          <a:off x="0" y="0"/>
          <a:ext cx="0" cy="0"/>
          <a:chOff x="0" y="0"/>
          <a:chExt cx="0" cy="0"/>
        </a:xfrm>
      </p:grpSpPr>
      <p:sp>
        <p:nvSpPr>
          <p:cNvPr id="5122" name="Text Box 2">
            <a:extLst>
              <a:ext uri="{FF2B5EF4-FFF2-40B4-BE49-F238E27FC236}">
                <a16:creationId xmlns:a16="http://schemas.microsoft.com/office/drawing/2014/main" id="{DC91AE54-92C1-2600-080E-04B85D1BCEEC}"/>
              </a:ext>
            </a:extLst>
          </p:cNvPr>
          <p:cNvSpPr txBox="1">
            <a:spLocks noChangeArrowheads="1"/>
          </p:cNvSpPr>
          <p:nvPr/>
        </p:nvSpPr>
        <p:spPr bwMode="auto">
          <a:xfrm>
            <a:off x="0" y="1063625"/>
            <a:ext cx="8953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Μορφή παλμών για μηδενική </a:t>
            </a:r>
            <a:r>
              <a:rPr lang="el-GR" altLang="en-US" sz="2200" b="1" dirty="0" err="1">
                <a:solidFill>
                  <a:srgbClr val="990000"/>
                </a:solidFill>
                <a:latin typeface="Times New Roman" panose="02020603050405020304" pitchFamily="18" charset="0"/>
                <a:cs typeface="Times New Roman" panose="02020603050405020304" pitchFamily="18" charset="0"/>
              </a:rPr>
              <a:t>διασυμβολική</a:t>
            </a:r>
            <a:r>
              <a:rPr lang="el-GR" altLang="en-US" sz="2200" b="1" dirty="0">
                <a:solidFill>
                  <a:srgbClr val="990000"/>
                </a:solidFill>
                <a:latin typeface="Times New Roman" panose="02020603050405020304" pitchFamily="18" charset="0"/>
                <a:cs typeface="Times New Roman" panose="02020603050405020304" pitchFamily="18" charset="0"/>
              </a:rPr>
              <a:t> παρεμβολή: </a:t>
            </a:r>
            <a:endParaRPr lang="en-US" altLang="en-US" sz="2200" b="1" dirty="0">
              <a:solidFill>
                <a:srgbClr val="990000"/>
              </a:solidFill>
              <a:latin typeface="Times New Roman" panose="02020603050405020304" pitchFamily="18" charset="0"/>
              <a:cs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Φιλτράρισμα καναλιού κατά </a:t>
            </a:r>
            <a:r>
              <a:rPr lang="el-GR" altLang="en-US" sz="2200" b="1" dirty="0" err="1">
                <a:solidFill>
                  <a:srgbClr val="990000"/>
                </a:solidFill>
                <a:latin typeface="Times New Roman" panose="02020603050405020304" pitchFamily="18" charset="0"/>
                <a:cs typeface="Times New Roman" panose="02020603050405020304" pitchFamily="18" charset="0"/>
              </a:rPr>
              <a:t>Nyquist</a:t>
            </a:r>
            <a:r>
              <a:rPr lang="en-GB" altLang="en-US" sz="2200" b="1" dirty="0">
                <a:solidFill>
                  <a:srgbClr val="99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p:txBody>
      </p:sp>
      <p:sp>
        <p:nvSpPr>
          <p:cNvPr id="5123" name="Text Box 3">
            <a:extLst>
              <a:ext uri="{FF2B5EF4-FFF2-40B4-BE49-F238E27FC236}">
                <a16:creationId xmlns:a16="http://schemas.microsoft.com/office/drawing/2014/main" id="{D2EA58F9-25E1-CCBF-07DF-84D1C16BE9AA}"/>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ΔΙΑΣΥΜΒΟΛΙΚΗ ΠΑΡΕΜΒΟΛΗ (ISI)</a:t>
            </a:r>
            <a:endParaRPr lang="en-GB" altLang="en-US" sz="2200" b="1">
              <a:latin typeface="Times New Roman" panose="02020603050405020304" pitchFamily="18" charset="0"/>
              <a:cs typeface="Times New Roman" panose="02020603050405020304" pitchFamily="18" charset="0"/>
            </a:endParaRPr>
          </a:p>
        </p:txBody>
      </p:sp>
      <p:pic>
        <p:nvPicPr>
          <p:cNvPr id="5124" name="Picture 6" descr="nyquist">
            <a:extLst>
              <a:ext uri="{FF2B5EF4-FFF2-40B4-BE49-F238E27FC236}">
                <a16:creationId xmlns:a16="http://schemas.microsoft.com/office/drawing/2014/main" id="{1341FD30-42EF-EDD8-DDEB-75CBAE7163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3" y="1906588"/>
            <a:ext cx="4446587"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A058D89B-DC9F-CBDB-84E0-9B21A594D78F}"/>
              </a:ext>
            </a:extLst>
          </p:cNvPr>
          <p:cNvSpPr txBox="1"/>
          <p:nvPr/>
        </p:nvSpPr>
        <p:spPr>
          <a:xfrm>
            <a:off x="4971617" y="2579256"/>
            <a:ext cx="3852429" cy="2529923"/>
          </a:xfrm>
          <a:prstGeom prst="rect">
            <a:avLst/>
          </a:prstGeom>
          <a:noFill/>
        </p:spPr>
        <p:txBody>
          <a:bodyPr wrap="square">
            <a:spAutoFit/>
          </a:bodyPr>
          <a:lstStyle/>
          <a:p>
            <a:pPr algn="just">
              <a:lnSpc>
                <a:spcPct val="90000"/>
              </a:lnSpc>
            </a:pPr>
            <a:r>
              <a:rPr lang="el-GR" sz="2200" b="1" dirty="0">
                <a:solidFill>
                  <a:srgbClr val="990000"/>
                </a:solidFill>
                <a:latin typeface="Times New Roman" panose="02020603050405020304" pitchFamily="18" charset="0"/>
                <a:cs typeface="Times New Roman" panose="02020603050405020304" pitchFamily="18" charset="0"/>
              </a:rPr>
              <a:t>Η ISI μπορεί να μηδενιστεί αν επιλεγεί ένας παλμός, ο οποίος είναι μη</a:t>
            </a:r>
            <a:r>
              <a:rPr lang="en-US" sz="2200" b="1" dirty="0">
                <a:solidFill>
                  <a:srgbClr val="990000"/>
                </a:solidFill>
                <a:latin typeface="Times New Roman" panose="02020603050405020304" pitchFamily="18" charset="0"/>
                <a:cs typeface="Times New Roman" panose="02020603050405020304" pitchFamily="18" charset="0"/>
              </a:rPr>
              <a:t>-</a:t>
            </a:r>
            <a:r>
              <a:rPr lang="el-GR" sz="2200" b="1" dirty="0">
                <a:solidFill>
                  <a:srgbClr val="990000"/>
                </a:solidFill>
                <a:latin typeface="Times New Roman" panose="02020603050405020304" pitchFamily="18" charset="0"/>
                <a:cs typeface="Times New Roman" panose="02020603050405020304" pitchFamily="18" charset="0"/>
              </a:rPr>
              <a:t>μηδενικός τη χρονική στιγμή δειγματοληψίας του επιθυμητού συμβόλου και μηδενικός τις στιγμές δειγματοληψίας των υπολοίπων συμβόλων.</a:t>
            </a:r>
          </a:p>
        </p:txBody>
      </p:sp>
    </p:spTree>
    <p:extLst>
      <p:ext uri="{BB962C8B-B14F-4D97-AF65-F5344CB8AC3E}">
        <p14:creationId xmlns:p14="http://schemas.microsoft.com/office/powerpoint/2010/main" val="195544259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50780-80D0-DBEF-A3E5-B213D86E6D0C}"/>
            </a:ext>
          </a:extLst>
        </p:cNvPr>
        <p:cNvGrpSpPr/>
        <p:nvPr/>
      </p:nvGrpSpPr>
      <p:grpSpPr>
        <a:xfrm>
          <a:off x="0" y="0"/>
          <a:ext cx="0" cy="0"/>
          <a:chOff x="0" y="0"/>
          <a:chExt cx="0" cy="0"/>
        </a:xfrm>
      </p:grpSpPr>
      <p:sp>
        <p:nvSpPr>
          <p:cNvPr id="5122" name="Text Box 2">
            <a:extLst>
              <a:ext uri="{FF2B5EF4-FFF2-40B4-BE49-F238E27FC236}">
                <a16:creationId xmlns:a16="http://schemas.microsoft.com/office/drawing/2014/main" id="{ACF9A752-2BD9-8D52-3CED-D172E53B172B}"/>
              </a:ext>
            </a:extLst>
          </p:cNvPr>
          <p:cNvSpPr txBox="1">
            <a:spLocks noChangeArrowheads="1"/>
          </p:cNvSpPr>
          <p:nvPr/>
        </p:nvSpPr>
        <p:spPr bwMode="auto">
          <a:xfrm>
            <a:off x="0" y="1063625"/>
            <a:ext cx="8953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Μορφή παλμών για μηδενική </a:t>
            </a:r>
            <a:r>
              <a:rPr lang="el-GR" altLang="en-US" sz="2200" b="1" dirty="0" err="1">
                <a:solidFill>
                  <a:srgbClr val="990000"/>
                </a:solidFill>
                <a:latin typeface="Times New Roman" panose="02020603050405020304" pitchFamily="18" charset="0"/>
                <a:cs typeface="Times New Roman" panose="02020603050405020304" pitchFamily="18" charset="0"/>
              </a:rPr>
              <a:t>διασυμβολική</a:t>
            </a:r>
            <a:r>
              <a:rPr lang="el-GR" altLang="en-US" sz="2200" b="1" dirty="0">
                <a:solidFill>
                  <a:srgbClr val="990000"/>
                </a:solidFill>
                <a:latin typeface="Times New Roman" panose="02020603050405020304" pitchFamily="18" charset="0"/>
                <a:cs typeface="Times New Roman" panose="02020603050405020304" pitchFamily="18" charset="0"/>
              </a:rPr>
              <a:t> παρεμβολή: </a:t>
            </a:r>
            <a:endParaRPr lang="en-US" altLang="en-US" sz="2200" b="1" dirty="0">
              <a:solidFill>
                <a:srgbClr val="990000"/>
              </a:solidFill>
              <a:latin typeface="Times New Roman" panose="02020603050405020304" pitchFamily="18" charset="0"/>
              <a:cs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Φιλτράρισμα καναλιού κατά </a:t>
            </a:r>
            <a:r>
              <a:rPr lang="el-GR" altLang="en-US" sz="2200" b="1" dirty="0" err="1">
                <a:solidFill>
                  <a:srgbClr val="990000"/>
                </a:solidFill>
                <a:latin typeface="Times New Roman" panose="02020603050405020304" pitchFamily="18" charset="0"/>
                <a:cs typeface="Times New Roman" panose="02020603050405020304" pitchFamily="18" charset="0"/>
              </a:rPr>
              <a:t>Nyquist</a:t>
            </a:r>
            <a:r>
              <a:rPr lang="en-GB" altLang="en-US" sz="2200" b="1" dirty="0">
                <a:solidFill>
                  <a:srgbClr val="99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p:txBody>
      </p:sp>
      <p:sp>
        <p:nvSpPr>
          <p:cNvPr id="5123" name="Text Box 3">
            <a:extLst>
              <a:ext uri="{FF2B5EF4-FFF2-40B4-BE49-F238E27FC236}">
                <a16:creationId xmlns:a16="http://schemas.microsoft.com/office/drawing/2014/main" id="{F1C98B3C-852A-5270-66DE-F1D131EAC6A5}"/>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ΔΙΑΣΥΜΒΟΛΙΚΗ ΠΑΡΕΜΒΟΛΗ (ISI)</a:t>
            </a:r>
            <a:endParaRPr lang="en-GB" altLang="en-US" sz="2200" b="1">
              <a:latin typeface="Times New Roman" panose="02020603050405020304" pitchFamily="18" charset="0"/>
              <a:cs typeface="Times New Roman" panose="02020603050405020304" pitchFamily="18" charset="0"/>
            </a:endParaRPr>
          </a:p>
        </p:txBody>
      </p:sp>
      <p:pic>
        <p:nvPicPr>
          <p:cNvPr id="5124" name="Picture 6" descr="nyquist">
            <a:extLst>
              <a:ext uri="{FF2B5EF4-FFF2-40B4-BE49-F238E27FC236}">
                <a16:creationId xmlns:a16="http://schemas.microsoft.com/office/drawing/2014/main" id="{9AF23A49-9E52-38CF-2791-F38283E84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3" y="1906588"/>
            <a:ext cx="4446587"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8" descr="NYQ_PLSE">
            <a:extLst>
              <a:ext uri="{FF2B5EF4-FFF2-40B4-BE49-F238E27FC236}">
                <a16:creationId xmlns:a16="http://schemas.microsoft.com/office/drawing/2014/main" id="{09E1CCDF-854B-C63C-197D-7B18E782B6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5572125"/>
            <a:ext cx="45339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256A984C-BF8A-3BA8-7154-DD0B2348EA95}"/>
              </a:ext>
            </a:extLst>
          </p:cNvPr>
          <p:cNvSpPr txBox="1"/>
          <p:nvPr/>
        </p:nvSpPr>
        <p:spPr>
          <a:xfrm>
            <a:off x="4971617" y="2579256"/>
            <a:ext cx="3852429" cy="2529923"/>
          </a:xfrm>
          <a:prstGeom prst="rect">
            <a:avLst/>
          </a:prstGeom>
          <a:noFill/>
        </p:spPr>
        <p:txBody>
          <a:bodyPr wrap="square">
            <a:spAutoFit/>
          </a:bodyPr>
          <a:lstStyle/>
          <a:p>
            <a:pPr algn="just">
              <a:lnSpc>
                <a:spcPct val="90000"/>
              </a:lnSpc>
            </a:pPr>
            <a:r>
              <a:rPr lang="el-GR" sz="2200" b="1" dirty="0">
                <a:solidFill>
                  <a:srgbClr val="990000"/>
                </a:solidFill>
                <a:latin typeface="Times New Roman" panose="02020603050405020304" pitchFamily="18" charset="0"/>
                <a:cs typeface="Times New Roman" panose="02020603050405020304" pitchFamily="18" charset="0"/>
              </a:rPr>
              <a:t>Η ISI μπορεί να μηδενιστεί αν επιλεγεί ένας παλμός, ο οποίος είναι μη</a:t>
            </a:r>
            <a:r>
              <a:rPr lang="en-US" sz="2200" b="1" dirty="0">
                <a:solidFill>
                  <a:srgbClr val="990000"/>
                </a:solidFill>
                <a:latin typeface="Times New Roman" panose="02020603050405020304" pitchFamily="18" charset="0"/>
                <a:cs typeface="Times New Roman" panose="02020603050405020304" pitchFamily="18" charset="0"/>
              </a:rPr>
              <a:t>-</a:t>
            </a:r>
            <a:r>
              <a:rPr lang="el-GR" sz="2200" b="1" dirty="0">
                <a:solidFill>
                  <a:srgbClr val="990000"/>
                </a:solidFill>
                <a:latin typeface="Times New Roman" panose="02020603050405020304" pitchFamily="18" charset="0"/>
                <a:cs typeface="Times New Roman" panose="02020603050405020304" pitchFamily="18" charset="0"/>
              </a:rPr>
              <a:t>μηδενικός τη χρονική στιγμή δειγματοληψίας του επιθυμητού συμβόλου και μηδενικός τις στιγμές δειγματοληψίας των υπολοίπων συμβόλων.</a:t>
            </a:r>
          </a:p>
        </p:txBody>
      </p:sp>
    </p:spTree>
    <p:extLst>
      <p:ext uri="{BB962C8B-B14F-4D97-AF65-F5344CB8AC3E}">
        <p14:creationId xmlns:p14="http://schemas.microsoft.com/office/powerpoint/2010/main" val="64129690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0" y="1063625"/>
            <a:ext cx="8953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Μορφή παλμών για μηδενική διασυμβολική παρεμβολή: </a:t>
            </a:r>
            <a:endParaRPr lang="en-US" altLang="en-US" sz="2200" b="1">
              <a:solidFill>
                <a:srgbClr val="990000"/>
              </a:solidFill>
              <a:latin typeface="Times New Roman" panose="02020603050405020304" pitchFamily="18" charset="0"/>
              <a:cs typeface="Times New Roman" panose="02020603050405020304" pitchFamily="18" charset="0"/>
            </a:endParaRPr>
          </a:p>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Φιλτράρισμα καναλιού κατά Nyquist</a:t>
            </a:r>
            <a:r>
              <a:rPr lang="en-GB" altLang="en-US" sz="2200" b="1">
                <a:solidFill>
                  <a:srgbClr val="990000"/>
                </a:solidFill>
                <a:latin typeface="Times New Roman" panose="02020603050405020304" pitchFamily="18" charset="0"/>
              </a:rPr>
              <a:t> </a:t>
            </a:r>
            <a:endParaRPr lang="el-GR" altLang="en-US" sz="2200" b="1">
              <a:solidFill>
                <a:srgbClr val="990000"/>
              </a:solidFill>
              <a:latin typeface="Times New Roman" panose="02020603050405020304" pitchFamily="18" charset="0"/>
            </a:endParaRPr>
          </a:p>
        </p:txBody>
      </p:sp>
      <p:sp>
        <p:nvSpPr>
          <p:cNvPr id="6147"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ΔΙΑΣΥΜΒΟΛΙΚΗ ΠΑΡΕΜΒΟΛΗ (ISI)</a:t>
            </a:r>
            <a:endParaRPr lang="en-GB" altLang="en-US" sz="2200" b="1">
              <a:latin typeface="Times New Roman" panose="02020603050405020304" pitchFamily="18" charset="0"/>
              <a:cs typeface="Times New Roman" panose="02020603050405020304" pitchFamily="18" charset="0"/>
            </a:endParaRPr>
          </a:p>
        </p:txBody>
      </p:sp>
      <p:pic>
        <p:nvPicPr>
          <p:cNvPr id="6148" name="Picture 6" descr="ch3fig3"/>
          <p:cNvPicPr>
            <a:picLocks noChangeAspect="1" noChangeArrowheads="1"/>
          </p:cNvPicPr>
          <p:nvPr/>
        </p:nvPicPr>
        <p:blipFill>
          <a:blip r:embed="rId2">
            <a:lum bright="-36000" contrast="18000"/>
            <a:extLst>
              <a:ext uri="{28A0092B-C50C-407E-A947-70E740481C1C}">
                <a14:useLocalDpi xmlns:a14="http://schemas.microsoft.com/office/drawing/2010/main" val="0"/>
              </a:ext>
            </a:extLst>
          </a:blip>
          <a:srcRect/>
          <a:stretch>
            <a:fillRect/>
          </a:stretch>
        </p:blipFill>
        <p:spPr bwMode="auto">
          <a:xfrm>
            <a:off x="157163" y="1890713"/>
            <a:ext cx="85756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1063625"/>
            <a:ext cx="8953500"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Μια συχνά χρησιμοποιούμενη μέθοδος για την υλοποίηση της απόκρισης Nyquist στην πράξη είναι το φίλτρο υψωμένου συνημιτόνου, που ονομάζεται έτσι επειδή η περιοχή μετάβασης από τη ζώνη διέλευσης στη ζώνη αποκοπής ομοιάζει με την μορφή τμήματος συνημιτόνου.</a:t>
            </a:r>
            <a:r>
              <a:rPr lang="en-GB" altLang="en-US" sz="2200" b="1">
                <a:solidFill>
                  <a:srgbClr val="990000"/>
                </a:solidFill>
                <a:latin typeface="Times New Roman" panose="02020603050405020304" pitchFamily="18" charset="0"/>
                <a:cs typeface="Times New Roman" panose="02020603050405020304" pitchFamily="18" charset="0"/>
              </a:rPr>
              <a:t> </a:t>
            </a:r>
            <a:endParaRPr lang="el-GR" altLang="en-US" sz="2200" b="1">
              <a:solidFill>
                <a:srgbClr val="990000"/>
              </a:solidFill>
              <a:latin typeface="Times New Roman" panose="02020603050405020304" pitchFamily="18" charset="0"/>
              <a:cs typeface="Times New Roman" panose="02020603050405020304" pitchFamily="18" charset="0"/>
            </a:endParaRPr>
          </a:p>
        </p:txBody>
      </p:sp>
      <p:sp>
        <p:nvSpPr>
          <p:cNvPr id="7171"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ΦΙΛΤΡΑ ΥΨΩΜΕΝΟΥ ΣΥΝΗΜΙΤΟΝΟΥ</a:t>
            </a:r>
            <a:r>
              <a:rPr lang="en-GB" altLang="en-US" sz="2200" b="1">
                <a:latin typeface="Times New Roman" panose="02020603050405020304" pitchFamily="18" charset="0"/>
                <a:cs typeface="Times New Roman" panose="02020603050405020304" pitchFamily="18" charset="0"/>
              </a:rPr>
              <a:t> </a:t>
            </a:r>
          </a:p>
        </p:txBody>
      </p:sp>
      <p:pic>
        <p:nvPicPr>
          <p:cNvPr id="7172" name="Picture 5" descr="RCFREQ"/>
          <p:cNvPicPr>
            <a:picLocks noChangeAspect="1" noChangeArrowheads="1"/>
          </p:cNvPicPr>
          <p:nvPr/>
        </p:nvPicPr>
        <p:blipFill>
          <a:blip r:embed="rId2">
            <a:lum bright="-36000"/>
            <a:extLst>
              <a:ext uri="{28A0092B-C50C-407E-A947-70E740481C1C}">
                <a14:useLocalDpi xmlns:a14="http://schemas.microsoft.com/office/drawing/2010/main" val="0"/>
              </a:ext>
            </a:extLst>
          </a:blip>
          <a:srcRect/>
          <a:stretch>
            <a:fillRect/>
          </a:stretch>
        </p:blipFill>
        <p:spPr bwMode="auto">
          <a:xfrm>
            <a:off x="47625" y="2393950"/>
            <a:ext cx="371157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7"/>
          <p:cNvSpPr txBox="1">
            <a:spLocks noChangeArrowheads="1"/>
          </p:cNvSpPr>
          <p:nvPr/>
        </p:nvSpPr>
        <p:spPr bwMode="auto">
          <a:xfrm>
            <a:off x="3835400" y="2597150"/>
            <a:ext cx="5118100"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a:solidFill>
                  <a:srgbClr val="990000"/>
                </a:solidFill>
                <a:latin typeface="Times New Roman" panose="02020603050405020304" pitchFamily="18" charset="0"/>
                <a:cs typeface="Times New Roman" panose="02020603050405020304" pitchFamily="18" charset="0"/>
              </a:rPr>
              <a:t>Το εύρος ζώνης Β που καταλαμβάνεται από ένα σήμα δεδομένων που έχει φιλτραριστεί από φίλτρο υψωμένου συνημιτόνου είναι αυξημένο από την ελάχιστη τιμή</a:t>
            </a:r>
            <a:r>
              <a:rPr lang="el-GR" altLang="en-US" sz="2200">
                <a:solidFill>
                  <a:srgbClr val="990000"/>
                </a:solidFill>
                <a:latin typeface="Times New Roman" panose="02020603050405020304" pitchFamily="18" charset="0"/>
              </a:rPr>
              <a:t>:</a:t>
            </a:r>
          </a:p>
          <a:p>
            <a:pPr algn="just">
              <a:lnSpc>
                <a:spcPct val="90000"/>
              </a:lnSpc>
            </a:pPr>
            <a:endParaRPr lang="el-GR" altLang="en-US" sz="2200">
              <a:solidFill>
                <a:srgbClr val="990000"/>
              </a:solidFill>
              <a:latin typeface="Times New Roman" panose="02020603050405020304" pitchFamily="18" charset="0"/>
            </a:endParaRPr>
          </a:p>
          <a:p>
            <a:pPr algn="just">
              <a:lnSpc>
                <a:spcPct val="90000"/>
              </a:lnSpc>
            </a:pPr>
            <a:endParaRPr lang="el-GR" altLang="en-US" sz="2200">
              <a:solidFill>
                <a:srgbClr val="990000"/>
              </a:solidFill>
              <a:latin typeface="Times New Roman" panose="02020603050405020304" pitchFamily="18" charset="0"/>
            </a:endParaRPr>
          </a:p>
          <a:p>
            <a:pPr algn="just">
              <a:lnSpc>
                <a:spcPct val="90000"/>
              </a:lnSpc>
            </a:pPr>
            <a:endParaRPr lang="el-GR" altLang="en-US" sz="2200">
              <a:solidFill>
                <a:srgbClr val="990000"/>
              </a:solidFill>
              <a:latin typeface="Times New Roman" panose="02020603050405020304" pitchFamily="18" charset="0"/>
            </a:endParaRPr>
          </a:p>
          <a:p>
            <a:pPr algn="just">
              <a:lnSpc>
                <a:spcPct val="90000"/>
              </a:lnSpc>
            </a:pPr>
            <a:endParaRPr lang="el-GR" altLang="en-US" sz="2200">
              <a:solidFill>
                <a:srgbClr val="990000"/>
              </a:solidFill>
              <a:latin typeface="Times New Roman" panose="02020603050405020304" pitchFamily="18" charset="0"/>
            </a:endParaRPr>
          </a:p>
          <a:p>
            <a:pPr algn="just">
              <a:lnSpc>
                <a:spcPct val="90000"/>
              </a:lnSpc>
            </a:pPr>
            <a:r>
              <a:rPr lang="el-GR" altLang="en-US" sz="2200">
                <a:solidFill>
                  <a:srgbClr val="990000"/>
                </a:solidFill>
                <a:latin typeface="Times New Roman" panose="02020603050405020304" pitchFamily="18" charset="0"/>
                <a:cs typeface="Times New Roman" panose="02020603050405020304" pitchFamily="18" charset="0"/>
              </a:rPr>
              <a:t>και ισούται με</a:t>
            </a:r>
            <a:r>
              <a:rPr lang="el-GR" altLang="en-US" sz="2200">
                <a:solidFill>
                  <a:srgbClr val="990000"/>
                </a:solidFill>
                <a:latin typeface="Times New Roman" panose="02020603050405020304" pitchFamily="18" charset="0"/>
              </a:rPr>
              <a:t>:</a:t>
            </a:r>
            <a:endParaRPr lang="en-US" altLang="en-US" sz="2200">
              <a:solidFill>
                <a:srgbClr val="990000"/>
              </a:solidFill>
              <a:latin typeface="Times New Roman" panose="02020603050405020304" pitchFamily="18" charset="0"/>
              <a:cs typeface="Times New Roman" panose="02020603050405020304" pitchFamily="18" charset="0"/>
            </a:endParaRPr>
          </a:p>
        </p:txBody>
      </p:sp>
      <p:graphicFrame>
        <p:nvGraphicFramePr>
          <p:cNvPr id="7174" name="Object 8"/>
          <p:cNvGraphicFramePr>
            <a:graphicFrameLocks noChangeAspect="1"/>
          </p:cNvGraphicFramePr>
          <p:nvPr/>
        </p:nvGraphicFramePr>
        <p:xfrm>
          <a:off x="3952875" y="4024313"/>
          <a:ext cx="1517650" cy="962025"/>
        </p:xfrm>
        <a:graphic>
          <a:graphicData uri="http://schemas.openxmlformats.org/presentationml/2006/ole">
            <mc:AlternateContent xmlns:mc="http://schemas.openxmlformats.org/markup-compatibility/2006">
              <mc:Choice xmlns:v="urn:schemas-microsoft-com:vml" Requires="v">
                <p:oleObj r:id="rId3" imgW="672808" imgH="431613" progId="Equation.3">
                  <p:embed/>
                </p:oleObj>
              </mc:Choice>
              <mc:Fallback>
                <p:oleObj r:id="rId3" imgW="672808" imgH="431613" progId="Equation.3">
                  <p:embed/>
                  <p:pic>
                    <p:nvPicPr>
                      <p:cNvPr id="717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75" y="4024313"/>
                        <a:ext cx="15176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5" name="Object 10"/>
          <p:cNvGraphicFramePr>
            <a:graphicFrameLocks noChangeAspect="1"/>
          </p:cNvGraphicFramePr>
          <p:nvPr/>
        </p:nvGraphicFramePr>
        <p:xfrm>
          <a:off x="3952875" y="5549900"/>
          <a:ext cx="2325688" cy="514350"/>
        </p:xfrm>
        <a:graphic>
          <a:graphicData uri="http://schemas.openxmlformats.org/presentationml/2006/ole">
            <mc:AlternateContent xmlns:mc="http://schemas.openxmlformats.org/markup-compatibility/2006">
              <mc:Choice xmlns:v="urn:schemas-microsoft-com:vml" Requires="v">
                <p:oleObj r:id="rId5" imgW="990170" imgH="215806" progId="Equation.3">
                  <p:embed/>
                </p:oleObj>
              </mc:Choice>
              <mc:Fallback>
                <p:oleObj r:id="rId5" imgW="990170" imgH="215806" progId="Equation.3">
                  <p:embed/>
                  <p:pic>
                    <p:nvPicPr>
                      <p:cNvPr id="7175"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75" y="5549900"/>
                        <a:ext cx="232568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0" y="1063625"/>
            <a:ext cx="8953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Συνάρτηση μεταφοράς και κρουστική απόκριση ενός φίλτρου υψωμένου συνημιτόνου</a:t>
            </a:r>
          </a:p>
        </p:txBody>
      </p:sp>
      <p:sp>
        <p:nvSpPr>
          <p:cNvPr id="8195"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ΦΙΛΤΡΑ ΥΨΩΜΕΝΟΥ ΣΥΝΗΜΙΤΟΝΟΥ</a:t>
            </a:r>
            <a:r>
              <a:rPr lang="en-GB" altLang="en-US" sz="2200" b="1">
                <a:latin typeface="Times New Roman" panose="02020603050405020304" pitchFamily="18" charset="0"/>
                <a:cs typeface="Times New Roman" panose="02020603050405020304" pitchFamily="18" charset="0"/>
              </a:rPr>
              <a:t> </a:t>
            </a:r>
          </a:p>
        </p:txBody>
      </p:sp>
      <p:pic>
        <p:nvPicPr>
          <p:cNvPr id="8196" name="Picture 10" descr="F:\01 EDUCATION\02 TEI\01_ΨΗΦΙΑΚΕΣ ΤΗΛΝΙΕΣ\A Bateman Book\PAGES\CH3\INDEPTH\Image139.gif"/>
          <p:cNvPicPr>
            <a:picLocks noChangeAspect="1" noChangeArrowheads="1"/>
          </p:cNvPicPr>
          <p:nvPr/>
        </p:nvPicPr>
        <p:blipFill>
          <a:blip r:embed="rId2" r:link="rId3">
            <a:lum bright="-96000"/>
            <a:extLst>
              <a:ext uri="{28A0092B-C50C-407E-A947-70E740481C1C}">
                <a14:useLocalDpi xmlns:a14="http://schemas.microsoft.com/office/drawing/2010/main" val="0"/>
              </a:ext>
            </a:extLst>
          </a:blip>
          <a:srcRect/>
          <a:stretch>
            <a:fillRect/>
          </a:stretch>
        </p:blipFill>
        <p:spPr bwMode="auto">
          <a:xfrm>
            <a:off x="28575" y="1790700"/>
            <a:ext cx="8829675"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197" name="Object 14"/>
          <p:cNvGraphicFramePr>
            <a:graphicFrameLocks noChangeAspect="1"/>
          </p:cNvGraphicFramePr>
          <p:nvPr/>
        </p:nvGraphicFramePr>
        <p:xfrm>
          <a:off x="142875" y="4152900"/>
          <a:ext cx="4005263" cy="887413"/>
        </p:xfrm>
        <a:graphic>
          <a:graphicData uri="http://schemas.openxmlformats.org/presentationml/2006/ole">
            <mc:AlternateContent xmlns:mc="http://schemas.openxmlformats.org/markup-compatibility/2006">
              <mc:Choice xmlns:v="urn:schemas-microsoft-com:vml" Requires="v">
                <p:oleObj r:id="rId4" imgW="1765300" imgH="393700" progId="Equation.3">
                  <p:embed/>
                </p:oleObj>
              </mc:Choice>
              <mc:Fallback>
                <p:oleObj r:id="rId4" imgW="1765300" imgH="393700" progId="Equation.3">
                  <p:embed/>
                  <p:pic>
                    <p:nvPicPr>
                      <p:cNvPr id="8197"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 y="4152900"/>
                        <a:ext cx="4005263"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2" descr="fig8_11">
            <a:extLst>
              <a:ext uri="{FF2B5EF4-FFF2-40B4-BE49-F238E27FC236}">
                <a16:creationId xmlns:a16="http://schemas.microsoft.com/office/drawing/2014/main" id="{B0118A85-440A-1C48-B2FA-6FD3FE5ED3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4389" y="4125913"/>
            <a:ext cx="3786186" cy="2795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059D57A0-19DA-1655-C01F-62BD60792A16}"/>
              </a:ext>
            </a:extLst>
          </p:cNvPr>
          <p:cNvSpPr>
            <a:spLocks noChangeArrowheads="1"/>
          </p:cNvSpPr>
          <p:nvPr/>
        </p:nvSpPr>
        <p:spPr bwMode="auto">
          <a:xfrm>
            <a:off x="5232401" y="5448300"/>
            <a:ext cx="2520950" cy="243254"/>
          </a:xfrm>
          <a:prstGeom prst="rect">
            <a:avLst/>
          </a:prstGeom>
          <a:solidFill>
            <a:srgbClr val="CCECFF"/>
          </a:solidFill>
          <a:ln w="12700" cap="sq">
            <a:solidFill>
              <a:schemeClr val="tx1"/>
            </a:solidFill>
            <a:miter lim="800000"/>
            <a:headEnd type="none" w="sm" len="sm"/>
            <a:tailEnd type="none" w="sm" len="sm"/>
          </a:ln>
          <a:effectLst/>
        </p:spPr>
        <p:txBody>
          <a:bodyPr lIns="91430" tIns="45715" rIns="91430" bIns="45715"/>
          <a:lstStyle/>
          <a:p>
            <a:pPr marL="342900" indent="-342900" algn="ctr" eaLnBrk="1" hangingPunct="1">
              <a:spcBef>
                <a:spcPct val="20000"/>
              </a:spcBef>
              <a:buClr>
                <a:schemeClr val="tx2"/>
              </a:buClr>
              <a:buSzPct val="75000"/>
              <a:buFont typeface="Wingdings" panose="05000000000000000000" pitchFamily="2" charset="2"/>
              <a:buNone/>
              <a:defRPr/>
            </a:pPr>
            <a:r>
              <a:rPr lang="el-GR" sz="1200" dirty="0">
                <a:effectLst>
                  <a:outerShdw blurRad="38100" dist="38100" dir="2700000" algn="tl">
                    <a:srgbClr val="FFFFFF"/>
                  </a:outerShdw>
                </a:effectLst>
              </a:rPr>
              <a:t>Κρουστική απόκριση</a:t>
            </a:r>
            <a:endParaRPr lang="el-GR" sz="1200" dirty="0">
              <a:effectLst>
                <a:outerShdw blurRad="38100" dist="38100" dir="2700000" algn="tl">
                  <a:srgbClr val="FFFFFF"/>
                </a:outerShdw>
              </a:effectLst>
              <a:sym typeface="Symbol" pitchFamily="18" charset="2"/>
            </a:endParaRPr>
          </a:p>
        </p:txBody>
      </p:sp>
      <p:sp>
        <p:nvSpPr>
          <p:cNvPr id="7" name="Rectangle 6">
            <a:extLst>
              <a:ext uri="{FF2B5EF4-FFF2-40B4-BE49-F238E27FC236}">
                <a16:creationId xmlns:a16="http://schemas.microsoft.com/office/drawing/2014/main" id="{6EEB010D-2985-2CDC-A5F3-6F85F6B99A73}"/>
              </a:ext>
            </a:extLst>
          </p:cNvPr>
          <p:cNvSpPr>
            <a:spLocks noChangeArrowheads="1"/>
          </p:cNvSpPr>
          <p:nvPr/>
        </p:nvSpPr>
        <p:spPr bwMode="auto">
          <a:xfrm>
            <a:off x="5137944" y="6828990"/>
            <a:ext cx="2759075" cy="288165"/>
          </a:xfrm>
          <a:prstGeom prst="rect">
            <a:avLst/>
          </a:prstGeom>
          <a:solidFill>
            <a:srgbClr val="CCFFCC"/>
          </a:solidFill>
          <a:ln w="12700" cap="sq">
            <a:solidFill>
              <a:schemeClr val="tx1"/>
            </a:solidFill>
            <a:miter lim="800000"/>
            <a:headEnd type="none" w="sm" len="sm"/>
            <a:tailEnd type="none" w="sm" len="sm"/>
          </a:ln>
          <a:effectLst/>
        </p:spPr>
        <p:txBody>
          <a:bodyPr lIns="91430" tIns="45715" rIns="91430" bIns="45715"/>
          <a:lstStyle/>
          <a:p>
            <a:pPr marL="342900" indent="-342900" algn="ctr" eaLnBrk="1" hangingPunct="1">
              <a:spcBef>
                <a:spcPct val="20000"/>
              </a:spcBef>
              <a:buClr>
                <a:schemeClr val="tx2"/>
              </a:buClr>
              <a:buSzPct val="75000"/>
              <a:buFont typeface="Wingdings" panose="05000000000000000000" pitchFamily="2" charset="2"/>
              <a:buNone/>
              <a:defRPr/>
            </a:pPr>
            <a:r>
              <a:rPr lang="el-GR" sz="1200" dirty="0">
                <a:effectLst>
                  <a:outerShdw blurRad="38100" dist="38100" dir="2700000" algn="tl">
                    <a:srgbClr val="FFFFFF"/>
                  </a:outerShdw>
                </a:effectLst>
              </a:rPr>
              <a:t>Απόκριση συχνότητας</a:t>
            </a:r>
            <a:endParaRPr lang="el-GR" sz="1200" dirty="0">
              <a:effectLst>
                <a:outerShdw blurRad="38100" dist="38100" dir="2700000" algn="tl">
                  <a:srgbClr val="FFFFFF"/>
                </a:outerShdw>
              </a:effectLst>
              <a:sym typeface="Symbol" pitchFamily="18" charset="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10636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Το φίλτρο (τετραγωνικής) ρίζας υψωμένου </a:t>
            </a:r>
            <a:r>
              <a:rPr lang="el-GR" altLang="en-US" sz="2200" b="1" dirty="0" err="1">
                <a:solidFill>
                  <a:srgbClr val="990000"/>
                </a:solidFill>
                <a:latin typeface="Times New Roman" panose="02020603050405020304" pitchFamily="18" charset="0"/>
                <a:cs typeface="Times New Roman" panose="02020603050405020304" pitchFamily="18" charset="0"/>
              </a:rPr>
              <a:t>συνημιτόνου</a:t>
            </a:r>
            <a:endParaRPr lang="el-GR" altLang="en-US" sz="2200" b="1" dirty="0">
              <a:solidFill>
                <a:srgbClr val="990000"/>
              </a:solidFill>
              <a:latin typeface="Times New Roman" panose="02020603050405020304" pitchFamily="18" charset="0"/>
              <a:cs typeface="Times New Roman" panose="02020603050405020304" pitchFamily="18" charset="0"/>
            </a:endParaRPr>
          </a:p>
        </p:txBody>
      </p:sp>
      <p:sp>
        <p:nvSpPr>
          <p:cNvPr id="9219"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.3</a:t>
            </a:r>
            <a:r>
              <a:rPr lang="el-GR" altLang="en-US" sz="2200" b="1">
                <a:latin typeface="Times New Roman" panose="02020603050405020304" pitchFamily="18" charset="0"/>
                <a:cs typeface="Times New Roman" panose="02020603050405020304" pitchFamily="18" charset="0"/>
              </a:rPr>
              <a:t>	ΦΙΛΤΡΑ ΥΨΩΜΕΝΟΥ ΣΥΝΗΜΙΤΟΝΟΥ</a:t>
            </a:r>
            <a:r>
              <a:rPr lang="en-GB" altLang="en-US" sz="2200" b="1">
                <a:latin typeface="Times New Roman" panose="02020603050405020304" pitchFamily="18" charset="0"/>
                <a:cs typeface="Times New Roman" panose="02020603050405020304" pitchFamily="18" charset="0"/>
              </a:rPr>
              <a:t> </a:t>
            </a:r>
          </a:p>
        </p:txBody>
      </p:sp>
      <p:pic>
        <p:nvPicPr>
          <p:cNvPr id="9220" name="Picture 6" descr="TX&amp;RXF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613" y="1731963"/>
            <a:ext cx="8051800"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Εικόνα 2">
            <a:extLst>
              <a:ext uri="{FF2B5EF4-FFF2-40B4-BE49-F238E27FC236}">
                <a16:creationId xmlns:a16="http://schemas.microsoft.com/office/drawing/2014/main" id="{04287F8E-FC11-98EA-0F94-147BD3980D85}"/>
              </a:ext>
            </a:extLst>
          </p:cNvPr>
          <p:cNvPicPr>
            <a:picLocks noChangeAspect="1"/>
          </p:cNvPicPr>
          <p:nvPr/>
        </p:nvPicPr>
        <p:blipFill>
          <a:blip r:embed="rId4"/>
          <a:stretch>
            <a:fillRect/>
          </a:stretch>
        </p:blipFill>
        <p:spPr>
          <a:xfrm>
            <a:off x="2140495" y="4471535"/>
            <a:ext cx="4672509" cy="2270577"/>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0" y="1063625"/>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Η έννοια του βέλτιστου (προσαρμοσμένου) φίλτρου</a:t>
            </a:r>
            <a:r>
              <a:rPr lang="en-US" altLang="en-US" sz="2200" b="1">
                <a:solidFill>
                  <a:srgbClr val="990000"/>
                </a:solidFill>
                <a:latin typeface="Times New Roman" panose="02020603050405020304" pitchFamily="18" charset="0"/>
                <a:cs typeface="Times New Roman" panose="02020603050405020304" pitchFamily="18" charset="0"/>
              </a:rPr>
              <a:t> </a:t>
            </a:r>
            <a:endParaRPr lang="el-GR" altLang="en-US" sz="2200" b="1">
              <a:solidFill>
                <a:srgbClr val="990000"/>
              </a:solidFill>
              <a:latin typeface="Times New Roman" panose="02020603050405020304" pitchFamily="18" charset="0"/>
              <a:cs typeface="Times New Roman" panose="02020603050405020304" pitchFamily="18" charset="0"/>
            </a:endParaRPr>
          </a:p>
        </p:txBody>
      </p:sp>
      <p:sp>
        <p:nvSpPr>
          <p:cNvPr id="11267"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cs typeface="Times New Roman" panose="02020603050405020304" pitchFamily="18" charset="0"/>
              </a:rPr>
              <a:t>.4</a:t>
            </a:r>
            <a:r>
              <a:rPr lang="el-GR" altLang="en-US" sz="2200" b="1">
                <a:latin typeface="Times New Roman" panose="02020603050405020304" pitchFamily="18" charset="0"/>
                <a:cs typeface="Times New Roman" panose="02020603050405020304" pitchFamily="18" charset="0"/>
              </a:rPr>
              <a:t>	ΠΡΟΣΑΡΜΟΣΜΕΝΑ ΦΙΛΤΡΑ</a:t>
            </a:r>
            <a:endParaRPr lang="en-GB" altLang="en-US" sz="2200" b="1">
              <a:latin typeface="Times New Roman" panose="02020603050405020304" pitchFamily="18" charset="0"/>
              <a:cs typeface="Times New Roman" panose="02020603050405020304" pitchFamily="18" charset="0"/>
            </a:endParaRPr>
          </a:p>
        </p:txBody>
      </p:sp>
      <p:pic>
        <p:nvPicPr>
          <p:cNvPr id="11268" name="Picture 10" descr="OPT_AV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1669702"/>
            <a:ext cx="2328863" cy="321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Box 11"/>
          <p:cNvSpPr txBox="1">
            <a:spLocks noChangeArrowheads="1"/>
          </p:cNvSpPr>
          <p:nvPr/>
        </p:nvSpPr>
        <p:spPr bwMode="auto">
          <a:xfrm>
            <a:off x="2544763" y="1622425"/>
            <a:ext cx="6396037"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Ο τύπος φίλτρου μέσης τιμής που θα δώσει τον καλύτερο λόγο S/N στο σημείο δειγματοληψίας εξαρτάται αποκλειστικά από το σχήμα των συμβόλων που χρησιμοποιούνται.</a:t>
            </a:r>
            <a:r>
              <a:rPr lang="en-US" altLang="en-US" sz="2200" b="1" dirty="0">
                <a:solidFill>
                  <a:srgbClr val="990000"/>
                </a:solidFill>
                <a:latin typeface="Times New Roman" panose="02020603050405020304" pitchFamily="18" charset="0"/>
                <a:cs typeface="Times New Roman" panose="02020603050405020304" pitchFamily="18" charset="0"/>
              </a:rPr>
              <a:t> </a:t>
            </a:r>
            <a:endParaRPr lang="el-GR" altLang="en-US" sz="2200" b="1" dirty="0">
              <a:solidFill>
                <a:srgbClr val="99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2EC970-28B2-33DB-0848-57F6F8BF9C24}"/>
              </a:ext>
            </a:extLst>
          </p:cNvPr>
          <p:cNvSpPr txBox="1"/>
          <p:nvPr/>
        </p:nvSpPr>
        <p:spPr>
          <a:xfrm>
            <a:off x="2902743" y="3111500"/>
            <a:ext cx="5755481" cy="2800767"/>
          </a:xfrm>
          <a:prstGeom prst="rect">
            <a:avLst/>
          </a:prstGeom>
          <a:noFill/>
        </p:spPr>
        <p:txBody>
          <a:bodyPr wrap="square">
            <a:spAutoFit/>
          </a:bodyPr>
          <a:lstStyle/>
          <a:p>
            <a:pPr marL="342900" indent="-342900">
              <a:buFont typeface="+mj-lt"/>
              <a:buAutoNum type="arabicPeriod"/>
            </a:pPr>
            <a:r>
              <a:rPr lang="el-GR" sz="1600" b="1" u="sng" dirty="0">
                <a:solidFill>
                  <a:srgbClr val="990000"/>
                </a:solidFill>
                <a:latin typeface="Times New Roman" panose="02020603050405020304" pitchFamily="18" charset="0"/>
                <a:cs typeface="Times New Roman" panose="02020603050405020304" pitchFamily="18" charset="0"/>
              </a:rPr>
              <a:t>Τετραγωνικός παλμός</a:t>
            </a:r>
            <a:r>
              <a:rPr lang="el-GR" sz="1600" b="1" dirty="0">
                <a:solidFill>
                  <a:srgbClr val="990000"/>
                </a:solidFill>
                <a:latin typeface="Times New Roman" panose="02020603050405020304" pitchFamily="18" charset="0"/>
                <a:cs typeface="Times New Roman" panose="02020603050405020304" pitchFamily="18" charset="0"/>
              </a:rPr>
              <a:t>: ο λόγος S/N σε κάθε σημείο του συμβόλου είναι περίπου σταθερός και μια διαδικασία μέσης τιμής που δίνει ίσο βάρος σε κάθε σημείο θα ήταν βέλτιστη </a:t>
            </a:r>
            <a:r>
              <a:rPr lang="en-US" sz="1600" b="1" dirty="0">
                <a:solidFill>
                  <a:srgbClr val="990000"/>
                </a:solidFill>
                <a:latin typeface="Times New Roman" panose="02020603050405020304" pitchFamily="18" charset="0"/>
                <a:cs typeface="Times New Roman" panose="02020603050405020304" pitchFamily="18" charset="0"/>
              </a:rPr>
              <a:t>(</a:t>
            </a:r>
            <a:r>
              <a:rPr lang="el-GR" sz="1600" b="1" dirty="0" err="1">
                <a:solidFill>
                  <a:srgbClr val="990000"/>
                </a:solidFill>
                <a:latin typeface="Times New Roman" panose="02020603050405020304" pitchFamily="18" charset="0"/>
                <a:cs typeface="Times New Roman" panose="02020603050405020304" pitchFamily="18" charset="0"/>
              </a:rPr>
              <a:t>ολοκληρωτής</a:t>
            </a:r>
            <a:r>
              <a:rPr lang="el-GR" sz="1600" b="1" dirty="0">
                <a:solidFill>
                  <a:srgbClr val="990000"/>
                </a:solidFill>
                <a:latin typeface="Times New Roman" panose="02020603050405020304" pitchFamily="18" charset="0"/>
                <a:cs typeface="Times New Roman" panose="02020603050405020304" pitchFamily="18" charset="0"/>
              </a:rPr>
              <a:t> ή </a:t>
            </a:r>
            <a:r>
              <a:rPr lang="en-US" sz="1600" b="1" dirty="0">
                <a:solidFill>
                  <a:srgbClr val="990000"/>
                </a:solidFill>
                <a:latin typeface="Times New Roman" panose="02020603050405020304" pitchFamily="18" charset="0"/>
                <a:cs typeface="Times New Roman" panose="02020603050405020304" pitchFamily="18" charset="0"/>
              </a:rPr>
              <a:t>integrate and dump filter)</a:t>
            </a:r>
            <a:r>
              <a:rPr lang="el-GR" sz="1600" b="1" dirty="0">
                <a:solidFill>
                  <a:srgbClr val="990000"/>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1600" b="1" dirty="0">
              <a:solidFill>
                <a:srgbClr val="990000"/>
              </a:solidFill>
              <a:latin typeface="Times New Roman" panose="02020603050405020304" pitchFamily="18" charset="0"/>
              <a:cs typeface="Times New Roman" panose="02020603050405020304" pitchFamily="18" charset="0"/>
            </a:endParaRPr>
          </a:p>
          <a:p>
            <a:pPr marL="342900" indent="-342900">
              <a:buFont typeface="+mj-lt"/>
              <a:buAutoNum type="arabicPeriod" startAt="2"/>
            </a:pPr>
            <a:r>
              <a:rPr lang="el-GR" sz="1600" b="1" u="sng" dirty="0">
                <a:solidFill>
                  <a:srgbClr val="990000"/>
                </a:solidFill>
                <a:latin typeface="Times New Roman" panose="02020603050405020304" pitchFamily="18" charset="0"/>
                <a:cs typeface="Times New Roman" panose="02020603050405020304" pitchFamily="18" charset="0"/>
              </a:rPr>
              <a:t>Στρογγυλεμένος παλμός</a:t>
            </a:r>
            <a:r>
              <a:rPr lang="el-GR" sz="1600" b="1" dirty="0">
                <a:solidFill>
                  <a:srgbClr val="990000"/>
                </a:solidFill>
                <a:latin typeface="Times New Roman" panose="02020603050405020304" pitchFamily="18" charset="0"/>
                <a:cs typeface="Times New Roman" panose="02020603050405020304" pitchFamily="18" charset="0"/>
              </a:rPr>
              <a:t>: ο λόγος S/N είναι μεγαλύτερος στο κέντρο του παλμού από ό,τι στις άκρες, και έτσι θα είχε νόημα να δίνεται μεγαλύτερο βάρος στην κεντρική περιοχή παρά στις άκρες του συμβόλου κατά τη διαδικασία μέσης τιμής. Επομένως, το </a:t>
            </a:r>
            <a:r>
              <a:rPr lang="en-US" sz="1600" b="1" dirty="0">
                <a:solidFill>
                  <a:srgbClr val="990000"/>
                </a:solidFill>
                <a:latin typeface="Times New Roman" panose="02020603050405020304" pitchFamily="18" charset="0"/>
                <a:cs typeface="Times New Roman" panose="02020603050405020304" pitchFamily="18" charset="0"/>
              </a:rPr>
              <a:t>integrate and dump filter </a:t>
            </a:r>
            <a:r>
              <a:rPr lang="el-GR" sz="1600" b="1" dirty="0">
                <a:solidFill>
                  <a:srgbClr val="990000"/>
                </a:solidFill>
                <a:latin typeface="Times New Roman" panose="02020603050405020304" pitchFamily="18" charset="0"/>
                <a:cs typeface="Times New Roman" panose="02020603050405020304" pitchFamily="18" charset="0"/>
              </a:rPr>
              <a:t>δεν θα ήταν βέλτιστο για αυτό το σχήμα συμβόλου.</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0" y="1063625"/>
            <a:ext cx="8953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Κριτήρια για προσαρμοσμένα φίλτρα, παρουσία λευκού γκαουσιανού θορύβου</a:t>
            </a:r>
            <a:r>
              <a:rPr lang="en-US" altLang="en-US"/>
              <a:t> </a:t>
            </a:r>
            <a:endParaRPr lang="el-GR" altLang="en-US"/>
          </a:p>
        </p:txBody>
      </p:sp>
      <p:sp>
        <p:nvSpPr>
          <p:cNvPr id="12291"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rPr>
              <a:t>.4</a:t>
            </a:r>
            <a:r>
              <a:rPr lang="el-GR" altLang="en-US" sz="2200" b="1">
                <a:latin typeface="Times New Roman" panose="02020603050405020304" pitchFamily="18" charset="0"/>
              </a:rPr>
              <a:t>	ΠΡΟΣΑΡΜΟΣΜΕΝΑ ΦΙΛΤΡΑ</a:t>
            </a:r>
            <a:endParaRPr lang="en-GB" altLang="en-US" sz="2200" b="1">
              <a:latin typeface="Times New Roman" panose="02020603050405020304" pitchFamily="18" charset="0"/>
            </a:endParaRPr>
          </a:p>
        </p:txBody>
      </p:sp>
      <p:sp>
        <p:nvSpPr>
          <p:cNvPr id="12292" name="Rectangle 6"/>
          <p:cNvSpPr>
            <a:spLocks noChangeArrowheads="1"/>
          </p:cNvSpPr>
          <p:nvPr/>
        </p:nvSpPr>
        <p:spPr bwMode="auto">
          <a:xfrm>
            <a:off x="0" y="338613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2293" name="Rectangle 8"/>
          <p:cNvSpPr>
            <a:spLocks noChangeArrowheads="1"/>
          </p:cNvSpPr>
          <p:nvPr/>
        </p:nvSpPr>
        <p:spPr bwMode="auto">
          <a:xfrm>
            <a:off x="0" y="338613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2294" name="Object 7"/>
          <p:cNvGraphicFramePr>
            <a:graphicFrameLocks noChangeAspect="1"/>
          </p:cNvGraphicFramePr>
          <p:nvPr/>
        </p:nvGraphicFramePr>
        <p:xfrm>
          <a:off x="141288" y="1854200"/>
          <a:ext cx="7718425" cy="1149350"/>
        </p:xfrm>
        <a:graphic>
          <a:graphicData uri="http://schemas.openxmlformats.org/presentationml/2006/ole">
            <mc:AlternateContent xmlns:mc="http://schemas.openxmlformats.org/markup-compatibility/2006">
              <mc:Choice xmlns:v="urn:schemas-microsoft-com:vml" Requires="v">
                <p:oleObj name="Equation" r:id="rId2" imgW="3136900" imgH="469900" progId="Equation.3">
                  <p:embed/>
                </p:oleObj>
              </mc:Choice>
              <mc:Fallback>
                <p:oleObj name="Equation" r:id="rId2" imgW="3136900" imgH="469900" progId="Equation.3">
                  <p:embed/>
                  <p:pic>
                    <p:nvPicPr>
                      <p:cNvPr id="12294"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88" y="1854200"/>
                        <a:ext cx="7718425"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5" name="Text Box 9"/>
          <p:cNvSpPr txBox="1">
            <a:spLocks noChangeArrowheads="1"/>
          </p:cNvSpPr>
          <p:nvPr/>
        </p:nvSpPr>
        <p:spPr bwMode="auto">
          <a:xfrm>
            <a:off x="6350" y="3194050"/>
            <a:ext cx="89535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Η κρουστική απόκριση ενός προσαρμοσμένου φίλτρου θα πρέπει να είναι η χρονικά αντεστραμμένη και καθυστερημένη εκδοχή του συμβόλου εισόδου s(t).</a:t>
            </a:r>
            <a:r>
              <a:rPr lang="en-US" altLang="en-US" sz="2200" b="1">
                <a:solidFill>
                  <a:srgbClr val="990000"/>
                </a:solidFill>
                <a:latin typeface="Times New Roman" panose="02020603050405020304" pitchFamily="18" charset="0"/>
                <a:cs typeface="Times New Roman" panose="02020603050405020304" pitchFamily="18" charset="0"/>
              </a:rPr>
              <a:t> </a:t>
            </a:r>
            <a:endParaRPr lang="el-GR" altLang="en-US" sz="2200" b="1">
              <a:solidFill>
                <a:srgbClr val="990000"/>
              </a:solidFill>
              <a:latin typeface="Times New Roman" panose="02020603050405020304" pitchFamily="18" charset="0"/>
              <a:cs typeface="Times New Roman" panose="02020603050405020304" pitchFamily="18" charset="0"/>
            </a:endParaRPr>
          </a:p>
        </p:txBody>
      </p:sp>
      <p:pic>
        <p:nvPicPr>
          <p:cNvPr id="12296" name="Picture 10" descr="MATCH_F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 y="4473575"/>
            <a:ext cx="8383588"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A2DA6-B685-1EA3-4EEE-D005354B69A3}"/>
            </a:ext>
          </a:extLst>
        </p:cNvPr>
        <p:cNvGrpSpPr/>
        <p:nvPr/>
      </p:nvGrpSpPr>
      <p:grpSpPr>
        <a:xfrm>
          <a:off x="0" y="0"/>
          <a:ext cx="0" cy="0"/>
          <a:chOff x="0" y="0"/>
          <a:chExt cx="0" cy="0"/>
        </a:xfrm>
      </p:grpSpPr>
      <p:sp>
        <p:nvSpPr>
          <p:cNvPr id="12290" name="Text Box 2">
            <a:extLst>
              <a:ext uri="{FF2B5EF4-FFF2-40B4-BE49-F238E27FC236}">
                <a16:creationId xmlns:a16="http://schemas.microsoft.com/office/drawing/2014/main" id="{4DE8846F-6DC2-69F0-C0F7-1A40AC0A922C}"/>
              </a:ext>
            </a:extLst>
          </p:cNvPr>
          <p:cNvSpPr txBox="1">
            <a:spLocks noChangeArrowheads="1"/>
          </p:cNvSpPr>
          <p:nvPr/>
        </p:nvSpPr>
        <p:spPr bwMode="auto">
          <a:xfrm>
            <a:off x="0" y="1063625"/>
            <a:ext cx="8953500"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Βασικές υποθέσεις: 1) γνωστό το σχήμα των συμβόλων που χρησιμοποιείται, 2) το σχήμα του συμβόλου δεν παραμορφώνεται από το κανάλι, 3) προσθετικός και λευκός </a:t>
            </a:r>
            <a:r>
              <a:rPr lang="en-US" altLang="en-US" sz="2200" b="1" dirty="0">
                <a:solidFill>
                  <a:srgbClr val="990000"/>
                </a:solidFill>
                <a:latin typeface="Times New Roman" panose="02020603050405020304" pitchFamily="18" charset="0"/>
                <a:cs typeface="Times New Roman" panose="02020603050405020304" pitchFamily="18" charset="0"/>
              </a:rPr>
              <a:t>Gaussian </a:t>
            </a:r>
            <a:r>
              <a:rPr lang="el-GR" altLang="en-US" sz="2200" b="1" dirty="0">
                <a:solidFill>
                  <a:srgbClr val="990000"/>
                </a:solidFill>
                <a:latin typeface="Times New Roman" panose="02020603050405020304" pitchFamily="18" charset="0"/>
                <a:cs typeface="Times New Roman" panose="02020603050405020304" pitchFamily="18" charset="0"/>
              </a:rPr>
              <a:t>θόρυβος</a:t>
            </a:r>
          </a:p>
          <a:p>
            <a:pPr algn="just">
              <a:lnSpc>
                <a:spcPct val="90000"/>
              </a:lnSpc>
            </a:pPr>
            <a:endParaRPr lang="el-GR" altLang="en-US" sz="2200" b="1" dirty="0">
              <a:solidFill>
                <a:srgbClr val="990000"/>
              </a:solidFill>
              <a:latin typeface="Times New Roman" panose="02020603050405020304" pitchFamily="18" charset="0"/>
              <a:cs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cs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Επιπλέον: Εάν μπορώ να αντιμετωπίσω την παραμόρφωση του καναλιού, τότε εισάγεται η έννοια του ζεύγους προσαρμοσμένου φίλτρου</a:t>
            </a:r>
            <a:r>
              <a:rPr lang="en-US" altLang="en-US" sz="2200" b="1" dirty="0">
                <a:solidFill>
                  <a:srgbClr val="990000"/>
                </a:solidFill>
                <a:latin typeface="Times New Roman" panose="02020603050405020304" pitchFamily="18" charset="0"/>
                <a:cs typeface="Times New Roman" panose="02020603050405020304" pitchFamily="18" charset="0"/>
              </a:rPr>
              <a:t>:</a:t>
            </a:r>
          </a:p>
          <a:p>
            <a:pPr marL="342900" indent="-342900" algn="just">
              <a:lnSpc>
                <a:spcPct val="90000"/>
              </a:lnSpc>
              <a:buFont typeface="+mj-lt"/>
              <a:buAutoNum type="arabicPeriod"/>
            </a:pPr>
            <a:r>
              <a:rPr lang="el-GR" altLang="en-US" sz="2200" b="1" dirty="0">
                <a:solidFill>
                  <a:srgbClr val="990000"/>
                </a:solidFill>
                <a:latin typeface="Times New Roman" panose="02020603050405020304" pitchFamily="18" charset="0"/>
                <a:cs typeface="Times New Roman" panose="02020603050405020304" pitchFamily="18" charset="0"/>
              </a:rPr>
              <a:t>Φίλτρο πομπού για κατάλληλο σχήμα του παλμού που θα μεταδοθεί (αποφυγή </a:t>
            </a:r>
            <a:r>
              <a:rPr lang="en-US" altLang="en-US" sz="2200" b="1" dirty="0">
                <a:solidFill>
                  <a:srgbClr val="990000"/>
                </a:solidFill>
                <a:latin typeface="Times New Roman" panose="02020603050405020304" pitchFamily="18" charset="0"/>
                <a:cs typeface="Times New Roman" panose="02020603050405020304" pitchFamily="18" charset="0"/>
              </a:rPr>
              <a:t>ISI)</a:t>
            </a:r>
          </a:p>
          <a:p>
            <a:pPr marL="342900" indent="-342900" algn="just">
              <a:lnSpc>
                <a:spcPct val="90000"/>
              </a:lnSpc>
              <a:buFont typeface="+mj-lt"/>
              <a:buAutoNum type="arabicPeriod"/>
            </a:pPr>
            <a:r>
              <a:rPr lang="el-GR" altLang="en-US" sz="2200" b="1" dirty="0">
                <a:solidFill>
                  <a:srgbClr val="990000"/>
                </a:solidFill>
                <a:latin typeface="Times New Roman" panose="02020603050405020304" pitchFamily="18" charset="0"/>
                <a:cs typeface="Times New Roman" panose="02020603050405020304" pitchFamily="18" charset="0"/>
              </a:rPr>
              <a:t>Φίλτρο δέκτη για μεγιστοποίηση </a:t>
            </a:r>
            <a:r>
              <a:rPr lang="en-US" altLang="en-US" sz="2200" b="1" dirty="0">
                <a:solidFill>
                  <a:srgbClr val="990000"/>
                </a:solidFill>
                <a:latin typeface="Times New Roman" panose="02020603050405020304" pitchFamily="18" charset="0"/>
                <a:cs typeface="Times New Roman" panose="02020603050405020304" pitchFamily="18" charset="0"/>
              </a:rPr>
              <a:t>S/N </a:t>
            </a:r>
            <a:r>
              <a:rPr lang="el-GR" altLang="en-US" sz="2200" b="1" dirty="0">
                <a:solidFill>
                  <a:srgbClr val="990000"/>
                </a:solidFill>
                <a:latin typeface="Times New Roman" panose="02020603050405020304" pitchFamily="18" charset="0"/>
                <a:cs typeface="Times New Roman" panose="02020603050405020304" pitchFamily="18" charset="0"/>
              </a:rPr>
              <a:t>(μείωση της επίδρασης του θορύβου για την καλύτερη ανίχνευση συμβόλου)</a:t>
            </a:r>
          </a:p>
          <a:p>
            <a:pPr marL="342900" indent="-342900" algn="just">
              <a:lnSpc>
                <a:spcPct val="90000"/>
              </a:lnSpc>
              <a:buFont typeface="+mj-lt"/>
              <a:buAutoNum type="arabicPeriod"/>
            </a:pPr>
            <a:endParaRPr lang="el-GR" altLang="en-US" sz="2200" b="1" dirty="0">
              <a:solidFill>
                <a:srgbClr val="990000"/>
              </a:solidFill>
              <a:latin typeface="Times New Roman" panose="02020603050405020304" pitchFamily="18" charset="0"/>
              <a:cs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Το φίλτρο (τετραγωνικής ρίζας) υψωμένου συνημίτονου ικανοποιεί και την απαίτηση για φιλτράρισμα κατά </a:t>
            </a:r>
            <a:r>
              <a:rPr lang="en-US" altLang="en-US" sz="2200" b="1" dirty="0">
                <a:solidFill>
                  <a:srgbClr val="990000"/>
                </a:solidFill>
                <a:latin typeface="Times New Roman" panose="02020603050405020304" pitchFamily="18" charset="0"/>
                <a:cs typeface="Times New Roman" panose="02020603050405020304" pitchFamily="18" charset="0"/>
              </a:rPr>
              <a:t>Nyquist </a:t>
            </a:r>
            <a:r>
              <a:rPr lang="el-GR" altLang="en-US" sz="2200" b="1" dirty="0">
                <a:solidFill>
                  <a:srgbClr val="990000"/>
                </a:solidFill>
                <a:latin typeface="Times New Roman" panose="02020603050405020304" pitchFamily="18" charset="0"/>
                <a:cs typeface="Times New Roman" panose="02020603050405020304" pitchFamily="18" charset="0"/>
              </a:rPr>
              <a:t>στον πομπό, και την μεγιστοποίηση του </a:t>
            </a:r>
            <a:r>
              <a:rPr lang="en-US" altLang="en-US" sz="2200" b="1" dirty="0">
                <a:solidFill>
                  <a:srgbClr val="990000"/>
                </a:solidFill>
                <a:latin typeface="Times New Roman" panose="02020603050405020304" pitchFamily="18" charset="0"/>
                <a:cs typeface="Times New Roman" panose="02020603050405020304" pitchFamily="18" charset="0"/>
              </a:rPr>
              <a:t>S/N </a:t>
            </a:r>
            <a:r>
              <a:rPr lang="el-GR" altLang="en-US" sz="2200" b="1" dirty="0">
                <a:solidFill>
                  <a:srgbClr val="990000"/>
                </a:solidFill>
                <a:latin typeface="Times New Roman" panose="02020603050405020304" pitchFamily="18" charset="0"/>
                <a:cs typeface="Times New Roman" panose="02020603050405020304" pitchFamily="18" charset="0"/>
              </a:rPr>
              <a:t>στον δέκτη -&gt; ζεύγος προσαρμοσμένου φίλτρου</a:t>
            </a:r>
          </a:p>
        </p:txBody>
      </p:sp>
      <p:sp>
        <p:nvSpPr>
          <p:cNvPr id="12291" name="Text Box 3">
            <a:extLst>
              <a:ext uri="{FF2B5EF4-FFF2-40B4-BE49-F238E27FC236}">
                <a16:creationId xmlns:a16="http://schemas.microsoft.com/office/drawing/2014/main" id="{069FDE74-7ABA-3852-5792-D2CBBB063D4A}"/>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a:latin typeface="Times New Roman" panose="02020603050405020304" pitchFamily="18" charset="0"/>
              </a:rPr>
              <a:t>3</a:t>
            </a:r>
            <a:r>
              <a:rPr lang="en-US" altLang="en-US" sz="2200" b="1">
                <a:latin typeface="Times New Roman" panose="02020603050405020304" pitchFamily="18" charset="0"/>
              </a:rPr>
              <a:t>.4</a:t>
            </a:r>
            <a:r>
              <a:rPr lang="el-GR" altLang="en-US" sz="2200" b="1">
                <a:latin typeface="Times New Roman" panose="02020603050405020304" pitchFamily="18" charset="0"/>
              </a:rPr>
              <a:t>	ΠΡΟΣΑΡΜΟΣΜΕΝΑ ΦΙΛΤΡΑ</a:t>
            </a:r>
            <a:endParaRPr lang="en-GB" altLang="en-US" sz="2200" b="1">
              <a:latin typeface="Times New Roman" panose="02020603050405020304" pitchFamily="18" charset="0"/>
            </a:endParaRPr>
          </a:p>
        </p:txBody>
      </p:sp>
      <p:sp>
        <p:nvSpPr>
          <p:cNvPr id="12292" name="Rectangle 6">
            <a:extLst>
              <a:ext uri="{FF2B5EF4-FFF2-40B4-BE49-F238E27FC236}">
                <a16:creationId xmlns:a16="http://schemas.microsoft.com/office/drawing/2014/main" id="{E6407EC2-E2F2-F409-004E-FEF196FA9486}"/>
              </a:ext>
            </a:extLst>
          </p:cNvPr>
          <p:cNvSpPr>
            <a:spLocks noChangeArrowheads="1"/>
          </p:cNvSpPr>
          <p:nvPr/>
        </p:nvSpPr>
        <p:spPr bwMode="auto">
          <a:xfrm>
            <a:off x="0" y="338613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2293" name="Rectangle 8">
            <a:extLst>
              <a:ext uri="{FF2B5EF4-FFF2-40B4-BE49-F238E27FC236}">
                <a16:creationId xmlns:a16="http://schemas.microsoft.com/office/drawing/2014/main" id="{12725452-9A48-98EB-F16F-CB9ACE4E2F05}"/>
              </a:ext>
            </a:extLst>
          </p:cNvPr>
          <p:cNvSpPr>
            <a:spLocks noChangeArrowheads="1"/>
          </p:cNvSpPr>
          <p:nvPr/>
        </p:nvSpPr>
        <p:spPr bwMode="auto">
          <a:xfrm>
            <a:off x="0" y="338613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Tree>
    <p:extLst>
      <p:ext uri="{BB962C8B-B14F-4D97-AF65-F5344CB8AC3E}">
        <p14:creationId xmlns:p14="http://schemas.microsoft.com/office/powerpoint/2010/main" val="192121553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E00CE-BAB6-F227-E7AE-B9D62CAFAED4}"/>
            </a:ext>
          </a:extLst>
        </p:cNvPr>
        <p:cNvGrpSpPr/>
        <p:nvPr/>
      </p:nvGrpSpPr>
      <p:grpSpPr>
        <a:xfrm>
          <a:off x="0" y="0"/>
          <a:ext cx="0" cy="0"/>
          <a:chOff x="0" y="0"/>
          <a:chExt cx="0" cy="0"/>
        </a:xfrm>
      </p:grpSpPr>
      <p:sp>
        <p:nvSpPr>
          <p:cNvPr id="13314" name="Text Box 2">
            <a:extLst>
              <a:ext uri="{FF2B5EF4-FFF2-40B4-BE49-F238E27FC236}">
                <a16:creationId xmlns:a16="http://schemas.microsoft.com/office/drawing/2014/main" id="{3528802C-588A-2C5B-B758-1F73BA4DC2DB}"/>
              </a:ext>
            </a:extLst>
          </p:cNvPr>
          <p:cNvSpPr txBox="1">
            <a:spLocks noChangeArrowheads="1"/>
          </p:cNvSpPr>
          <p:nvPr/>
        </p:nvSpPr>
        <p:spPr bwMode="auto">
          <a:xfrm>
            <a:off x="85725" y="1469899"/>
            <a:ext cx="8562975"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90000"/>
              </a:lnSpc>
              <a:buFont typeface="Arial" panose="020B0604020202020204" pitchFamily="34" charset="0"/>
              <a:buChar char="•"/>
            </a:pPr>
            <a:r>
              <a:rPr lang="el-GR" altLang="en-US" sz="2200" dirty="0">
                <a:solidFill>
                  <a:srgbClr val="990000"/>
                </a:solidFill>
                <a:latin typeface="Times New Roman" panose="02020603050405020304" pitchFamily="18" charset="0"/>
                <a:cs typeface="Times New Roman" panose="02020603050405020304" pitchFamily="18" charset="0"/>
              </a:rPr>
              <a:t>Για να προσδιορίσουμε την πιθανότητα ένας ανιχνευτής να αποκωδικοποιήσει σωστά τα σύμβολα παρουσία θορύβου, πρέπει να εργαστούμε με πιθανότητες και στατιστική.</a:t>
            </a:r>
            <a:endParaRPr lang="en-US" altLang="en-US" sz="2200" dirty="0">
              <a:solidFill>
                <a:srgbClr val="990000"/>
              </a:solidFill>
              <a:latin typeface="Times New Roman" panose="02020603050405020304" pitchFamily="18" charset="0"/>
              <a:cs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200" dirty="0">
                <a:solidFill>
                  <a:srgbClr val="990000"/>
                </a:solidFill>
                <a:latin typeface="Times New Roman" panose="02020603050405020304" pitchFamily="18" charset="0"/>
                <a:cs typeface="Times New Roman" panose="02020603050405020304" pitchFamily="18" charset="0"/>
              </a:rPr>
              <a:t>Στην πράξη, μας ενδιαφέρει η πιθανότητα σφάλματος </a:t>
            </a:r>
            <a:r>
              <a:rPr lang="el-GR" altLang="en-US" sz="2200" dirty="0" err="1">
                <a:solidFill>
                  <a:srgbClr val="990000"/>
                </a:solidFill>
                <a:latin typeface="Times New Roman" panose="02020603050405020304" pitchFamily="18" charset="0"/>
                <a:cs typeface="Times New Roman" panose="02020603050405020304" pitchFamily="18" charset="0"/>
              </a:rPr>
              <a:t>bit</a:t>
            </a:r>
            <a:r>
              <a:rPr lang="el-GR" altLang="en-US" sz="2200" dirty="0">
                <a:solidFill>
                  <a:srgbClr val="990000"/>
                </a:solidFill>
                <a:latin typeface="Times New Roman" panose="02020603050405020304" pitchFamily="18" charset="0"/>
                <a:cs typeface="Times New Roman" panose="02020603050405020304" pitchFamily="18" charset="0"/>
              </a:rPr>
              <a:t> παρά η πιθανότητα σφάλματος συμβόλου, καθώς αυτό επηρεάζει άμεσα την ακεραιότητα των δεδομένων που αποστέλλονται στον χρήστη.</a:t>
            </a:r>
            <a:endParaRPr lang="en-US" altLang="en-US" sz="2200" dirty="0">
              <a:solidFill>
                <a:srgbClr val="990000"/>
              </a:solidFill>
              <a:latin typeface="Times New Roman" panose="02020603050405020304" pitchFamily="18" charset="0"/>
              <a:cs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200" dirty="0">
                <a:solidFill>
                  <a:srgbClr val="990000"/>
                </a:solidFill>
                <a:latin typeface="Times New Roman" panose="02020603050405020304" pitchFamily="18" charset="0"/>
                <a:cs typeface="Times New Roman" panose="02020603050405020304" pitchFamily="18" charset="0"/>
              </a:rPr>
              <a:t>Στην περίπτωση δυαδικών δεδομένων, η πιθανότητα σφάλματος συμβόλου και η πιθανότητα σφάλματος </a:t>
            </a:r>
            <a:r>
              <a:rPr lang="el-GR" altLang="en-US" sz="2200" dirty="0" err="1">
                <a:solidFill>
                  <a:srgbClr val="990000"/>
                </a:solidFill>
                <a:latin typeface="Times New Roman" panose="02020603050405020304" pitchFamily="18" charset="0"/>
                <a:cs typeface="Times New Roman" panose="02020603050405020304" pitchFamily="18" charset="0"/>
              </a:rPr>
              <a:t>bit</a:t>
            </a:r>
            <a:r>
              <a:rPr lang="el-GR" altLang="en-US" sz="2200" dirty="0">
                <a:solidFill>
                  <a:srgbClr val="990000"/>
                </a:solidFill>
                <a:latin typeface="Times New Roman" panose="02020603050405020304" pitchFamily="18" charset="0"/>
                <a:cs typeface="Times New Roman" panose="02020603050405020304" pitchFamily="18" charset="0"/>
              </a:rPr>
              <a:t> είναι, φυσικά, ταυτόσημες.</a:t>
            </a:r>
          </a:p>
        </p:txBody>
      </p:sp>
      <p:sp>
        <p:nvSpPr>
          <p:cNvPr id="13315" name="Text Box 3">
            <a:extLst>
              <a:ext uri="{FF2B5EF4-FFF2-40B4-BE49-F238E27FC236}">
                <a16:creationId xmlns:a16="http://schemas.microsoft.com/office/drawing/2014/main" id="{C376685C-8E87-9DB1-45DA-33961387618A}"/>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pic>
        <p:nvPicPr>
          <p:cNvPr id="5" name="Εικόνα 4">
            <a:extLst>
              <a:ext uri="{FF2B5EF4-FFF2-40B4-BE49-F238E27FC236}">
                <a16:creationId xmlns:a16="http://schemas.microsoft.com/office/drawing/2014/main" id="{09C23142-091B-0111-F958-14A32C208D4E}"/>
              </a:ext>
            </a:extLst>
          </p:cNvPr>
          <p:cNvPicPr>
            <a:picLocks noChangeAspect="1"/>
          </p:cNvPicPr>
          <p:nvPr/>
        </p:nvPicPr>
        <p:blipFill>
          <a:blip r:embed="rId2"/>
          <a:stretch>
            <a:fillRect/>
          </a:stretch>
        </p:blipFill>
        <p:spPr>
          <a:xfrm>
            <a:off x="2112962" y="4541946"/>
            <a:ext cx="4727575" cy="2150548"/>
          </a:xfrm>
          <a:prstGeom prst="rect">
            <a:avLst/>
          </a:prstGeom>
        </p:spPr>
      </p:pic>
    </p:spTree>
    <p:extLst>
      <p:ext uri="{BB962C8B-B14F-4D97-AF65-F5344CB8AC3E}">
        <p14:creationId xmlns:p14="http://schemas.microsoft.com/office/powerpoint/2010/main" val="194239189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0" y="1397000"/>
            <a:ext cx="4799013"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Πιθανότητα εμφάνισης εσφαλμένων συμβόλων κατά την ανίχνευση δυαδικών </a:t>
            </a:r>
            <a:r>
              <a:rPr lang="el-GR" altLang="en-US" sz="2200" b="1" dirty="0">
                <a:solidFill>
                  <a:schemeClr val="bg2"/>
                </a:solidFill>
                <a:latin typeface="Times New Roman" panose="02020603050405020304" pitchFamily="18" charset="0"/>
                <a:cs typeface="Times New Roman" panose="02020603050405020304" pitchFamily="18" charset="0"/>
              </a:rPr>
              <a:t>μονοπολικών</a:t>
            </a:r>
            <a:r>
              <a:rPr lang="el-GR" altLang="en-US" sz="2200" b="1" dirty="0">
                <a:solidFill>
                  <a:srgbClr val="990000"/>
                </a:solidFill>
                <a:latin typeface="Times New Roman" panose="02020603050405020304" pitchFamily="18" charset="0"/>
                <a:cs typeface="Times New Roman" panose="02020603050405020304" pitchFamily="18" charset="0"/>
              </a:rPr>
              <a:t> δεδομένων βασικής ζώνης</a:t>
            </a:r>
          </a:p>
        </p:txBody>
      </p:sp>
      <p:sp>
        <p:nvSpPr>
          <p:cNvPr id="13315"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graphicFrame>
        <p:nvGraphicFramePr>
          <p:cNvPr id="13316" name="Object 9"/>
          <p:cNvGraphicFramePr>
            <a:graphicFrameLocks noChangeAspect="1"/>
          </p:cNvGraphicFramePr>
          <p:nvPr/>
        </p:nvGraphicFramePr>
        <p:xfrm>
          <a:off x="122238" y="2755900"/>
          <a:ext cx="3814762" cy="1036638"/>
        </p:xfrm>
        <a:graphic>
          <a:graphicData uri="http://schemas.openxmlformats.org/presentationml/2006/ole">
            <mc:AlternateContent xmlns:mc="http://schemas.openxmlformats.org/markup-compatibility/2006">
              <mc:Choice xmlns:v="urn:schemas-microsoft-com:vml" Requires="v">
                <p:oleObj name="Equation" r:id="rId2" imgW="1854200" imgH="508000" progId="Equation.3">
                  <p:embed/>
                </p:oleObj>
              </mc:Choice>
              <mc:Fallback>
                <p:oleObj name="Equation" r:id="rId2" imgW="1854200" imgH="508000" progId="Equation.3">
                  <p:embed/>
                  <p:pic>
                    <p:nvPicPr>
                      <p:cNvPr id="13316"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8" y="2755900"/>
                        <a:ext cx="3814762"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7" name="Text Box 11"/>
          <p:cNvSpPr txBox="1">
            <a:spLocks noChangeArrowheads="1"/>
          </p:cNvSpPr>
          <p:nvPr/>
        </p:nvSpPr>
        <p:spPr bwMode="auto">
          <a:xfrm>
            <a:off x="0" y="3814763"/>
            <a:ext cx="4864100"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Πιθανότητα εμφάνισης εσφαλμένων συμβόλων κατά την ανίχνευση δυαδικών </a:t>
            </a:r>
            <a:r>
              <a:rPr lang="el-GR" altLang="en-US" sz="2200" b="1">
                <a:solidFill>
                  <a:schemeClr val="bg2"/>
                </a:solidFill>
                <a:latin typeface="Times New Roman" panose="02020603050405020304" pitchFamily="18" charset="0"/>
                <a:cs typeface="Times New Roman" panose="02020603050405020304" pitchFamily="18" charset="0"/>
              </a:rPr>
              <a:t>διπολικών</a:t>
            </a:r>
            <a:r>
              <a:rPr lang="el-GR" altLang="en-US" sz="2200" b="1">
                <a:solidFill>
                  <a:srgbClr val="990000"/>
                </a:solidFill>
                <a:latin typeface="Times New Roman" panose="02020603050405020304" pitchFamily="18" charset="0"/>
                <a:cs typeface="Times New Roman" panose="02020603050405020304" pitchFamily="18" charset="0"/>
              </a:rPr>
              <a:t> δεδομένων βασικής ζώνης</a:t>
            </a:r>
          </a:p>
        </p:txBody>
      </p:sp>
      <mc:AlternateContent xmlns:mc="http://schemas.openxmlformats.org/markup-compatibility/2006" xmlns:a14="http://schemas.microsoft.com/office/drawing/2010/main">
        <mc:Choice Requires="a14">
          <p:sp>
            <p:nvSpPr>
              <p:cNvPr id="13318" name="Object 12"/>
              <p:cNvSpPr txBox="1"/>
              <p:nvPr/>
            </p:nvSpPr>
            <p:spPr bwMode="auto">
              <a:xfrm>
                <a:off x="107950" y="5095875"/>
                <a:ext cx="4368800" cy="11366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el-GR" sz="2000" i="1" smtClean="0">
                              <a:solidFill>
                                <a:srgbClr val="000000"/>
                              </a:solidFill>
                              <a:latin typeface="Cambria Math" panose="02040503050406030204" pitchFamily="18" charset="0"/>
                            </a:rPr>
                          </m:ctrlPr>
                        </m:sSubPr>
                        <m:e>
                          <m:r>
                            <m:rPr>
                              <m:sty m:val="p"/>
                            </m:rPr>
                            <a:rPr lang="el-GR" sz="2000" i="0">
                              <a:solidFill>
                                <a:srgbClr val="000000"/>
                              </a:solidFill>
                              <a:latin typeface="Cambria Math" panose="02040503050406030204" pitchFamily="18" charset="0"/>
                            </a:rPr>
                            <m:t>P</m:t>
                          </m:r>
                        </m:e>
                        <m:sub>
                          <m:r>
                            <m:rPr>
                              <m:nor/>
                            </m:rPr>
                            <a:rPr lang="el-GR" sz="2000" i="0">
                              <a:solidFill>
                                <a:srgbClr val="000000"/>
                              </a:solidFill>
                              <a:latin typeface="Cambria Math" panose="02040503050406030204" pitchFamily="18" charset="0"/>
                            </a:rPr>
                            <m:t>s</m:t>
                          </m:r>
                          <m:r>
                            <m:rPr>
                              <m:nor/>
                            </m:rPr>
                            <a:rPr lang="el-GR" sz="2000" i="0">
                              <a:solidFill>
                                <a:srgbClr val="000000"/>
                              </a:solidFill>
                              <a:latin typeface="Cambria Math" panose="02040503050406030204" pitchFamily="18" charset="0"/>
                            </a:rPr>
                            <m:t>,  </m:t>
                          </m:r>
                          <m:r>
                            <m:rPr>
                              <m:nor/>
                            </m:rPr>
                            <a:rPr lang="el-GR" sz="2000" i="0">
                              <a:solidFill>
                                <a:srgbClr val="000000"/>
                              </a:solidFill>
                              <a:latin typeface="Cambria Math" panose="02040503050406030204" pitchFamily="18" charset="0"/>
                            </a:rPr>
                            <m:t>Bipolar</m:t>
                          </m:r>
                        </m:sub>
                      </m:sSub>
                      <m:r>
                        <a:rPr lang="el-GR" sz="2000" i="1">
                          <a:solidFill>
                            <a:srgbClr val="000000"/>
                          </a:solidFill>
                          <a:latin typeface="Cambria Math" panose="02040503050406030204" pitchFamily="18" charset="0"/>
                        </a:rPr>
                        <m:t>=</m:t>
                      </m:r>
                      <m:f>
                        <m:fPr>
                          <m:ctrlPr>
                            <a:rPr lang="el-GR" sz="2000" i="1">
                              <a:solidFill>
                                <a:srgbClr val="000000"/>
                              </a:solidFill>
                              <a:latin typeface="Cambria Math" panose="02040503050406030204" pitchFamily="18" charset="0"/>
                            </a:rPr>
                          </m:ctrlPr>
                        </m:fPr>
                        <m:num>
                          <m:r>
                            <a:rPr lang="el-GR" sz="2000" i="0">
                              <a:solidFill>
                                <a:srgbClr val="000000"/>
                              </a:solidFill>
                              <a:latin typeface="Cambria Math" panose="02040503050406030204" pitchFamily="18" charset="0"/>
                            </a:rPr>
                            <m:t>1</m:t>
                          </m:r>
                        </m:num>
                        <m:den>
                          <m:r>
                            <a:rPr lang="el-GR" sz="2000" i="0">
                              <a:solidFill>
                                <a:srgbClr val="000000"/>
                              </a:solidFill>
                              <a:latin typeface="Cambria Math" panose="02040503050406030204" pitchFamily="18" charset="0"/>
                            </a:rPr>
                            <m:t>2</m:t>
                          </m:r>
                        </m:den>
                      </m:f>
                      <m:r>
                        <a:rPr lang="el-GR" sz="2000" i="1">
                          <a:solidFill>
                            <a:srgbClr val="000000"/>
                          </a:solidFill>
                          <a:latin typeface="Cambria Math" panose="02040503050406030204" pitchFamily="18" charset="0"/>
                        </a:rPr>
                        <m:t>⋅</m:t>
                      </m:r>
                      <m:r>
                        <m:rPr>
                          <m:nor/>
                        </m:rPr>
                        <a:rPr lang="el-GR" sz="2000" i="0">
                          <a:solidFill>
                            <a:srgbClr val="000000"/>
                          </a:solidFill>
                          <a:latin typeface="Cambria Math" panose="02040503050406030204" pitchFamily="18" charset="0"/>
                        </a:rPr>
                        <m:t>erfc</m:t>
                      </m:r>
                      <m:sSup>
                        <m:sSupPr>
                          <m:ctrlPr>
                            <a:rPr lang="el-GR" sz="2000" i="1">
                              <a:solidFill>
                                <a:srgbClr val="000000"/>
                              </a:solidFill>
                              <a:latin typeface="Cambria Math" panose="02040503050406030204" pitchFamily="18" charset="0"/>
                            </a:rPr>
                          </m:ctrlPr>
                        </m:sSupPr>
                        <m:e>
                          <m:d>
                            <m:dPr>
                              <m:begChr m:val="["/>
                              <m:endChr m:val="]"/>
                              <m:ctrlPr>
                                <a:rPr lang="el-GR" sz="2000" i="1">
                                  <a:solidFill>
                                    <a:srgbClr val="000000"/>
                                  </a:solidFill>
                                  <a:latin typeface="Cambria Math" panose="02040503050406030204" pitchFamily="18" charset="0"/>
                                </a:rPr>
                              </m:ctrlPr>
                            </m:dPr>
                            <m:e>
                              <m:f>
                                <m:fPr>
                                  <m:ctrlPr>
                                    <a:rPr lang="el-GR" sz="2000" i="1">
                                      <a:solidFill>
                                        <a:srgbClr val="000000"/>
                                      </a:solidFill>
                                      <a:latin typeface="Cambria Math" panose="02040503050406030204" pitchFamily="18" charset="0"/>
                                    </a:rPr>
                                  </m:ctrlPr>
                                </m:fPr>
                                <m:num>
                                  <m:sSub>
                                    <m:sSubPr>
                                      <m:ctrlPr>
                                        <a:rPr lang="el-GR" sz="2000" i="1">
                                          <a:solidFill>
                                            <a:srgbClr val="000000"/>
                                          </a:solidFill>
                                          <a:latin typeface="Cambria Math" panose="02040503050406030204" pitchFamily="18" charset="0"/>
                                        </a:rPr>
                                      </m:ctrlPr>
                                    </m:sSubPr>
                                    <m:e>
                                      <m:r>
                                        <m:rPr>
                                          <m:sty m:val="p"/>
                                        </m:rPr>
                                        <a:rPr lang="el-GR" sz="2000" i="0">
                                          <a:solidFill>
                                            <a:srgbClr val="000000"/>
                                          </a:solidFill>
                                          <a:latin typeface="Cambria Math" panose="02040503050406030204" pitchFamily="18" charset="0"/>
                                        </a:rPr>
                                        <m:t>E</m:t>
                                      </m:r>
                                    </m:e>
                                    <m:sub>
                                      <m:r>
                                        <m:rPr>
                                          <m:sty m:val="p"/>
                                        </m:rPr>
                                        <a:rPr lang="el-GR" sz="2000" i="0">
                                          <a:solidFill>
                                            <a:srgbClr val="000000"/>
                                          </a:solidFill>
                                          <a:latin typeface="Cambria Math" panose="02040503050406030204" pitchFamily="18" charset="0"/>
                                        </a:rPr>
                                        <m:t>s</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𝑎𝑣𝑒𝑟𝑎𝑔𝑒</m:t>
                                      </m:r>
                                    </m:sub>
                                  </m:sSub>
                                </m:num>
                                <m:den>
                                  <m:sSub>
                                    <m:sSubPr>
                                      <m:ctrlPr>
                                        <a:rPr lang="el-GR" sz="2000" i="1">
                                          <a:solidFill>
                                            <a:srgbClr val="000000"/>
                                          </a:solidFill>
                                          <a:latin typeface="Cambria Math" panose="02040503050406030204" pitchFamily="18" charset="0"/>
                                        </a:rPr>
                                      </m:ctrlPr>
                                    </m:sSubPr>
                                    <m:e>
                                      <m:r>
                                        <m:rPr>
                                          <m:sty m:val="p"/>
                                        </m:rPr>
                                        <a:rPr lang="el-GR" sz="2000" i="0">
                                          <a:solidFill>
                                            <a:srgbClr val="000000"/>
                                          </a:solidFill>
                                          <a:latin typeface="Cambria Math" panose="02040503050406030204" pitchFamily="18" charset="0"/>
                                        </a:rPr>
                                        <m:t>N</m:t>
                                      </m:r>
                                    </m:e>
                                    <m:sub>
                                      <m:r>
                                        <a:rPr lang="el-GR" sz="2000" i="0">
                                          <a:solidFill>
                                            <a:srgbClr val="000000"/>
                                          </a:solidFill>
                                          <a:latin typeface="Cambria Math" panose="02040503050406030204" pitchFamily="18" charset="0"/>
                                        </a:rPr>
                                        <m:t>0</m:t>
                                      </m:r>
                                    </m:sub>
                                  </m:sSub>
                                </m:den>
                              </m:f>
                            </m:e>
                          </m:d>
                        </m:e>
                        <m:sup>
                          <m:r>
                            <m:rPr>
                              <m:nor/>
                            </m:rPr>
                            <a:rPr lang="el-GR" sz="2000" i="0">
                              <a:solidFill>
                                <a:srgbClr val="000000"/>
                              </a:solidFill>
                              <a:latin typeface="Cambria Math" panose="02040503050406030204" pitchFamily="18" charset="0"/>
                            </a:rPr>
                            <m:t>1/2</m:t>
                          </m:r>
                        </m:sup>
                      </m:sSup>
                    </m:oMath>
                  </m:oMathPara>
                </a14:m>
                <a:endParaRPr lang="el-GR" sz="1600" dirty="0"/>
              </a:p>
            </p:txBody>
          </p:sp>
        </mc:Choice>
        <mc:Fallback xmlns="">
          <p:sp>
            <p:nvSpPr>
              <p:cNvPr id="13318" name="Object 12"/>
              <p:cNvSpPr txBox="1">
                <a:spLocks noRot="1" noChangeAspect="1" noMove="1" noResize="1" noEditPoints="1" noAdjustHandles="1" noChangeArrowheads="1" noChangeShapeType="1" noTextEdit="1"/>
              </p:cNvSpPr>
              <p:nvPr/>
            </p:nvSpPr>
            <p:spPr bwMode="auto">
              <a:xfrm>
                <a:off x="107950" y="5095875"/>
                <a:ext cx="4368800" cy="1136650"/>
              </a:xfrm>
              <a:prstGeom prst="rect">
                <a:avLst/>
              </a:prstGeom>
              <a:blipFill>
                <a:blip r:embed="rId4"/>
                <a:stretch>
                  <a:fillRect/>
                </a:stretch>
              </a:blipFill>
              <a:ln>
                <a:noFill/>
              </a:ln>
            </p:spPr>
            <p:txBody>
              <a:bodyPr/>
              <a:lstStyle/>
              <a:p>
                <a:r>
                  <a:rPr lang="el-GR">
                    <a:noFill/>
                  </a:rPr>
                  <a:t> </a:t>
                </a:r>
              </a:p>
            </p:txBody>
          </p:sp>
        </mc:Fallback>
      </mc:AlternateContent>
      <p:pic>
        <p:nvPicPr>
          <p:cNvPr id="13319" name="Picture 14" descr="BER_CRVE"/>
          <p:cNvPicPr>
            <a:picLocks noChangeAspect="1" noChangeArrowheads="1"/>
          </p:cNvPicPr>
          <p:nvPr/>
        </p:nvPicPr>
        <p:blipFill>
          <a:blip r:embed="rId5">
            <a:extLst>
              <a:ext uri="{28A0092B-C50C-407E-A947-70E740481C1C}">
                <a14:useLocalDpi xmlns:a14="http://schemas.microsoft.com/office/drawing/2010/main" val="0"/>
              </a:ext>
            </a:extLst>
          </a:blip>
          <a:srcRect l="7033" t="15749" b="6281"/>
          <a:stretch>
            <a:fillRect/>
          </a:stretch>
        </p:blipFill>
        <p:spPr bwMode="auto">
          <a:xfrm>
            <a:off x="5160963" y="1611313"/>
            <a:ext cx="3792537"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320" name="Object 15"/>
          <p:cNvGraphicFramePr>
            <a:graphicFrameLocks noChangeAspect="1"/>
          </p:cNvGraphicFramePr>
          <p:nvPr/>
        </p:nvGraphicFramePr>
        <p:xfrm>
          <a:off x="6821488" y="5664200"/>
          <a:ext cx="1049337" cy="309563"/>
        </p:xfrm>
        <a:graphic>
          <a:graphicData uri="http://schemas.openxmlformats.org/presentationml/2006/ole">
            <mc:AlternateContent xmlns:mc="http://schemas.openxmlformats.org/markup-compatibility/2006">
              <mc:Choice xmlns:v="urn:schemas-microsoft-com:vml" Requires="v">
                <p:oleObj name="Equation" r:id="rId6" imgW="774364" imgH="228501" progId="Equation.3">
                  <p:embed/>
                </p:oleObj>
              </mc:Choice>
              <mc:Fallback>
                <p:oleObj name="Equation" r:id="rId6" imgW="774364" imgH="228501" progId="Equation.3">
                  <p:embed/>
                  <p:pic>
                    <p:nvPicPr>
                      <p:cNvPr id="1332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21488" y="5664200"/>
                        <a:ext cx="104933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1" name="Object 17"/>
          <p:cNvGraphicFramePr>
            <a:graphicFrameLocks noGrp="1" noChangeAspect="1"/>
          </p:cNvGraphicFramePr>
          <p:nvPr>
            <p:ph/>
          </p:nvPr>
        </p:nvGraphicFramePr>
        <p:xfrm>
          <a:off x="4864100" y="3162300"/>
          <a:ext cx="298450" cy="447675"/>
        </p:xfrm>
        <a:graphic>
          <a:graphicData uri="http://schemas.openxmlformats.org/presentationml/2006/ole">
            <mc:AlternateContent xmlns:mc="http://schemas.openxmlformats.org/markup-compatibility/2006">
              <mc:Choice xmlns:v="urn:schemas-microsoft-com:vml" Requires="v">
                <p:oleObj name="Equation" r:id="rId8" imgW="152334" imgH="228501" progId="Equation.3">
                  <p:embed/>
                </p:oleObj>
              </mc:Choice>
              <mc:Fallback>
                <p:oleObj name="Equation" r:id="rId8" imgW="152334" imgH="228501" progId="Equation.3">
                  <p:embed/>
                  <p:pic>
                    <p:nvPicPr>
                      <p:cNvPr id="13321" name="Object 17"/>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4100" y="3162300"/>
                        <a:ext cx="2984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09C09-688C-6D8C-7C01-9515A52CC70A}"/>
            </a:ext>
          </a:extLst>
        </p:cNvPr>
        <p:cNvGrpSpPr/>
        <p:nvPr/>
      </p:nvGrpSpPr>
      <p:grpSpPr>
        <a:xfrm>
          <a:off x="0" y="0"/>
          <a:ext cx="0" cy="0"/>
          <a:chOff x="0" y="0"/>
          <a:chExt cx="0" cy="0"/>
        </a:xfrm>
      </p:grpSpPr>
      <p:sp>
        <p:nvSpPr>
          <p:cNvPr id="13315" name="Text Box 3">
            <a:extLst>
              <a:ext uri="{FF2B5EF4-FFF2-40B4-BE49-F238E27FC236}">
                <a16:creationId xmlns:a16="http://schemas.microsoft.com/office/drawing/2014/main" id="{5C64AA5F-4744-8E84-4A9E-18D0DF16BE04}"/>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pic>
        <p:nvPicPr>
          <p:cNvPr id="7" name="Εικόνα 6">
            <a:extLst>
              <a:ext uri="{FF2B5EF4-FFF2-40B4-BE49-F238E27FC236}">
                <a16:creationId xmlns:a16="http://schemas.microsoft.com/office/drawing/2014/main" id="{90ABAA82-713D-5836-2595-D4426A9A4C4E}"/>
              </a:ext>
            </a:extLst>
          </p:cNvPr>
          <p:cNvPicPr>
            <a:picLocks noChangeAspect="1"/>
          </p:cNvPicPr>
          <p:nvPr/>
        </p:nvPicPr>
        <p:blipFill>
          <a:blip r:embed="rId2"/>
          <a:stretch>
            <a:fillRect/>
          </a:stretch>
        </p:blipFill>
        <p:spPr>
          <a:xfrm>
            <a:off x="4654976" y="1156235"/>
            <a:ext cx="4146123" cy="5585877"/>
          </a:xfrm>
          <a:prstGeom prst="rect">
            <a:avLst/>
          </a:prstGeom>
        </p:spPr>
      </p:pic>
      <p:pic>
        <p:nvPicPr>
          <p:cNvPr id="9" name="Εικόνα 8">
            <a:extLst>
              <a:ext uri="{FF2B5EF4-FFF2-40B4-BE49-F238E27FC236}">
                <a16:creationId xmlns:a16="http://schemas.microsoft.com/office/drawing/2014/main" id="{A92AFFA5-C587-CCD0-113F-A84A0DB97F45}"/>
              </a:ext>
            </a:extLst>
          </p:cNvPr>
          <p:cNvPicPr>
            <a:picLocks noChangeAspect="1"/>
          </p:cNvPicPr>
          <p:nvPr/>
        </p:nvPicPr>
        <p:blipFill>
          <a:blip r:embed="rId3"/>
          <a:stretch>
            <a:fillRect/>
          </a:stretch>
        </p:blipFill>
        <p:spPr>
          <a:xfrm>
            <a:off x="369717" y="3245348"/>
            <a:ext cx="3928808" cy="2604734"/>
          </a:xfrm>
          <a:prstGeom prst="rect">
            <a:avLst/>
          </a:prstGeom>
        </p:spPr>
      </p:pic>
      <mc:AlternateContent xmlns:mc="http://schemas.openxmlformats.org/markup-compatibility/2006" xmlns:a14="http://schemas.microsoft.com/office/drawing/2010/main">
        <mc:Choice Requires="a14">
          <p:sp>
            <p:nvSpPr>
              <p:cNvPr id="10" name="Text Box 2">
                <a:extLst>
                  <a:ext uri="{FF2B5EF4-FFF2-40B4-BE49-F238E27FC236}">
                    <a16:creationId xmlns:a16="http://schemas.microsoft.com/office/drawing/2014/main" id="{E336AE62-589D-1E42-89AC-0E666BB0B8B0}"/>
                  </a:ext>
                </a:extLst>
              </p:cNvPr>
              <p:cNvSpPr txBox="1">
                <a:spLocks noChangeArrowheads="1"/>
              </p:cNvSpPr>
              <p:nvPr/>
            </p:nvSpPr>
            <p:spPr bwMode="auto">
              <a:xfrm>
                <a:off x="0" y="1397000"/>
                <a:ext cx="4799013" cy="1420453"/>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000" b="1" dirty="0">
                    <a:solidFill>
                      <a:srgbClr val="990000"/>
                    </a:solidFill>
                    <a:latin typeface="Times New Roman" panose="02020603050405020304" pitchFamily="18" charset="0"/>
                    <a:cs typeface="Times New Roman" panose="02020603050405020304" pitchFamily="18" charset="0"/>
                  </a:rPr>
                  <a:t>Συμπληρωματική συνάρτηση σφάλματος: </a:t>
                </a:r>
                <a:endParaRPr lang="en-US" altLang="en-US" sz="2000" b="1" dirty="0">
                  <a:solidFill>
                    <a:srgbClr val="990000"/>
                  </a:solidFill>
                  <a:latin typeface="Times New Roman" panose="02020603050405020304" pitchFamily="18" charset="0"/>
                  <a:cs typeface="Times New Roman" panose="02020603050405020304" pitchFamily="18" charset="0"/>
                </a:endParaRPr>
              </a:p>
              <a:p>
                <a:pPr algn="just">
                  <a:lnSpc>
                    <a:spcPct val="90000"/>
                  </a:lnSpc>
                </a:pPr>
                <a:endParaRPr lang="en-US" altLang="en-US" sz="2400" b="1" i="1" dirty="0">
                  <a:solidFill>
                    <a:srgbClr val="990000"/>
                  </a:solidFill>
                  <a:latin typeface="Cambria Math" panose="02040503050406030204" pitchFamily="18" charset="0"/>
                  <a:cs typeface="Times New Roman" panose="02020603050405020304" pitchFamily="18" charset="0"/>
                </a:endParaRPr>
              </a:p>
              <a:p>
                <a:pPr algn="just">
                  <a:lnSpc>
                    <a:spcPct val="90000"/>
                  </a:lnSpc>
                </a:pPr>
                <a14:m>
                  <m:oMathPara xmlns:m="http://schemas.openxmlformats.org/officeDocument/2006/math">
                    <m:oMathParaPr>
                      <m:jc m:val="centerGroup"/>
                    </m:oMathParaPr>
                    <m:oMath xmlns:m="http://schemas.openxmlformats.org/officeDocument/2006/math">
                      <m:r>
                        <a:rPr lang="en-US" altLang="en-US" sz="2400" b="1" i="1" smtClean="0">
                          <a:solidFill>
                            <a:srgbClr val="990000"/>
                          </a:solidFill>
                          <a:latin typeface="Cambria Math" panose="02040503050406030204" pitchFamily="18" charset="0"/>
                          <a:cs typeface="Times New Roman" panose="02020603050405020304" pitchFamily="18" charset="0"/>
                        </a:rPr>
                        <m:t>𝒆𝒓𝒇𝒄</m:t>
                      </m:r>
                      <m:d>
                        <m:dPr>
                          <m:ctrlPr>
                            <a:rPr lang="en-US" altLang="en-US" sz="2400" b="1" i="1" smtClean="0">
                              <a:solidFill>
                                <a:srgbClr val="990000"/>
                              </a:solidFill>
                              <a:latin typeface="Cambria Math" panose="02040503050406030204" pitchFamily="18" charset="0"/>
                              <a:cs typeface="Times New Roman" panose="02020603050405020304" pitchFamily="18" charset="0"/>
                            </a:rPr>
                          </m:ctrlPr>
                        </m:dPr>
                        <m:e>
                          <m:r>
                            <a:rPr lang="en-US" altLang="en-US" sz="2400" b="1" i="1" smtClean="0">
                              <a:solidFill>
                                <a:srgbClr val="990000"/>
                              </a:solidFill>
                              <a:latin typeface="Cambria Math" panose="02040503050406030204" pitchFamily="18" charset="0"/>
                              <a:cs typeface="Times New Roman" panose="02020603050405020304" pitchFamily="18" charset="0"/>
                            </a:rPr>
                            <m:t>𝒙</m:t>
                          </m:r>
                        </m:e>
                      </m:d>
                      <m:r>
                        <a:rPr lang="en-US" altLang="en-US" sz="2400" b="1" i="1" smtClean="0">
                          <a:solidFill>
                            <a:srgbClr val="990000"/>
                          </a:solidFill>
                          <a:latin typeface="Cambria Math" panose="02040503050406030204" pitchFamily="18" charset="0"/>
                          <a:cs typeface="Times New Roman" panose="02020603050405020304" pitchFamily="18" charset="0"/>
                        </a:rPr>
                        <m:t>=</m:t>
                      </m:r>
                      <m:f>
                        <m:fPr>
                          <m:ctrlPr>
                            <a:rPr lang="en-US" altLang="en-US" sz="2400" b="1" i="1" smtClean="0">
                              <a:solidFill>
                                <a:srgbClr val="990000"/>
                              </a:solidFill>
                              <a:latin typeface="Cambria Math" panose="02040503050406030204" pitchFamily="18" charset="0"/>
                              <a:cs typeface="Times New Roman" panose="02020603050405020304" pitchFamily="18" charset="0"/>
                            </a:rPr>
                          </m:ctrlPr>
                        </m:fPr>
                        <m:num>
                          <m:r>
                            <a:rPr lang="en-US" altLang="en-US" sz="2400" b="1" i="1" smtClean="0">
                              <a:solidFill>
                                <a:srgbClr val="990000"/>
                              </a:solidFill>
                              <a:latin typeface="Cambria Math" panose="02040503050406030204" pitchFamily="18" charset="0"/>
                              <a:cs typeface="Times New Roman" panose="02020603050405020304" pitchFamily="18" charset="0"/>
                            </a:rPr>
                            <m:t>𝟐</m:t>
                          </m:r>
                        </m:num>
                        <m:den>
                          <m:rad>
                            <m:radPr>
                              <m:degHide m:val="on"/>
                              <m:ctrlPr>
                                <a:rPr lang="en-US" altLang="en-US" sz="2400" b="1" i="1" smtClean="0">
                                  <a:solidFill>
                                    <a:srgbClr val="990000"/>
                                  </a:solidFill>
                                  <a:latin typeface="Cambria Math" panose="02040503050406030204" pitchFamily="18" charset="0"/>
                                  <a:cs typeface="Times New Roman" panose="02020603050405020304" pitchFamily="18" charset="0"/>
                                </a:rPr>
                              </m:ctrlPr>
                            </m:radPr>
                            <m:deg/>
                            <m:e>
                              <m:r>
                                <a:rPr lang="en-US" altLang="en-US" sz="2400" b="1" i="1" smtClean="0">
                                  <a:solidFill>
                                    <a:srgbClr val="990000"/>
                                  </a:solidFill>
                                  <a:latin typeface="Cambria Math" panose="02040503050406030204" pitchFamily="18" charset="0"/>
                                  <a:cs typeface="Times New Roman" panose="02020603050405020304" pitchFamily="18" charset="0"/>
                                </a:rPr>
                                <m:t>𝝅</m:t>
                              </m:r>
                            </m:e>
                          </m:rad>
                        </m:den>
                      </m:f>
                      <m:nary>
                        <m:naryPr>
                          <m:ctrlPr>
                            <a:rPr lang="en-US" altLang="en-US" sz="2400" b="1" i="1" smtClean="0">
                              <a:solidFill>
                                <a:srgbClr val="990000"/>
                              </a:solidFill>
                              <a:latin typeface="Cambria Math" panose="02040503050406030204" pitchFamily="18" charset="0"/>
                              <a:cs typeface="Times New Roman" panose="02020603050405020304" pitchFamily="18" charset="0"/>
                            </a:rPr>
                          </m:ctrlPr>
                        </m:naryPr>
                        <m:sub>
                          <m:r>
                            <m:rPr>
                              <m:brk m:alnAt="23"/>
                            </m:rPr>
                            <a:rPr lang="en-US" altLang="en-US" sz="2400" b="1" i="1" smtClean="0">
                              <a:solidFill>
                                <a:srgbClr val="990000"/>
                              </a:solidFill>
                              <a:latin typeface="Cambria Math" panose="02040503050406030204" pitchFamily="18" charset="0"/>
                              <a:cs typeface="Times New Roman" panose="02020603050405020304" pitchFamily="18" charset="0"/>
                            </a:rPr>
                            <m:t>𝒙</m:t>
                          </m:r>
                        </m:sub>
                        <m:sup>
                          <m:r>
                            <a:rPr lang="en-US" altLang="en-US" sz="2400" b="1" i="1" smtClean="0">
                              <a:solidFill>
                                <a:srgbClr val="990000"/>
                              </a:solidFill>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en-US" altLang="en-US" sz="2400" b="1" i="1" smtClean="0">
                                  <a:solidFill>
                                    <a:srgbClr val="990000"/>
                                  </a:solidFill>
                                  <a:latin typeface="Cambria Math" panose="02040503050406030204" pitchFamily="18" charset="0"/>
                                  <a:cs typeface="Times New Roman" panose="02020603050405020304" pitchFamily="18" charset="0"/>
                                </a:rPr>
                              </m:ctrlPr>
                            </m:sSupPr>
                            <m:e>
                              <m:r>
                                <a:rPr lang="en-US" altLang="en-US" sz="2400" b="1" i="1" smtClean="0">
                                  <a:solidFill>
                                    <a:srgbClr val="990000"/>
                                  </a:solidFill>
                                  <a:latin typeface="Cambria Math" panose="02040503050406030204" pitchFamily="18" charset="0"/>
                                  <a:cs typeface="Times New Roman" panose="02020603050405020304" pitchFamily="18" charset="0"/>
                                </a:rPr>
                                <m:t>𝒆</m:t>
                              </m:r>
                            </m:e>
                            <m:sup>
                              <m:r>
                                <a:rPr lang="en-US" altLang="en-US" sz="2400" b="1" i="1" smtClean="0">
                                  <a:solidFill>
                                    <a:srgbClr val="990000"/>
                                  </a:solidFill>
                                  <a:latin typeface="Cambria Math" panose="02040503050406030204" pitchFamily="18" charset="0"/>
                                  <a:cs typeface="Times New Roman" panose="02020603050405020304" pitchFamily="18" charset="0"/>
                                </a:rPr>
                                <m:t>−</m:t>
                              </m:r>
                              <m:sSup>
                                <m:sSupPr>
                                  <m:ctrlPr>
                                    <a:rPr lang="en-US" altLang="en-US" sz="2400" b="1" i="1" smtClean="0">
                                      <a:solidFill>
                                        <a:srgbClr val="990000"/>
                                      </a:solidFill>
                                      <a:latin typeface="Cambria Math" panose="02040503050406030204" pitchFamily="18" charset="0"/>
                                      <a:cs typeface="Times New Roman" panose="02020603050405020304" pitchFamily="18" charset="0"/>
                                    </a:rPr>
                                  </m:ctrlPr>
                                </m:sSupPr>
                                <m:e>
                                  <m:r>
                                    <a:rPr lang="en-US" altLang="en-US" sz="2400" b="1" i="1" smtClean="0">
                                      <a:solidFill>
                                        <a:srgbClr val="990000"/>
                                      </a:solidFill>
                                      <a:latin typeface="Cambria Math" panose="02040503050406030204" pitchFamily="18" charset="0"/>
                                      <a:cs typeface="Times New Roman" panose="02020603050405020304" pitchFamily="18" charset="0"/>
                                    </a:rPr>
                                    <m:t>𝒕</m:t>
                                  </m:r>
                                </m:e>
                                <m:sup>
                                  <m:r>
                                    <a:rPr lang="en-US" altLang="en-US" sz="2400" b="1" i="1" smtClean="0">
                                      <a:solidFill>
                                        <a:srgbClr val="990000"/>
                                      </a:solidFill>
                                      <a:latin typeface="Cambria Math" panose="02040503050406030204" pitchFamily="18" charset="0"/>
                                      <a:cs typeface="Times New Roman" panose="02020603050405020304" pitchFamily="18" charset="0"/>
                                    </a:rPr>
                                    <m:t>𝟐</m:t>
                                  </m:r>
                                </m:sup>
                              </m:sSup>
                            </m:sup>
                          </m:sSup>
                          <m:r>
                            <a:rPr lang="en-US" altLang="en-US" sz="2400" b="1" i="1" smtClean="0">
                              <a:solidFill>
                                <a:srgbClr val="990000"/>
                              </a:solidFill>
                              <a:latin typeface="Cambria Math" panose="02040503050406030204" pitchFamily="18" charset="0"/>
                              <a:cs typeface="Times New Roman" panose="02020603050405020304" pitchFamily="18" charset="0"/>
                            </a:rPr>
                            <m:t>𝒅𝒕</m:t>
                          </m:r>
                        </m:e>
                      </m:nary>
                    </m:oMath>
                  </m:oMathPara>
                </a14:m>
                <a:endParaRPr lang="el-GR" altLang="en-US" sz="2000" b="1" dirty="0">
                  <a:solidFill>
                    <a:srgbClr val="990000"/>
                  </a:solidFill>
                  <a:latin typeface="Times New Roman" panose="02020603050405020304" pitchFamily="18" charset="0"/>
                  <a:cs typeface="Times New Roman" panose="02020603050405020304" pitchFamily="18" charset="0"/>
                </a:endParaRPr>
              </a:p>
            </p:txBody>
          </p:sp>
        </mc:Choice>
        <mc:Fallback xmlns="">
          <p:sp>
            <p:nvSpPr>
              <p:cNvPr id="10" name="Text Box 2">
                <a:extLst>
                  <a:ext uri="{FF2B5EF4-FFF2-40B4-BE49-F238E27FC236}">
                    <a16:creationId xmlns:a16="http://schemas.microsoft.com/office/drawing/2014/main" id="{E336AE62-589D-1E42-89AC-0E666BB0B8B0}"/>
                  </a:ext>
                </a:extLst>
              </p:cNvPr>
              <p:cNvSpPr txBox="1">
                <a:spLocks noRot="1" noChangeAspect="1" noMove="1" noResize="1" noEditPoints="1" noAdjustHandles="1" noChangeArrowheads="1" noChangeShapeType="1" noTextEdit="1"/>
              </p:cNvSpPr>
              <p:nvPr/>
            </p:nvSpPr>
            <p:spPr bwMode="auto">
              <a:xfrm>
                <a:off x="0" y="1397000"/>
                <a:ext cx="4799013" cy="1420453"/>
              </a:xfrm>
              <a:prstGeom prst="rect">
                <a:avLst/>
              </a:prstGeom>
              <a:blipFill>
                <a:blip r:embed="rId4"/>
                <a:stretch>
                  <a:fillRect l="-1271" t="-4292" r="-2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spTree>
    <p:extLst>
      <p:ext uri="{BB962C8B-B14F-4D97-AF65-F5344CB8AC3E}">
        <p14:creationId xmlns:p14="http://schemas.microsoft.com/office/powerpoint/2010/main" val="69188788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0" y="1397000"/>
            <a:ext cx="88249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Πιθανότητα εμφάνισης εσφαλμένων bit για Μ-αδική σηματοδοσία</a:t>
            </a:r>
            <a:r>
              <a:rPr lang="en-US" altLang="en-US" sz="2200" b="1" dirty="0">
                <a:solidFill>
                  <a:srgbClr val="990000"/>
                </a:solidFill>
                <a:latin typeface="Times New Roman" panose="02020603050405020304" pitchFamily="18" charset="0"/>
                <a:cs typeface="Times New Roman" panose="02020603050405020304" pitchFamily="18" charset="0"/>
              </a:rPr>
              <a:t> </a:t>
            </a:r>
            <a:endParaRPr lang="el-GR" altLang="en-US" sz="2200" b="1" dirty="0">
              <a:solidFill>
                <a:srgbClr val="990000"/>
              </a:solidFill>
              <a:latin typeface="Times New Roman" panose="02020603050405020304" pitchFamily="18" charset="0"/>
              <a:cs typeface="Times New Roman" panose="02020603050405020304" pitchFamily="18" charset="0"/>
            </a:endParaRPr>
          </a:p>
        </p:txBody>
      </p:sp>
      <p:sp>
        <p:nvSpPr>
          <p:cNvPr id="14339"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sp>
        <p:nvSpPr>
          <p:cNvPr id="14340" name="Text Box 5"/>
          <p:cNvSpPr txBox="1">
            <a:spLocks noChangeArrowheads="1"/>
          </p:cNvSpPr>
          <p:nvPr/>
        </p:nvSpPr>
        <p:spPr bwMode="auto">
          <a:xfrm>
            <a:off x="0" y="4704484"/>
            <a:ext cx="48641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cs typeface="Times New Roman" panose="02020603050405020304" pitchFamily="18" charset="0"/>
              </a:rPr>
              <a:t>k = αριθμός bit ανά σύμβολο</a:t>
            </a:r>
            <a:r>
              <a:rPr lang="en-US" altLang="en-US" sz="2200" b="1">
                <a:solidFill>
                  <a:srgbClr val="990000"/>
                </a:solidFill>
                <a:latin typeface="Times New Roman" panose="02020603050405020304" pitchFamily="18" charset="0"/>
                <a:cs typeface="Times New Roman" panose="02020603050405020304" pitchFamily="18" charset="0"/>
              </a:rPr>
              <a:t> </a:t>
            </a:r>
            <a:endParaRPr lang="el-GR" altLang="en-US" sz="2200" b="1">
              <a:solidFill>
                <a:srgbClr val="990000"/>
              </a:solidFill>
              <a:latin typeface="Times New Roman" panose="02020603050405020304" pitchFamily="18" charset="0"/>
              <a:cs typeface="Times New Roman" panose="02020603050405020304" pitchFamily="18" charset="0"/>
            </a:endParaRPr>
          </a:p>
        </p:txBody>
      </p:sp>
      <p:graphicFrame>
        <p:nvGraphicFramePr>
          <p:cNvPr id="14341" name="Object 8"/>
          <p:cNvGraphicFramePr>
            <a:graphicFrameLocks noChangeAspect="1"/>
          </p:cNvGraphicFramePr>
          <p:nvPr>
            <p:extLst>
              <p:ext uri="{D42A27DB-BD31-4B8C-83A1-F6EECF244321}">
                <p14:modId xmlns:p14="http://schemas.microsoft.com/office/powerpoint/2010/main" val="1950571220"/>
              </p:ext>
            </p:extLst>
          </p:nvPr>
        </p:nvGraphicFramePr>
        <p:xfrm>
          <a:off x="5986318" y="6561138"/>
          <a:ext cx="1247775" cy="368300"/>
        </p:xfrm>
        <a:graphic>
          <a:graphicData uri="http://schemas.openxmlformats.org/presentationml/2006/ole">
            <mc:AlternateContent xmlns:mc="http://schemas.openxmlformats.org/markup-compatibility/2006">
              <mc:Choice xmlns:v="urn:schemas-microsoft-com:vml" Requires="v">
                <p:oleObj name="Equation" r:id="rId2" imgW="774364" imgH="228501" progId="Equation.3">
                  <p:embed/>
                </p:oleObj>
              </mc:Choice>
              <mc:Fallback>
                <p:oleObj name="Equation" r:id="rId2" imgW="774364" imgH="228501" progId="Equation.3">
                  <p:embed/>
                  <p:pic>
                    <p:nvPicPr>
                      <p:cNvPr id="14341"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6318" y="6561138"/>
                        <a:ext cx="1247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2" name="Object 9"/>
          <p:cNvGraphicFramePr>
            <a:graphicFrameLocks noGrp="1" noChangeAspect="1"/>
          </p:cNvGraphicFramePr>
          <p:nvPr>
            <p:ph/>
            <p:extLst>
              <p:ext uri="{D42A27DB-BD31-4B8C-83A1-F6EECF244321}">
                <p14:modId xmlns:p14="http://schemas.microsoft.com/office/powerpoint/2010/main" val="3575499629"/>
              </p:ext>
            </p:extLst>
          </p:nvPr>
        </p:nvGraphicFramePr>
        <p:xfrm>
          <a:off x="3584574" y="4292600"/>
          <a:ext cx="334963" cy="503237"/>
        </p:xfrm>
        <a:graphic>
          <a:graphicData uri="http://schemas.openxmlformats.org/presentationml/2006/ole">
            <mc:AlternateContent xmlns:mc="http://schemas.openxmlformats.org/markup-compatibility/2006">
              <mc:Choice xmlns:v="urn:schemas-microsoft-com:vml" Requires="v">
                <p:oleObj name="Equation" r:id="rId4" imgW="152334" imgH="228501" progId="Equation.3">
                  <p:embed/>
                </p:oleObj>
              </mc:Choice>
              <mc:Fallback>
                <p:oleObj name="Equation" r:id="rId4" imgW="152334" imgH="228501" progId="Equation.3">
                  <p:embed/>
                  <p:pic>
                    <p:nvPicPr>
                      <p:cNvPr id="14342"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4574" y="4292600"/>
                        <a:ext cx="3349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14"/>
          <p:cNvSpPr>
            <a:spLocks noChangeArrowheads="1"/>
          </p:cNvSpPr>
          <p:nvPr/>
        </p:nvSpPr>
        <p:spPr bwMode="auto">
          <a:xfrm>
            <a:off x="0" y="342423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mc:AlternateContent xmlns:mc="http://schemas.openxmlformats.org/markup-compatibility/2006" xmlns:a14="http://schemas.microsoft.com/office/drawing/2010/main">
        <mc:Choice Requires="a14">
          <p:sp>
            <p:nvSpPr>
              <p:cNvPr id="14344" name="Object 13"/>
              <p:cNvSpPr txBox="1"/>
              <p:nvPr/>
            </p:nvSpPr>
            <p:spPr bwMode="auto">
              <a:xfrm>
                <a:off x="113000" y="3763156"/>
                <a:ext cx="2888673" cy="83978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el-GR" sz="2000" i="1" smtClean="0">
                              <a:solidFill>
                                <a:srgbClr val="000000"/>
                              </a:solidFill>
                              <a:latin typeface="Cambria Math" panose="02040503050406030204" pitchFamily="18" charset="0"/>
                            </a:rPr>
                          </m:ctrlPr>
                        </m:sSubPr>
                        <m:e>
                          <m:r>
                            <m:rPr>
                              <m:sty m:val="p"/>
                            </m:rPr>
                            <a:rPr lang="el-GR" sz="2000" i="0">
                              <a:solidFill>
                                <a:srgbClr val="000000"/>
                              </a:solidFill>
                              <a:latin typeface="Cambria Math" panose="02040503050406030204" pitchFamily="18" charset="0"/>
                            </a:rPr>
                            <m:t>E</m:t>
                          </m:r>
                        </m:e>
                        <m:sub>
                          <m:sSub>
                            <m:sSubPr>
                              <m:ctrlPr>
                                <a:rPr lang="en-US" sz="2000" b="0" i="1" smtClean="0">
                                  <a:solidFill>
                                    <a:srgbClr val="000000"/>
                                  </a:solidFill>
                                  <a:latin typeface="Cambria Math" panose="02040503050406030204" pitchFamily="18" charset="0"/>
                                </a:rPr>
                              </m:ctrlPr>
                            </m:sSubPr>
                            <m:e>
                              <m:r>
                                <m:rPr>
                                  <m:sty m:val="p"/>
                                </m:rPr>
                                <a:rPr lang="el-GR" sz="2000" i="0">
                                  <a:solidFill>
                                    <a:srgbClr val="000000"/>
                                  </a:solidFill>
                                  <a:latin typeface="Cambria Math" panose="02040503050406030204" pitchFamily="18" charset="0"/>
                                </a:rPr>
                                <m:t>b</m:t>
                              </m:r>
                            </m:e>
                            <m:sub>
                              <m:r>
                                <m:rPr>
                                  <m:sty m:val="p"/>
                                </m:rPr>
                                <a:rPr lang="en-US" sz="2000" b="0" i="0" smtClean="0">
                                  <a:solidFill>
                                    <a:srgbClr val="000000"/>
                                  </a:solidFill>
                                  <a:latin typeface="Cambria Math" panose="02040503050406030204" pitchFamily="18" charset="0"/>
                                </a:rPr>
                                <m:t>average</m:t>
                              </m:r>
                            </m:sub>
                          </m:sSub>
                        </m:sub>
                      </m:sSub>
                      <m:r>
                        <a:rPr lang="el-GR" sz="2000" i="0">
                          <a:solidFill>
                            <a:srgbClr val="000000"/>
                          </a:solidFill>
                          <a:latin typeface="Cambria Math" panose="02040503050406030204" pitchFamily="18" charset="0"/>
                        </a:rPr>
                        <m:t> </m:t>
                      </m:r>
                      <m:r>
                        <a:rPr lang="el-GR" sz="2000" i="1">
                          <a:solidFill>
                            <a:srgbClr val="000000"/>
                          </a:solidFill>
                          <a:latin typeface="Cambria Math" panose="02040503050406030204" pitchFamily="18" charset="0"/>
                        </a:rPr>
                        <m:t>=</m:t>
                      </m:r>
                      <m:r>
                        <a:rPr lang="el-GR" sz="2000" i="0">
                          <a:solidFill>
                            <a:srgbClr val="000000"/>
                          </a:solidFill>
                          <a:latin typeface="Cambria Math" panose="02040503050406030204" pitchFamily="18" charset="0"/>
                        </a:rPr>
                        <m:t> </m:t>
                      </m:r>
                      <m:f>
                        <m:fPr>
                          <m:ctrlPr>
                            <a:rPr lang="el-GR" sz="2000" i="1">
                              <a:solidFill>
                                <a:srgbClr val="000000"/>
                              </a:solidFill>
                              <a:latin typeface="Cambria Math" panose="02040503050406030204" pitchFamily="18" charset="0"/>
                            </a:rPr>
                          </m:ctrlPr>
                        </m:fPr>
                        <m:num>
                          <m:sSub>
                            <m:sSubPr>
                              <m:ctrlPr>
                                <a:rPr lang="el-GR" sz="2000" i="1">
                                  <a:solidFill>
                                    <a:srgbClr val="000000"/>
                                  </a:solidFill>
                                  <a:latin typeface="Cambria Math" panose="02040503050406030204" pitchFamily="18" charset="0"/>
                                </a:rPr>
                              </m:ctrlPr>
                            </m:sSubPr>
                            <m:e>
                              <m:r>
                                <m:rPr>
                                  <m:sty m:val="p"/>
                                </m:rPr>
                                <a:rPr lang="el-GR" sz="2000" i="0">
                                  <a:solidFill>
                                    <a:srgbClr val="000000"/>
                                  </a:solidFill>
                                  <a:latin typeface="Cambria Math" panose="02040503050406030204" pitchFamily="18" charset="0"/>
                                </a:rPr>
                                <m:t>E</m:t>
                              </m:r>
                            </m:e>
                            <m:sub>
                              <m:sSub>
                                <m:sSubPr>
                                  <m:ctrlPr>
                                    <a:rPr lang="en-US" sz="2000" b="0" i="1" smtClean="0">
                                      <a:solidFill>
                                        <a:srgbClr val="000000"/>
                                      </a:solidFill>
                                      <a:latin typeface="Cambria Math" panose="02040503050406030204" pitchFamily="18" charset="0"/>
                                    </a:rPr>
                                  </m:ctrlPr>
                                </m:sSubPr>
                                <m:e>
                                  <m:r>
                                    <m:rPr>
                                      <m:sty m:val="p"/>
                                    </m:rPr>
                                    <a:rPr lang="el-GR" sz="2000" i="0">
                                      <a:solidFill>
                                        <a:srgbClr val="000000"/>
                                      </a:solidFill>
                                      <a:latin typeface="Cambria Math" panose="02040503050406030204" pitchFamily="18" charset="0"/>
                                    </a:rPr>
                                    <m:t>s</m:t>
                                  </m:r>
                                </m:e>
                                <m:sub>
                                  <m:r>
                                    <m:rPr>
                                      <m:sty m:val="p"/>
                                    </m:rPr>
                                    <a:rPr lang="en-US" sz="2000" b="0" i="0" smtClean="0">
                                      <a:solidFill>
                                        <a:srgbClr val="000000"/>
                                      </a:solidFill>
                                      <a:latin typeface="Cambria Math" panose="02040503050406030204" pitchFamily="18" charset="0"/>
                                    </a:rPr>
                                    <m:t>average</m:t>
                                  </m:r>
                                </m:sub>
                              </m:sSub>
                            </m:sub>
                          </m:sSub>
                        </m:num>
                        <m:den>
                          <m:r>
                            <m:rPr>
                              <m:sty m:val="p"/>
                            </m:rPr>
                            <a:rPr lang="el-GR" sz="2000" i="0">
                              <a:solidFill>
                                <a:srgbClr val="000000"/>
                              </a:solidFill>
                              <a:latin typeface="Cambria Math" panose="02040503050406030204" pitchFamily="18" charset="0"/>
                            </a:rPr>
                            <m:t>k</m:t>
                          </m:r>
                        </m:den>
                      </m:f>
                    </m:oMath>
                  </m:oMathPara>
                </a14:m>
                <a:endParaRPr lang="el-GR" sz="2000" dirty="0"/>
              </a:p>
            </p:txBody>
          </p:sp>
        </mc:Choice>
        <mc:Fallback xmlns="">
          <p:sp>
            <p:nvSpPr>
              <p:cNvPr id="14344" name="Object 13"/>
              <p:cNvSpPr txBox="1">
                <a:spLocks noRot="1" noChangeAspect="1" noMove="1" noResize="1" noEditPoints="1" noAdjustHandles="1" noChangeArrowheads="1" noChangeShapeType="1" noTextEdit="1"/>
              </p:cNvSpPr>
              <p:nvPr/>
            </p:nvSpPr>
            <p:spPr bwMode="auto">
              <a:xfrm>
                <a:off x="113000" y="3763156"/>
                <a:ext cx="2888673" cy="839787"/>
              </a:xfrm>
              <a:prstGeom prst="rect">
                <a:avLst/>
              </a:prstGeom>
              <a:blipFill>
                <a:blip r:embed="rId6"/>
                <a:stretch>
                  <a:fillRect/>
                </a:stretch>
              </a:blipFill>
              <a:ln>
                <a:noFill/>
              </a:ln>
            </p:spPr>
            <p:txBody>
              <a:bodyPr/>
              <a:lstStyle/>
              <a:p>
                <a:r>
                  <a:rPr lang="el-GR">
                    <a:noFill/>
                  </a:rPr>
                  <a:t> </a:t>
                </a:r>
              </a:p>
            </p:txBody>
          </p:sp>
        </mc:Fallback>
      </mc:AlternateContent>
      <p:pic>
        <p:nvPicPr>
          <p:cNvPr id="14345" name="Picture 18" descr="MARY_BER"/>
          <p:cNvPicPr>
            <a:picLocks noChangeAspect="1" noChangeArrowheads="1"/>
          </p:cNvPicPr>
          <p:nvPr/>
        </p:nvPicPr>
        <p:blipFill>
          <a:blip r:embed="rId7">
            <a:extLst>
              <a:ext uri="{28A0092B-C50C-407E-A947-70E740481C1C}">
                <a14:useLocalDpi xmlns:a14="http://schemas.microsoft.com/office/drawing/2010/main" val="0"/>
              </a:ext>
            </a:extLst>
          </a:blip>
          <a:srcRect l="8281" r="-2008" b="7631"/>
          <a:stretch>
            <a:fillRect/>
          </a:stretch>
        </p:blipFill>
        <p:spPr bwMode="auto">
          <a:xfrm>
            <a:off x="4054475" y="3051175"/>
            <a:ext cx="4114800" cy="348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Object 13">
                <a:extLst>
                  <a:ext uri="{FF2B5EF4-FFF2-40B4-BE49-F238E27FC236}">
                    <a16:creationId xmlns:a16="http://schemas.microsoft.com/office/drawing/2014/main" id="{72BFA7E9-D404-114E-E688-55F208675630}"/>
                  </a:ext>
                </a:extLst>
              </p:cNvPr>
              <p:cNvSpPr txBox="1"/>
              <p:nvPr/>
            </p:nvSpPr>
            <p:spPr bwMode="auto">
              <a:xfrm>
                <a:off x="830550" y="1771828"/>
                <a:ext cx="7513349" cy="155563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en-US" sz="2400" b="1" i="1" smtClean="0">
                              <a:solidFill>
                                <a:srgbClr val="000000"/>
                              </a:solidFill>
                              <a:latin typeface="Cambria Math" panose="02040503050406030204" pitchFamily="18" charset="0"/>
                            </a:rPr>
                          </m:ctrlPr>
                        </m:sSubPr>
                        <m:e>
                          <m:r>
                            <a:rPr lang="en-US" sz="2400" b="1" i="1" smtClean="0">
                              <a:solidFill>
                                <a:srgbClr val="000000"/>
                              </a:solidFill>
                              <a:latin typeface="Cambria Math" panose="02040503050406030204" pitchFamily="18" charset="0"/>
                            </a:rPr>
                            <m:t>𝑷</m:t>
                          </m:r>
                        </m:e>
                        <m:sub>
                          <m:sSub>
                            <m:sSubPr>
                              <m:ctrlPr>
                                <a:rPr lang="en-US" sz="2400" b="1" i="1" smtClean="0">
                                  <a:solidFill>
                                    <a:srgbClr val="000000"/>
                                  </a:solidFill>
                                  <a:latin typeface="Cambria Math" panose="02040503050406030204" pitchFamily="18" charset="0"/>
                                </a:rPr>
                              </m:ctrlPr>
                            </m:sSubPr>
                            <m:e>
                              <m:r>
                                <a:rPr lang="en-US" sz="2400" b="1" i="1" smtClean="0">
                                  <a:solidFill>
                                    <a:srgbClr val="000000"/>
                                  </a:solidFill>
                                  <a:latin typeface="Cambria Math" panose="02040503050406030204" pitchFamily="18" charset="0"/>
                                </a:rPr>
                                <m:t>𝒔</m:t>
                              </m:r>
                            </m:e>
                            <m:sub>
                              <m:r>
                                <a:rPr lang="en-US" sz="2400" b="1" i="1" smtClean="0">
                                  <a:solidFill>
                                    <a:srgbClr val="000000"/>
                                  </a:solidFill>
                                  <a:latin typeface="Cambria Math" panose="02040503050406030204" pitchFamily="18" charset="0"/>
                                </a:rPr>
                                <m:t>𝑴</m:t>
                              </m:r>
                              <m:r>
                                <a:rPr lang="en-US" sz="2400" b="1" i="1" smtClean="0">
                                  <a:solidFill>
                                    <a:srgbClr val="000000"/>
                                  </a:solidFill>
                                  <a:latin typeface="Cambria Math" panose="02040503050406030204" pitchFamily="18" charset="0"/>
                                </a:rPr>
                                <m:t>−</m:t>
                              </m:r>
                              <m:r>
                                <a:rPr lang="en-US" sz="2400" b="1" i="1" smtClean="0">
                                  <a:solidFill>
                                    <a:srgbClr val="000000"/>
                                  </a:solidFill>
                                  <a:latin typeface="Cambria Math" panose="02040503050406030204" pitchFamily="18" charset="0"/>
                                </a:rPr>
                                <m:t>𝒂𝒓𝒚𝑩𝒊𝒑𝒐𝒍𝒂𝒓</m:t>
                              </m:r>
                            </m:sub>
                          </m:sSub>
                        </m:sub>
                      </m:sSub>
                      <m:r>
                        <a:rPr lang="en-US" sz="2400" b="1" i="1" smtClean="0">
                          <a:solidFill>
                            <a:srgbClr val="000000"/>
                          </a:solidFill>
                          <a:latin typeface="Cambria Math" panose="02040503050406030204" pitchFamily="18" charset="0"/>
                        </a:rPr>
                        <m:t>=</m:t>
                      </m:r>
                      <m:f>
                        <m:fPr>
                          <m:ctrlPr>
                            <a:rPr lang="en-US" sz="2400" b="1" i="1" smtClean="0">
                              <a:solidFill>
                                <a:srgbClr val="000000"/>
                              </a:solidFill>
                              <a:latin typeface="Cambria Math" panose="02040503050406030204" pitchFamily="18" charset="0"/>
                            </a:rPr>
                          </m:ctrlPr>
                        </m:fPr>
                        <m:num>
                          <m:r>
                            <a:rPr lang="en-US" sz="2400" b="1" i="1" smtClean="0">
                              <a:solidFill>
                                <a:srgbClr val="000000"/>
                              </a:solidFill>
                              <a:latin typeface="Cambria Math" panose="02040503050406030204" pitchFamily="18" charset="0"/>
                            </a:rPr>
                            <m:t>𝑴</m:t>
                          </m:r>
                          <m:r>
                            <a:rPr lang="en-US" sz="2400" b="1" i="1" smtClean="0">
                              <a:solidFill>
                                <a:srgbClr val="000000"/>
                              </a:solidFill>
                              <a:latin typeface="Cambria Math" panose="02040503050406030204" pitchFamily="18" charset="0"/>
                            </a:rPr>
                            <m:t>−</m:t>
                          </m:r>
                          <m:r>
                            <a:rPr lang="en-US" sz="2400" b="1" i="1" smtClean="0">
                              <a:solidFill>
                                <a:srgbClr val="000000"/>
                              </a:solidFill>
                              <a:latin typeface="Cambria Math" panose="02040503050406030204" pitchFamily="18" charset="0"/>
                            </a:rPr>
                            <m:t>𝟏</m:t>
                          </m:r>
                        </m:num>
                        <m:den>
                          <m:r>
                            <a:rPr lang="en-US" sz="2400" b="1" i="1" smtClean="0">
                              <a:solidFill>
                                <a:srgbClr val="000000"/>
                              </a:solidFill>
                              <a:latin typeface="Cambria Math" panose="02040503050406030204" pitchFamily="18" charset="0"/>
                            </a:rPr>
                            <m:t>𝑴</m:t>
                          </m:r>
                        </m:den>
                      </m:f>
                      <m:r>
                        <a:rPr lang="en-US" sz="2400" b="1" i="1" smtClean="0">
                          <a:solidFill>
                            <a:srgbClr val="000000"/>
                          </a:solidFill>
                          <a:latin typeface="Cambria Math" panose="02040503050406030204" pitchFamily="18" charset="0"/>
                        </a:rPr>
                        <m:t>⋅</m:t>
                      </m:r>
                      <m:r>
                        <a:rPr lang="en-US" sz="2400" b="1" i="1" smtClean="0">
                          <a:solidFill>
                            <a:srgbClr val="000000"/>
                          </a:solidFill>
                          <a:latin typeface="Cambria Math" panose="02040503050406030204" pitchFamily="18" charset="0"/>
                        </a:rPr>
                        <m:t>𝒆𝒓𝒇𝒄</m:t>
                      </m:r>
                      <m:sSup>
                        <m:sSupPr>
                          <m:ctrlPr>
                            <a:rPr lang="en-US" sz="2400" b="1" i="1" smtClean="0">
                              <a:solidFill>
                                <a:srgbClr val="000000"/>
                              </a:solidFill>
                              <a:latin typeface="Cambria Math" panose="02040503050406030204" pitchFamily="18" charset="0"/>
                            </a:rPr>
                          </m:ctrlPr>
                        </m:sSupPr>
                        <m:e>
                          <m:d>
                            <m:dPr>
                              <m:ctrlPr>
                                <a:rPr lang="en-US" sz="2400" b="1" i="1" smtClean="0">
                                  <a:solidFill>
                                    <a:srgbClr val="000000"/>
                                  </a:solidFill>
                                  <a:latin typeface="Cambria Math" panose="02040503050406030204" pitchFamily="18" charset="0"/>
                                </a:rPr>
                              </m:ctrlPr>
                            </m:dPr>
                            <m:e>
                              <m:f>
                                <m:fPr>
                                  <m:ctrlPr>
                                    <a:rPr lang="en-US" sz="2400" b="1" i="1" smtClean="0">
                                      <a:solidFill>
                                        <a:srgbClr val="000000"/>
                                      </a:solidFill>
                                      <a:latin typeface="Cambria Math" panose="02040503050406030204" pitchFamily="18" charset="0"/>
                                    </a:rPr>
                                  </m:ctrlPr>
                                </m:fPr>
                                <m:num>
                                  <m:r>
                                    <a:rPr lang="en-US" sz="2400" b="1" i="1" smtClean="0">
                                      <a:solidFill>
                                        <a:srgbClr val="000000"/>
                                      </a:solidFill>
                                      <a:latin typeface="Cambria Math" panose="02040503050406030204" pitchFamily="18" charset="0"/>
                                    </a:rPr>
                                    <m:t>𝟑</m:t>
                                  </m:r>
                                </m:num>
                                <m:den>
                                  <m:sSup>
                                    <m:sSupPr>
                                      <m:ctrlPr>
                                        <a:rPr lang="en-US" sz="2400" b="1" i="1" smtClean="0">
                                          <a:solidFill>
                                            <a:srgbClr val="000000"/>
                                          </a:solidFill>
                                          <a:latin typeface="Cambria Math" panose="02040503050406030204" pitchFamily="18" charset="0"/>
                                        </a:rPr>
                                      </m:ctrlPr>
                                    </m:sSupPr>
                                    <m:e>
                                      <m:r>
                                        <a:rPr lang="en-US" sz="2400" b="1" i="1" smtClean="0">
                                          <a:solidFill>
                                            <a:srgbClr val="000000"/>
                                          </a:solidFill>
                                          <a:latin typeface="Cambria Math" panose="02040503050406030204" pitchFamily="18" charset="0"/>
                                        </a:rPr>
                                        <m:t>𝑴</m:t>
                                      </m:r>
                                    </m:e>
                                    <m:sup>
                                      <m:r>
                                        <a:rPr lang="en-US" sz="2400" b="1" i="1" smtClean="0">
                                          <a:solidFill>
                                            <a:srgbClr val="000000"/>
                                          </a:solidFill>
                                          <a:latin typeface="Cambria Math" panose="02040503050406030204" pitchFamily="18" charset="0"/>
                                        </a:rPr>
                                        <m:t>𝟐</m:t>
                                      </m:r>
                                    </m:sup>
                                  </m:sSup>
                                  <m:r>
                                    <a:rPr lang="en-US" sz="2400" b="1" i="1" smtClean="0">
                                      <a:solidFill>
                                        <a:srgbClr val="000000"/>
                                      </a:solidFill>
                                      <a:latin typeface="Cambria Math" panose="02040503050406030204" pitchFamily="18" charset="0"/>
                                    </a:rPr>
                                    <m:t>−</m:t>
                                  </m:r>
                                  <m:r>
                                    <a:rPr lang="en-US" sz="2400" b="1" i="1" smtClean="0">
                                      <a:solidFill>
                                        <a:srgbClr val="000000"/>
                                      </a:solidFill>
                                      <a:latin typeface="Cambria Math" panose="02040503050406030204" pitchFamily="18" charset="0"/>
                                    </a:rPr>
                                    <m:t>𝟏</m:t>
                                  </m:r>
                                </m:den>
                              </m:f>
                              <m:r>
                                <a:rPr lang="en-US" sz="2400" b="1" i="1" smtClean="0">
                                  <a:solidFill>
                                    <a:srgbClr val="000000"/>
                                  </a:solidFill>
                                  <a:latin typeface="Cambria Math" panose="02040503050406030204" pitchFamily="18" charset="0"/>
                                </a:rPr>
                                <m:t>⋅</m:t>
                              </m:r>
                              <m:f>
                                <m:fPr>
                                  <m:ctrlPr>
                                    <a:rPr lang="en-US" sz="2400" b="1" i="1" smtClean="0">
                                      <a:solidFill>
                                        <a:srgbClr val="000000"/>
                                      </a:solidFill>
                                      <a:latin typeface="Cambria Math" panose="02040503050406030204" pitchFamily="18" charset="0"/>
                                    </a:rPr>
                                  </m:ctrlPr>
                                </m:fPr>
                                <m:num>
                                  <m:sSub>
                                    <m:sSubPr>
                                      <m:ctrlPr>
                                        <a:rPr lang="en-US" sz="2400" b="1" i="1" smtClean="0">
                                          <a:solidFill>
                                            <a:srgbClr val="000000"/>
                                          </a:solidFill>
                                          <a:latin typeface="Cambria Math" panose="02040503050406030204" pitchFamily="18" charset="0"/>
                                        </a:rPr>
                                      </m:ctrlPr>
                                    </m:sSubPr>
                                    <m:e>
                                      <m:r>
                                        <a:rPr lang="en-US" sz="2400" b="1" i="1" smtClean="0">
                                          <a:solidFill>
                                            <a:srgbClr val="000000"/>
                                          </a:solidFill>
                                          <a:latin typeface="Cambria Math" panose="02040503050406030204" pitchFamily="18" charset="0"/>
                                        </a:rPr>
                                        <m:t>𝑬</m:t>
                                      </m:r>
                                    </m:e>
                                    <m:sub>
                                      <m:sSub>
                                        <m:sSubPr>
                                          <m:ctrlPr>
                                            <a:rPr lang="en-US" sz="2400" b="1" i="1" smtClean="0">
                                              <a:solidFill>
                                                <a:srgbClr val="000000"/>
                                              </a:solidFill>
                                              <a:latin typeface="Cambria Math" panose="02040503050406030204" pitchFamily="18" charset="0"/>
                                            </a:rPr>
                                          </m:ctrlPr>
                                        </m:sSubPr>
                                        <m:e>
                                          <m:r>
                                            <a:rPr lang="en-US" sz="2400" b="1" i="1" smtClean="0">
                                              <a:solidFill>
                                                <a:srgbClr val="000000"/>
                                              </a:solidFill>
                                              <a:latin typeface="Cambria Math" panose="02040503050406030204" pitchFamily="18" charset="0"/>
                                            </a:rPr>
                                            <m:t>𝒔</m:t>
                                          </m:r>
                                        </m:e>
                                        <m:sub>
                                          <m:r>
                                            <a:rPr lang="en-US" sz="2400" b="1" i="1" smtClean="0">
                                              <a:solidFill>
                                                <a:srgbClr val="000000"/>
                                              </a:solidFill>
                                              <a:latin typeface="Cambria Math" panose="02040503050406030204" pitchFamily="18" charset="0"/>
                                            </a:rPr>
                                            <m:t>𝒂𝒗𝒆𝒓𝒂𝒈𝒆</m:t>
                                          </m:r>
                                        </m:sub>
                                      </m:sSub>
                                    </m:sub>
                                  </m:sSub>
                                </m:num>
                                <m:den>
                                  <m:sSub>
                                    <m:sSubPr>
                                      <m:ctrlPr>
                                        <a:rPr lang="en-US" sz="2400" b="1" i="1" smtClean="0">
                                          <a:solidFill>
                                            <a:srgbClr val="000000"/>
                                          </a:solidFill>
                                          <a:latin typeface="Cambria Math" panose="02040503050406030204" pitchFamily="18" charset="0"/>
                                        </a:rPr>
                                      </m:ctrlPr>
                                    </m:sSubPr>
                                    <m:e>
                                      <m:r>
                                        <a:rPr lang="en-US" sz="2400" b="1" i="1" smtClean="0">
                                          <a:solidFill>
                                            <a:srgbClr val="000000"/>
                                          </a:solidFill>
                                          <a:latin typeface="Cambria Math" panose="02040503050406030204" pitchFamily="18" charset="0"/>
                                        </a:rPr>
                                        <m:t>𝑵</m:t>
                                      </m:r>
                                    </m:e>
                                    <m:sub>
                                      <m:r>
                                        <a:rPr lang="en-US" sz="2400" b="1" i="1" smtClean="0">
                                          <a:solidFill>
                                            <a:srgbClr val="000000"/>
                                          </a:solidFill>
                                          <a:latin typeface="Cambria Math" panose="02040503050406030204" pitchFamily="18" charset="0"/>
                                        </a:rPr>
                                        <m:t>𝟎</m:t>
                                      </m:r>
                                    </m:sub>
                                  </m:sSub>
                                </m:den>
                              </m:f>
                            </m:e>
                          </m:d>
                        </m:e>
                        <m:sup>
                          <m:f>
                            <m:fPr>
                              <m:ctrlPr>
                                <a:rPr lang="en-US" sz="2400" b="1" i="1" smtClean="0">
                                  <a:solidFill>
                                    <a:srgbClr val="000000"/>
                                  </a:solidFill>
                                  <a:latin typeface="Cambria Math" panose="02040503050406030204" pitchFamily="18" charset="0"/>
                                </a:rPr>
                              </m:ctrlPr>
                            </m:fPr>
                            <m:num>
                              <m:r>
                                <a:rPr lang="en-US" sz="2400" b="1" i="1" smtClean="0">
                                  <a:solidFill>
                                    <a:srgbClr val="000000"/>
                                  </a:solidFill>
                                  <a:latin typeface="Cambria Math" panose="02040503050406030204" pitchFamily="18" charset="0"/>
                                </a:rPr>
                                <m:t>𝟏</m:t>
                              </m:r>
                            </m:num>
                            <m:den>
                              <m:r>
                                <a:rPr lang="en-US" sz="2400" b="1" i="1" smtClean="0">
                                  <a:solidFill>
                                    <a:srgbClr val="000000"/>
                                  </a:solidFill>
                                  <a:latin typeface="Cambria Math" panose="02040503050406030204" pitchFamily="18" charset="0"/>
                                </a:rPr>
                                <m:t>𝟐</m:t>
                              </m:r>
                            </m:den>
                          </m:f>
                        </m:sup>
                      </m:sSup>
                    </m:oMath>
                  </m:oMathPara>
                </a14:m>
                <a:endParaRPr lang="el-GR" sz="2400" b="1" dirty="0"/>
              </a:p>
            </p:txBody>
          </p:sp>
        </mc:Choice>
        <mc:Fallback xmlns="">
          <p:sp>
            <p:nvSpPr>
              <p:cNvPr id="4" name="Object 13">
                <a:extLst>
                  <a:ext uri="{FF2B5EF4-FFF2-40B4-BE49-F238E27FC236}">
                    <a16:creationId xmlns:a16="http://schemas.microsoft.com/office/drawing/2014/main" id="{72BFA7E9-D404-114E-E688-55F208675630}"/>
                  </a:ext>
                </a:extLst>
              </p:cNvPr>
              <p:cNvSpPr txBox="1">
                <a:spLocks noRot="1" noChangeAspect="1" noMove="1" noResize="1" noEditPoints="1" noAdjustHandles="1" noChangeArrowheads="1" noChangeShapeType="1" noTextEdit="1"/>
              </p:cNvSpPr>
              <p:nvPr/>
            </p:nvSpPr>
            <p:spPr bwMode="auto">
              <a:xfrm>
                <a:off x="830550" y="1771828"/>
                <a:ext cx="7513349" cy="1555632"/>
              </a:xfrm>
              <a:prstGeom prst="rect">
                <a:avLst/>
              </a:prstGeom>
              <a:blipFill>
                <a:blip r:embed="rId8"/>
                <a:stretch>
                  <a:fillRect/>
                </a:stretch>
              </a:blipFill>
              <a:ln>
                <a:noFill/>
              </a:ln>
            </p:spPr>
            <p:txBody>
              <a:bodyPr/>
              <a:lstStyle/>
              <a:p>
                <a:r>
                  <a:rPr lang="el-GR">
                    <a:noFill/>
                  </a:rPr>
                  <a:t> </a:t>
                </a:r>
              </a:p>
            </p:txBody>
          </p:sp>
        </mc:Fallback>
      </mc:AlternateContent>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397000"/>
            <a:ext cx="8824913"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Παράδειγμα: Υπολογίστε την πιθανότητα εμφάνισης εσφαλμένων συμβόλων για την περίπτωση 8-δικής σηματοδοσίας με φασματική απόδοση 6 bit/sec/Hz.</a:t>
            </a:r>
          </a:p>
          <a:p>
            <a:pPr algn="just">
              <a:lnSpc>
                <a:spcPct val="90000"/>
              </a:lnSpc>
            </a:pPr>
            <a:endParaRPr lang="el-GR" altLang="en-US" sz="2200" b="1" dirty="0">
              <a:solidFill>
                <a:srgbClr val="990000"/>
              </a:solidFill>
              <a:latin typeface="Times New Roman" panose="02020603050405020304" pitchFamily="18" charset="0"/>
              <a:cs typeface="Times New Roman" panose="02020603050405020304" pitchFamily="18" charset="0"/>
            </a:endParaRP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graphicFrame>
        <p:nvGraphicFramePr>
          <p:cNvPr id="15364" name="Object 5"/>
          <p:cNvGraphicFramePr>
            <a:graphicFrameLocks noChangeAspect="1"/>
          </p:cNvGraphicFramePr>
          <p:nvPr/>
        </p:nvGraphicFramePr>
        <p:xfrm>
          <a:off x="6494463" y="6835775"/>
          <a:ext cx="1198562" cy="354013"/>
        </p:xfrm>
        <a:graphic>
          <a:graphicData uri="http://schemas.openxmlformats.org/presentationml/2006/ole">
            <mc:AlternateContent xmlns:mc="http://schemas.openxmlformats.org/markup-compatibility/2006">
              <mc:Choice xmlns:v="urn:schemas-microsoft-com:vml" Requires="v">
                <p:oleObj name="Equation" r:id="rId2" imgW="774364" imgH="228501" progId="Equation.3">
                  <p:embed/>
                </p:oleObj>
              </mc:Choice>
              <mc:Fallback>
                <p:oleObj name="Equation" r:id="rId2" imgW="774364" imgH="228501" progId="Equation.3">
                  <p:embed/>
                  <p:pic>
                    <p:nvPicPr>
                      <p:cNvPr id="1536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4463" y="6835775"/>
                        <a:ext cx="1198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5366" name="Picture 9" descr="MARY_BER"/>
          <p:cNvPicPr>
            <a:picLocks noChangeAspect="1" noChangeArrowheads="1"/>
          </p:cNvPicPr>
          <p:nvPr/>
        </p:nvPicPr>
        <p:blipFill>
          <a:blip r:embed="rId4">
            <a:extLst>
              <a:ext uri="{28A0092B-C50C-407E-A947-70E740481C1C}">
                <a14:useLocalDpi xmlns:a14="http://schemas.microsoft.com/office/drawing/2010/main" val="0"/>
              </a:ext>
            </a:extLst>
          </a:blip>
          <a:srcRect l="8281" r="-2008" b="7631"/>
          <a:stretch>
            <a:fillRect/>
          </a:stretch>
        </p:blipFill>
        <p:spPr bwMode="auto">
          <a:xfrm>
            <a:off x="4737100" y="3311525"/>
            <a:ext cx="4157663"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74" name="Object 23"/>
          <p:cNvGraphicFramePr>
            <a:graphicFrameLocks noGrp="1" noChangeAspect="1"/>
          </p:cNvGraphicFramePr>
          <p:nvPr>
            <p:ph sz="quarter" idx="3"/>
          </p:nvPr>
        </p:nvGraphicFramePr>
        <p:xfrm>
          <a:off x="4414838" y="4602163"/>
          <a:ext cx="384175" cy="576262"/>
        </p:xfrm>
        <a:graphic>
          <a:graphicData uri="http://schemas.openxmlformats.org/presentationml/2006/ole">
            <mc:AlternateContent xmlns:mc="http://schemas.openxmlformats.org/markup-compatibility/2006">
              <mc:Choice xmlns:v="urn:schemas-microsoft-com:vml" Requires="v">
                <p:oleObj name="Equation" r:id="rId5" imgW="152334" imgH="228501" progId="Equation.3">
                  <p:embed/>
                </p:oleObj>
              </mc:Choice>
              <mc:Fallback>
                <p:oleObj name="Equation" r:id="rId5" imgW="152334" imgH="228501" progId="Equation.3">
                  <p:embed/>
                  <p:pic>
                    <p:nvPicPr>
                      <p:cNvPr id="15374" name="Object 2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4838" y="4602163"/>
                        <a:ext cx="384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D6EE-6DBE-79D5-131A-39AAAF51377C}"/>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8E573853-3439-B3FF-4681-3E9894C7AE44}"/>
              </a:ext>
            </a:extLst>
          </p:cNvPr>
          <p:cNvSpPr txBox="1">
            <a:spLocks noChangeArrowheads="1"/>
          </p:cNvSpPr>
          <p:nvPr/>
        </p:nvSpPr>
        <p:spPr bwMode="auto">
          <a:xfrm>
            <a:off x="0" y="1397000"/>
            <a:ext cx="8824913" cy="1920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Παράδειγμα: Υπολογίστε την πιθανότητα εμφάνισης εσφαλμένων συμβόλων για την περίπτωση 8-δικής σηματοδοσίας με φασματική απόδοση 6 bit/sec/Hz.</a:t>
            </a:r>
          </a:p>
          <a:p>
            <a:pPr algn="just">
              <a:lnSpc>
                <a:spcPct val="90000"/>
              </a:lnSpc>
            </a:pPr>
            <a:endParaRPr lang="el-GR" altLang="en-US" sz="2200" b="1" dirty="0">
              <a:solidFill>
                <a:srgbClr val="990000"/>
              </a:solidFill>
              <a:latin typeface="Times New Roman" panose="02020603050405020304" pitchFamily="18" charset="0"/>
              <a:cs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Λύση:</a:t>
            </a: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Θεώρημα Shannon-Hartley:</a:t>
            </a:r>
          </a:p>
        </p:txBody>
      </p:sp>
      <p:sp>
        <p:nvSpPr>
          <p:cNvPr id="15363" name="Text Box 3">
            <a:extLst>
              <a:ext uri="{FF2B5EF4-FFF2-40B4-BE49-F238E27FC236}">
                <a16:creationId xmlns:a16="http://schemas.microsoft.com/office/drawing/2014/main" id="{2B7B51A2-0A8F-E690-948F-274927C21C6D}"/>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graphicFrame>
        <p:nvGraphicFramePr>
          <p:cNvPr id="15364" name="Object 5">
            <a:extLst>
              <a:ext uri="{FF2B5EF4-FFF2-40B4-BE49-F238E27FC236}">
                <a16:creationId xmlns:a16="http://schemas.microsoft.com/office/drawing/2014/main" id="{E68844B3-C372-C955-FED9-E590308D75D8}"/>
              </a:ext>
            </a:extLst>
          </p:cNvPr>
          <p:cNvGraphicFramePr>
            <a:graphicFrameLocks noChangeAspect="1"/>
          </p:cNvGraphicFramePr>
          <p:nvPr/>
        </p:nvGraphicFramePr>
        <p:xfrm>
          <a:off x="6494463" y="6835775"/>
          <a:ext cx="1198562" cy="354013"/>
        </p:xfrm>
        <a:graphic>
          <a:graphicData uri="http://schemas.openxmlformats.org/presentationml/2006/ole">
            <mc:AlternateContent xmlns:mc="http://schemas.openxmlformats.org/markup-compatibility/2006">
              <mc:Choice xmlns:v="urn:schemas-microsoft-com:vml" Requires="v">
                <p:oleObj name="Equation" r:id="rId2" imgW="774364" imgH="228501" progId="Equation.3">
                  <p:embed/>
                </p:oleObj>
              </mc:Choice>
              <mc:Fallback>
                <p:oleObj name="Equation" r:id="rId2" imgW="774364" imgH="228501" progId="Equation.3">
                  <p:embed/>
                  <p:pic>
                    <p:nvPicPr>
                      <p:cNvPr id="15364" name="Object 5">
                        <a:extLst>
                          <a:ext uri="{FF2B5EF4-FFF2-40B4-BE49-F238E27FC236}">
                            <a16:creationId xmlns:a16="http://schemas.microsoft.com/office/drawing/2014/main" id="{E68844B3-C372-C955-FED9-E590308D7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4463" y="6835775"/>
                        <a:ext cx="1198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Object 17">
            <a:extLst>
              <a:ext uri="{FF2B5EF4-FFF2-40B4-BE49-F238E27FC236}">
                <a16:creationId xmlns:a16="http://schemas.microsoft.com/office/drawing/2014/main" id="{2A3852E6-9A2B-EF90-82F2-AB59B5E0C7A6}"/>
              </a:ext>
            </a:extLst>
          </p:cNvPr>
          <p:cNvGraphicFramePr>
            <a:graphicFrameLocks noGrp="1" noChangeAspect="1"/>
          </p:cNvGraphicFramePr>
          <p:nvPr>
            <p:ph sz="quarter" idx="2"/>
          </p:nvPr>
        </p:nvGraphicFramePr>
        <p:xfrm>
          <a:off x="46037" y="5037459"/>
          <a:ext cx="3988390" cy="811817"/>
        </p:xfrm>
        <a:graphic>
          <a:graphicData uri="http://schemas.openxmlformats.org/presentationml/2006/ole">
            <mc:AlternateContent xmlns:mc="http://schemas.openxmlformats.org/markup-compatibility/2006">
              <mc:Choice xmlns:v="urn:schemas-microsoft-com:vml" Requires="v">
                <p:oleObj name="Equation" r:id="rId4" imgW="2120900" imgH="431800" progId="Equation.3">
                  <p:embed/>
                </p:oleObj>
              </mc:Choice>
              <mc:Fallback>
                <p:oleObj name="Equation" r:id="rId4" imgW="2120900" imgH="431800" progId="Equation.3">
                  <p:embed/>
                  <p:pic>
                    <p:nvPicPr>
                      <p:cNvPr id="15365" name="Object 17">
                        <a:extLst>
                          <a:ext uri="{FF2B5EF4-FFF2-40B4-BE49-F238E27FC236}">
                            <a16:creationId xmlns:a16="http://schemas.microsoft.com/office/drawing/2014/main" id="{2A3852E6-9A2B-EF90-82F2-AB59B5E0C7A6}"/>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37" y="5037459"/>
                        <a:ext cx="3988390" cy="811817"/>
                      </a:xfrm>
                      <a:prstGeom prst="rect">
                        <a:avLst/>
                      </a:prstGeom>
                      <a:noFill/>
                      <a:ln>
                        <a:noFill/>
                      </a:ln>
                      <a:effectLst/>
                    </p:spPr>
                  </p:pic>
                </p:oleObj>
              </mc:Fallback>
            </mc:AlternateContent>
          </a:graphicData>
        </a:graphic>
      </p:graphicFrame>
      <p:pic>
        <p:nvPicPr>
          <p:cNvPr id="15366" name="Picture 9" descr="MARY_BER">
            <a:extLst>
              <a:ext uri="{FF2B5EF4-FFF2-40B4-BE49-F238E27FC236}">
                <a16:creationId xmlns:a16="http://schemas.microsoft.com/office/drawing/2014/main" id="{7CC50F44-E12F-7948-95D5-2E6EB4D881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8281" r="-2008" b="7631"/>
          <a:stretch>
            <a:fillRect/>
          </a:stretch>
        </p:blipFill>
        <p:spPr bwMode="auto">
          <a:xfrm>
            <a:off x="4737100" y="3311525"/>
            <a:ext cx="4157663"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11">
            <a:extLst>
              <a:ext uri="{FF2B5EF4-FFF2-40B4-BE49-F238E27FC236}">
                <a16:creationId xmlns:a16="http://schemas.microsoft.com/office/drawing/2014/main" id="{028A091A-9714-47F4-D89A-B6BADB860DD6}"/>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68" name="Object 10">
            <a:extLst>
              <a:ext uri="{FF2B5EF4-FFF2-40B4-BE49-F238E27FC236}">
                <a16:creationId xmlns:a16="http://schemas.microsoft.com/office/drawing/2014/main" id="{AEF240CC-9E0A-C3B8-A17C-89EEE8CBF63B}"/>
              </a:ext>
            </a:extLst>
          </p:cNvPr>
          <p:cNvGraphicFramePr>
            <a:graphicFrameLocks noChangeAspect="1"/>
          </p:cNvGraphicFramePr>
          <p:nvPr/>
        </p:nvGraphicFramePr>
        <p:xfrm>
          <a:off x="46038" y="3305175"/>
          <a:ext cx="2344737" cy="771525"/>
        </p:xfrm>
        <a:graphic>
          <a:graphicData uri="http://schemas.openxmlformats.org/presentationml/2006/ole">
            <mc:AlternateContent xmlns:mc="http://schemas.openxmlformats.org/markup-compatibility/2006">
              <mc:Choice xmlns:v="urn:schemas-microsoft-com:vml" Requires="v">
                <p:oleObj name="Equation" r:id="rId7" imgW="1473200" imgH="482600" progId="Equation.3">
                  <p:embed/>
                </p:oleObj>
              </mc:Choice>
              <mc:Fallback>
                <p:oleObj name="Equation" r:id="rId7" imgW="1473200" imgH="482600" progId="Equation.3">
                  <p:embed/>
                  <p:pic>
                    <p:nvPicPr>
                      <p:cNvPr id="15368" name="Object 10">
                        <a:extLst>
                          <a:ext uri="{FF2B5EF4-FFF2-40B4-BE49-F238E27FC236}">
                            <a16:creationId xmlns:a16="http://schemas.microsoft.com/office/drawing/2014/main" id="{AEF240CC-9E0A-C3B8-A17C-89EEE8CBF6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38" y="3305175"/>
                        <a:ext cx="2344737"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9" name="Rectangle 13">
            <a:extLst>
              <a:ext uri="{FF2B5EF4-FFF2-40B4-BE49-F238E27FC236}">
                <a16:creationId xmlns:a16="http://schemas.microsoft.com/office/drawing/2014/main" id="{DD6EEEB2-1011-FC28-0915-4B4578FC1499}"/>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70" name="Object 12">
            <a:extLst>
              <a:ext uri="{FF2B5EF4-FFF2-40B4-BE49-F238E27FC236}">
                <a16:creationId xmlns:a16="http://schemas.microsoft.com/office/drawing/2014/main" id="{8DB77B3A-ABEA-EBA4-2C06-EFF44F1D85C5}"/>
              </a:ext>
            </a:extLst>
          </p:cNvPr>
          <p:cNvGraphicFramePr>
            <a:graphicFrameLocks noChangeAspect="1"/>
          </p:cNvGraphicFramePr>
          <p:nvPr/>
        </p:nvGraphicFramePr>
        <p:xfrm>
          <a:off x="2521902" y="3341687"/>
          <a:ext cx="1919288" cy="698500"/>
        </p:xfrm>
        <a:graphic>
          <a:graphicData uri="http://schemas.openxmlformats.org/presentationml/2006/ole">
            <mc:AlternateContent xmlns:mc="http://schemas.openxmlformats.org/markup-compatibility/2006">
              <mc:Choice xmlns:v="urn:schemas-microsoft-com:vml" Requires="v">
                <p:oleObj name="Equation" r:id="rId9" imgW="1333500" imgH="482600" progId="Equation.3">
                  <p:embed/>
                </p:oleObj>
              </mc:Choice>
              <mc:Fallback>
                <p:oleObj name="Equation" r:id="rId9" imgW="1333500" imgH="482600" progId="Equation.3">
                  <p:embed/>
                  <p:pic>
                    <p:nvPicPr>
                      <p:cNvPr id="15370" name="Object 12">
                        <a:extLst>
                          <a:ext uri="{FF2B5EF4-FFF2-40B4-BE49-F238E27FC236}">
                            <a16:creationId xmlns:a16="http://schemas.microsoft.com/office/drawing/2014/main" id="{8DB77B3A-ABEA-EBA4-2C06-EFF44F1D85C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1902" y="3341687"/>
                        <a:ext cx="191928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1" name="Rectangle 15">
            <a:extLst>
              <a:ext uri="{FF2B5EF4-FFF2-40B4-BE49-F238E27FC236}">
                <a16:creationId xmlns:a16="http://schemas.microsoft.com/office/drawing/2014/main" id="{D574C26C-45CB-8371-7A7A-3C41F0ECB1D4}"/>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72" name="Object 14">
            <a:extLst>
              <a:ext uri="{FF2B5EF4-FFF2-40B4-BE49-F238E27FC236}">
                <a16:creationId xmlns:a16="http://schemas.microsoft.com/office/drawing/2014/main" id="{A4BCE7CD-2DC5-5154-943E-5443A4A263B9}"/>
              </a:ext>
            </a:extLst>
          </p:cNvPr>
          <p:cNvGraphicFramePr>
            <a:graphicFrameLocks noChangeAspect="1"/>
          </p:cNvGraphicFramePr>
          <p:nvPr/>
        </p:nvGraphicFramePr>
        <p:xfrm>
          <a:off x="46038" y="4166555"/>
          <a:ext cx="1965325" cy="781050"/>
        </p:xfrm>
        <a:graphic>
          <a:graphicData uri="http://schemas.openxmlformats.org/presentationml/2006/ole">
            <mc:AlternateContent xmlns:mc="http://schemas.openxmlformats.org/markup-compatibility/2006">
              <mc:Choice xmlns:v="urn:schemas-microsoft-com:vml" Requires="v">
                <p:oleObj name="Equation" r:id="rId11" imgW="1155700" imgH="457200" progId="Equation.3">
                  <p:embed/>
                </p:oleObj>
              </mc:Choice>
              <mc:Fallback>
                <p:oleObj name="Equation" r:id="rId11" imgW="1155700" imgH="457200" progId="Equation.3">
                  <p:embed/>
                  <p:pic>
                    <p:nvPicPr>
                      <p:cNvPr id="15372" name="Object 14">
                        <a:extLst>
                          <a:ext uri="{FF2B5EF4-FFF2-40B4-BE49-F238E27FC236}">
                            <a16:creationId xmlns:a16="http://schemas.microsoft.com/office/drawing/2014/main" id="{A4BCE7CD-2DC5-5154-943E-5443A4A263B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38" y="4166555"/>
                        <a:ext cx="19653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3" name="Text Box 16">
            <a:extLst>
              <a:ext uri="{FF2B5EF4-FFF2-40B4-BE49-F238E27FC236}">
                <a16:creationId xmlns:a16="http://schemas.microsoft.com/office/drawing/2014/main" id="{CA8D8F52-606A-168B-D07E-FD71E7BCD251}"/>
              </a:ext>
            </a:extLst>
          </p:cNvPr>
          <p:cNvSpPr txBox="1">
            <a:spLocks noChangeArrowheads="1"/>
          </p:cNvSpPr>
          <p:nvPr/>
        </p:nvSpPr>
        <p:spPr bwMode="auto">
          <a:xfrm>
            <a:off x="0" y="5908365"/>
            <a:ext cx="29019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solidFill>
                  <a:srgbClr val="990000"/>
                </a:solidFill>
                <a:latin typeface="Times New Roman" panose="02020603050405020304" pitchFamily="18" charset="0"/>
                <a:cs typeface="Times New Roman" panose="02020603050405020304" pitchFamily="18" charset="0"/>
              </a:rPr>
              <a:t>Άρα: </a:t>
            </a:r>
            <a:r>
              <a:rPr lang="en-US" altLang="en-US" sz="2200" b="1" dirty="0">
                <a:solidFill>
                  <a:srgbClr val="990000"/>
                </a:solidFill>
                <a:latin typeface="Times New Roman" panose="02020603050405020304" pitchFamily="18" charset="0"/>
                <a:cs typeface="Times New Roman" panose="02020603050405020304" pitchFamily="18" charset="0"/>
              </a:rPr>
              <a:t>P</a:t>
            </a:r>
            <a:r>
              <a:rPr lang="en-US" altLang="en-US" sz="2200" b="1" baseline="-25000" dirty="0">
                <a:solidFill>
                  <a:srgbClr val="990000"/>
                </a:solidFill>
                <a:latin typeface="Times New Roman" panose="02020603050405020304" pitchFamily="18" charset="0"/>
                <a:cs typeface="Times New Roman" panose="02020603050405020304" pitchFamily="18" charset="0"/>
              </a:rPr>
              <a:t>s</a:t>
            </a:r>
            <a:r>
              <a:rPr lang="en-US" altLang="en-US" sz="2200" b="1" dirty="0">
                <a:solidFill>
                  <a:srgbClr val="990000"/>
                </a:solidFill>
                <a:latin typeface="Times New Roman" panose="02020603050405020304" pitchFamily="18" charset="0"/>
                <a:cs typeface="Times New Roman" panose="02020603050405020304" pitchFamily="18" charset="0"/>
              </a:rPr>
              <a:t> </a:t>
            </a:r>
            <a:r>
              <a:rPr lang="el-GR" altLang="en-US" sz="2200" b="1" dirty="0">
                <a:solidFill>
                  <a:srgbClr val="990000"/>
                </a:solidFill>
                <a:latin typeface="Times New Roman" panose="02020603050405020304" pitchFamily="18" charset="0"/>
                <a:cs typeface="Times New Roman" panose="02020603050405020304" pitchFamily="18" charset="0"/>
              </a:rPr>
              <a:t>περίπου 7*10</a:t>
            </a:r>
            <a:r>
              <a:rPr lang="el-GR" altLang="en-US" sz="2200" b="1" baseline="30000" dirty="0">
                <a:solidFill>
                  <a:srgbClr val="990000"/>
                </a:solidFill>
                <a:latin typeface="Times New Roman" panose="02020603050405020304" pitchFamily="18" charset="0"/>
                <a:cs typeface="Times New Roman" panose="02020603050405020304" pitchFamily="18" charset="0"/>
              </a:rPr>
              <a:t>-2</a:t>
            </a:r>
            <a:endParaRPr lang="en-US" altLang="en-US" sz="2200" b="1" baseline="30000" dirty="0">
              <a:solidFill>
                <a:srgbClr val="990000"/>
              </a:solidFill>
              <a:latin typeface="Times New Roman" panose="02020603050405020304" pitchFamily="18" charset="0"/>
              <a:cs typeface="Times New Roman" panose="02020603050405020304" pitchFamily="18" charset="0"/>
            </a:endParaRPr>
          </a:p>
        </p:txBody>
      </p:sp>
      <p:graphicFrame>
        <p:nvGraphicFramePr>
          <p:cNvPr id="15374" name="Object 23">
            <a:extLst>
              <a:ext uri="{FF2B5EF4-FFF2-40B4-BE49-F238E27FC236}">
                <a16:creationId xmlns:a16="http://schemas.microsoft.com/office/drawing/2014/main" id="{A9C087BF-376C-C483-4FEE-04A421DCB5DF}"/>
              </a:ext>
            </a:extLst>
          </p:cNvPr>
          <p:cNvGraphicFramePr>
            <a:graphicFrameLocks noGrp="1" noChangeAspect="1"/>
          </p:cNvGraphicFramePr>
          <p:nvPr>
            <p:ph sz="quarter" idx="3"/>
          </p:nvPr>
        </p:nvGraphicFramePr>
        <p:xfrm>
          <a:off x="4414838" y="4602163"/>
          <a:ext cx="384175" cy="576262"/>
        </p:xfrm>
        <a:graphic>
          <a:graphicData uri="http://schemas.openxmlformats.org/presentationml/2006/ole">
            <mc:AlternateContent xmlns:mc="http://schemas.openxmlformats.org/markup-compatibility/2006">
              <mc:Choice xmlns:v="urn:schemas-microsoft-com:vml" Requires="v">
                <p:oleObj name="Equation" r:id="rId13" imgW="152334" imgH="228501" progId="Equation.3">
                  <p:embed/>
                </p:oleObj>
              </mc:Choice>
              <mc:Fallback>
                <p:oleObj name="Equation" r:id="rId13" imgW="152334" imgH="228501" progId="Equation.3">
                  <p:embed/>
                  <p:pic>
                    <p:nvPicPr>
                      <p:cNvPr id="15374" name="Object 23">
                        <a:extLst>
                          <a:ext uri="{FF2B5EF4-FFF2-40B4-BE49-F238E27FC236}">
                            <a16:creationId xmlns:a16="http://schemas.microsoft.com/office/drawing/2014/main" id="{A9C087BF-376C-C483-4FEE-04A421DCB5DF}"/>
                          </a:ext>
                        </a:extLst>
                      </p:cNvPr>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4838" y="4602163"/>
                        <a:ext cx="384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Straight Connector 17">
            <a:extLst>
              <a:ext uri="{FF2B5EF4-FFF2-40B4-BE49-F238E27FC236}">
                <a16:creationId xmlns:a16="http://schemas.microsoft.com/office/drawing/2014/main" id="{7C3DC366-3C7F-05B4-C02A-6919672FC5DE}"/>
              </a:ext>
            </a:extLst>
          </p:cNvPr>
          <p:cNvCxnSpPr/>
          <p:nvPr/>
        </p:nvCxnSpPr>
        <p:spPr bwMode="auto">
          <a:xfrm>
            <a:off x="5314950" y="4091590"/>
            <a:ext cx="1714500" cy="21276"/>
          </a:xfrm>
          <a:prstGeom prst="line">
            <a:avLst/>
          </a:prstGeom>
          <a:noFill/>
          <a:ln w="28575" cap="flat" cmpd="sng" algn="ctr">
            <a:solidFill>
              <a:schemeClr val="accent6">
                <a:lumMod val="75000"/>
              </a:schemeClr>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 name="Straight Connector 2">
            <a:extLst>
              <a:ext uri="{FF2B5EF4-FFF2-40B4-BE49-F238E27FC236}">
                <a16:creationId xmlns:a16="http://schemas.microsoft.com/office/drawing/2014/main" id="{1C7462B9-7F38-61EE-378D-350684023605}"/>
              </a:ext>
            </a:extLst>
          </p:cNvPr>
          <p:cNvCxnSpPr/>
          <p:nvPr/>
        </p:nvCxnSpPr>
        <p:spPr bwMode="auto">
          <a:xfrm flipH="1" flipV="1">
            <a:off x="7029450" y="4166556"/>
            <a:ext cx="22860" cy="2337114"/>
          </a:xfrm>
          <a:prstGeom prst="line">
            <a:avLst/>
          </a:prstGeom>
          <a:noFill/>
          <a:ln w="28575" cap="flat" cmpd="sng" algn="ctr">
            <a:solidFill>
              <a:schemeClr val="accent6">
                <a:lumMod val="75000"/>
              </a:schemeClr>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22171839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58282-BCF6-8226-E4F7-F34B146B3B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362" name="Text Box 2">
                <a:extLst>
                  <a:ext uri="{FF2B5EF4-FFF2-40B4-BE49-F238E27FC236}">
                    <a16:creationId xmlns:a16="http://schemas.microsoft.com/office/drawing/2014/main" id="{A647CE95-EDA4-D648-8DE0-CB865A840A1C}"/>
                  </a:ext>
                </a:extLst>
              </p:cNvPr>
              <p:cNvSpPr txBox="1">
                <a:spLocks noChangeArrowheads="1"/>
              </p:cNvSpPr>
              <p:nvPr/>
            </p:nvSpPr>
            <p:spPr bwMode="auto">
              <a:xfrm>
                <a:off x="0" y="1397000"/>
                <a:ext cx="8824913" cy="5078313"/>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90000"/>
                  </a:lnSpc>
                  <a:buFont typeface="Arial" panose="020B0604020202020204" pitchFamily="34" charset="0"/>
                  <a:buChar char="•"/>
                </a:pPr>
                <a:r>
                  <a:rPr lang="el-GR" sz="2000" dirty="0">
                    <a:solidFill>
                      <a:srgbClr val="990000"/>
                    </a:solidFill>
                    <a:latin typeface="Calibri" panose="020F0502020204030204" pitchFamily="34" charset="0"/>
                    <a:cs typeface="Calibri" panose="020F0502020204030204" pitchFamily="34" charset="0"/>
                  </a:rPr>
                  <a:t>Μέχρι τώρα έχουμε υπολογίσει την πιθανότητα σφάλματος συμβόλου για ένα σύστημα δεδομένων, ενώ στην πράξη ο χρήστης ενδιαφέρεται περισσότερο για την πιθανότητα σφάλματος </a:t>
                </a:r>
                <a:r>
                  <a:rPr lang="el-GR" sz="2000" dirty="0" err="1">
                    <a:solidFill>
                      <a:srgbClr val="990000"/>
                    </a:solidFill>
                    <a:latin typeface="Calibri" panose="020F0502020204030204" pitchFamily="34" charset="0"/>
                    <a:cs typeface="Calibri" panose="020F0502020204030204" pitchFamily="34" charset="0"/>
                  </a:rPr>
                  <a:t>bit</a:t>
                </a:r>
                <a:r>
                  <a:rPr lang="el-GR" sz="2000" dirty="0">
                    <a:solidFill>
                      <a:srgbClr val="990000"/>
                    </a:solidFill>
                    <a:latin typeface="Calibri" panose="020F0502020204030204" pitchFamily="34" charset="0"/>
                    <a:cs typeface="Calibri" panose="020F0502020204030204" pitchFamily="34" charset="0"/>
                  </a:rPr>
                  <a:t> κατά την διάρκεια της επικοινωνίας.</a:t>
                </a:r>
              </a:p>
              <a:p>
                <a:pPr marL="342900" indent="-342900" algn="just">
                  <a:lnSpc>
                    <a:spcPct val="90000"/>
                  </a:lnSpc>
                  <a:buFont typeface="Arial" panose="020B0604020202020204" pitchFamily="34" charset="0"/>
                  <a:buChar char="•"/>
                </a:pPr>
                <a:endParaRPr lang="el-GR" sz="2000" dirty="0">
                  <a:solidFill>
                    <a:srgbClr val="990000"/>
                  </a:solidFill>
                  <a:latin typeface="Calibri" panose="020F0502020204030204" pitchFamily="34" charset="0"/>
                  <a:cs typeface="Calibri" panose="020F0502020204030204" pitchFamily="34" charset="0"/>
                </a:endParaRPr>
              </a:p>
              <a:p>
                <a:pPr marL="342900" indent="-342900" algn="just">
                  <a:lnSpc>
                    <a:spcPct val="90000"/>
                  </a:lnSpc>
                  <a:buFont typeface="Arial" panose="020B0604020202020204" pitchFamily="34" charset="0"/>
                  <a:buChar char="•"/>
                </a:pPr>
                <a:r>
                  <a:rPr lang="el-GR" altLang="en-US" sz="2000" dirty="0">
                    <a:solidFill>
                      <a:srgbClr val="990000"/>
                    </a:solidFill>
                    <a:latin typeface="Calibri" panose="020F0502020204030204" pitchFamily="34" charset="0"/>
                    <a:cs typeface="Calibri" panose="020F0502020204030204" pitchFamily="34" charset="0"/>
                  </a:rPr>
                  <a:t>Για ένα δυαδικό σύστημα, τα σφάλματα </a:t>
                </a:r>
                <a:r>
                  <a:rPr lang="el-GR" altLang="en-US" sz="2000" dirty="0" err="1">
                    <a:solidFill>
                      <a:srgbClr val="990000"/>
                    </a:solidFill>
                    <a:latin typeface="Calibri" panose="020F0502020204030204" pitchFamily="34" charset="0"/>
                    <a:cs typeface="Calibri" panose="020F0502020204030204" pitchFamily="34" charset="0"/>
                  </a:rPr>
                  <a:t>bit</a:t>
                </a:r>
                <a:r>
                  <a:rPr lang="el-GR" altLang="en-US" sz="2000" dirty="0">
                    <a:solidFill>
                      <a:srgbClr val="990000"/>
                    </a:solidFill>
                    <a:latin typeface="Calibri" panose="020F0502020204030204" pitchFamily="34" charset="0"/>
                    <a:cs typeface="Calibri" panose="020F0502020204030204" pitchFamily="34" charset="0"/>
                  </a:rPr>
                  <a:t> και συμβόλου είναι ταυτόσημα, καθώς κάθε σφάλμα συμβόλου αντιστοιχεί σε ένα μόνο σφάλμα </a:t>
                </a:r>
                <a:r>
                  <a:rPr lang="el-GR" altLang="en-US" sz="2000" dirty="0" err="1">
                    <a:solidFill>
                      <a:srgbClr val="990000"/>
                    </a:solidFill>
                    <a:latin typeface="Calibri" panose="020F0502020204030204" pitchFamily="34" charset="0"/>
                    <a:cs typeface="Calibri" panose="020F0502020204030204" pitchFamily="34" charset="0"/>
                  </a:rPr>
                  <a:t>bit</a:t>
                </a:r>
                <a:r>
                  <a:rPr lang="el-GR" altLang="en-US" sz="2000" dirty="0">
                    <a:solidFill>
                      <a:srgbClr val="990000"/>
                    </a:solidFill>
                    <a:latin typeface="Calibri" panose="020F0502020204030204" pitchFamily="34" charset="0"/>
                    <a:cs typeface="Calibri" panose="020F0502020204030204" pitchFamily="34" charset="0"/>
                  </a:rPr>
                  <a:t>.</a:t>
                </a:r>
              </a:p>
              <a:p>
                <a:pPr marL="342900" indent="-342900" algn="just">
                  <a:lnSpc>
                    <a:spcPct val="90000"/>
                  </a:lnSpc>
                  <a:buFont typeface="Arial" panose="020B0604020202020204" pitchFamily="34" charset="0"/>
                  <a:buChar char="•"/>
                </a:pPr>
                <a:endParaRPr lang="el-GR" altLang="en-US" sz="2000" dirty="0">
                  <a:solidFill>
                    <a:srgbClr val="990000"/>
                  </a:solidFill>
                  <a:latin typeface="Calibri" panose="020F0502020204030204" pitchFamily="34" charset="0"/>
                  <a:cs typeface="Calibri" panose="020F0502020204030204" pitchFamily="34" charset="0"/>
                </a:endParaRPr>
              </a:p>
              <a:p>
                <a:pPr marL="342900" indent="-342900" algn="just">
                  <a:lnSpc>
                    <a:spcPct val="90000"/>
                  </a:lnSpc>
                  <a:buFont typeface="Arial" panose="020B0604020202020204" pitchFamily="34" charset="0"/>
                  <a:buChar char="•"/>
                </a:pPr>
                <a:r>
                  <a:rPr lang="el-GR" altLang="en-US" sz="2000" dirty="0">
                    <a:solidFill>
                      <a:srgbClr val="990000"/>
                    </a:solidFill>
                    <a:latin typeface="Calibri" panose="020F0502020204030204" pitchFamily="34" charset="0"/>
                    <a:cs typeface="Calibri" panose="020F0502020204030204" pitchFamily="34" charset="0"/>
                  </a:rPr>
                  <a:t>Για συστήματα M-</a:t>
                </a:r>
                <a:r>
                  <a:rPr lang="el-GR" altLang="en-US" sz="2000" dirty="0" err="1">
                    <a:solidFill>
                      <a:srgbClr val="990000"/>
                    </a:solidFill>
                    <a:latin typeface="Calibri" panose="020F0502020204030204" pitchFamily="34" charset="0"/>
                    <a:cs typeface="Calibri" panose="020F0502020204030204" pitchFamily="34" charset="0"/>
                  </a:rPr>
                  <a:t>αδικής</a:t>
                </a:r>
                <a:r>
                  <a:rPr lang="el-GR" altLang="en-US" sz="2000" dirty="0">
                    <a:solidFill>
                      <a:srgbClr val="990000"/>
                    </a:solidFill>
                    <a:latin typeface="Calibri" panose="020F0502020204030204" pitchFamily="34" charset="0"/>
                    <a:cs typeface="Calibri" panose="020F0502020204030204" pitchFamily="34" charset="0"/>
                  </a:rPr>
                  <a:t> διαμόρφωσης (</a:t>
                </a:r>
                <a14:m>
                  <m:oMath xmlns:m="http://schemas.openxmlformats.org/officeDocument/2006/math">
                    <m:r>
                      <a:rPr lang="el-GR" altLang="en-US" sz="2000" i="1" dirty="0" smtClean="0">
                        <a:solidFill>
                          <a:srgbClr val="990000"/>
                        </a:solidFill>
                        <a:latin typeface="Cambria Math" panose="02040503050406030204" pitchFamily="18" charset="0"/>
                        <a:cs typeface="Calibri" panose="020F0502020204030204" pitchFamily="34" charset="0"/>
                      </a:rPr>
                      <m:t>𝑀</m:t>
                    </m:r>
                    <m:r>
                      <a:rPr lang="el-GR" altLang="en-US" sz="2000" i="1" dirty="0" smtClean="0">
                        <a:solidFill>
                          <a:srgbClr val="990000"/>
                        </a:solidFill>
                        <a:latin typeface="Cambria Math" panose="02040503050406030204" pitchFamily="18" charset="0"/>
                        <a:cs typeface="Calibri" panose="020F0502020204030204" pitchFamily="34" charset="0"/>
                      </a:rPr>
                      <m:t>&gt;2</m:t>
                    </m:r>
                  </m:oMath>
                </a14:m>
                <a:r>
                  <a:rPr lang="el-GR" altLang="en-US" sz="2000" dirty="0">
                    <a:solidFill>
                      <a:srgbClr val="990000"/>
                    </a:solidFill>
                    <a:latin typeface="Calibri" panose="020F0502020204030204" pitchFamily="34" charset="0"/>
                    <a:cs typeface="Calibri" panose="020F0502020204030204" pitchFamily="34" charset="0"/>
                  </a:rPr>
                  <a:t>), αυτό δεν ισχύει. Για παράδειγμα, ένα σύστημα διαμόρφωσης με 16 σύμβολα, που μεταφέρει τέσσερα </a:t>
                </a:r>
                <a:r>
                  <a:rPr lang="el-GR" altLang="en-US" sz="2000" dirty="0" err="1">
                    <a:solidFill>
                      <a:srgbClr val="990000"/>
                    </a:solidFill>
                    <a:latin typeface="Calibri" panose="020F0502020204030204" pitchFamily="34" charset="0"/>
                    <a:cs typeface="Calibri" panose="020F0502020204030204" pitchFamily="34" charset="0"/>
                  </a:rPr>
                  <a:t>bits</a:t>
                </a:r>
                <a:r>
                  <a:rPr lang="el-GR" altLang="en-US" sz="2000" dirty="0">
                    <a:solidFill>
                      <a:srgbClr val="990000"/>
                    </a:solidFill>
                    <a:latin typeface="Calibri" panose="020F0502020204030204" pitchFamily="34" charset="0"/>
                    <a:cs typeface="Calibri" panose="020F0502020204030204" pitchFamily="34" charset="0"/>
                  </a:rPr>
                  <a:t> ανά σύμβολο, μπορεί να προκαλέσει από ένα έως τέσσερα σφάλματα </a:t>
                </a:r>
                <a:r>
                  <a:rPr lang="el-GR" altLang="en-US" sz="2000" dirty="0" err="1">
                    <a:solidFill>
                      <a:srgbClr val="990000"/>
                    </a:solidFill>
                    <a:latin typeface="Calibri" panose="020F0502020204030204" pitchFamily="34" charset="0"/>
                    <a:cs typeface="Calibri" panose="020F0502020204030204" pitchFamily="34" charset="0"/>
                  </a:rPr>
                  <a:t>bit</a:t>
                </a:r>
                <a:r>
                  <a:rPr lang="el-GR" altLang="en-US" sz="2000" dirty="0">
                    <a:solidFill>
                      <a:srgbClr val="990000"/>
                    </a:solidFill>
                    <a:latin typeface="Calibri" panose="020F0502020204030204" pitchFamily="34" charset="0"/>
                    <a:cs typeface="Calibri" panose="020F0502020204030204" pitchFamily="34" charset="0"/>
                  </a:rPr>
                  <a:t> για κάθε εσφαλμένα </a:t>
                </a:r>
                <a:r>
                  <a:rPr lang="el-GR" altLang="en-US" sz="2000" dirty="0" err="1">
                    <a:solidFill>
                      <a:srgbClr val="990000"/>
                    </a:solidFill>
                    <a:latin typeface="Calibri" panose="020F0502020204030204" pitchFamily="34" charset="0"/>
                    <a:cs typeface="Calibri" panose="020F0502020204030204" pitchFamily="34" charset="0"/>
                  </a:rPr>
                  <a:t>αποκωδικοποιημένο</a:t>
                </a:r>
                <a:r>
                  <a:rPr lang="el-GR" altLang="en-US" sz="2000" dirty="0">
                    <a:solidFill>
                      <a:srgbClr val="990000"/>
                    </a:solidFill>
                    <a:latin typeface="Calibri" panose="020F0502020204030204" pitchFamily="34" charset="0"/>
                    <a:cs typeface="Calibri" panose="020F0502020204030204" pitchFamily="34" charset="0"/>
                  </a:rPr>
                  <a:t> σύμβολο.</a:t>
                </a:r>
              </a:p>
              <a:p>
                <a:pPr marL="342900" indent="-342900" algn="just">
                  <a:lnSpc>
                    <a:spcPct val="90000"/>
                  </a:lnSpc>
                  <a:buFont typeface="Arial" panose="020B0604020202020204" pitchFamily="34" charset="0"/>
                  <a:buChar char="•"/>
                </a:pPr>
                <a:endParaRPr lang="el-GR" altLang="en-US" sz="2000" dirty="0">
                  <a:solidFill>
                    <a:srgbClr val="990000"/>
                  </a:solidFill>
                  <a:latin typeface="Calibri" panose="020F0502020204030204" pitchFamily="34" charset="0"/>
                  <a:cs typeface="Calibri" panose="020F0502020204030204" pitchFamily="34" charset="0"/>
                </a:endParaRPr>
              </a:p>
              <a:p>
                <a:pPr marL="342900" indent="-342900" algn="just">
                  <a:lnSpc>
                    <a:spcPct val="90000"/>
                  </a:lnSpc>
                  <a:buFont typeface="Arial" panose="020B0604020202020204" pitchFamily="34" charset="0"/>
                  <a:buChar char="•"/>
                </a:pPr>
                <a:r>
                  <a:rPr lang="el-GR" altLang="en-US" sz="2000" dirty="0">
                    <a:solidFill>
                      <a:srgbClr val="990000"/>
                    </a:solidFill>
                    <a:latin typeface="Calibri" panose="020F0502020204030204" pitchFamily="34" charset="0"/>
                    <a:cs typeface="Calibri" panose="020F0502020204030204" pitchFamily="34" charset="0"/>
                  </a:rPr>
                  <a:t>Στην πράξη, ορισμένα σύμβολα είναι πιο πιθανό να ανιχνευθούν με σφάλμα από άλλα, ανάλογα με το πόσο κοντά ή παρόμοια είναι με τα σωστά σύμβολα.</a:t>
                </a:r>
              </a:p>
              <a:p>
                <a:pPr marL="342900" indent="-342900" algn="just">
                  <a:lnSpc>
                    <a:spcPct val="90000"/>
                  </a:lnSpc>
                  <a:buFont typeface="Arial" panose="020B0604020202020204" pitchFamily="34" charset="0"/>
                  <a:buChar char="•"/>
                </a:pPr>
                <a:endParaRPr lang="el-GR" altLang="en-US" sz="2000" dirty="0">
                  <a:solidFill>
                    <a:srgbClr val="990000"/>
                  </a:solidFill>
                  <a:latin typeface="Calibri" panose="020F0502020204030204" pitchFamily="34" charset="0"/>
                  <a:cs typeface="Calibri" panose="020F0502020204030204" pitchFamily="34" charset="0"/>
                </a:endParaRPr>
              </a:p>
              <a:p>
                <a:pPr marL="342900" indent="-342900" algn="just">
                  <a:lnSpc>
                    <a:spcPct val="90000"/>
                  </a:lnSpc>
                  <a:buFont typeface="Arial" panose="020B0604020202020204" pitchFamily="34" charset="0"/>
                  <a:buChar char="•"/>
                </a:pPr>
                <a:r>
                  <a:rPr lang="el-GR" altLang="en-US" sz="2000" dirty="0">
                    <a:solidFill>
                      <a:srgbClr val="990000"/>
                    </a:solidFill>
                    <a:latin typeface="Calibri" panose="020F0502020204030204" pitchFamily="34" charset="0"/>
                    <a:cs typeface="Calibri" panose="020F0502020204030204" pitchFamily="34" charset="0"/>
                  </a:rPr>
                  <a:t>Η προσεκτική επιλογή της αντιστοίχισης </a:t>
                </a:r>
                <a:r>
                  <a:rPr lang="el-GR" altLang="en-US" sz="2000" dirty="0" err="1">
                    <a:solidFill>
                      <a:srgbClr val="990000"/>
                    </a:solidFill>
                    <a:latin typeface="Calibri" panose="020F0502020204030204" pitchFamily="34" charset="0"/>
                    <a:cs typeface="Calibri" panose="020F0502020204030204" pitchFamily="34" charset="0"/>
                  </a:rPr>
                  <a:t>bit</a:t>
                </a:r>
                <a:r>
                  <a:rPr lang="el-GR" altLang="en-US" sz="2000" dirty="0">
                    <a:solidFill>
                      <a:srgbClr val="990000"/>
                    </a:solidFill>
                    <a:latin typeface="Calibri" panose="020F0502020204030204" pitchFamily="34" charset="0"/>
                    <a:cs typeface="Calibri" panose="020F0502020204030204" pitchFamily="34" charset="0"/>
                  </a:rPr>
                  <a:t> σε κάθε σύμβολο μπορεί να βοηθήσει στη μείωση του αριθμού των σφαλμάτων </a:t>
                </a:r>
                <a:r>
                  <a:rPr lang="el-GR" altLang="en-US" sz="2000" dirty="0" err="1">
                    <a:solidFill>
                      <a:srgbClr val="990000"/>
                    </a:solidFill>
                    <a:latin typeface="Calibri" panose="020F0502020204030204" pitchFamily="34" charset="0"/>
                    <a:cs typeface="Calibri" panose="020F0502020204030204" pitchFamily="34" charset="0"/>
                  </a:rPr>
                  <a:t>bit</a:t>
                </a:r>
                <a:r>
                  <a:rPr lang="el-GR" altLang="en-US" sz="2000" dirty="0">
                    <a:solidFill>
                      <a:srgbClr val="990000"/>
                    </a:solidFill>
                    <a:latin typeface="Calibri" panose="020F0502020204030204" pitchFamily="34" charset="0"/>
                    <a:cs typeface="Calibri" panose="020F0502020204030204" pitchFamily="34" charset="0"/>
                  </a:rPr>
                  <a:t> για κάθε σφάλμα συμβόλου.</a:t>
                </a:r>
                <a:endParaRPr lang="en-US" altLang="en-US" sz="2000" dirty="0">
                  <a:solidFill>
                    <a:srgbClr val="990000"/>
                  </a:solidFill>
                  <a:latin typeface="Calibri" panose="020F0502020204030204" pitchFamily="34" charset="0"/>
                  <a:cs typeface="Calibri" panose="020F0502020204030204" pitchFamily="34" charset="0"/>
                </a:endParaRPr>
              </a:p>
            </p:txBody>
          </p:sp>
        </mc:Choice>
        <mc:Fallback xmlns="">
          <p:sp>
            <p:nvSpPr>
              <p:cNvPr id="15362" name="Text Box 2">
                <a:extLst>
                  <a:ext uri="{FF2B5EF4-FFF2-40B4-BE49-F238E27FC236}">
                    <a16:creationId xmlns:a16="http://schemas.microsoft.com/office/drawing/2014/main" id="{A647CE95-EDA4-D648-8DE0-CB865A840A1C}"/>
                  </a:ext>
                </a:extLst>
              </p:cNvPr>
              <p:cNvSpPr txBox="1">
                <a:spLocks noRot="1" noChangeAspect="1" noMove="1" noResize="1" noEditPoints="1" noAdjustHandles="1" noChangeArrowheads="1" noChangeShapeType="1" noTextEdit="1"/>
              </p:cNvSpPr>
              <p:nvPr/>
            </p:nvSpPr>
            <p:spPr bwMode="auto">
              <a:xfrm>
                <a:off x="0" y="1397000"/>
                <a:ext cx="8824913" cy="5078313"/>
              </a:xfrm>
              <a:prstGeom prst="rect">
                <a:avLst/>
              </a:prstGeom>
              <a:blipFill>
                <a:blip r:embed="rId3"/>
                <a:stretch>
                  <a:fillRect l="-622" t="-1200" r="-622" b="-12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sp>
        <p:nvSpPr>
          <p:cNvPr id="15363" name="Text Box 3">
            <a:extLst>
              <a:ext uri="{FF2B5EF4-FFF2-40B4-BE49-F238E27FC236}">
                <a16:creationId xmlns:a16="http://schemas.microsoft.com/office/drawing/2014/main" id="{8C1DB5E4-1F70-4426-7957-8F9A19ED8ED1}"/>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sz="2400" dirty="0"/>
          </a:p>
        </p:txBody>
      </p:sp>
      <p:sp>
        <p:nvSpPr>
          <p:cNvPr id="15367" name="Rectangle 11">
            <a:extLst>
              <a:ext uri="{FF2B5EF4-FFF2-40B4-BE49-F238E27FC236}">
                <a16:creationId xmlns:a16="http://schemas.microsoft.com/office/drawing/2014/main" id="{F1D768E3-8DEC-BE0C-9EF5-6A291E796D07}"/>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1DF8C6C1-6939-B7FC-EA96-21E531B34812}"/>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32845267-AB2D-172E-FB2C-989BCDC49408}"/>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Tree>
    <p:extLst>
      <p:ext uri="{BB962C8B-B14F-4D97-AF65-F5344CB8AC3E}">
        <p14:creationId xmlns:p14="http://schemas.microsoft.com/office/powerpoint/2010/main" val="34702241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E6777-CFCF-9CDE-D4B3-C3967724DA52}"/>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010FA0B9-0156-4DDE-689B-5364317A2210}"/>
              </a:ext>
            </a:extLst>
          </p:cNvPr>
          <p:cNvSpPr txBox="1">
            <a:spLocks noChangeArrowheads="1"/>
          </p:cNvSpPr>
          <p:nvPr/>
        </p:nvSpPr>
        <p:spPr bwMode="auto">
          <a:xfrm>
            <a:off x="0" y="1397000"/>
            <a:ext cx="8824913"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Κωδικοποίηση Gray (</a:t>
            </a:r>
            <a:r>
              <a:rPr lang="en-US" sz="2200" b="1" dirty="0">
                <a:solidFill>
                  <a:srgbClr val="990000"/>
                </a:solidFill>
                <a:latin typeface="Calibri" panose="020F0502020204030204" pitchFamily="34" charset="0"/>
                <a:cs typeface="Calibri" panose="020F0502020204030204" pitchFamily="34" charset="0"/>
              </a:rPr>
              <a:t>Gray Coding)</a:t>
            </a:r>
            <a:r>
              <a:rPr lang="el-GR" altLang="en-US" sz="2200" b="1" dirty="0">
                <a:solidFill>
                  <a:srgbClr val="990000"/>
                </a:solidFill>
                <a:latin typeface="Calibri" panose="020F0502020204030204" pitchFamily="34" charset="0"/>
                <a:cs typeface="Calibri" panose="020F0502020204030204" pitchFamily="34" charset="0"/>
              </a:rPr>
              <a:t>:</a:t>
            </a:r>
            <a:endParaRPr lang="en-US" altLang="en-US" sz="2200" b="1" dirty="0">
              <a:solidFill>
                <a:srgbClr val="990000"/>
              </a:solidFill>
              <a:latin typeface="Calibri" panose="020F0502020204030204" pitchFamily="34" charset="0"/>
              <a:cs typeface="Calibri" panose="020F0502020204030204" pitchFamily="34" charset="0"/>
            </a:endParaRPr>
          </a:p>
          <a:p>
            <a:pPr algn="just">
              <a:lnSpc>
                <a:spcPct val="90000"/>
              </a:lnSpc>
            </a:pPr>
            <a:r>
              <a:rPr lang="el-GR" sz="2200" dirty="0">
                <a:latin typeface="Calibri" panose="020F0502020204030204" pitchFamily="34" charset="0"/>
                <a:cs typeface="Calibri" panose="020F0502020204030204" pitchFamily="34" charset="0"/>
              </a:rPr>
              <a:t>Ονομάζεται η μέθοδος αντιστοίχησης των bit, σύμφωνα με την οποία οι μορφές των διαδοχικών συμβόλων διαφέρουν μόνο κατά ένα bit.</a:t>
            </a:r>
            <a:endParaRPr lang="el-GR"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a:extLst>
              <a:ext uri="{FF2B5EF4-FFF2-40B4-BE49-F238E27FC236}">
                <a16:creationId xmlns:a16="http://schemas.microsoft.com/office/drawing/2014/main" id="{C17E6E39-42B7-204B-6F33-CACFFCF65460}"/>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sz="2400" dirty="0"/>
          </a:p>
        </p:txBody>
      </p:sp>
      <p:sp>
        <p:nvSpPr>
          <p:cNvPr id="15367" name="Rectangle 11">
            <a:extLst>
              <a:ext uri="{FF2B5EF4-FFF2-40B4-BE49-F238E27FC236}">
                <a16:creationId xmlns:a16="http://schemas.microsoft.com/office/drawing/2014/main" id="{11E8C728-87BA-90CB-9E4C-1CE1F3609759}"/>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B200A454-EB06-C760-7EA8-2D37A89C33B6}"/>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4D549A29-064C-FE72-D569-DA6B3ADF790C}"/>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pic>
        <p:nvPicPr>
          <p:cNvPr id="3" name="Εικόνα 2">
            <a:extLst>
              <a:ext uri="{FF2B5EF4-FFF2-40B4-BE49-F238E27FC236}">
                <a16:creationId xmlns:a16="http://schemas.microsoft.com/office/drawing/2014/main" id="{0DAF593A-000F-C4FA-B6AB-34E7039DCD27}"/>
              </a:ext>
            </a:extLst>
          </p:cNvPr>
          <p:cNvPicPr>
            <a:picLocks noChangeAspect="1"/>
          </p:cNvPicPr>
          <p:nvPr/>
        </p:nvPicPr>
        <p:blipFill>
          <a:blip r:embed="rId2"/>
          <a:stretch>
            <a:fillRect/>
          </a:stretch>
        </p:blipFill>
        <p:spPr>
          <a:xfrm>
            <a:off x="5115642" y="2872654"/>
            <a:ext cx="3365983" cy="2309637"/>
          </a:xfrm>
          <a:prstGeom prst="rect">
            <a:avLst/>
          </a:prstGeom>
        </p:spPr>
      </p:pic>
      <p:grpSp>
        <p:nvGrpSpPr>
          <p:cNvPr id="2" name="Ομάδα 1">
            <a:extLst>
              <a:ext uri="{FF2B5EF4-FFF2-40B4-BE49-F238E27FC236}">
                <a16:creationId xmlns:a16="http://schemas.microsoft.com/office/drawing/2014/main" id="{5E5433F3-E3AC-42EF-140B-74FF6B18DD8B}"/>
              </a:ext>
            </a:extLst>
          </p:cNvPr>
          <p:cNvGrpSpPr/>
          <p:nvPr/>
        </p:nvGrpSpPr>
        <p:grpSpPr>
          <a:xfrm>
            <a:off x="262071" y="2805241"/>
            <a:ext cx="3686473" cy="2464671"/>
            <a:chOff x="262071" y="2805241"/>
            <a:chExt cx="3686473" cy="2464671"/>
          </a:xfrm>
        </p:grpSpPr>
        <p:pic>
          <p:nvPicPr>
            <p:cNvPr id="7" name="Εικόνα 6">
              <a:extLst>
                <a:ext uri="{FF2B5EF4-FFF2-40B4-BE49-F238E27FC236}">
                  <a16:creationId xmlns:a16="http://schemas.microsoft.com/office/drawing/2014/main" id="{B047C892-4057-BF70-CC3E-4AD43F35FE34}"/>
                </a:ext>
              </a:extLst>
            </p:cNvPr>
            <p:cNvPicPr>
              <a:picLocks noChangeAspect="1"/>
            </p:cNvPicPr>
            <p:nvPr/>
          </p:nvPicPr>
          <p:blipFill>
            <a:blip r:embed="rId3"/>
            <a:stretch>
              <a:fillRect/>
            </a:stretch>
          </p:blipFill>
          <p:spPr>
            <a:xfrm>
              <a:off x="262071" y="2872654"/>
              <a:ext cx="3686473" cy="2397258"/>
            </a:xfrm>
            <a:prstGeom prst="rect">
              <a:avLst/>
            </a:prstGeom>
          </p:spPr>
        </p:pic>
        <p:sp>
          <p:nvSpPr>
            <p:cNvPr id="8" name="TextBox 7">
              <a:extLst>
                <a:ext uri="{FF2B5EF4-FFF2-40B4-BE49-F238E27FC236}">
                  <a16:creationId xmlns:a16="http://schemas.microsoft.com/office/drawing/2014/main" id="{142B7874-020D-C3DE-FCCC-E12F5151BDB9}"/>
                </a:ext>
              </a:extLst>
            </p:cNvPr>
            <p:cNvSpPr txBox="1"/>
            <p:nvPr/>
          </p:nvSpPr>
          <p:spPr>
            <a:xfrm>
              <a:off x="2586699" y="3805593"/>
              <a:ext cx="528776" cy="307777"/>
            </a:xfrm>
            <a:prstGeom prst="rect">
              <a:avLst/>
            </a:prstGeom>
            <a:solidFill>
              <a:schemeClr val="bg1"/>
            </a:solidFill>
          </p:spPr>
          <p:txBody>
            <a:bodyPr wrap="square" rtlCol="0">
              <a:spAutoFit/>
            </a:bodyPr>
            <a:lstStyle/>
            <a:p>
              <a:r>
                <a:rPr lang="en-US" b="1" dirty="0"/>
                <a:t>000</a:t>
              </a:r>
              <a:endParaRPr lang="el-GR" b="1" dirty="0"/>
            </a:p>
          </p:txBody>
        </p:sp>
        <p:sp>
          <p:nvSpPr>
            <p:cNvPr id="9" name="TextBox 8">
              <a:extLst>
                <a:ext uri="{FF2B5EF4-FFF2-40B4-BE49-F238E27FC236}">
                  <a16:creationId xmlns:a16="http://schemas.microsoft.com/office/drawing/2014/main" id="{BCE05A7B-28F3-814E-4474-6E62C00AE53B}"/>
                </a:ext>
              </a:extLst>
            </p:cNvPr>
            <p:cNvSpPr txBox="1"/>
            <p:nvPr/>
          </p:nvSpPr>
          <p:spPr>
            <a:xfrm>
              <a:off x="664351" y="2958552"/>
              <a:ext cx="613064" cy="307777"/>
            </a:xfrm>
            <a:prstGeom prst="rect">
              <a:avLst/>
            </a:prstGeom>
            <a:solidFill>
              <a:schemeClr val="bg1"/>
            </a:solidFill>
          </p:spPr>
          <p:txBody>
            <a:bodyPr wrap="square" rtlCol="0">
              <a:spAutoFit/>
            </a:bodyPr>
            <a:lstStyle/>
            <a:p>
              <a:r>
                <a:rPr lang="en-US" b="1" dirty="0"/>
                <a:t>100</a:t>
              </a:r>
              <a:endParaRPr lang="el-GR" b="1" dirty="0"/>
            </a:p>
          </p:txBody>
        </p:sp>
        <p:sp>
          <p:nvSpPr>
            <p:cNvPr id="10" name="TextBox 9">
              <a:extLst>
                <a:ext uri="{FF2B5EF4-FFF2-40B4-BE49-F238E27FC236}">
                  <a16:creationId xmlns:a16="http://schemas.microsoft.com/office/drawing/2014/main" id="{5B55301A-9E10-F282-6173-6706E6E85637}"/>
                </a:ext>
              </a:extLst>
            </p:cNvPr>
            <p:cNvSpPr txBox="1"/>
            <p:nvPr/>
          </p:nvSpPr>
          <p:spPr>
            <a:xfrm>
              <a:off x="1942110" y="3691950"/>
              <a:ext cx="613064" cy="307777"/>
            </a:xfrm>
            <a:prstGeom prst="rect">
              <a:avLst/>
            </a:prstGeom>
            <a:solidFill>
              <a:schemeClr val="bg1"/>
            </a:solidFill>
          </p:spPr>
          <p:txBody>
            <a:bodyPr wrap="square" rtlCol="0">
              <a:spAutoFit/>
            </a:bodyPr>
            <a:lstStyle/>
            <a:p>
              <a:r>
                <a:rPr lang="en-US" b="1" dirty="0"/>
                <a:t>001</a:t>
              </a:r>
              <a:endParaRPr lang="el-GR" b="1" dirty="0"/>
            </a:p>
          </p:txBody>
        </p:sp>
        <p:sp>
          <p:nvSpPr>
            <p:cNvPr id="11" name="TextBox 10">
              <a:extLst>
                <a:ext uri="{FF2B5EF4-FFF2-40B4-BE49-F238E27FC236}">
                  <a16:creationId xmlns:a16="http://schemas.microsoft.com/office/drawing/2014/main" id="{923BF948-67CC-628C-B971-76BB692D6CBA}"/>
                </a:ext>
              </a:extLst>
            </p:cNvPr>
            <p:cNvSpPr txBox="1"/>
            <p:nvPr/>
          </p:nvSpPr>
          <p:spPr>
            <a:xfrm>
              <a:off x="1329046" y="2805241"/>
              <a:ext cx="613064" cy="307777"/>
            </a:xfrm>
            <a:prstGeom prst="rect">
              <a:avLst/>
            </a:prstGeom>
            <a:solidFill>
              <a:schemeClr val="bg1"/>
            </a:solidFill>
          </p:spPr>
          <p:txBody>
            <a:bodyPr wrap="square" rtlCol="0">
              <a:spAutoFit/>
            </a:bodyPr>
            <a:lstStyle/>
            <a:p>
              <a:r>
                <a:rPr lang="en-US" b="1" dirty="0"/>
                <a:t>101</a:t>
              </a:r>
              <a:endParaRPr lang="el-GR" b="1" dirty="0"/>
            </a:p>
          </p:txBody>
        </p:sp>
        <p:sp>
          <p:nvSpPr>
            <p:cNvPr id="12" name="TextBox 11">
              <a:extLst>
                <a:ext uri="{FF2B5EF4-FFF2-40B4-BE49-F238E27FC236}">
                  <a16:creationId xmlns:a16="http://schemas.microsoft.com/office/drawing/2014/main" id="{ABDE511F-6587-98E1-AF88-986548DD1ABE}"/>
                </a:ext>
              </a:extLst>
            </p:cNvPr>
            <p:cNvSpPr txBox="1"/>
            <p:nvPr/>
          </p:nvSpPr>
          <p:spPr>
            <a:xfrm>
              <a:off x="3112161" y="3103644"/>
              <a:ext cx="613064" cy="307777"/>
            </a:xfrm>
            <a:prstGeom prst="rect">
              <a:avLst/>
            </a:prstGeom>
            <a:solidFill>
              <a:schemeClr val="bg1"/>
            </a:solidFill>
          </p:spPr>
          <p:txBody>
            <a:bodyPr wrap="square" rtlCol="0">
              <a:spAutoFit/>
            </a:bodyPr>
            <a:lstStyle/>
            <a:p>
              <a:r>
                <a:rPr lang="en-US" b="1" dirty="0"/>
                <a:t>011</a:t>
              </a:r>
              <a:endParaRPr lang="el-GR" b="1" dirty="0"/>
            </a:p>
          </p:txBody>
        </p:sp>
      </p:grpSp>
    </p:spTree>
    <p:extLst>
      <p:ext uri="{BB962C8B-B14F-4D97-AF65-F5344CB8AC3E}">
        <p14:creationId xmlns:p14="http://schemas.microsoft.com/office/powerpoint/2010/main" val="299037705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0" name="Text Box 2"/>
          <p:cNvSpPr txBox="1">
            <a:spLocks noChangeArrowheads="1"/>
          </p:cNvSpPr>
          <p:nvPr/>
        </p:nvSpPr>
        <p:spPr bwMode="auto">
          <a:xfrm>
            <a:off x="0" y="1504133"/>
            <a:ext cx="88249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Πιθανότητα εμφάνισης εσφαλμένων bit για Μ-αδική σηματοδοσία</a:t>
            </a:r>
            <a:r>
              <a:rPr lang="en-US" altLang="en-US" sz="2200" b="1" dirty="0">
                <a:solidFill>
                  <a:srgbClr val="990000"/>
                </a:solidFill>
                <a:latin typeface="Times New Roman" panose="02020603050405020304" pitchFamily="18" charset="0"/>
                <a:cs typeface="Times New Roman" panose="02020603050405020304" pitchFamily="18" charset="0"/>
              </a:rPr>
              <a:t> </a:t>
            </a:r>
            <a:endParaRPr lang="el-GR" altLang="en-US" sz="2200" b="1" dirty="0">
              <a:solidFill>
                <a:srgbClr val="990000"/>
              </a:solidFill>
              <a:latin typeface="Times New Roman" panose="02020603050405020304" pitchFamily="18" charset="0"/>
              <a:cs typeface="Times New Roman" panose="02020603050405020304" pitchFamily="18" charset="0"/>
            </a:endParaRPr>
          </a:p>
        </p:txBody>
      </p:sp>
      <p:sp>
        <p:nvSpPr>
          <p:cNvPr id="11" name="Text Box 5"/>
          <p:cNvSpPr txBox="1">
            <a:spLocks noChangeArrowheads="1"/>
          </p:cNvSpPr>
          <p:nvPr/>
        </p:nvSpPr>
        <p:spPr bwMode="auto">
          <a:xfrm>
            <a:off x="0" y="3120661"/>
            <a:ext cx="6777990"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400" dirty="0">
                <a:latin typeface="Calibri" panose="020F0502020204030204" pitchFamily="34" charset="0"/>
                <a:cs typeface="Calibri" panose="020F0502020204030204" pitchFamily="34" charset="0"/>
              </a:rPr>
              <a:t>Ρ</a:t>
            </a:r>
            <a:r>
              <a:rPr lang="el-GR" sz="2400" baseline="-25000" dirty="0">
                <a:latin typeface="Calibri" panose="020F0502020204030204" pitchFamily="34" charset="0"/>
                <a:cs typeface="Calibri" panose="020F0502020204030204" pitchFamily="34" charset="0"/>
              </a:rPr>
              <a:t>b</a:t>
            </a:r>
            <a:r>
              <a:rPr lang="el-GR" sz="2400" dirty="0">
                <a:latin typeface="Calibri" panose="020F0502020204030204" pitchFamily="34" charset="0"/>
                <a:cs typeface="Calibri" panose="020F0502020204030204" pitchFamily="34" charset="0"/>
              </a:rPr>
              <a:t> = Πιθανότητα εμφάνισης εσφαλμένων bit</a:t>
            </a:r>
          </a:p>
          <a:p>
            <a:pPr algn="just">
              <a:lnSpc>
                <a:spcPct val="90000"/>
              </a:lnSpc>
            </a:pPr>
            <a:r>
              <a:rPr lang="el-GR" sz="2400" dirty="0">
                <a:latin typeface="Calibri" panose="020F0502020204030204" pitchFamily="34" charset="0"/>
                <a:cs typeface="Calibri" panose="020F0502020204030204" pitchFamily="34" charset="0"/>
              </a:rPr>
              <a:t>P</a:t>
            </a:r>
            <a:r>
              <a:rPr lang="el-GR" sz="2400" baseline="-25000" dirty="0">
                <a:latin typeface="Calibri" panose="020F0502020204030204" pitchFamily="34" charset="0"/>
                <a:cs typeface="Calibri" panose="020F0502020204030204" pitchFamily="34" charset="0"/>
              </a:rPr>
              <a:t>s</a:t>
            </a:r>
            <a:r>
              <a:rPr lang="el-GR" sz="2400" dirty="0">
                <a:latin typeface="Calibri" panose="020F0502020204030204" pitchFamily="34" charset="0"/>
                <a:cs typeface="Calibri" panose="020F0502020204030204" pitchFamily="34" charset="0"/>
              </a:rPr>
              <a:t> = Πιθανότητα εμφάνισης εσφαλμένων συμβόλων</a:t>
            </a:r>
            <a:endParaRPr lang="en-US" sz="2400" dirty="0">
              <a:latin typeface="Calibri" panose="020F0502020204030204" pitchFamily="34" charset="0"/>
              <a:cs typeface="Calibri" panose="020F0502020204030204" pitchFamily="34" charset="0"/>
            </a:endParaRPr>
          </a:p>
          <a:p>
            <a:pPr algn="just">
              <a:lnSpc>
                <a:spcPct val="90000"/>
              </a:lnSpc>
            </a:pPr>
            <a:r>
              <a:rPr lang="el-GR" altLang="en-US" sz="2400" dirty="0">
                <a:latin typeface="Calibri" panose="020F0502020204030204" pitchFamily="34" charset="0"/>
                <a:cs typeface="Calibri" panose="020F0502020204030204" pitchFamily="34" charset="0"/>
              </a:rPr>
              <a:t>k =  Αριθμός bit ανά σύμβολο</a:t>
            </a:r>
            <a:r>
              <a:rPr lang="en-US" altLang="en-US" sz="2400" dirty="0">
                <a:latin typeface="Calibri" panose="020F0502020204030204" pitchFamily="34" charset="0"/>
                <a:cs typeface="Calibri" panose="020F0502020204030204" pitchFamily="34" charset="0"/>
              </a:rPr>
              <a:t> </a:t>
            </a:r>
            <a:endParaRPr lang="el-GR" altLang="en-US" sz="2400" dirty="0">
              <a:latin typeface="Calibri" panose="020F0502020204030204" pitchFamily="34" charset="0"/>
              <a:cs typeface="Calibri" panose="020F0502020204030204" pitchFamily="34" charset="0"/>
            </a:endParaRPr>
          </a:p>
        </p:txBody>
      </p:sp>
      <p:graphicFrame>
        <p:nvGraphicFramePr>
          <p:cNvPr id="12" name="Object 13"/>
          <p:cNvGraphicFramePr>
            <a:graphicFrameLocks noChangeAspect="1"/>
          </p:cNvGraphicFramePr>
          <p:nvPr>
            <p:extLst>
              <p:ext uri="{D42A27DB-BD31-4B8C-83A1-F6EECF244321}">
                <p14:modId xmlns:p14="http://schemas.microsoft.com/office/powerpoint/2010/main" val="255551869"/>
              </p:ext>
            </p:extLst>
          </p:nvPr>
        </p:nvGraphicFramePr>
        <p:xfrm>
          <a:off x="53975" y="2061845"/>
          <a:ext cx="1258038" cy="1017588"/>
        </p:xfrm>
        <a:graphic>
          <a:graphicData uri="http://schemas.openxmlformats.org/presentationml/2006/ole">
            <mc:AlternateContent xmlns:mc="http://schemas.openxmlformats.org/markup-compatibility/2006">
              <mc:Choice xmlns:v="urn:schemas-microsoft-com:vml" Requires="v">
                <p:oleObj name="Equation" r:id="rId2" imgW="482400" imgH="393480" progId="Equation.3">
                  <p:embed/>
                </p:oleObj>
              </mc:Choice>
              <mc:Fallback>
                <p:oleObj name="Equation" r:id="rId2" imgW="482400" imgH="393480" progId="Equation.3">
                  <p:embed/>
                  <p:pic>
                    <p:nvPicPr>
                      <p:cNvPr id="12" name="Object 13"/>
                      <p:cNvPicPr>
                        <a:picLocks noChangeAspect="1" noChangeArrowheads="1"/>
                      </p:cNvPicPr>
                      <p:nvPr/>
                    </p:nvPicPr>
                    <p:blipFill>
                      <a:blip r:embed="rId3"/>
                      <a:srcRect/>
                      <a:stretch>
                        <a:fillRect/>
                      </a:stretch>
                    </p:blipFill>
                    <p:spPr bwMode="auto">
                      <a:xfrm>
                        <a:off x="53975" y="2061845"/>
                        <a:ext cx="1258038" cy="1017588"/>
                      </a:xfrm>
                      <a:prstGeom prst="rect">
                        <a:avLst/>
                      </a:prstGeom>
                      <a:noFill/>
                      <a:ln>
                        <a:noFill/>
                      </a:ln>
                    </p:spPr>
                  </p:pic>
                </p:oleObj>
              </mc:Fallback>
            </mc:AlternateContent>
          </a:graphicData>
        </a:graphic>
      </p:graphicFrame>
      <p:graphicFrame>
        <p:nvGraphicFramePr>
          <p:cNvPr id="13" name="Object 13"/>
          <p:cNvGraphicFramePr>
            <a:graphicFrameLocks noChangeAspect="1"/>
          </p:cNvGraphicFramePr>
          <p:nvPr>
            <p:extLst>
              <p:ext uri="{D42A27DB-BD31-4B8C-83A1-F6EECF244321}">
                <p14:modId xmlns:p14="http://schemas.microsoft.com/office/powerpoint/2010/main" val="219080961"/>
              </p:ext>
            </p:extLst>
          </p:nvPr>
        </p:nvGraphicFramePr>
        <p:xfrm>
          <a:off x="3265805" y="5299936"/>
          <a:ext cx="2084388" cy="1017587"/>
        </p:xfrm>
        <a:graphic>
          <a:graphicData uri="http://schemas.openxmlformats.org/presentationml/2006/ole">
            <mc:AlternateContent xmlns:mc="http://schemas.openxmlformats.org/markup-compatibility/2006">
              <mc:Choice xmlns:v="urn:schemas-microsoft-com:vml" Requires="v">
                <p:oleObj name="Equation" r:id="rId4" imgW="799920" imgH="393480" progId="Equation.3">
                  <p:embed/>
                </p:oleObj>
              </mc:Choice>
              <mc:Fallback>
                <p:oleObj name="Equation" r:id="rId4" imgW="799920" imgH="393480" progId="Equation.3">
                  <p:embed/>
                  <p:pic>
                    <p:nvPicPr>
                      <p:cNvPr id="13" name="Object 13"/>
                      <p:cNvPicPr>
                        <a:picLocks noChangeAspect="1" noChangeArrowheads="1"/>
                      </p:cNvPicPr>
                      <p:nvPr/>
                    </p:nvPicPr>
                    <p:blipFill>
                      <a:blip r:embed="rId5"/>
                      <a:srcRect/>
                      <a:stretch>
                        <a:fillRect/>
                      </a:stretch>
                    </p:blipFill>
                    <p:spPr bwMode="auto">
                      <a:xfrm>
                        <a:off x="3265805" y="5299936"/>
                        <a:ext cx="2084388" cy="1017587"/>
                      </a:xfrm>
                      <a:prstGeom prst="rect">
                        <a:avLst/>
                      </a:prstGeom>
                      <a:noFill/>
                      <a:ln w="28575">
                        <a:solidFill>
                          <a:srgbClr val="CC3300"/>
                        </a:solidFill>
                      </a:ln>
                    </p:spPr>
                  </p:pic>
                </p:oleObj>
              </mc:Fallback>
            </mc:AlternateContent>
          </a:graphicData>
        </a:graphic>
      </p:graphicFrame>
      <p:sp>
        <p:nvSpPr>
          <p:cNvPr id="14" name="Text Box 2"/>
          <p:cNvSpPr txBox="1">
            <a:spLocks noChangeArrowheads="1"/>
          </p:cNvSpPr>
          <p:nvPr/>
        </p:nvSpPr>
        <p:spPr bwMode="auto">
          <a:xfrm>
            <a:off x="-1" y="4558213"/>
            <a:ext cx="8953501" cy="393700"/>
          </a:xfrm>
          <a:prstGeom prst="rect">
            <a:avLst/>
          </a:prstGeom>
          <a:noFill/>
          <a:ln w="38100">
            <a:solidFill>
              <a:srgbClr val="CC330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ctr">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Ρυθμός εμφάνισης εσφαλμένων bit  (</a:t>
            </a:r>
            <a:r>
              <a:rPr lang="en-US" altLang="en-US" sz="2200" b="1" dirty="0">
                <a:solidFill>
                  <a:srgbClr val="990000"/>
                </a:solidFill>
                <a:latin typeface="Times New Roman" panose="02020603050405020304" pitchFamily="18" charset="0"/>
                <a:cs typeface="Times New Roman" panose="02020603050405020304" pitchFamily="18" charset="0"/>
              </a:rPr>
              <a:t>BER) </a:t>
            </a:r>
            <a:r>
              <a:rPr lang="el-GR" altLang="en-US" sz="2200" b="1" dirty="0">
                <a:solidFill>
                  <a:srgbClr val="990000"/>
                </a:solidFill>
                <a:latin typeface="Times New Roman" panose="02020603050405020304" pitchFamily="18" charset="0"/>
                <a:cs typeface="Times New Roman" panose="02020603050405020304" pitchFamily="18" charset="0"/>
              </a:rPr>
              <a:t>για Μ-αδική σηματοδοσία</a:t>
            </a:r>
            <a:r>
              <a:rPr lang="en-US" altLang="en-US" sz="2200" b="1" dirty="0">
                <a:solidFill>
                  <a:srgbClr val="990000"/>
                </a:solidFill>
                <a:latin typeface="Times New Roman" panose="02020603050405020304" pitchFamily="18" charset="0"/>
                <a:cs typeface="Times New Roman" panose="02020603050405020304" pitchFamily="18" charset="0"/>
              </a:rPr>
              <a:t> </a:t>
            </a:r>
            <a:endParaRPr lang="el-GR" altLang="en-US" sz="2200" b="1" dirty="0">
              <a:solidFill>
                <a:srgbClr val="99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82890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3D64-706C-DD23-9D95-F19F101ED0E0}"/>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D8DA3B6C-DE5D-1A87-F805-99B8D62EBD9E}"/>
              </a:ext>
            </a:extLst>
          </p:cNvPr>
          <p:cNvSpPr txBox="1">
            <a:spLocks noChangeArrowheads="1"/>
          </p:cNvSpPr>
          <p:nvPr/>
        </p:nvSpPr>
        <p:spPr bwMode="auto">
          <a:xfrm>
            <a:off x="0" y="1397000"/>
            <a:ext cx="8824913"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Παράδειγμα: Υπολογίστε το </a:t>
            </a:r>
            <a:r>
              <a:rPr lang="en-US" altLang="en-US" sz="2200" b="1" dirty="0">
                <a:solidFill>
                  <a:srgbClr val="0070C0"/>
                </a:solidFill>
                <a:latin typeface="Times New Roman" panose="02020603050405020304" pitchFamily="18" charset="0"/>
                <a:cs typeface="Times New Roman" panose="02020603050405020304" pitchFamily="18" charset="0"/>
              </a:rPr>
              <a:t>BER</a:t>
            </a:r>
            <a:r>
              <a:rPr lang="el-GR" altLang="en-US" sz="2200" b="1" dirty="0">
                <a:solidFill>
                  <a:srgbClr val="990000"/>
                </a:solidFill>
                <a:latin typeface="Times New Roman" panose="02020603050405020304" pitchFamily="18" charset="0"/>
                <a:cs typeface="Times New Roman" panose="02020603050405020304" pitchFamily="18" charset="0"/>
              </a:rPr>
              <a:t> για την περίπτωση 8-δικής σηματοδοσίας με φασματική απόδοση 6 bit/sec/Hz.</a:t>
            </a: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Λύση:</a:t>
            </a: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Θεώρημα Shannon-Hartley:</a:t>
            </a:r>
          </a:p>
        </p:txBody>
      </p:sp>
      <p:sp>
        <p:nvSpPr>
          <p:cNvPr id="15363" name="Text Box 3">
            <a:extLst>
              <a:ext uri="{FF2B5EF4-FFF2-40B4-BE49-F238E27FC236}">
                <a16:creationId xmlns:a16="http://schemas.microsoft.com/office/drawing/2014/main" id="{96FC827D-1418-8FCC-617D-ADBEC5D9B1CC}"/>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graphicFrame>
        <p:nvGraphicFramePr>
          <p:cNvPr id="15364" name="Object 5">
            <a:extLst>
              <a:ext uri="{FF2B5EF4-FFF2-40B4-BE49-F238E27FC236}">
                <a16:creationId xmlns:a16="http://schemas.microsoft.com/office/drawing/2014/main" id="{D9037FA0-7799-E42B-80F8-2A97E2B0C617}"/>
              </a:ext>
            </a:extLst>
          </p:cNvPr>
          <p:cNvGraphicFramePr>
            <a:graphicFrameLocks noChangeAspect="1"/>
          </p:cNvGraphicFramePr>
          <p:nvPr/>
        </p:nvGraphicFramePr>
        <p:xfrm>
          <a:off x="6494463" y="6835775"/>
          <a:ext cx="1198562" cy="354013"/>
        </p:xfrm>
        <a:graphic>
          <a:graphicData uri="http://schemas.openxmlformats.org/presentationml/2006/ole">
            <mc:AlternateContent xmlns:mc="http://schemas.openxmlformats.org/markup-compatibility/2006">
              <mc:Choice xmlns:v="urn:schemas-microsoft-com:vml" Requires="v">
                <p:oleObj name="Equation" r:id="rId2" imgW="774364" imgH="228501" progId="Equation.3">
                  <p:embed/>
                </p:oleObj>
              </mc:Choice>
              <mc:Fallback>
                <p:oleObj name="Equation" r:id="rId2" imgW="774364" imgH="228501" progId="Equation.3">
                  <p:embed/>
                  <p:pic>
                    <p:nvPicPr>
                      <p:cNvPr id="15364" name="Object 5">
                        <a:extLst>
                          <a:ext uri="{FF2B5EF4-FFF2-40B4-BE49-F238E27FC236}">
                            <a16:creationId xmlns:a16="http://schemas.microsoft.com/office/drawing/2014/main" id="{D9037FA0-7799-E42B-80F8-2A97E2B0C6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4463" y="6835775"/>
                        <a:ext cx="1198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Object 17">
            <a:extLst>
              <a:ext uri="{FF2B5EF4-FFF2-40B4-BE49-F238E27FC236}">
                <a16:creationId xmlns:a16="http://schemas.microsoft.com/office/drawing/2014/main" id="{75CD00E2-9A8C-6214-328C-6DC44D9DF878}"/>
              </a:ext>
            </a:extLst>
          </p:cNvPr>
          <p:cNvGraphicFramePr>
            <a:graphicFrameLocks noGrp="1" noChangeAspect="1"/>
          </p:cNvGraphicFramePr>
          <p:nvPr>
            <p:ph sz="quarter" idx="2"/>
          </p:nvPr>
        </p:nvGraphicFramePr>
        <p:xfrm>
          <a:off x="46037" y="4408809"/>
          <a:ext cx="3401257" cy="692309"/>
        </p:xfrm>
        <a:graphic>
          <a:graphicData uri="http://schemas.openxmlformats.org/presentationml/2006/ole">
            <mc:AlternateContent xmlns:mc="http://schemas.openxmlformats.org/markup-compatibility/2006">
              <mc:Choice xmlns:v="urn:schemas-microsoft-com:vml" Requires="v">
                <p:oleObj name="Equation" r:id="rId4" imgW="2120900" imgH="431800" progId="Equation.3">
                  <p:embed/>
                </p:oleObj>
              </mc:Choice>
              <mc:Fallback>
                <p:oleObj name="Equation" r:id="rId4" imgW="2120900" imgH="431800" progId="Equation.3">
                  <p:embed/>
                  <p:pic>
                    <p:nvPicPr>
                      <p:cNvPr id="15365" name="Object 17">
                        <a:extLst>
                          <a:ext uri="{FF2B5EF4-FFF2-40B4-BE49-F238E27FC236}">
                            <a16:creationId xmlns:a16="http://schemas.microsoft.com/office/drawing/2014/main" id="{75CD00E2-9A8C-6214-328C-6DC44D9DF878}"/>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37" y="4408809"/>
                        <a:ext cx="3401257" cy="692309"/>
                      </a:xfrm>
                      <a:prstGeom prst="rect">
                        <a:avLst/>
                      </a:prstGeom>
                      <a:noFill/>
                      <a:ln>
                        <a:noFill/>
                      </a:ln>
                      <a:effectLst/>
                    </p:spPr>
                  </p:pic>
                </p:oleObj>
              </mc:Fallback>
            </mc:AlternateContent>
          </a:graphicData>
        </a:graphic>
      </p:graphicFrame>
      <p:pic>
        <p:nvPicPr>
          <p:cNvPr id="15366" name="Picture 9" descr="MARY_BER">
            <a:extLst>
              <a:ext uri="{FF2B5EF4-FFF2-40B4-BE49-F238E27FC236}">
                <a16:creationId xmlns:a16="http://schemas.microsoft.com/office/drawing/2014/main" id="{0DF483CC-82AB-EF0A-FDAF-1CA967B5CC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8281" r="-2008" b="7631"/>
          <a:stretch>
            <a:fillRect/>
          </a:stretch>
        </p:blipFill>
        <p:spPr bwMode="auto">
          <a:xfrm>
            <a:off x="4737100" y="3311525"/>
            <a:ext cx="4157663"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11">
            <a:extLst>
              <a:ext uri="{FF2B5EF4-FFF2-40B4-BE49-F238E27FC236}">
                <a16:creationId xmlns:a16="http://schemas.microsoft.com/office/drawing/2014/main" id="{C4613757-84FC-5E96-F6E4-E5DBA93AF674}"/>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68" name="Object 10">
            <a:extLst>
              <a:ext uri="{FF2B5EF4-FFF2-40B4-BE49-F238E27FC236}">
                <a16:creationId xmlns:a16="http://schemas.microsoft.com/office/drawing/2014/main" id="{4436D4F5-1D18-67FA-3E92-66EF9E962F38}"/>
              </a:ext>
            </a:extLst>
          </p:cNvPr>
          <p:cNvGraphicFramePr>
            <a:graphicFrameLocks noChangeAspect="1"/>
          </p:cNvGraphicFramePr>
          <p:nvPr/>
        </p:nvGraphicFramePr>
        <p:xfrm>
          <a:off x="46038" y="2676525"/>
          <a:ext cx="2344737" cy="771525"/>
        </p:xfrm>
        <a:graphic>
          <a:graphicData uri="http://schemas.openxmlformats.org/presentationml/2006/ole">
            <mc:AlternateContent xmlns:mc="http://schemas.openxmlformats.org/markup-compatibility/2006">
              <mc:Choice xmlns:v="urn:schemas-microsoft-com:vml" Requires="v">
                <p:oleObj name="Equation" r:id="rId7" imgW="1473200" imgH="482600" progId="Equation.3">
                  <p:embed/>
                </p:oleObj>
              </mc:Choice>
              <mc:Fallback>
                <p:oleObj name="Equation" r:id="rId7" imgW="1473200" imgH="482600" progId="Equation.3">
                  <p:embed/>
                  <p:pic>
                    <p:nvPicPr>
                      <p:cNvPr id="15368" name="Object 10">
                        <a:extLst>
                          <a:ext uri="{FF2B5EF4-FFF2-40B4-BE49-F238E27FC236}">
                            <a16:creationId xmlns:a16="http://schemas.microsoft.com/office/drawing/2014/main" id="{4436D4F5-1D18-67FA-3E92-66EF9E962F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38" y="2676525"/>
                        <a:ext cx="2344737"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9" name="Rectangle 13">
            <a:extLst>
              <a:ext uri="{FF2B5EF4-FFF2-40B4-BE49-F238E27FC236}">
                <a16:creationId xmlns:a16="http://schemas.microsoft.com/office/drawing/2014/main" id="{BA84FE9D-E864-9A6D-4300-DB95CDEF8BE2}"/>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70" name="Object 12">
            <a:extLst>
              <a:ext uri="{FF2B5EF4-FFF2-40B4-BE49-F238E27FC236}">
                <a16:creationId xmlns:a16="http://schemas.microsoft.com/office/drawing/2014/main" id="{8B445E19-1DC8-5C9E-7E64-C6632D1A31F7}"/>
              </a:ext>
            </a:extLst>
          </p:cNvPr>
          <p:cNvGraphicFramePr>
            <a:graphicFrameLocks noChangeAspect="1"/>
          </p:cNvGraphicFramePr>
          <p:nvPr/>
        </p:nvGraphicFramePr>
        <p:xfrm>
          <a:off x="2521902" y="2713037"/>
          <a:ext cx="1919288" cy="698500"/>
        </p:xfrm>
        <a:graphic>
          <a:graphicData uri="http://schemas.openxmlformats.org/presentationml/2006/ole">
            <mc:AlternateContent xmlns:mc="http://schemas.openxmlformats.org/markup-compatibility/2006">
              <mc:Choice xmlns:v="urn:schemas-microsoft-com:vml" Requires="v">
                <p:oleObj name="Equation" r:id="rId9" imgW="1333500" imgH="482600" progId="Equation.3">
                  <p:embed/>
                </p:oleObj>
              </mc:Choice>
              <mc:Fallback>
                <p:oleObj name="Equation" r:id="rId9" imgW="1333500" imgH="482600" progId="Equation.3">
                  <p:embed/>
                  <p:pic>
                    <p:nvPicPr>
                      <p:cNvPr id="15370" name="Object 12">
                        <a:extLst>
                          <a:ext uri="{FF2B5EF4-FFF2-40B4-BE49-F238E27FC236}">
                            <a16:creationId xmlns:a16="http://schemas.microsoft.com/office/drawing/2014/main" id="{8B445E19-1DC8-5C9E-7E64-C6632D1A31F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1902" y="2713037"/>
                        <a:ext cx="191928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1" name="Rectangle 15">
            <a:extLst>
              <a:ext uri="{FF2B5EF4-FFF2-40B4-BE49-F238E27FC236}">
                <a16:creationId xmlns:a16="http://schemas.microsoft.com/office/drawing/2014/main" id="{B4732AD0-6726-E559-753D-88FB788C9B9A}"/>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72" name="Object 14">
            <a:extLst>
              <a:ext uri="{FF2B5EF4-FFF2-40B4-BE49-F238E27FC236}">
                <a16:creationId xmlns:a16="http://schemas.microsoft.com/office/drawing/2014/main" id="{C3754326-8AD8-3B8F-1F68-E45AAABEF660}"/>
              </a:ext>
            </a:extLst>
          </p:cNvPr>
          <p:cNvGraphicFramePr>
            <a:graphicFrameLocks noChangeAspect="1"/>
          </p:cNvGraphicFramePr>
          <p:nvPr/>
        </p:nvGraphicFramePr>
        <p:xfrm>
          <a:off x="46038" y="3537905"/>
          <a:ext cx="1965325" cy="781050"/>
        </p:xfrm>
        <a:graphic>
          <a:graphicData uri="http://schemas.openxmlformats.org/presentationml/2006/ole">
            <mc:AlternateContent xmlns:mc="http://schemas.openxmlformats.org/markup-compatibility/2006">
              <mc:Choice xmlns:v="urn:schemas-microsoft-com:vml" Requires="v">
                <p:oleObj name="Equation" r:id="rId11" imgW="1155700" imgH="457200" progId="Equation.3">
                  <p:embed/>
                </p:oleObj>
              </mc:Choice>
              <mc:Fallback>
                <p:oleObj name="Equation" r:id="rId11" imgW="1155700" imgH="457200" progId="Equation.3">
                  <p:embed/>
                  <p:pic>
                    <p:nvPicPr>
                      <p:cNvPr id="15372" name="Object 14">
                        <a:extLst>
                          <a:ext uri="{FF2B5EF4-FFF2-40B4-BE49-F238E27FC236}">
                            <a16:creationId xmlns:a16="http://schemas.microsoft.com/office/drawing/2014/main" id="{C3754326-8AD8-3B8F-1F68-E45AAABEF66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38" y="3537905"/>
                        <a:ext cx="19653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3" name="Text Box 16">
            <a:extLst>
              <a:ext uri="{FF2B5EF4-FFF2-40B4-BE49-F238E27FC236}">
                <a16:creationId xmlns:a16="http://schemas.microsoft.com/office/drawing/2014/main" id="{6FDA7628-35B4-A80D-2CF1-FA2B52EA51C7}"/>
              </a:ext>
            </a:extLst>
          </p:cNvPr>
          <p:cNvSpPr txBox="1">
            <a:spLocks noChangeArrowheads="1"/>
          </p:cNvSpPr>
          <p:nvPr/>
        </p:nvSpPr>
        <p:spPr bwMode="auto">
          <a:xfrm>
            <a:off x="46038" y="5137632"/>
            <a:ext cx="145424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dirty="0">
                <a:latin typeface="Times New Roman" panose="02020603050405020304" pitchFamily="18" charset="0"/>
                <a:cs typeface="Times New Roman" panose="02020603050405020304" pitchFamily="18" charset="0"/>
              </a:rPr>
              <a:t>P</a:t>
            </a:r>
            <a:r>
              <a:rPr lang="en-US" altLang="en-US" sz="2200" baseline="-25000" dirty="0">
                <a:latin typeface="Times New Roman" panose="02020603050405020304" pitchFamily="18" charset="0"/>
                <a:cs typeface="Times New Roman" panose="02020603050405020304" pitchFamily="18" charset="0"/>
              </a:rPr>
              <a:t>s</a:t>
            </a:r>
            <a:r>
              <a:rPr lang="en-US" altLang="en-US" sz="2200" dirty="0">
                <a:latin typeface="Times New Roman" panose="02020603050405020304" pitchFamily="18" charset="0"/>
                <a:cs typeface="Times New Roman" panose="02020603050405020304" pitchFamily="18" charset="0"/>
              </a:rPr>
              <a:t> =</a:t>
            </a:r>
            <a:r>
              <a:rPr lang="el-GR" altLang="en-US" sz="2200" dirty="0">
                <a:latin typeface="Times New Roman" panose="02020603050405020304" pitchFamily="18" charset="0"/>
                <a:cs typeface="Times New Roman" panose="02020603050405020304" pitchFamily="18" charset="0"/>
              </a:rPr>
              <a:t> 7*10</a:t>
            </a:r>
            <a:r>
              <a:rPr lang="el-GR" altLang="en-US" sz="2200" baseline="30000" dirty="0">
                <a:latin typeface="Times New Roman" panose="02020603050405020304" pitchFamily="18" charset="0"/>
                <a:cs typeface="Times New Roman" panose="02020603050405020304" pitchFamily="18" charset="0"/>
              </a:rPr>
              <a:t>-2</a:t>
            </a:r>
            <a:endParaRPr lang="en-US" altLang="en-US" sz="2200" baseline="30000" dirty="0">
              <a:latin typeface="Times New Roman" panose="02020603050405020304" pitchFamily="18" charset="0"/>
              <a:cs typeface="Times New Roman" panose="02020603050405020304" pitchFamily="18" charset="0"/>
            </a:endParaRPr>
          </a:p>
        </p:txBody>
      </p:sp>
      <p:graphicFrame>
        <p:nvGraphicFramePr>
          <p:cNvPr id="15374" name="Object 23">
            <a:extLst>
              <a:ext uri="{FF2B5EF4-FFF2-40B4-BE49-F238E27FC236}">
                <a16:creationId xmlns:a16="http://schemas.microsoft.com/office/drawing/2014/main" id="{BB9DC5BF-3B82-E0E1-795F-65BD7894E5FB}"/>
              </a:ext>
            </a:extLst>
          </p:cNvPr>
          <p:cNvGraphicFramePr>
            <a:graphicFrameLocks noGrp="1" noChangeAspect="1"/>
          </p:cNvGraphicFramePr>
          <p:nvPr>
            <p:ph sz="quarter" idx="3"/>
          </p:nvPr>
        </p:nvGraphicFramePr>
        <p:xfrm>
          <a:off x="4414838" y="4602163"/>
          <a:ext cx="384175" cy="576262"/>
        </p:xfrm>
        <a:graphic>
          <a:graphicData uri="http://schemas.openxmlformats.org/presentationml/2006/ole">
            <mc:AlternateContent xmlns:mc="http://schemas.openxmlformats.org/markup-compatibility/2006">
              <mc:Choice xmlns:v="urn:schemas-microsoft-com:vml" Requires="v">
                <p:oleObj name="Equation" r:id="rId13" imgW="152334" imgH="228501" progId="Equation.3">
                  <p:embed/>
                </p:oleObj>
              </mc:Choice>
              <mc:Fallback>
                <p:oleObj name="Equation" r:id="rId13" imgW="152334" imgH="228501" progId="Equation.3">
                  <p:embed/>
                  <p:pic>
                    <p:nvPicPr>
                      <p:cNvPr id="15374" name="Object 23">
                        <a:extLst>
                          <a:ext uri="{FF2B5EF4-FFF2-40B4-BE49-F238E27FC236}">
                            <a16:creationId xmlns:a16="http://schemas.microsoft.com/office/drawing/2014/main" id="{BB9DC5BF-3B82-E0E1-795F-65BD7894E5FB}"/>
                          </a:ext>
                        </a:extLst>
                      </p:cNvPr>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4838" y="4602163"/>
                        <a:ext cx="384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5067053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F1D31-A07E-1E93-C979-A1CAB4778857}"/>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F345D919-A283-A6C5-5431-2967147B996B}"/>
              </a:ext>
            </a:extLst>
          </p:cNvPr>
          <p:cNvSpPr txBox="1">
            <a:spLocks noChangeArrowheads="1"/>
          </p:cNvSpPr>
          <p:nvPr/>
        </p:nvSpPr>
        <p:spPr bwMode="auto">
          <a:xfrm>
            <a:off x="0" y="1397000"/>
            <a:ext cx="8824913"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Παράδειγμα: Υπολογίστε το </a:t>
            </a:r>
            <a:r>
              <a:rPr lang="en-US" altLang="en-US" sz="2200" b="1" dirty="0">
                <a:solidFill>
                  <a:srgbClr val="0070C0"/>
                </a:solidFill>
                <a:latin typeface="Times New Roman" panose="02020603050405020304" pitchFamily="18" charset="0"/>
                <a:cs typeface="Times New Roman" panose="02020603050405020304" pitchFamily="18" charset="0"/>
              </a:rPr>
              <a:t>BER</a:t>
            </a:r>
            <a:r>
              <a:rPr lang="el-GR" altLang="en-US" sz="2200" b="1" dirty="0">
                <a:solidFill>
                  <a:srgbClr val="990000"/>
                </a:solidFill>
                <a:latin typeface="Times New Roman" panose="02020603050405020304" pitchFamily="18" charset="0"/>
                <a:cs typeface="Times New Roman" panose="02020603050405020304" pitchFamily="18" charset="0"/>
              </a:rPr>
              <a:t> για την περίπτωση 8-δικής σηματοδοσίας με φασματική απόδοση 6 bit/sec/Hz.</a:t>
            </a: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Λύση:</a:t>
            </a:r>
          </a:p>
          <a:p>
            <a:pPr algn="just">
              <a:lnSpc>
                <a:spcPct val="90000"/>
              </a:lnSpc>
            </a:pPr>
            <a:r>
              <a:rPr lang="el-GR" altLang="en-US" sz="2200" b="1" dirty="0">
                <a:solidFill>
                  <a:srgbClr val="990000"/>
                </a:solidFill>
                <a:latin typeface="Times New Roman" panose="02020603050405020304" pitchFamily="18" charset="0"/>
                <a:cs typeface="Times New Roman" panose="02020603050405020304" pitchFamily="18" charset="0"/>
              </a:rPr>
              <a:t>Θεώρημα Shannon-Hartley:</a:t>
            </a:r>
          </a:p>
        </p:txBody>
      </p:sp>
      <p:sp>
        <p:nvSpPr>
          <p:cNvPr id="15363" name="Text Box 3">
            <a:extLst>
              <a:ext uri="{FF2B5EF4-FFF2-40B4-BE49-F238E27FC236}">
                <a16:creationId xmlns:a16="http://schemas.microsoft.com/office/drawing/2014/main" id="{188F8E3E-DFCA-26A4-F4F6-6F875E900C9E}"/>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a:t>
            </a:r>
            <a:r>
              <a:rPr lang="el-GR" altLang="en-US" sz="2200" b="1" dirty="0">
                <a:latin typeface="Times New Roman" panose="02020603050405020304" pitchFamily="18" charset="0"/>
              </a:rPr>
              <a:t>5	ΡΥΘΜΟΣ ΕΜΦΑΝΙΣΗΣ ΕΣΦΑΛΜΕΝΩΝ </a:t>
            </a:r>
            <a:r>
              <a:rPr lang="en-US" altLang="en-US" sz="2200" b="1" dirty="0">
                <a:latin typeface="Times New Roman" panose="02020603050405020304" pitchFamily="18" charset="0"/>
              </a:rPr>
              <a:t>BIT</a:t>
            </a:r>
            <a:endParaRPr lang="en-GB" altLang="en-US" dirty="0"/>
          </a:p>
        </p:txBody>
      </p:sp>
      <p:graphicFrame>
        <p:nvGraphicFramePr>
          <p:cNvPr id="15364" name="Object 5">
            <a:extLst>
              <a:ext uri="{FF2B5EF4-FFF2-40B4-BE49-F238E27FC236}">
                <a16:creationId xmlns:a16="http://schemas.microsoft.com/office/drawing/2014/main" id="{5844C43C-1BD6-4711-B0D1-9A81D285F7FB}"/>
              </a:ext>
            </a:extLst>
          </p:cNvPr>
          <p:cNvGraphicFramePr>
            <a:graphicFrameLocks noChangeAspect="1"/>
          </p:cNvGraphicFramePr>
          <p:nvPr/>
        </p:nvGraphicFramePr>
        <p:xfrm>
          <a:off x="6494463" y="6835775"/>
          <a:ext cx="1198562" cy="354013"/>
        </p:xfrm>
        <a:graphic>
          <a:graphicData uri="http://schemas.openxmlformats.org/presentationml/2006/ole">
            <mc:AlternateContent xmlns:mc="http://schemas.openxmlformats.org/markup-compatibility/2006">
              <mc:Choice xmlns:v="urn:schemas-microsoft-com:vml" Requires="v">
                <p:oleObj name="Equation" r:id="rId2" imgW="774364" imgH="228501" progId="Equation.3">
                  <p:embed/>
                </p:oleObj>
              </mc:Choice>
              <mc:Fallback>
                <p:oleObj name="Equation" r:id="rId2" imgW="774364" imgH="228501" progId="Equation.3">
                  <p:embed/>
                  <p:pic>
                    <p:nvPicPr>
                      <p:cNvPr id="15364" name="Object 5">
                        <a:extLst>
                          <a:ext uri="{FF2B5EF4-FFF2-40B4-BE49-F238E27FC236}">
                            <a16:creationId xmlns:a16="http://schemas.microsoft.com/office/drawing/2014/main" id="{5844C43C-1BD6-4711-B0D1-9A81D285F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4463" y="6835775"/>
                        <a:ext cx="1198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Object 17">
            <a:extLst>
              <a:ext uri="{FF2B5EF4-FFF2-40B4-BE49-F238E27FC236}">
                <a16:creationId xmlns:a16="http://schemas.microsoft.com/office/drawing/2014/main" id="{DDBFE5AC-2711-8B21-998E-78838004F610}"/>
              </a:ext>
            </a:extLst>
          </p:cNvPr>
          <p:cNvGraphicFramePr>
            <a:graphicFrameLocks noGrp="1" noChangeAspect="1"/>
          </p:cNvGraphicFramePr>
          <p:nvPr>
            <p:ph sz="quarter" idx="2"/>
          </p:nvPr>
        </p:nvGraphicFramePr>
        <p:xfrm>
          <a:off x="46037" y="4408809"/>
          <a:ext cx="3401257" cy="692309"/>
        </p:xfrm>
        <a:graphic>
          <a:graphicData uri="http://schemas.openxmlformats.org/presentationml/2006/ole">
            <mc:AlternateContent xmlns:mc="http://schemas.openxmlformats.org/markup-compatibility/2006">
              <mc:Choice xmlns:v="urn:schemas-microsoft-com:vml" Requires="v">
                <p:oleObj name="Equation" r:id="rId4" imgW="2120900" imgH="431800" progId="Equation.3">
                  <p:embed/>
                </p:oleObj>
              </mc:Choice>
              <mc:Fallback>
                <p:oleObj name="Equation" r:id="rId4" imgW="2120900" imgH="431800" progId="Equation.3">
                  <p:embed/>
                  <p:pic>
                    <p:nvPicPr>
                      <p:cNvPr id="15365" name="Object 17">
                        <a:extLst>
                          <a:ext uri="{FF2B5EF4-FFF2-40B4-BE49-F238E27FC236}">
                            <a16:creationId xmlns:a16="http://schemas.microsoft.com/office/drawing/2014/main" id="{DDBFE5AC-2711-8B21-998E-78838004F610}"/>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37" y="4408809"/>
                        <a:ext cx="3401257" cy="692309"/>
                      </a:xfrm>
                      <a:prstGeom prst="rect">
                        <a:avLst/>
                      </a:prstGeom>
                      <a:noFill/>
                      <a:ln>
                        <a:noFill/>
                      </a:ln>
                      <a:effectLst/>
                    </p:spPr>
                  </p:pic>
                </p:oleObj>
              </mc:Fallback>
            </mc:AlternateContent>
          </a:graphicData>
        </a:graphic>
      </p:graphicFrame>
      <p:pic>
        <p:nvPicPr>
          <p:cNvPr id="15366" name="Picture 9" descr="MARY_BER">
            <a:extLst>
              <a:ext uri="{FF2B5EF4-FFF2-40B4-BE49-F238E27FC236}">
                <a16:creationId xmlns:a16="http://schemas.microsoft.com/office/drawing/2014/main" id="{B731E493-FB3D-DBF1-B2C8-97E216E35B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8281" r="-2008" b="7631"/>
          <a:stretch>
            <a:fillRect/>
          </a:stretch>
        </p:blipFill>
        <p:spPr bwMode="auto">
          <a:xfrm>
            <a:off x="4737100" y="3311525"/>
            <a:ext cx="4157663"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11">
            <a:extLst>
              <a:ext uri="{FF2B5EF4-FFF2-40B4-BE49-F238E27FC236}">
                <a16:creationId xmlns:a16="http://schemas.microsoft.com/office/drawing/2014/main" id="{D62C564D-954B-7294-067C-CD6CA9E4FCC7}"/>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68" name="Object 10">
            <a:extLst>
              <a:ext uri="{FF2B5EF4-FFF2-40B4-BE49-F238E27FC236}">
                <a16:creationId xmlns:a16="http://schemas.microsoft.com/office/drawing/2014/main" id="{BC2EFE7F-FFFE-A501-371C-FF64077EFED4}"/>
              </a:ext>
            </a:extLst>
          </p:cNvPr>
          <p:cNvGraphicFramePr>
            <a:graphicFrameLocks noChangeAspect="1"/>
          </p:cNvGraphicFramePr>
          <p:nvPr/>
        </p:nvGraphicFramePr>
        <p:xfrm>
          <a:off x="46038" y="2676525"/>
          <a:ext cx="2344737" cy="771525"/>
        </p:xfrm>
        <a:graphic>
          <a:graphicData uri="http://schemas.openxmlformats.org/presentationml/2006/ole">
            <mc:AlternateContent xmlns:mc="http://schemas.openxmlformats.org/markup-compatibility/2006">
              <mc:Choice xmlns:v="urn:schemas-microsoft-com:vml" Requires="v">
                <p:oleObj name="Equation" r:id="rId7" imgW="1473200" imgH="482600" progId="Equation.3">
                  <p:embed/>
                </p:oleObj>
              </mc:Choice>
              <mc:Fallback>
                <p:oleObj name="Equation" r:id="rId7" imgW="1473200" imgH="482600" progId="Equation.3">
                  <p:embed/>
                  <p:pic>
                    <p:nvPicPr>
                      <p:cNvPr id="15368" name="Object 10">
                        <a:extLst>
                          <a:ext uri="{FF2B5EF4-FFF2-40B4-BE49-F238E27FC236}">
                            <a16:creationId xmlns:a16="http://schemas.microsoft.com/office/drawing/2014/main" id="{BC2EFE7F-FFFE-A501-371C-FF64077EFE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38" y="2676525"/>
                        <a:ext cx="2344737"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9" name="Rectangle 13">
            <a:extLst>
              <a:ext uri="{FF2B5EF4-FFF2-40B4-BE49-F238E27FC236}">
                <a16:creationId xmlns:a16="http://schemas.microsoft.com/office/drawing/2014/main" id="{5F0A298D-9C2F-B8B3-BE44-1B94201A1E0C}"/>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70" name="Object 12">
            <a:extLst>
              <a:ext uri="{FF2B5EF4-FFF2-40B4-BE49-F238E27FC236}">
                <a16:creationId xmlns:a16="http://schemas.microsoft.com/office/drawing/2014/main" id="{951A26FE-F8B8-F7D8-130C-C26A1E81C72C}"/>
              </a:ext>
            </a:extLst>
          </p:cNvPr>
          <p:cNvGraphicFramePr>
            <a:graphicFrameLocks noChangeAspect="1"/>
          </p:cNvGraphicFramePr>
          <p:nvPr/>
        </p:nvGraphicFramePr>
        <p:xfrm>
          <a:off x="2521902" y="2713037"/>
          <a:ext cx="1919288" cy="698500"/>
        </p:xfrm>
        <a:graphic>
          <a:graphicData uri="http://schemas.openxmlformats.org/presentationml/2006/ole">
            <mc:AlternateContent xmlns:mc="http://schemas.openxmlformats.org/markup-compatibility/2006">
              <mc:Choice xmlns:v="urn:schemas-microsoft-com:vml" Requires="v">
                <p:oleObj name="Equation" r:id="rId9" imgW="1333500" imgH="482600" progId="Equation.3">
                  <p:embed/>
                </p:oleObj>
              </mc:Choice>
              <mc:Fallback>
                <p:oleObj name="Equation" r:id="rId9" imgW="1333500" imgH="482600" progId="Equation.3">
                  <p:embed/>
                  <p:pic>
                    <p:nvPicPr>
                      <p:cNvPr id="15370" name="Object 12">
                        <a:extLst>
                          <a:ext uri="{FF2B5EF4-FFF2-40B4-BE49-F238E27FC236}">
                            <a16:creationId xmlns:a16="http://schemas.microsoft.com/office/drawing/2014/main" id="{951A26FE-F8B8-F7D8-130C-C26A1E81C72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1902" y="2713037"/>
                        <a:ext cx="191928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1" name="Rectangle 15">
            <a:extLst>
              <a:ext uri="{FF2B5EF4-FFF2-40B4-BE49-F238E27FC236}">
                <a16:creationId xmlns:a16="http://schemas.microsoft.com/office/drawing/2014/main" id="{AFF999F8-6FBF-336B-C856-DA02FAAD015E}"/>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15372" name="Object 14">
            <a:extLst>
              <a:ext uri="{FF2B5EF4-FFF2-40B4-BE49-F238E27FC236}">
                <a16:creationId xmlns:a16="http://schemas.microsoft.com/office/drawing/2014/main" id="{93725FED-BDBA-FB17-3100-8EBAF9671536}"/>
              </a:ext>
            </a:extLst>
          </p:cNvPr>
          <p:cNvGraphicFramePr>
            <a:graphicFrameLocks noChangeAspect="1"/>
          </p:cNvGraphicFramePr>
          <p:nvPr/>
        </p:nvGraphicFramePr>
        <p:xfrm>
          <a:off x="46038" y="3537905"/>
          <a:ext cx="1965325" cy="781050"/>
        </p:xfrm>
        <a:graphic>
          <a:graphicData uri="http://schemas.openxmlformats.org/presentationml/2006/ole">
            <mc:AlternateContent xmlns:mc="http://schemas.openxmlformats.org/markup-compatibility/2006">
              <mc:Choice xmlns:v="urn:schemas-microsoft-com:vml" Requires="v">
                <p:oleObj name="Equation" r:id="rId11" imgW="1155700" imgH="457200" progId="Equation.3">
                  <p:embed/>
                </p:oleObj>
              </mc:Choice>
              <mc:Fallback>
                <p:oleObj name="Equation" r:id="rId11" imgW="1155700" imgH="457200" progId="Equation.3">
                  <p:embed/>
                  <p:pic>
                    <p:nvPicPr>
                      <p:cNvPr id="15372" name="Object 14">
                        <a:extLst>
                          <a:ext uri="{FF2B5EF4-FFF2-40B4-BE49-F238E27FC236}">
                            <a16:creationId xmlns:a16="http://schemas.microsoft.com/office/drawing/2014/main" id="{93725FED-BDBA-FB17-3100-8EBAF967153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38" y="3537905"/>
                        <a:ext cx="19653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3" name="Text Box 16">
            <a:extLst>
              <a:ext uri="{FF2B5EF4-FFF2-40B4-BE49-F238E27FC236}">
                <a16:creationId xmlns:a16="http://schemas.microsoft.com/office/drawing/2014/main" id="{38412729-A800-A0BC-1CDD-BE92B708B184}"/>
              </a:ext>
            </a:extLst>
          </p:cNvPr>
          <p:cNvSpPr txBox="1">
            <a:spLocks noChangeArrowheads="1"/>
          </p:cNvSpPr>
          <p:nvPr/>
        </p:nvSpPr>
        <p:spPr bwMode="auto">
          <a:xfrm>
            <a:off x="46038" y="5137632"/>
            <a:ext cx="145424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dirty="0">
                <a:latin typeface="Times New Roman" panose="02020603050405020304" pitchFamily="18" charset="0"/>
                <a:cs typeface="Times New Roman" panose="02020603050405020304" pitchFamily="18" charset="0"/>
              </a:rPr>
              <a:t>P</a:t>
            </a:r>
            <a:r>
              <a:rPr lang="en-US" altLang="en-US" sz="2200" baseline="-25000" dirty="0">
                <a:latin typeface="Times New Roman" panose="02020603050405020304" pitchFamily="18" charset="0"/>
                <a:cs typeface="Times New Roman" panose="02020603050405020304" pitchFamily="18" charset="0"/>
              </a:rPr>
              <a:t>s</a:t>
            </a:r>
            <a:r>
              <a:rPr lang="en-US" altLang="en-US" sz="2200" dirty="0">
                <a:latin typeface="Times New Roman" panose="02020603050405020304" pitchFamily="18" charset="0"/>
                <a:cs typeface="Times New Roman" panose="02020603050405020304" pitchFamily="18" charset="0"/>
              </a:rPr>
              <a:t> =</a:t>
            </a:r>
            <a:r>
              <a:rPr lang="el-GR" altLang="en-US" sz="2200" dirty="0">
                <a:latin typeface="Times New Roman" panose="02020603050405020304" pitchFamily="18" charset="0"/>
                <a:cs typeface="Times New Roman" panose="02020603050405020304" pitchFamily="18" charset="0"/>
              </a:rPr>
              <a:t> 7*10</a:t>
            </a:r>
            <a:r>
              <a:rPr lang="el-GR" altLang="en-US" sz="2200" baseline="30000" dirty="0">
                <a:latin typeface="Times New Roman" panose="02020603050405020304" pitchFamily="18" charset="0"/>
                <a:cs typeface="Times New Roman" panose="02020603050405020304" pitchFamily="18" charset="0"/>
              </a:rPr>
              <a:t>-2</a:t>
            </a:r>
            <a:endParaRPr lang="en-US" altLang="en-US" sz="2200" baseline="30000" dirty="0">
              <a:latin typeface="Times New Roman" panose="02020603050405020304" pitchFamily="18" charset="0"/>
              <a:cs typeface="Times New Roman" panose="02020603050405020304" pitchFamily="18" charset="0"/>
            </a:endParaRPr>
          </a:p>
        </p:txBody>
      </p:sp>
      <p:graphicFrame>
        <p:nvGraphicFramePr>
          <p:cNvPr id="15374" name="Object 23">
            <a:extLst>
              <a:ext uri="{FF2B5EF4-FFF2-40B4-BE49-F238E27FC236}">
                <a16:creationId xmlns:a16="http://schemas.microsoft.com/office/drawing/2014/main" id="{172FD7F7-639E-D1B9-AD0B-3B06F203FAA3}"/>
              </a:ext>
            </a:extLst>
          </p:cNvPr>
          <p:cNvGraphicFramePr>
            <a:graphicFrameLocks noGrp="1" noChangeAspect="1"/>
          </p:cNvGraphicFramePr>
          <p:nvPr>
            <p:ph sz="quarter" idx="3"/>
          </p:nvPr>
        </p:nvGraphicFramePr>
        <p:xfrm>
          <a:off x="4414838" y="4602163"/>
          <a:ext cx="384175" cy="576262"/>
        </p:xfrm>
        <a:graphic>
          <a:graphicData uri="http://schemas.openxmlformats.org/presentationml/2006/ole">
            <mc:AlternateContent xmlns:mc="http://schemas.openxmlformats.org/markup-compatibility/2006">
              <mc:Choice xmlns:v="urn:schemas-microsoft-com:vml" Requires="v">
                <p:oleObj name="Equation" r:id="rId13" imgW="152334" imgH="228501" progId="Equation.3">
                  <p:embed/>
                </p:oleObj>
              </mc:Choice>
              <mc:Fallback>
                <p:oleObj name="Equation" r:id="rId13" imgW="152334" imgH="228501" progId="Equation.3">
                  <p:embed/>
                  <p:pic>
                    <p:nvPicPr>
                      <p:cNvPr id="15374" name="Object 23">
                        <a:extLst>
                          <a:ext uri="{FF2B5EF4-FFF2-40B4-BE49-F238E27FC236}">
                            <a16:creationId xmlns:a16="http://schemas.microsoft.com/office/drawing/2014/main" id="{172FD7F7-639E-D1B9-AD0B-3B06F203FAA3}"/>
                          </a:ext>
                        </a:extLst>
                      </p:cNvPr>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4838" y="4602163"/>
                        <a:ext cx="384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3">
            <a:extLst>
              <a:ext uri="{FF2B5EF4-FFF2-40B4-BE49-F238E27FC236}">
                <a16:creationId xmlns:a16="http://schemas.microsoft.com/office/drawing/2014/main" id="{B5FC5B3A-A24E-F273-9C57-8B10CC445F21}"/>
              </a:ext>
            </a:extLst>
          </p:cNvPr>
          <p:cNvGraphicFramePr>
            <a:graphicFrameLocks noChangeAspect="1"/>
          </p:cNvGraphicFramePr>
          <p:nvPr/>
        </p:nvGraphicFramePr>
        <p:xfrm>
          <a:off x="46037" y="5835333"/>
          <a:ext cx="4233863" cy="855301"/>
        </p:xfrm>
        <a:graphic>
          <a:graphicData uri="http://schemas.openxmlformats.org/presentationml/2006/ole">
            <mc:AlternateContent xmlns:mc="http://schemas.openxmlformats.org/markup-compatibility/2006">
              <mc:Choice xmlns:v="urn:schemas-microsoft-com:vml" Requires="v">
                <p:oleObj name="Equation" r:id="rId15" imgW="2057400" imgH="419040" progId="Equation.3">
                  <p:embed/>
                </p:oleObj>
              </mc:Choice>
              <mc:Fallback>
                <p:oleObj name="Equation" r:id="rId15" imgW="2057400" imgH="419040" progId="Equation.3">
                  <p:embed/>
                  <p:pic>
                    <p:nvPicPr>
                      <p:cNvPr id="15" name="Object 13">
                        <a:extLst>
                          <a:ext uri="{FF2B5EF4-FFF2-40B4-BE49-F238E27FC236}">
                            <a16:creationId xmlns:a16="http://schemas.microsoft.com/office/drawing/2014/main" id="{B5FC5B3A-A24E-F273-9C57-8B10CC445F21}"/>
                          </a:ext>
                        </a:extLst>
                      </p:cNvPr>
                      <p:cNvPicPr>
                        <a:picLocks noChangeAspect="1" noChangeArrowheads="1"/>
                      </p:cNvPicPr>
                      <p:nvPr/>
                    </p:nvPicPr>
                    <p:blipFill>
                      <a:blip r:embed="rId16"/>
                      <a:srcRect/>
                      <a:stretch>
                        <a:fillRect/>
                      </a:stretch>
                    </p:blipFill>
                    <p:spPr bwMode="auto">
                      <a:xfrm>
                        <a:off x="46037" y="5835333"/>
                        <a:ext cx="4233863" cy="855301"/>
                      </a:xfrm>
                      <a:prstGeom prst="rect">
                        <a:avLst/>
                      </a:prstGeom>
                      <a:noFill/>
                      <a:ln w="28575">
                        <a:solidFill>
                          <a:srgbClr val="CC3300"/>
                        </a:solidFill>
                      </a:ln>
                    </p:spPr>
                  </p:pic>
                </p:oleObj>
              </mc:Fallback>
            </mc:AlternateContent>
          </a:graphicData>
        </a:graphic>
      </p:graphicFrame>
    </p:spTree>
    <p:extLst>
      <p:ext uri="{BB962C8B-B14F-4D97-AF65-F5344CB8AC3E}">
        <p14:creationId xmlns:p14="http://schemas.microsoft.com/office/powerpoint/2010/main" val="125882475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Μίξη Σημάτων με Κωδικοποίηση Gray</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sz="2200" b="1" dirty="0">
                <a:latin typeface="Times New Roman" panose="02020603050405020304" pitchFamily="18" charset="0"/>
              </a:rPr>
              <a:t>GRAY CODING</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pic>
        <p:nvPicPr>
          <p:cNvPr id="19" name="Picture 6" descr="untitled1"/>
          <p:cNvPicPr>
            <a:picLocks noChangeAspect="1" noChangeArrowheads="1"/>
          </p:cNvPicPr>
          <p:nvPr/>
        </p:nvPicPr>
        <p:blipFill>
          <a:blip r:embed="rId2">
            <a:grayscl/>
            <a:extLst>
              <a:ext uri="{28A0092B-C50C-407E-A947-70E740481C1C}">
                <a14:useLocalDpi xmlns:a14="http://schemas.microsoft.com/office/drawing/2010/main" val="0"/>
              </a:ext>
            </a:extLst>
          </a:blip>
          <a:srcRect l="19270" t="31314" r="32057" b="49463"/>
          <a:stretch>
            <a:fillRect/>
          </a:stretch>
        </p:blipFill>
        <p:spPr bwMode="auto">
          <a:xfrm>
            <a:off x="2556828" y="3943668"/>
            <a:ext cx="2155375" cy="1409562"/>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pic>
      <p:pic>
        <p:nvPicPr>
          <p:cNvPr id="20"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23656" t="21414" r="44545" b="61570"/>
          <a:stretch/>
        </p:blipFill>
        <p:spPr bwMode="auto">
          <a:xfrm>
            <a:off x="57150" y="3943667"/>
            <a:ext cx="2318731" cy="994093"/>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pic>
        <p:nvPicPr>
          <p:cNvPr id="21" name="Picture 18"/>
          <p:cNvPicPr>
            <a:picLocks noChangeAspect="1" noChangeArrowheads="1"/>
          </p:cNvPicPr>
          <p:nvPr/>
        </p:nvPicPr>
        <p:blipFill>
          <a:blip r:embed="rId3">
            <a:extLst>
              <a:ext uri="{28A0092B-C50C-407E-A947-70E740481C1C}">
                <a14:useLocalDpi xmlns:a14="http://schemas.microsoft.com/office/drawing/2010/main" val="0"/>
              </a:ext>
            </a:extLst>
          </a:blip>
          <a:srcRect l="56305" t="21414" r="12561" b="43996"/>
          <a:stretch>
            <a:fillRect/>
          </a:stretch>
        </p:blipFill>
        <p:spPr bwMode="auto">
          <a:xfrm>
            <a:off x="2556828" y="5452111"/>
            <a:ext cx="2155375" cy="1366325"/>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22" name="Object 10"/>
          <p:cNvGraphicFramePr>
            <a:graphicFrameLocks noChangeAspect="1"/>
          </p:cNvGraphicFramePr>
          <p:nvPr>
            <p:extLst>
              <p:ext uri="{D42A27DB-BD31-4B8C-83A1-F6EECF244321}">
                <p14:modId xmlns:p14="http://schemas.microsoft.com/office/powerpoint/2010/main" val="3881498960"/>
              </p:ext>
            </p:extLst>
          </p:nvPr>
        </p:nvGraphicFramePr>
        <p:xfrm>
          <a:off x="1167765" y="6658555"/>
          <a:ext cx="1389063" cy="266700"/>
        </p:xfrm>
        <a:graphic>
          <a:graphicData uri="http://schemas.openxmlformats.org/presentationml/2006/ole">
            <mc:AlternateContent xmlns:mc="http://schemas.openxmlformats.org/markup-compatibility/2006">
              <mc:Choice xmlns:v="urn:schemas-microsoft-com:vml" Requires="v">
                <p:oleObj r:id="rId4" imgW="1193800" imgH="228600" progId="Equation.3">
                  <p:embed/>
                </p:oleObj>
              </mc:Choice>
              <mc:Fallback>
                <p:oleObj r:id="rId4" imgW="1193800" imgH="228600" progId="Equation.3">
                  <p:embed/>
                  <p:pic>
                    <p:nvPicPr>
                      <p:cNvPr id="22"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7765" y="6658555"/>
                        <a:ext cx="138906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12"/>
          <p:cNvGraphicFramePr>
            <a:graphicFrameLocks noChangeAspect="1"/>
          </p:cNvGraphicFramePr>
          <p:nvPr>
            <p:extLst>
              <p:ext uri="{D42A27DB-BD31-4B8C-83A1-F6EECF244321}">
                <p14:modId xmlns:p14="http://schemas.microsoft.com/office/powerpoint/2010/main" val="3492245156"/>
              </p:ext>
            </p:extLst>
          </p:nvPr>
        </p:nvGraphicFramePr>
        <p:xfrm>
          <a:off x="56543" y="5460049"/>
          <a:ext cx="2319338" cy="269875"/>
        </p:xfrm>
        <a:graphic>
          <a:graphicData uri="http://schemas.openxmlformats.org/presentationml/2006/ole">
            <mc:AlternateContent xmlns:mc="http://schemas.openxmlformats.org/markup-compatibility/2006">
              <mc:Choice xmlns:v="urn:schemas-microsoft-com:vml" Requires="v">
                <p:oleObj r:id="rId6" imgW="1879600" imgH="215900" progId="Equation.3">
                  <p:embed/>
                </p:oleObj>
              </mc:Choice>
              <mc:Fallback>
                <p:oleObj r:id="rId6" imgW="1879600" imgH="215900" progId="Equation.3">
                  <p:embed/>
                  <p:pic>
                    <p:nvPicPr>
                      <p:cNvPr id="23"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43" y="5460049"/>
                        <a:ext cx="2319338"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14"/>
          <p:cNvGraphicFramePr>
            <a:graphicFrameLocks noChangeAspect="1"/>
          </p:cNvGraphicFramePr>
          <p:nvPr>
            <p:extLst>
              <p:ext uri="{D42A27DB-BD31-4B8C-83A1-F6EECF244321}">
                <p14:modId xmlns:p14="http://schemas.microsoft.com/office/powerpoint/2010/main" val="841398022"/>
              </p:ext>
            </p:extLst>
          </p:nvPr>
        </p:nvGraphicFramePr>
        <p:xfrm>
          <a:off x="34370" y="5766738"/>
          <a:ext cx="2320925" cy="579437"/>
        </p:xfrm>
        <a:graphic>
          <a:graphicData uri="http://schemas.openxmlformats.org/presentationml/2006/ole">
            <mc:AlternateContent xmlns:mc="http://schemas.openxmlformats.org/markup-compatibility/2006">
              <mc:Choice xmlns:v="urn:schemas-microsoft-com:vml" Requires="v">
                <p:oleObj r:id="rId8" imgW="1790700" imgH="444500" progId="Equation.3">
                  <p:embed/>
                </p:oleObj>
              </mc:Choice>
              <mc:Fallback>
                <p:oleObj r:id="rId8" imgW="1790700" imgH="444500" progId="Equation.3">
                  <p:embed/>
                  <p:pic>
                    <p:nvPicPr>
                      <p:cNvPr id="24"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370" y="5766738"/>
                        <a:ext cx="23209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16"/>
          <p:cNvGraphicFramePr>
            <a:graphicFrameLocks noChangeAspect="1"/>
          </p:cNvGraphicFramePr>
          <p:nvPr>
            <p:extLst>
              <p:ext uri="{D42A27DB-BD31-4B8C-83A1-F6EECF244321}">
                <p14:modId xmlns:p14="http://schemas.microsoft.com/office/powerpoint/2010/main" val="3729516571"/>
              </p:ext>
            </p:extLst>
          </p:nvPr>
        </p:nvGraphicFramePr>
        <p:xfrm>
          <a:off x="4893150" y="3997171"/>
          <a:ext cx="3903842" cy="962024"/>
        </p:xfrm>
        <a:graphic>
          <a:graphicData uri="http://schemas.openxmlformats.org/presentationml/2006/ole">
            <mc:AlternateContent xmlns:mc="http://schemas.openxmlformats.org/markup-compatibility/2006">
              <mc:Choice xmlns:v="urn:schemas-microsoft-com:vml" Requires="v">
                <p:oleObj name="Equation" r:id="rId10" imgW="2679480" imgH="660240" progId="Equation.3">
                  <p:embed/>
                </p:oleObj>
              </mc:Choice>
              <mc:Fallback>
                <p:oleObj name="Equation" r:id="rId10" imgW="2679480" imgH="660240" progId="Equation.3">
                  <p:embed/>
                  <p:pic>
                    <p:nvPicPr>
                      <p:cNvPr id="25" name="Object 16"/>
                      <p:cNvPicPr>
                        <a:picLocks noChangeAspect="1" noChangeArrowheads="1"/>
                      </p:cNvPicPr>
                      <p:nvPr/>
                    </p:nvPicPr>
                    <p:blipFill>
                      <a:blip r:embed="rId11"/>
                      <a:srcRect/>
                      <a:stretch>
                        <a:fillRect/>
                      </a:stretch>
                    </p:blipFill>
                    <p:spPr bwMode="auto">
                      <a:xfrm>
                        <a:off x="4893150" y="3997171"/>
                        <a:ext cx="3903842" cy="962024"/>
                      </a:xfrm>
                      <a:prstGeom prst="rect">
                        <a:avLst/>
                      </a:prstGeom>
                      <a:noFill/>
                      <a:ln>
                        <a:noFill/>
                      </a:ln>
                    </p:spPr>
                  </p:pic>
                </p:oleObj>
              </mc:Fallback>
            </mc:AlternateContent>
          </a:graphicData>
        </a:graphic>
      </p:graphicFrame>
      <p:pic>
        <p:nvPicPr>
          <p:cNvPr id="17" name="Picture 12"/>
          <p:cNvPicPr>
            <a:picLocks noChangeAspect="1" noChangeArrowheads="1"/>
          </p:cNvPicPr>
          <p:nvPr/>
        </p:nvPicPr>
        <p:blipFill>
          <a:blip r:embed="rId12">
            <a:extLst>
              <a:ext uri="{28A0092B-C50C-407E-A947-70E740481C1C}">
                <a14:useLocalDpi xmlns:a14="http://schemas.microsoft.com/office/drawing/2010/main" val="0"/>
              </a:ext>
            </a:extLst>
          </a:blip>
          <a:srcRect l="33961" t="10178" r="15274" b="35161"/>
          <a:stretch>
            <a:fillRect/>
          </a:stretch>
        </p:blipFill>
        <p:spPr bwMode="auto">
          <a:xfrm>
            <a:off x="56543" y="1832484"/>
            <a:ext cx="8702675" cy="1913908"/>
          </a:xfrm>
          <a:prstGeom prst="rect">
            <a:avLst/>
          </a:prstGeom>
          <a:noFill/>
          <a:ln w="6350">
            <a:solidFill>
              <a:srgbClr val="CC3300"/>
            </a:solidFill>
            <a:miter lim="800000"/>
            <a:headEnd/>
            <a:tailEnd/>
          </a:ln>
          <a:extLst>
            <a:ext uri="{909E8E84-426E-40DD-AFC4-6F175D3DCCD1}">
              <a14:hiddenFill xmlns:a14="http://schemas.microsoft.com/office/drawing/2010/main">
                <a:solidFill>
                  <a:srgbClr val="FFFFFF"/>
                </a:solidFill>
              </a14:hiddenFill>
            </a:ext>
          </a:extLst>
        </p:spPr>
      </p:pic>
      <p:sp>
        <p:nvSpPr>
          <p:cNvPr id="18" name="Rectangle 17"/>
          <p:cNvSpPr/>
          <p:nvPr/>
        </p:nvSpPr>
        <p:spPr>
          <a:xfrm>
            <a:off x="964486" y="2521707"/>
            <a:ext cx="1795620" cy="584775"/>
          </a:xfrm>
          <a:prstGeom prst="rect">
            <a:avLst/>
          </a:prstGeom>
          <a:noFill/>
        </p:spPr>
        <p:txBody>
          <a:bodyPr wrap="square" lIns="91440" tIns="45720" rIns="91440" bIns="45720">
            <a:spAutoFit/>
          </a:bodyPr>
          <a:lstStyle/>
          <a:p>
            <a:r>
              <a:rPr lang="el-GR" sz="3200" b="1" cap="none" spc="50" dirty="0">
                <a:ln w="0"/>
                <a:solidFill>
                  <a:srgbClr val="FF0000"/>
                </a:solidFill>
                <a:effectLst>
                  <a:innerShdw blurRad="63500" dist="50800" dir="13500000">
                    <a:srgbClr val="000000">
                      <a:alpha val="50000"/>
                    </a:srgbClr>
                  </a:innerShdw>
                </a:effectLst>
                <a:latin typeface="Calibri" panose="020F0502020204030204" pitchFamily="34" charset="0"/>
                <a:cs typeface="Calibri" panose="020F0502020204030204" pitchFamily="34" charset="0"/>
              </a:rPr>
              <a:t>1       0</a:t>
            </a:r>
            <a:endParaRPr lang="en-US" sz="3200" b="1" cap="none" spc="50" dirty="0">
              <a:ln w="0"/>
              <a:solidFill>
                <a:srgbClr val="FF0000"/>
              </a:solidFill>
              <a:effectLst>
                <a:innerShdw blurRad="63500" dist="50800" dir="13500000">
                  <a:srgbClr val="000000">
                    <a:alpha val="50000"/>
                  </a:srgbClr>
                </a:inn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998849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Μίξη Σημάτων με Κωδικοποίηση Gray</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sz="2200" b="1" dirty="0">
                <a:latin typeface="Times New Roman" panose="02020603050405020304" pitchFamily="18" charset="0"/>
              </a:rPr>
              <a:t>GRAY CODING</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pic>
        <p:nvPicPr>
          <p:cNvPr id="19" name="Picture 6" descr="untitled1"/>
          <p:cNvPicPr>
            <a:picLocks noChangeAspect="1" noChangeArrowheads="1"/>
          </p:cNvPicPr>
          <p:nvPr/>
        </p:nvPicPr>
        <p:blipFill>
          <a:blip r:embed="rId2">
            <a:grayscl/>
            <a:extLst>
              <a:ext uri="{28A0092B-C50C-407E-A947-70E740481C1C}">
                <a14:useLocalDpi xmlns:a14="http://schemas.microsoft.com/office/drawing/2010/main" val="0"/>
              </a:ext>
            </a:extLst>
          </a:blip>
          <a:srcRect l="19270" t="31314" r="32057" b="49463"/>
          <a:stretch>
            <a:fillRect/>
          </a:stretch>
        </p:blipFill>
        <p:spPr bwMode="auto">
          <a:xfrm>
            <a:off x="122238" y="1967051"/>
            <a:ext cx="2155375" cy="1409562"/>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25" name="Object 16"/>
          <p:cNvGraphicFramePr>
            <a:graphicFrameLocks noChangeAspect="1"/>
          </p:cNvGraphicFramePr>
          <p:nvPr>
            <p:extLst>
              <p:ext uri="{D42A27DB-BD31-4B8C-83A1-F6EECF244321}">
                <p14:modId xmlns:p14="http://schemas.microsoft.com/office/powerpoint/2010/main" val="25218237"/>
              </p:ext>
            </p:extLst>
          </p:nvPr>
        </p:nvGraphicFramePr>
        <p:xfrm>
          <a:off x="2801460" y="2148043"/>
          <a:ext cx="3903842" cy="962024"/>
        </p:xfrm>
        <a:graphic>
          <a:graphicData uri="http://schemas.openxmlformats.org/presentationml/2006/ole">
            <mc:AlternateContent xmlns:mc="http://schemas.openxmlformats.org/markup-compatibility/2006">
              <mc:Choice xmlns:v="urn:schemas-microsoft-com:vml" Requires="v">
                <p:oleObj name="Equation" r:id="rId3" imgW="2679480" imgH="660240" progId="Equation.3">
                  <p:embed/>
                </p:oleObj>
              </mc:Choice>
              <mc:Fallback>
                <p:oleObj name="Equation" r:id="rId3" imgW="2679480" imgH="660240" progId="Equation.3">
                  <p:embed/>
                  <p:pic>
                    <p:nvPicPr>
                      <p:cNvPr id="25" name="Object 16"/>
                      <p:cNvPicPr>
                        <a:picLocks noChangeAspect="1" noChangeArrowheads="1"/>
                      </p:cNvPicPr>
                      <p:nvPr/>
                    </p:nvPicPr>
                    <p:blipFill>
                      <a:blip r:embed="rId4"/>
                      <a:srcRect/>
                      <a:stretch>
                        <a:fillRect/>
                      </a:stretch>
                    </p:blipFill>
                    <p:spPr bwMode="auto">
                      <a:xfrm>
                        <a:off x="2801460" y="2148043"/>
                        <a:ext cx="3903842" cy="962024"/>
                      </a:xfrm>
                      <a:prstGeom prst="rect">
                        <a:avLst/>
                      </a:prstGeom>
                      <a:noFill/>
                      <a:ln>
                        <a:noFill/>
                      </a:ln>
                    </p:spPr>
                  </p:pic>
                </p:oleObj>
              </mc:Fallback>
            </mc:AlternateContent>
          </a:graphicData>
        </a:graphic>
      </p:graphicFrame>
      <p:pic>
        <p:nvPicPr>
          <p:cNvPr id="17" name="Picture 12"/>
          <p:cNvPicPr>
            <a:picLocks noChangeAspect="1" noChangeArrowheads="1"/>
          </p:cNvPicPr>
          <p:nvPr/>
        </p:nvPicPr>
        <p:blipFill>
          <a:blip r:embed="rId5">
            <a:extLst>
              <a:ext uri="{28A0092B-C50C-407E-A947-70E740481C1C}">
                <a14:useLocalDpi xmlns:a14="http://schemas.microsoft.com/office/drawing/2010/main" val="0"/>
              </a:ext>
            </a:extLst>
          </a:blip>
          <a:srcRect l="33961" t="10178" r="15274" b="35161"/>
          <a:stretch>
            <a:fillRect/>
          </a:stretch>
        </p:blipFill>
        <p:spPr bwMode="auto">
          <a:xfrm>
            <a:off x="122237" y="3549632"/>
            <a:ext cx="8702675" cy="1913908"/>
          </a:xfrm>
          <a:prstGeom prst="rect">
            <a:avLst/>
          </a:prstGeom>
          <a:noFill/>
          <a:ln w="6350">
            <a:solidFill>
              <a:srgbClr val="CC3300"/>
            </a:solidFill>
            <a:miter lim="800000"/>
            <a:headEnd/>
            <a:tailEnd/>
          </a:ln>
          <a:extLst>
            <a:ext uri="{909E8E84-426E-40DD-AFC4-6F175D3DCCD1}">
              <a14:hiddenFill xmlns:a14="http://schemas.microsoft.com/office/drawing/2010/main">
                <a:solidFill>
                  <a:srgbClr val="FFFFFF"/>
                </a:solidFill>
              </a14:hiddenFill>
            </a:ext>
          </a:extLst>
        </p:spPr>
      </p:pic>
      <p:sp>
        <p:nvSpPr>
          <p:cNvPr id="2" name="Rectangle 1"/>
          <p:cNvSpPr/>
          <p:nvPr/>
        </p:nvSpPr>
        <p:spPr>
          <a:xfrm>
            <a:off x="1062990" y="5463540"/>
            <a:ext cx="1795620" cy="584775"/>
          </a:xfrm>
          <a:prstGeom prst="rect">
            <a:avLst/>
          </a:prstGeom>
          <a:noFill/>
        </p:spPr>
        <p:txBody>
          <a:bodyPr wrap="square" lIns="91440" tIns="45720" rIns="91440" bIns="45720">
            <a:spAutoFit/>
          </a:bodyPr>
          <a:lstStyle/>
          <a:p>
            <a:r>
              <a:rPr lang="el-GR" sz="3200" b="1" cap="none" spc="50" dirty="0">
                <a:ln w="0"/>
                <a:solidFill>
                  <a:srgbClr val="FF0000"/>
                </a:solidFill>
                <a:effectLst>
                  <a:innerShdw blurRad="63500" dist="50800" dir="13500000">
                    <a:srgbClr val="000000">
                      <a:alpha val="50000"/>
                    </a:srgbClr>
                  </a:innerShdw>
                </a:effectLst>
                <a:latin typeface="Calibri" panose="020F0502020204030204" pitchFamily="34" charset="0"/>
                <a:cs typeface="Calibri" panose="020F0502020204030204" pitchFamily="34" charset="0"/>
              </a:rPr>
              <a:t>1       0</a:t>
            </a:r>
            <a:endParaRPr lang="en-US" sz="3200" b="1" cap="none" spc="50" dirty="0">
              <a:ln w="0"/>
              <a:solidFill>
                <a:srgbClr val="FF0000"/>
              </a:solidFill>
              <a:effectLst>
                <a:innerShdw blurRad="63500" dist="50800" dir="13500000">
                  <a:srgbClr val="000000">
                    <a:alpha val="50000"/>
                  </a:srgbClr>
                </a:inn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100209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8F5E-965F-B37A-FECC-B2482FBBC3DA}"/>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2F20F4E3-C38C-D19B-6A4F-451F930BA3AF}"/>
              </a:ext>
            </a:extLst>
          </p:cNvPr>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Παράδειγμα 1</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a:extLst>
              <a:ext uri="{FF2B5EF4-FFF2-40B4-BE49-F238E27FC236}">
                <a16:creationId xmlns:a16="http://schemas.microsoft.com/office/drawing/2014/main" id="{3E93B8F2-A9C0-809E-9910-A8386816CCBD}"/>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sz="2200" b="1" dirty="0">
                <a:latin typeface="Times New Roman" panose="02020603050405020304" pitchFamily="18" charset="0"/>
              </a:rPr>
              <a:t>ΑΣΚΗΣΕΙΣ</a:t>
            </a:r>
            <a:endParaRPr lang="en-GB" altLang="en-US" dirty="0"/>
          </a:p>
        </p:txBody>
      </p:sp>
      <p:sp>
        <p:nvSpPr>
          <p:cNvPr id="15367" name="Rectangle 11">
            <a:extLst>
              <a:ext uri="{FF2B5EF4-FFF2-40B4-BE49-F238E27FC236}">
                <a16:creationId xmlns:a16="http://schemas.microsoft.com/office/drawing/2014/main" id="{DAB3B11C-6096-8750-61F9-9767106ED547}"/>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02FC9717-93F6-094F-FCE5-05E604620F3A}"/>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CA18314E-8309-7D54-EE12-EB0D19F9E148}"/>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923001-353F-909B-C36A-A42A01960445}"/>
                  </a:ext>
                </a:extLst>
              </p:cNvPr>
              <p:cNvSpPr txBox="1"/>
              <p:nvPr/>
            </p:nvSpPr>
            <p:spPr>
              <a:xfrm>
                <a:off x="0" y="1892825"/>
                <a:ext cx="8478981" cy="2308324"/>
              </a:xfrm>
              <a:prstGeom prst="rect">
                <a:avLst/>
              </a:prstGeom>
              <a:noFill/>
            </p:spPr>
            <p:txBody>
              <a:bodyPr wrap="square">
                <a:spAutoFit/>
              </a:bodyPr>
              <a:lstStyle/>
              <a:p>
                <a:r>
                  <a:rPr lang="el-GR" sz="1600" dirty="0"/>
                  <a:t>Ένα τηλεπικοινωνιακό σύστημα βασικής ζώνης 4 επιπέδων έχει περίοδο συμβόλου 100 </a:t>
                </a:r>
                <a14:m>
                  <m:oMath xmlns:m="http://schemas.openxmlformats.org/officeDocument/2006/math">
                    <m:r>
                      <a:rPr lang="el-GR" sz="1600" i="1" dirty="0" smtClean="0">
                        <a:latin typeface="Cambria Math" panose="02040503050406030204" pitchFamily="18" charset="0"/>
                      </a:rPr>
                      <m:t>𝜇</m:t>
                    </m:r>
                    <m:r>
                      <a:rPr lang="el-GR" sz="1600" i="1" dirty="0" smtClean="0">
                        <a:latin typeface="Cambria Math" panose="02040503050406030204" pitchFamily="18" charset="0"/>
                      </a:rPr>
                      <m:t>𝑠</m:t>
                    </m:r>
                  </m:oMath>
                </a14:m>
                <a:r>
                  <a:rPr lang="el-GR" sz="1600" dirty="0"/>
                  <a:t>.</a:t>
                </a:r>
              </a:p>
              <a:p>
                <a:br>
                  <a:rPr lang="el-GR" sz="1600" dirty="0"/>
                </a:br>
                <a:r>
                  <a:rPr lang="el-GR" sz="1600" dirty="0"/>
                  <a:t>(α) Ποιο είναι το ελάχιστο απαιτούμενο εύρος ζώνης για τη μετάδοση, υποθέτοντας ότι χρησιμοποιείται φίλτρο ρίζας ανυψωμένου </a:t>
                </a:r>
                <a:r>
                  <a:rPr lang="el-GR" sz="1600" dirty="0" err="1"/>
                  <a:t>συνημιτόνου</a:t>
                </a:r>
                <a:r>
                  <a:rPr lang="el-GR" sz="1600" dirty="0"/>
                  <a:t> με </a:t>
                </a:r>
                <a14:m>
                  <m:oMath xmlns:m="http://schemas.openxmlformats.org/officeDocument/2006/math">
                    <m:r>
                      <a:rPr lang="el-GR" sz="1600" i="1" dirty="0" smtClean="0">
                        <a:latin typeface="Cambria Math" panose="02040503050406030204" pitchFamily="18" charset="0"/>
                      </a:rPr>
                      <m:t>𝛼</m:t>
                    </m:r>
                    <m:r>
                      <a:rPr lang="el-GR" sz="1600" i="1" dirty="0" smtClean="0">
                        <a:latin typeface="Cambria Math" panose="02040503050406030204" pitchFamily="18" charset="0"/>
                      </a:rPr>
                      <m:t>=0.3</m:t>
                    </m:r>
                  </m:oMath>
                </a14:m>
                <a:r>
                  <a:rPr lang="el-GR" sz="1600" dirty="0"/>
                  <a:t>;</a:t>
                </a:r>
              </a:p>
              <a:p>
                <a:br>
                  <a:rPr lang="el-GR" sz="1600" dirty="0"/>
                </a:br>
                <a:r>
                  <a:rPr lang="en-US" sz="1600" dirty="0"/>
                  <a:t>(</a:t>
                </a:r>
                <a:r>
                  <a:rPr lang="el-GR" sz="1600" dirty="0"/>
                  <a:t>β) Πόσος χρόνος απαιτείται για τη μετάδοση 1 εκατομμυρίου </a:t>
                </a:r>
                <a:r>
                  <a:rPr lang="el-GR" sz="1600" dirty="0" err="1"/>
                  <a:t>bit</a:t>
                </a:r>
                <a:r>
                  <a:rPr lang="el-GR" sz="1600" dirty="0"/>
                  <a:t>;</a:t>
                </a:r>
              </a:p>
              <a:p>
                <a:br>
                  <a:rPr lang="el-GR" sz="1600" dirty="0"/>
                </a:br>
                <a:r>
                  <a:rPr lang="en-US" sz="1600" dirty="0"/>
                  <a:t>(c) </a:t>
                </a:r>
                <a:r>
                  <a:rPr lang="el-GR" sz="1600" dirty="0"/>
                  <a:t>Εάν απαιτείται να μεταδοθεί η πληροφορία στον μισό χρόνο, πόσες καταστάσεις συμβόλων θα χρειαστούν, χρησιμοποιώντας το ίδιο εύρος ζώνης μετάδοσης;</a:t>
                </a:r>
              </a:p>
            </p:txBody>
          </p:sp>
        </mc:Choice>
        <mc:Fallback xmlns="">
          <p:sp>
            <p:nvSpPr>
              <p:cNvPr id="4" name="TextBox 3">
                <a:extLst>
                  <a:ext uri="{FF2B5EF4-FFF2-40B4-BE49-F238E27FC236}">
                    <a16:creationId xmlns:a16="http://schemas.microsoft.com/office/drawing/2014/main" id="{49923001-353F-909B-C36A-A42A01960445}"/>
                  </a:ext>
                </a:extLst>
              </p:cNvPr>
              <p:cNvSpPr txBox="1">
                <a:spLocks noRot="1" noChangeAspect="1" noMove="1" noResize="1" noEditPoints="1" noAdjustHandles="1" noChangeArrowheads="1" noChangeShapeType="1" noTextEdit="1"/>
              </p:cNvSpPr>
              <p:nvPr/>
            </p:nvSpPr>
            <p:spPr>
              <a:xfrm>
                <a:off x="0" y="1892825"/>
                <a:ext cx="8478981" cy="2308324"/>
              </a:xfrm>
              <a:prstGeom prst="rect">
                <a:avLst/>
              </a:prstGeom>
              <a:blipFill>
                <a:blip r:embed="rId2"/>
                <a:stretch>
                  <a:fillRect l="-359" t="-794" b="-2646"/>
                </a:stretch>
              </a:blipFill>
            </p:spPr>
            <p:txBody>
              <a:bodyPr/>
              <a:lstStyle/>
              <a:p>
                <a:r>
                  <a:rPr lang="el-GR">
                    <a:noFill/>
                  </a:rPr>
                  <a:t> </a:t>
                </a:r>
              </a:p>
            </p:txBody>
          </p:sp>
        </mc:Fallback>
      </mc:AlternateContent>
    </p:spTree>
    <p:extLst>
      <p:ext uri="{BB962C8B-B14F-4D97-AF65-F5344CB8AC3E}">
        <p14:creationId xmlns:p14="http://schemas.microsoft.com/office/powerpoint/2010/main" val="249222494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BA57F-C7F6-9FD8-943F-8D0B3D6876C9}"/>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81921F5F-659B-2AC8-FDB1-C56E97167002}"/>
              </a:ext>
            </a:extLst>
          </p:cNvPr>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Παράδειγμα 2</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a:extLst>
              <a:ext uri="{FF2B5EF4-FFF2-40B4-BE49-F238E27FC236}">
                <a16:creationId xmlns:a16="http://schemas.microsoft.com/office/drawing/2014/main" id="{43E03B34-3776-C215-E0FB-229EA6AE32B4}"/>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sz="2200" b="1" dirty="0">
                <a:latin typeface="Times New Roman" panose="02020603050405020304" pitchFamily="18" charset="0"/>
              </a:rPr>
              <a:t>ΑΣΚΗΣΕΙΣ</a:t>
            </a:r>
            <a:endParaRPr lang="en-GB" altLang="en-US" dirty="0"/>
          </a:p>
        </p:txBody>
      </p:sp>
      <p:sp>
        <p:nvSpPr>
          <p:cNvPr id="15367" name="Rectangle 11">
            <a:extLst>
              <a:ext uri="{FF2B5EF4-FFF2-40B4-BE49-F238E27FC236}">
                <a16:creationId xmlns:a16="http://schemas.microsoft.com/office/drawing/2014/main" id="{C04C975A-4824-E445-1A8F-3662B1BDF730}"/>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120E4E64-8486-A779-9ED6-1166DF15E5C0}"/>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63E41888-92BC-513E-F4F5-94FDCC4439BB}"/>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6847C26-283F-51CE-2EA5-92D7982B6BE4}"/>
                  </a:ext>
                </a:extLst>
              </p:cNvPr>
              <p:cNvSpPr txBox="1"/>
              <p:nvPr/>
            </p:nvSpPr>
            <p:spPr>
              <a:xfrm>
                <a:off x="0" y="1892825"/>
                <a:ext cx="8478981" cy="1815882"/>
              </a:xfrm>
              <a:prstGeom prst="rect">
                <a:avLst/>
              </a:prstGeom>
              <a:noFill/>
            </p:spPr>
            <p:txBody>
              <a:bodyPr wrap="square">
                <a:spAutoFit/>
              </a:bodyPr>
              <a:lstStyle/>
              <a:p>
                <a:r>
                  <a:rPr lang="el-GR" sz="1600" dirty="0"/>
                  <a:t>Μια εταιρεία επιθυμεί να αυξήσει τη ροή δεδομένων ενός μόντεμ μεταβαίνοντας από ένα σχήμα διαμόρφωσης τεσσάρων επιπέδων σε ένα σχήμα οκτώ επιπέδων και έχει θέσει ως στόχο σχεδίασης τη διατήρηση της απόδοσης, ώστε να μην είναι χειρότερη από ένα σφάλμα συμβόλου ανά 10.000 που αποστέλλονται.</a:t>
                </a:r>
                <a:br>
                  <a:rPr lang="el-GR" sz="1600" dirty="0"/>
                </a:br>
                <a:r>
                  <a:rPr lang="el-GR" sz="1600" dirty="0"/>
                  <a:t>Χρησιμοποιώντας το διάγραμμα σφάλματος συμβόλου σε σχέση με το </a:t>
                </a:r>
                <a14:m>
                  <m:oMath xmlns:m="http://schemas.openxmlformats.org/officeDocument/2006/math">
                    <m:r>
                      <a:rPr lang="el-GR" sz="1600" i="1" dirty="0" smtClean="0">
                        <a:latin typeface="Cambria Math" panose="02040503050406030204" pitchFamily="18" charset="0"/>
                      </a:rPr>
                      <m:t>𝐸𝑏</m:t>
                    </m:r>
                  </m:oMath>
                </a14:m>
                <a:r>
                  <a:rPr lang="el-GR" sz="1600" dirty="0"/>
                  <a:t>/</a:t>
                </a:r>
                <a14:m>
                  <m:oMath xmlns:m="http://schemas.openxmlformats.org/officeDocument/2006/math">
                    <m:sSub>
                      <m:sSubPr>
                        <m:ctrlPr>
                          <a:rPr lang="en-US" sz="1600" b="0" i="1" dirty="0" smtClean="0">
                            <a:latin typeface="Cambria Math" panose="02040503050406030204" pitchFamily="18" charset="0"/>
                          </a:rPr>
                        </m:ctrlPr>
                      </m:sSubPr>
                      <m:e>
                        <m:r>
                          <a:rPr lang="el-GR" sz="1600" i="1" dirty="0" smtClean="0">
                            <a:latin typeface="Cambria Math" panose="02040503050406030204" pitchFamily="18" charset="0"/>
                          </a:rPr>
                          <m:t>𝑁</m:t>
                        </m:r>
                      </m:e>
                      <m:sub>
                        <m:r>
                          <a:rPr lang="el-GR" sz="1600" i="1" dirty="0" smtClean="0">
                            <a:latin typeface="Cambria Math" panose="02040503050406030204" pitchFamily="18" charset="0"/>
                          </a:rPr>
                          <m:t>0</m:t>
                        </m:r>
                      </m:sub>
                    </m:sSub>
                  </m:oMath>
                </a14:m>
                <a:r>
                  <a:rPr lang="el-GR" sz="1600" dirty="0"/>
                  <a:t>​ για Μ-</a:t>
                </a:r>
                <a:r>
                  <a:rPr lang="el-GR" sz="1600" dirty="0" err="1"/>
                  <a:t>αδικά</a:t>
                </a:r>
                <a:r>
                  <a:rPr lang="el-GR" sz="1600" dirty="0"/>
                  <a:t> σχήματα διαμόρφωσης βασικής ζώνης, προσδιορίστε τη μείωση στην ανοχή θορύβου για το μόντεμ ως αποτέλεσμα αυτής της αλλαγής.</a:t>
                </a:r>
              </a:p>
            </p:txBody>
          </p:sp>
        </mc:Choice>
        <mc:Fallback xmlns="">
          <p:sp>
            <p:nvSpPr>
              <p:cNvPr id="4" name="TextBox 3">
                <a:extLst>
                  <a:ext uri="{FF2B5EF4-FFF2-40B4-BE49-F238E27FC236}">
                    <a16:creationId xmlns:a16="http://schemas.microsoft.com/office/drawing/2014/main" id="{C6847C26-283F-51CE-2EA5-92D7982B6BE4}"/>
                  </a:ext>
                </a:extLst>
              </p:cNvPr>
              <p:cNvSpPr txBox="1">
                <a:spLocks noRot="1" noChangeAspect="1" noMove="1" noResize="1" noEditPoints="1" noAdjustHandles="1" noChangeArrowheads="1" noChangeShapeType="1" noTextEdit="1"/>
              </p:cNvSpPr>
              <p:nvPr/>
            </p:nvSpPr>
            <p:spPr>
              <a:xfrm>
                <a:off x="0" y="1892825"/>
                <a:ext cx="8478981" cy="1815882"/>
              </a:xfrm>
              <a:prstGeom prst="rect">
                <a:avLst/>
              </a:prstGeom>
              <a:blipFill>
                <a:blip r:embed="rId2"/>
                <a:stretch>
                  <a:fillRect l="-359" t="-1010" r="-791" b="-3704"/>
                </a:stretch>
              </a:blipFill>
            </p:spPr>
            <p:txBody>
              <a:bodyPr/>
              <a:lstStyle/>
              <a:p>
                <a:r>
                  <a:rPr lang="el-GR">
                    <a:noFill/>
                  </a:rPr>
                  <a:t> </a:t>
                </a:r>
              </a:p>
            </p:txBody>
          </p:sp>
        </mc:Fallback>
      </mc:AlternateContent>
      <p:graphicFrame>
        <p:nvGraphicFramePr>
          <p:cNvPr id="2" name="Object 5">
            <a:extLst>
              <a:ext uri="{FF2B5EF4-FFF2-40B4-BE49-F238E27FC236}">
                <a16:creationId xmlns:a16="http://schemas.microsoft.com/office/drawing/2014/main" id="{38A594B7-DE57-F689-56D8-E264B7D8861D}"/>
              </a:ext>
            </a:extLst>
          </p:cNvPr>
          <p:cNvGraphicFramePr>
            <a:graphicFrameLocks noChangeAspect="1"/>
          </p:cNvGraphicFramePr>
          <p:nvPr>
            <p:extLst>
              <p:ext uri="{D42A27DB-BD31-4B8C-83A1-F6EECF244321}">
                <p14:modId xmlns:p14="http://schemas.microsoft.com/office/powerpoint/2010/main" val="3979650971"/>
              </p:ext>
            </p:extLst>
          </p:nvPr>
        </p:nvGraphicFramePr>
        <p:xfrm>
          <a:off x="6424613" y="6769979"/>
          <a:ext cx="1098837" cy="324558"/>
        </p:xfrm>
        <a:graphic>
          <a:graphicData uri="http://schemas.openxmlformats.org/presentationml/2006/ole">
            <mc:AlternateContent xmlns:mc="http://schemas.openxmlformats.org/markup-compatibility/2006">
              <mc:Choice xmlns:v="urn:schemas-microsoft-com:vml" Requires="v">
                <p:oleObj name="Equation" r:id="rId3" imgW="774364" imgH="228501" progId="Equation.3">
                  <p:embed/>
                </p:oleObj>
              </mc:Choice>
              <mc:Fallback>
                <p:oleObj name="Equation" r:id="rId3" imgW="774364" imgH="228501" progId="Equation.3">
                  <p:embed/>
                  <p:pic>
                    <p:nvPicPr>
                      <p:cNvPr id="2" name="Object 5">
                        <a:extLst>
                          <a:ext uri="{FF2B5EF4-FFF2-40B4-BE49-F238E27FC236}">
                            <a16:creationId xmlns:a16="http://schemas.microsoft.com/office/drawing/2014/main" id="{38A594B7-DE57-F689-56D8-E264B7D886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4613" y="6769979"/>
                        <a:ext cx="1098837" cy="324558"/>
                      </a:xfrm>
                      <a:prstGeom prst="rect">
                        <a:avLst/>
                      </a:prstGeom>
                      <a:noFill/>
                      <a:ln>
                        <a:noFill/>
                      </a:ln>
                    </p:spPr>
                  </p:pic>
                </p:oleObj>
              </mc:Fallback>
            </mc:AlternateContent>
          </a:graphicData>
        </a:graphic>
      </p:graphicFrame>
      <p:pic>
        <p:nvPicPr>
          <p:cNvPr id="3" name="Picture 9" descr="MARY_BER">
            <a:extLst>
              <a:ext uri="{FF2B5EF4-FFF2-40B4-BE49-F238E27FC236}">
                <a16:creationId xmlns:a16="http://schemas.microsoft.com/office/drawing/2014/main" id="{C87F0CEC-5699-251C-9F38-EF888339B6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281" r="-2008" b="7631"/>
          <a:stretch>
            <a:fillRect/>
          </a:stretch>
        </p:blipFill>
        <p:spPr bwMode="auto">
          <a:xfrm>
            <a:off x="4667250" y="3509636"/>
            <a:ext cx="3811731" cy="3232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23">
            <a:extLst>
              <a:ext uri="{FF2B5EF4-FFF2-40B4-BE49-F238E27FC236}">
                <a16:creationId xmlns:a16="http://schemas.microsoft.com/office/drawing/2014/main" id="{40EB80FE-AE10-CFDA-3E94-078FD5DEFB2B}"/>
              </a:ext>
            </a:extLst>
          </p:cNvPr>
          <p:cNvGraphicFramePr>
            <a:graphicFrameLocks noChangeAspect="1"/>
          </p:cNvGraphicFramePr>
          <p:nvPr>
            <p:extLst>
              <p:ext uri="{D42A27DB-BD31-4B8C-83A1-F6EECF244321}">
                <p14:modId xmlns:p14="http://schemas.microsoft.com/office/powerpoint/2010/main" val="2875935914"/>
              </p:ext>
            </p:extLst>
          </p:nvPr>
        </p:nvGraphicFramePr>
        <p:xfrm>
          <a:off x="4344989" y="4554858"/>
          <a:ext cx="352210" cy="528315"/>
        </p:xfrm>
        <a:graphic>
          <a:graphicData uri="http://schemas.openxmlformats.org/presentationml/2006/ole">
            <mc:AlternateContent xmlns:mc="http://schemas.openxmlformats.org/markup-compatibility/2006">
              <mc:Choice xmlns:v="urn:schemas-microsoft-com:vml" Requires="v">
                <p:oleObj name="Equation" r:id="rId6" imgW="152334" imgH="228501" progId="Equation.3">
                  <p:embed/>
                </p:oleObj>
              </mc:Choice>
              <mc:Fallback>
                <p:oleObj name="Equation" r:id="rId6" imgW="152334" imgH="228501" progId="Equation.3">
                  <p:embed/>
                  <p:pic>
                    <p:nvPicPr>
                      <p:cNvPr id="5" name="Object 23">
                        <a:extLst>
                          <a:ext uri="{FF2B5EF4-FFF2-40B4-BE49-F238E27FC236}">
                            <a16:creationId xmlns:a16="http://schemas.microsoft.com/office/drawing/2014/main" id="{40EB80FE-AE10-CFDA-3E94-078FD5DEFB2B}"/>
                          </a:ext>
                        </a:extLst>
                      </p:cNvPr>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4989" y="4554858"/>
                        <a:ext cx="352210" cy="52831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4324151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5F827-23D6-7D1A-39B7-7979FB07FC0D}"/>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408E9118-93B0-506A-CD89-37095E364775}"/>
              </a:ext>
            </a:extLst>
          </p:cNvPr>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Παράδειγμα 3</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a:extLst>
              <a:ext uri="{FF2B5EF4-FFF2-40B4-BE49-F238E27FC236}">
                <a16:creationId xmlns:a16="http://schemas.microsoft.com/office/drawing/2014/main" id="{425BD6A4-7A84-9BA6-BA0D-58F5B78C0EBE}"/>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sz="2200" b="1" dirty="0">
                <a:latin typeface="Times New Roman" panose="02020603050405020304" pitchFamily="18" charset="0"/>
              </a:rPr>
              <a:t>ΑΣΚΗΣΕΙΣ</a:t>
            </a:r>
            <a:endParaRPr lang="en-GB" altLang="en-US" dirty="0"/>
          </a:p>
        </p:txBody>
      </p:sp>
      <p:sp>
        <p:nvSpPr>
          <p:cNvPr id="15367" name="Rectangle 11">
            <a:extLst>
              <a:ext uri="{FF2B5EF4-FFF2-40B4-BE49-F238E27FC236}">
                <a16:creationId xmlns:a16="http://schemas.microsoft.com/office/drawing/2014/main" id="{50D639B4-03BE-8E3D-0F07-CCE116C76413}"/>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525E2797-B8DE-85DA-A5E4-492848BB6711}"/>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EEC9B52A-6709-0F60-604A-ED273A66ADD8}"/>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C16CE16-46F3-24A2-F029-B4304FA21540}"/>
                  </a:ext>
                </a:extLst>
              </p:cNvPr>
              <p:cNvSpPr txBox="1"/>
              <p:nvPr/>
            </p:nvSpPr>
            <p:spPr>
              <a:xfrm>
                <a:off x="0" y="1892825"/>
                <a:ext cx="8478981" cy="830997"/>
              </a:xfrm>
              <a:prstGeom prst="rect">
                <a:avLst/>
              </a:prstGeom>
              <a:noFill/>
            </p:spPr>
            <p:txBody>
              <a:bodyPr wrap="square">
                <a:spAutoFit/>
              </a:bodyPr>
              <a:lstStyle/>
              <a:p>
                <a:r>
                  <a:rPr lang="el-GR" sz="1600" dirty="0"/>
                  <a:t>Ένα δυαδικό σχήμα βασικής ζώνης μπορεί να υποστηρίξει ρυθμό μετάδοσης δεδομένων στα 4800</a:t>
                </a:r>
                <a14:m>
                  <m:oMath xmlns:m="http://schemas.openxmlformats.org/officeDocument/2006/math">
                    <m:r>
                      <a:rPr lang="en-US" sz="1600" b="0" i="1" smtClean="0">
                        <a:latin typeface="Cambria Math" panose="02040503050406030204" pitchFamily="18" charset="0"/>
                      </a:rPr>
                      <m:t>𝑏𝑝𝑠</m:t>
                    </m:r>
                  </m:oMath>
                </a14:m>
                <a:r>
                  <a:rPr lang="en-US" sz="1600" dirty="0"/>
                  <a:t>, </a:t>
                </a:r>
                <a:r>
                  <a:rPr lang="el-GR" sz="1600" dirty="0"/>
                  <a:t>χρησιμοποιώντας ένα φίλτρο υψωμένου </a:t>
                </a:r>
                <a:r>
                  <a:rPr lang="el-GR" sz="1600" dirty="0" err="1"/>
                  <a:t>συνημιτόνου</a:t>
                </a:r>
                <a:r>
                  <a:rPr lang="el-GR" sz="1600" dirty="0"/>
                  <a:t> με </a:t>
                </a:r>
                <a14:m>
                  <m:oMath xmlns:m="http://schemas.openxmlformats.org/officeDocument/2006/math">
                    <m:r>
                      <a:rPr lang="en-US" sz="1600" b="0" i="1" smtClean="0">
                        <a:latin typeface="Cambria Math" panose="02040503050406030204" pitchFamily="18" charset="0"/>
                      </a:rPr>
                      <m:t>𝛼</m:t>
                    </m:r>
                    <m:r>
                      <a:rPr lang="en-US" sz="1600" b="0" i="1" smtClean="0">
                        <a:latin typeface="Cambria Math" panose="02040503050406030204" pitchFamily="18" charset="0"/>
                      </a:rPr>
                      <m:t>=0.6</m:t>
                    </m:r>
                  </m:oMath>
                </a14:m>
                <a:r>
                  <a:rPr lang="en-US" sz="1600" dirty="0"/>
                  <a:t>. </a:t>
                </a:r>
                <a:r>
                  <a:rPr lang="el-GR" sz="1600" dirty="0"/>
                  <a:t>Πόσο γρηγορότερα μπορεί να αποσταλεί η πληροφορία εάν το </a:t>
                </a:r>
                <a14:m>
                  <m:oMath xmlns:m="http://schemas.openxmlformats.org/officeDocument/2006/math">
                    <m:r>
                      <a:rPr lang="en-US" sz="1600" b="0" i="1" smtClean="0">
                        <a:latin typeface="Cambria Math" panose="02040503050406030204" pitchFamily="18" charset="0"/>
                      </a:rPr>
                      <m:t>𝛼</m:t>
                    </m:r>
                  </m:oMath>
                </a14:m>
                <a:r>
                  <a:rPr lang="en-US" sz="1600" dirty="0"/>
                  <a:t> </a:t>
                </a:r>
                <a:r>
                  <a:rPr lang="el-GR" sz="1600" dirty="0"/>
                  <a:t>γίνει ίσο με </a:t>
                </a:r>
                <a14:m>
                  <m:oMath xmlns:m="http://schemas.openxmlformats.org/officeDocument/2006/math">
                    <m:r>
                      <a:rPr lang="el-GR" sz="1600" b="0" i="1" smtClean="0">
                        <a:latin typeface="Cambria Math" panose="02040503050406030204" pitchFamily="18" charset="0"/>
                      </a:rPr>
                      <m:t>0.2</m:t>
                    </m:r>
                  </m:oMath>
                </a14:m>
                <a:r>
                  <a:rPr lang="el-GR" sz="1600" dirty="0"/>
                  <a:t>.</a:t>
                </a:r>
              </a:p>
            </p:txBody>
          </p:sp>
        </mc:Choice>
        <mc:Fallback xmlns="">
          <p:sp>
            <p:nvSpPr>
              <p:cNvPr id="4" name="TextBox 3">
                <a:extLst>
                  <a:ext uri="{FF2B5EF4-FFF2-40B4-BE49-F238E27FC236}">
                    <a16:creationId xmlns:a16="http://schemas.microsoft.com/office/drawing/2014/main" id="{AC16CE16-46F3-24A2-F029-B4304FA21540}"/>
                  </a:ext>
                </a:extLst>
              </p:cNvPr>
              <p:cNvSpPr txBox="1">
                <a:spLocks noRot="1" noChangeAspect="1" noMove="1" noResize="1" noEditPoints="1" noAdjustHandles="1" noChangeArrowheads="1" noChangeShapeType="1" noTextEdit="1"/>
              </p:cNvSpPr>
              <p:nvPr/>
            </p:nvSpPr>
            <p:spPr>
              <a:xfrm>
                <a:off x="0" y="1892825"/>
                <a:ext cx="8478981" cy="830997"/>
              </a:xfrm>
              <a:prstGeom prst="rect">
                <a:avLst/>
              </a:prstGeom>
              <a:blipFill>
                <a:blip r:embed="rId2"/>
                <a:stretch>
                  <a:fillRect l="-359" t="-2206" b="-8824"/>
                </a:stretch>
              </a:blipFill>
            </p:spPr>
            <p:txBody>
              <a:bodyPr/>
              <a:lstStyle/>
              <a:p>
                <a:r>
                  <a:rPr lang="el-GR">
                    <a:noFill/>
                  </a:rPr>
                  <a:t> </a:t>
                </a:r>
              </a:p>
            </p:txBody>
          </p:sp>
        </mc:Fallback>
      </mc:AlternateContent>
    </p:spTree>
    <p:extLst>
      <p:ext uri="{BB962C8B-B14F-4D97-AF65-F5344CB8AC3E}">
        <p14:creationId xmlns:p14="http://schemas.microsoft.com/office/powerpoint/2010/main" val="381127780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9960B-35E2-3C83-1DD0-3F9C76B8807D}"/>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6D4A700C-FAF0-69DC-E6A0-7268FC4BFF0F}"/>
              </a:ext>
            </a:extLst>
          </p:cNvPr>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Παράδειγμα 4</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a:extLst>
              <a:ext uri="{FF2B5EF4-FFF2-40B4-BE49-F238E27FC236}">
                <a16:creationId xmlns:a16="http://schemas.microsoft.com/office/drawing/2014/main" id="{1CE1345A-F973-5DE9-55E5-C7371B3F26E2}"/>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sz="2200" b="1" dirty="0">
                <a:latin typeface="Times New Roman" panose="02020603050405020304" pitchFamily="18" charset="0"/>
              </a:rPr>
              <a:t>ΑΣΚΗΣΕΙΣ</a:t>
            </a:r>
            <a:endParaRPr lang="en-GB" altLang="en-US" dirty="0"/>
          </a:p>
        </p:txBody>
      </p:sp>
      <p:sp>
        <p:nvSpPr>
          <p:cNvPr id="15367" name="Rectangle 11">
            <a:extLst>
              <a:ext uri="{FF2B5EF4-FFF2-40B4-BE49-F238E27FC236}">
                <a16:creationId xmlns:a16="http://schemas.microsoft.com/office/drawing/2014/main" id="{90DC7D2E-18B0-98AF-3307-0FB6D5CB9225}"/>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97E83F1C-F99A-DEB0-4B9F-59634802C8DE}"/>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DB3EB23A-907A-BF0E-E7EB-7A683ACC48DD}"/>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E8F264-7300-FB35-06F7-A4A711C46E6B}"/>
                  </a:ext>
                </a:extLst>
              </p:cNvPr>
              <p:cNvSpPr txBox="1"/>
              <p:nvPr/>
            </p:nvSpPr>
            <p:spPr>
              <a:xfrm>
                <a:off x="0" y="1892825"/>
                <a:ext cx="8478981" cy="830997"/>
              </a:xfrm>
              <a:prstGeom prst="rect">
                <a:avLst/>
              </a:prstGeom>
              <a:noFill/>
            </p:spPr>
            <p:txBody>
              <a:bodyPr wrap="square">
                <a:spAutoFit/>
              </a:bodyPr>
              <a:lstStyle/>
              <a:p>
                <a:r>
                  <a:rPr lang="el-GR" sz="1600" dirty="0"/>
                  <a:t>Ένα σχήμα διαμόρφωσης βασικής ζώνης με 16 καταστάσεις συμβόλων απαιτεί </a:t>
                </a:r>
                <a14:m>
                  <m:oMath xmlns:m="http://schemas.openxmlformats.org/officeDocument/2006/math">
                    <m:r>
                      <a:rPr lang="en-US" sz="1600" b="0" i="1" smtClean="0">
                        <a:latin typeface="Cambria Math" panose="02040503050406030204" pitchFamily="18" charset="0"/>
                      </a:rPr>
                      <m:t>𝛼</m:t>
                    </m:r>
                    <m:r>
                      <a:rPr lang="en-US" sz="1600" b="0" i="1" smtClean="0">
                        <a:latin typeface="Cambria Math" panose="02040503050406030204" pitchFamily="18" charset="0"/>
                      </a:rPr>
                      <m:t>=1</m:t>
                    </m:r>
                  </m:oMath>
                </a14:m>
                <a:r>
                  <a:rPr lang="en-US" sz="1600" dirty="0"/>
                  <a:t> </a:t>
                </a:r>
                <a:r>
                  <a:rPr lang="el-GR" sz="1600" dirty="0"/>
                  <a:t>για αξιόπιστη μετάδοση.</a:t>
                </a:r>
                <a:r>
                  <a:rPr lang="en-US" sz="1600" dirty="0"/>
                  <a:t> </a:t>
                </a:r>
                <a:r>
                  <a:rPr lang="el-GR" sz="1600" dirty="0"/>
                  <a:t>Ποιος είναι ο μέγιστος ρυθμός μετάδοσης που μπορεί να υποστηριχθεί, υποθέτοντας κανάλι χωρίς θόρυβο και εύρος ζώνης 3200</a:t>
                </a:r>
                <a14:m>
                  <m:oMath xmlns:m="http://schemas.openxmlformats.org/officeDocument/2006/math">
                    <m:r>
                      <a:rPr lang="en-US" sz="1600" b="0" i="1" smtClean="0">
                        <a:latin typeface="Cambria Math" panose="02040503050406030204" pitchFamily="18" charset="0"/>
                      </a:rPr>
                      <m:t>𝐻𝑧</m:t>
                    </m:r>
                  </m:oMath>
                </a14:m>
                <a:r>
                  <a:rPr lang="el-GR" sz="1600" dirty="0"/>
                  <a:t>;</a:t>
                </a:r>
              </a:p>
            </p:txBody>
          </p:sp>
        </mc:Choice>
        <mc:Fallback xmlns="">
          <p:sp>
            <p:nvSpPr>
              <p:cNvPr id="4" name="TextBox 3">
                <a:extLst>
                  <a:ext uri="{FF2B5EF4-FFF2-40B4-BE49-F238E27FC236}">
                    <a16:creationId xmlns:a16="http://schemas.microsoft.com/office/drawing/2014/main" id="{78E8F264-7300-FB35-06F7-A4A711C46E6B}"/>
                  </a:ext>
                </a:extLst>
              </p:cNvPr>
              <p:cNvSpPr txBox="1">
                <a:spLocks noRot="1" noChangeAspect="1" noMove="1" noResize="1" noEditPoints="1" noAdjustHandles="1" noChangeArrowheads="1" noChangeShapeType="1" noTextEdit="1"/>
              </p:cNvSpPr>
              <p:nvPr/>
            </p:nvSpPr>
            <p:spPr>
              <a:xfrm>
                <a:off x="0" y="1892825"/>
                <a:ext cx="8478981" cy="830997"/>
              </a:xfrm>
              <a:prstGeom prst="rect">
                <a:avLst/>
              </a:prstGeom>
              <a:blipFill>
                <a:blip r:embed="rId2"/>
                <a:stretch>
                  <a:fillRect l="-359" t="-2206" b="-8824"/>
                </a:stretch>
              </a:blipFill>
            </p:spPr>
            <p:txBody>
              <a:bodyPr/>
              <a:lstStyle/>
              <a:p>
                <a:r>
                  <a:rPr lang="el-GR">
                    <a:noFill/>
                  </a:rPr>
                  <a:t> </a:t>
                </a:r>
              </a:p>
            </p:txBody>
          </p:sp>
        </mc:Fallback>
      </mc:AlternateContent>
    </p:spTree>
    <p:extLst>
      <p:ext uri="{BB962C8B-B14F-4D97-AF65-F5344CB8AC3E}">
        <p14:creationId xmlns:p14="http://schemas.microsoft.com/office/powerpoint/2010/main" val="221624898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00E1C-A88A-7244-6EA4-4C987D1D5583}"/>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6D3827A6-B9A8-5657-3C07-72B657D177B9}"/>
              </a:ext>
            </a:extLst>
          </p:cNvPr>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Παράδειγμα 5</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a:extLst>
              <a:ext uri="{FF2B5EF4-FFF2-40B4-BE49-F238E27FC236}">
                <a16:creationId xmlns:a16="http://schemas.microsoft.com/office/drawing/2014/main" id="{AB62FEA3-B39C-5CDF-74DA-0E7C0864566E}"/>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sz="2200" b="1" dirty="0">
                <a:latin typeface="Times New Roman" panose="02020603050405020304" pitchFamily="18" charset="0"/>
              </a:rPr>
              <a:t>ΑΣΚΗΣΕΙΣ</a:t>
            </a:r>
            <a:endParaRPr lang="en-GB" altLang="en-US" dirty="0"/>
          </a:p>
        </p:txBody>
      </p:sp>
      <p:sp>
        <p:nvSpPr>
          <p:cNvPr id="15367" name="Rectangle 11">
            <a:extLst>
              <a:ext uri="{FF2B5EF4-FFF2-40B4-BE49-F238E27FC236}">
                <a16:creationId xmlns:a16="http://schemas.microsoft.com/office/drawing/2014/main" id="{6574D1A0-B991-A381-160D-D98F70BFDC19}"/>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B747E302-781A-7891-09D6-D2BF7F448E7D}"/>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6A6D9DF0-4458-75E7-971B-126B9ECF2647}"/>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10069CF-48DF-A881-DE70-A2A3C97E119A}"/>
                  </a:ext>
                </a:extLst>
              </p:cNvPr>
              <p:cNvSpPr txBox="1"/>
              <p:nvPr/>
            </p:nvSpPr>
            <p:spPr>
              <a:xfrm>
                <a:off x="0" y="1892825"/>
                <a:ext cx="8478981" cy="1077218"/>
              </a:xfrm>
              <a:prstGeom prst="rect">
                <a:avLst/>
              </a:prstGeom>
              <a:noFill/>
            </p:spPr>
            <p:txBody>
              <a:bodyPr wrap="square">
                <a:spAutoFit/>
              </a:bodyPr>
              <a:lstStyle/>
              <a:p>
                <a:r>
                  <a:rPr lang="el-GR" sz="1600" dirty="0"/>
                  <a:t>Ένα </a:t>
                </a:r>
                <a:r>
                  <a:rPr lang="en-US" sz="1600" dirty="0"/>
                  <a:t>modem </a:t>
                </a:r>
                <a:r>
                  <a:rPr lang="el-GR" sz="1600" dirty="0"/>
                  <a:t>με δυαδικό σχήμα διαμόρφωσης επιτυγχάνει πιθανότητα εμφάνισης εσφαλμένων συμβόλων </a:t>
                </a:r>
                <a14:m>
                  <m:oMath xmlns:m="http://schemas.openxmlformats.org/officeDocument/2006/math">
                    <m:r>
                      <a:rPr lang="el-GR" sz="1600" i="1" dirty="0" smtClean="0">
                        <a:latin typeface="Cambria Math" panose="02040503050406030204" pitchFamily="18" charset="0"/>
                      </a:rPr>
                      <m:t>1</m:t>
                    </m:r>
                  </m:oMath>
                </a14:m>
                <a:r>
                  <a:rPr lang="el-GR" sz="1600" dirty="0"/>
                  <a:t> στα </a:t>
                </a:r>
                <a14:m>
                  <m:oMath xmlns:m="http://schemas.openxmlformats.org/officeDocument/2006/math">
                    <m:sSup>
                      <m:sSupPr>
                        <m:ctrlPr>
                          <a:rPr lang="el-GR" sz="1600" b="0" i="1" smtClean="0">
                            <a:latin typeface="Cambria Math" panose="02040503050406030204" pitchFamily="18" charset="0"/>
                          </a:rPr>
                        </m:ctrlPr>
                      </m:sSupPr>
                      <m:e>
                        <m:r>
                          <a:rPr lang="el-GR" sz="1600" b="0" i="1" smtClean="0">
                            <a:latin typeface="Cambria Math" panose="02040503050406030204" pitchFamily="18" charset="0"/>
                          </a:rPr>
                          <m:t>10</m:t>
                        </m:r>
                      </m:e>
                      <m:sup>
                        <m:r>
                          <a:rPr lang="el-GR" sz="1600" b="0" i="1" smtClean="0">
                            <a:latin typeface="Cambria Math" panose="02040503050406030204" pitchFamily="18" charset="0"/>
                          </a:rPr>
                          <m:t>6</m:t>
                        </m:r>
                      </m:sup>
                    </m:sSup>
                  </m:oMath>
                </a14:m>
                <a:r>
                  <a:rPr lang="el-GR" sz="1600" dirty="0"/>
                  <a:t> σύμβολα.</a:t>
                </a:r>
                <a:r>
                  <a:rPr lang="en-US" sz="1600" dirty="0"/>
                  <a:t> </a:t>
                </a:r>
                <a:r>
                  <a:rPr lang="el-GR" sz="1600" dirty="0"/>
                  <a:t>Καθορίστε την πιθανότητα εμφάνισης εσφαλμένων συμβόλων που αντιστοιχεί στην ίδια τιμή του λόγου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𝐸</m:t>
                        </m:r>
                      </m:e>
                      <m:sub>
                        <m:r>
                          <a:rPr lang="en-US" sz="1600" b="0" i="1" smtClean="0">
                            <a:latin typeface="Cambria Math" panose="02040503050406030204" pitchFamily="18" charset="0"/>
                          </a:rPr>
                          <m:t>𝑏</m:t>
                        </m:r>
                      </m:sub>
                    </m:sSub>
                    <m:r>
                      <a:rPr lang="en-US" sz="1600" b="0" i="1" smtClean="0">
                        <a:latin typeface="Cambria Math" panose="02040503050406030204" pitchFamily="18" charset="0"/>
                      </a:rPr>
                      <m:t>/</m:t>
                    </m:r>
                    <m:sSub>
                      <m:sSubPr>
                        <m:ctrlPr>
                          <a:rPr lang="el-GR" sz="1600" b="0" i="1" smtClean="0">
                            <a:latin typeface="Cambria Math" panose="02040503050406030204" pitchFamily="18" charset="0"/>
                          </a:rPr>
                        </m:ctrlPr>
                      </m:sSubPr>
                      <m:e>
                        <m:r>
                          <a:rPr lang="en-US" sz="1600" b="0" i="1" smtClean="0">
                            <a:latin typeface="Cambria Math" panose="02040503050406030204" pitchFamily="18" charset="0"/>
                          </a:rPr>
                          <m:t>𝑁</m:t>
                        </m:r>
                      </m:e>
                      <m:sub>
                        <m:r>
                          <a:rPr lang="el-GR" sz="1600" b="0" i="1" smtClean="0">
                            <a:latin typeface="Cambria Math" panose="02040503050406030204" pitchFamily="18" charset="0"/>
                          </a:rPr>
                          <m:t>0</m:t>
                        </m:r>
                      </m:sub>
                    </m:sSub>
                  </m:oMath>
                </a14:m>
                <a:r>
                  <a:rPr lang="en-US" sz="1600" dirty="0"/>
                  <a:t> </a:t>
                </a:r>
                <a:r>
                  <a:rPr lang="el-GR" sz="1600" dirty="0"/>
                  <a:t>με πριν, εάν χρησιμοποιηθούν 4 καταστάσεις συμβόλων.</a:t>
                </a:r>
              </a:p>
            </p:txBody>
          </p:sp>
        </mc:Choice>
        <mc:Fallback xmlns="">
          <p:sp>
            <p:nvSpPr>
              <p:cNvPr id="4" name="TextBox 3">
                <a:extLst>
                  <a:ext uri="{FF2B5EF4-FFF2-40B4-BE49-F238E27FC236}">
                    <a16:creationId xmlns:a16="http://schemas.microsoft.com/office/drawing/2014/main" id="{110069CF-48DF-A881-DE70-A2A3C97E119A}"/>
                  </a:ext>
                </a:extLst>
              </p:cNvPr>
              <p:cNvSpPr txBox="1">
                <a:spLocks noRot="1" noChangeAspect="1" noMove="1" noResize="1" noEditPoints="1" noAdjustHandles="1" noChangeArrowheads="1" noChangeShapeType="1" noTextEdit="1"/>
              </p:cNvSpPr>
              <p:nvPr/>
            </p:nvSpPr>
            <p:spPr>
              <a:xfrm>
                <a:off x="0" y="1892825"/>
                <a:ext cx="8478981" cy="1077218"/>
              </a:xfrm>
              <a:prstGeom prst="rect">
                <a:avLst/>
              </a:prstGeom>
              <a:blipFill>
                <a:blip r:embed="rId2"/>
                <a:stretch>
                  <a:fillRect l="-359" t="-1705" b="-6818"/>
                </a:stretch>
              </a:blipFill>
            </p:spPr>
            <p:txBody>
              <a:bodyPr/>
              <a:lstStyle/>
              <a:p>
                <a:r>
                  <a:rPr lang="el-GR">
                    <a:noFill/>
                  </a:rPr>
                  <a:t> </a:t>
                </a:r>
              </a:p>
            </p:txBody>
          </p:sp>
        </mc:Fallback>
      </mc:AlternateContent>
      <p:graphicFrame>
        <p:nvGraphicFramePr>
          <p:cNvPr id="2" name="Object 5">
            <a:extLst>
              <a:ext uri="{FF2B5EF4-FFF2-40B4-BE49-F238E27FC236}">
                <a16:creationId xmlns:a16="http://schemas.microsoft.com/office/drawing/2014/main" id="{19086698-A8D1-4319-067E-E84AF3C4AEF1}"/>
              </a:ext>
            </a:extLst>
          </p:cNvPr>
          <p:cNvGraphicFramePr>
            <a:graphicFrameLocks noChangeAspect="1"/>
          </p:cNvGraphicFramePr>
          <p:nvPr>
            <p:extLst>
              <p:ext uri="{D42A27DB-BD31-4B8C-83A1-F6EECF244321}">
                <p14:modId xmlns:p14="http://schemas.microsoft.com/office/powerpoint/2010/main" val="1884568736"/>
              </p:ext>
            </p:extLst>
          </p:nvPr>
        </p:nvGraphicFramePr>
        <p:xfrm>
          <a:off x="6424613" y="6769979"/>
          <a:ext cx="1098837" cy="324558"/>
        </p:xfrm>
        <a:graphic>
          <a:graphicData uri="http://schemas.openxmlformats.org/presentationml/2006/ole">
            <mc:AlternateContent xmlns:mc="http://schemas.openxmlformats.org/markup-compatibility/2006">
              <mc:Choice xmlns:v="urn:schemas-microsoft-com:vml" Requires="v">
                <p:oleObj name="Equation" r:id="rId3" imgW="774364" imgH="228501" progId="Equation.3">
                  <p:embed/>
                </p:oleObj>
              </mc:Choice>
              <mc:Fallback>
                <p:oleObj name="Equation" r:id="rId3" imgW="774364" imgH="228501" progId="Equation.3">
                  <p:embed/>
                  <p:pic>
                    <p:nvPicPr>
                      <p:cNvPr id="2" name="Object 5">
                        <a:extLst>
                          <a:ext uri="{FF2B5EF4-FFF2-40B4-BE49-F238E27FC236}">
                            <a16:creationId xmlns:a16="http://schemas.microsoft.com/office/drawing/2014/main" id="{19086698-A8D1-4319-067E-E84AF3C4AE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4613" y="6769979"/>
                        <a:ext cx="1098837" cy="324558"/>
                      </a:xfrm>
                      <a:prstGeom prst="rect">
                        <a:avLst/>
                      </a:prstGeom>
                      <a:noFill/>
                      <a:ln>
                        <a:noFill/>
                      </a:ln>
                    </p:spPr>
                  </p:pic>
                </p:oleObj>
              </mc:Fallback>
            </mc:AlternateContent>
          </a:graphicData>
        </a:graphic>
      </p:graphicFrame>
      <p:pic>
        <p:nvPicPr>
          <p:cNvPr id="3" name="Picture 9" descr="MARY_BER">
            <a:extLst>
              <a:ext uri="{FF2B5EF4-FFF2-40B4-BE49-F238E27FC236}">
                <a16:creationId xmlns:a16="http://schemas.microsoft.com/office/drawing/2014/main" id="{F08D79E3-DBA1-5027-0DF2-EF74AF111C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281" r="-2008" b="7631"/>
          <a:stretch>
            <a:fillRect/>
          </a:stretch>
        </p:blipFill>
        <p:spPr bwMode="auto">
          <a:xfrm>
            <a:off x="4667250" y="3509636"/>
            <a:ext cx="3811731" cy="3232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23">
            <a:extLst>
              <a:ext uri="{FF2B5EF4-FFF2-40B4-BE49-F238E27FC236}">
                <a16:creationId xmlns:a16="http://schemas.microsoft.com/office/drawing/2014/main" id="{8941D636-01AF-354E-7FD8-7C5293D30AD1}"/>
              </a:ext>
            </a:extLst>
          </p:cNvPr>
          <p:cNvGraphicFramePr>
            <a:graphicFrameLocks noChangeAspect="1"/>
          </p:cNvGraphicFramePr>
          <p:nvPr>
            <p:extLst>
              <p:ext uri="{D42A27DB-BD31-4B8C-83A1-F6EECF244321}">
                <p14:modId xmlns:p14="http://schemas.microsoft.com/office/powerpoint/2010/main" val="1818764672"/>
              </p:ext>
            </p:extLst>
          </p:nvPr>
        </p:nvGraphicFramePr>
        <p:xfrm>
          <a:off x="4344989" y="4554858"/>
          <a:ext cx="352210" cy="528315"/>
        </p:xfrm>
        <a:graphic>
          <a:graphicData uri="http://schemas.openxmlformats.org/presentationml/2006/ole">
            <mc:AlternateContent xmlns:mc="http://schemas.openxmlformats.org/markup-compatibility/2006">
              <mc:Choice xmlns:v="urn:schemas-microsoft-com:vml" Requires="v">
                <p:oleObj name="Equation" r:id="rId6" imgW="152334" imgH="228501" progId="Equation.3">
                  <p:embed/>
                </p:oleObj>
              </mc:Choice>
              <mc:Fallback>
                <p:oleObj name="Equation" r:id="rId6" imgW="152334" imgH="228501" progId="Equation.3">
                  <p:embed/>
                  <p:pic>
                    <p:nvPicPr>
                      <p:cNvPr id="5" name="Object 23">
                        <a:extLst>
                          <a:ext uri="{FF2B5EF4-FFF2-40B4-BE49-F238E27FC236}">
                            <a16:creationId xmlns:a16="http://schemas.microsoft.com/office/drawing/2014/main" id="{8941D636-01AF-354E-7FD8-7C5293D30AD1}"/>
                          </a:ext>
                        </a:extLst>
                      </p:cNvPr>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4989" y="4554858"/>
                        <a:ext cx="352210" cy="52831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8059756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0EE9C-3945-DD20-64AA-6D9BD3ED0F5B}"/>
            </a:ext>
          </a:extLst>
        </p:cNvPr>
        <p:cNvGrpSpPr/>
        <p:nvPr/>
      </p:nvGrpSpPr>
      <p:grpSpPr>
        <a:xfrm>
          <a:off x="0" y="0"/>
          <a:ext cx="0" cy="0"/>
          <a:chOff x="0" y="0"/>
          <a:chExt cx="0" cy="0"/>
        </a:xfrm>
      </p:grpSpPr>
      <p:sp>
        <p:nvSpPr>
          <p:cNvPr id="15362" name="Text Box 2">
            <a:extLst>
              <a:ext uri="{FF2B5EF4-FFF2-40B4-BE49-F238E27FC236}">
                <a16:creationId xmlns:a16="http://schemas.microsoft.com/office/drawing/2014/main" id="{562E808C-2A4E-FA6C-D5AA-6EDCFB2FDA5F}"/>
              </a:ext>
            </a:extLst>
          </p:cNvPr>
          <p:cNvSpPr txBox="1">
            <a:spLocks noChangeArrowheads="1"/>
          </p:cNvSpPr>
          <p:nvPr/>
        </p:nvSpPr>
        <p:spPr bwMode="auto">
          <a:xfrm>
            <a:off x="0" y="1397000"/>
            <a:ext cx="8824913"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sz="2200" b="1" dirty="0">
                <a:solidFill>
                  <a:srgbClr val="990000"/>
                </a:solidFill>
                <a:latin typeface="Calibri" panose="020F0502020204030204" pitchFamily="34" charset="0"/>
                <a:cs typeface="Calibri" panose="020F0502020204030204" pitchFamily="34" charset="0"/>
              </a:rPr>
              <a:t>Παράδειγμα </a:t>
            </a:r>
            <a:r>
              <a:rPr lang="en-US" sz="2200" b="1" dirty="0">
                <a:solidFill>
                  <a:srgbClr val="990000"/>
                </a:solidFill>
                <a:latin typeface="Calibri" panose="020F0502020204030204" pitchFamily="34" charset="0"/>
                <a:cs typeface="Calibri" panose="020F0502020204030204" pitchFamily="34" charset="0"/>
              </a:rPr>
              <a:t>6</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a:extLst>
              <a:ext uri="{FF2B5EF4-FFF2-40B4-BE49-F238E27FC236}">
                <a16:creationId xmlns:a16="http://schemas.microsoft.com/office/drawing/2014/main" id="{817E9148-BE08-50BD-49CA-A620F478A68E}"/>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sz="2200" b="1" dirty="0">
                <a:latin typeface="Times New Roman" panose="02020603050405020304" pitchFamily="18" charset="0"/>
              </a:rPr>
              <a:t>ΑΣΚΗΣΕΙΣ</a:t>
            </a:r>
            <a:endParaRPr lang="en-GB" altLang="en-US" dirty="0"/>
          </a:p>
        </p:txBody>
      </p:sp>
      <p:sp>
        <p:nvSpPr>
          <p:cNvPr id="15367" name="Rectangle 11">
            <a:extLst>
              <a:ext uri="{FF2B5EF4-FFF2-40B4-BE49-F238E27FC236}">
                <a16:creationId xmlns:a16="http://schemas.microsoft.com/office/drawing/2014/main" id="{E5867599-B47A-A163-51BA-819058C70414}"/>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a:extLst>
              <a:ext uri="{FF2B5EF4-FFF2-40B4-BE49-F238E27FC236}">
                <a16:creationId xmlns:a16="http://schemas.microsoft.com/office/drawing/2014/main" id="{8A954C9C-9F3E-EE69-66B3-DF28BF724B63}"/>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a:extLst>
              <a:ext uri="{FF2B5EF4-FFF2-40B4-BE49-F238E27FC236}">
                <a16:creationId xmlns:a16="http://schemas.microsoft.com/office/drawing/2014/main" id="{0310228F-78A5-176E-B4F5-122ABDE983F7}"/>
              </a:ext>
            </a:extLst>
          </p:cNvPr>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7E79056-AE5B-BB7F-76E7-4228DC1C542D}"/>
                  </a:ext>
                </a:extLst>
              </p:cNvPr>
              <p:cNvSpPr txBox="1"/>
              <p:nvPr/>
            </p:nvSpPr>
            <p:spPr>
              <a:xfrm>
                <a:off x="0" y="1892825"/>
                <a:ext cx="8478981" cy="833818"/>
              </a:xfrm>
              <a:prstGeom prst="rect">
                <a:avLst/>
              </a:prstGeom>
              <a:noFill/>
            </p:spPr>
            <p:txBody>
              <a:bodyPr wrap="square">
                <a:spAutoFit/>
              </a:bodyPr>
              <a:lstStyle/>
              <a:p>
                <a:r>
                  <a:rPr lang="el-GR" sz="1600" dirty="0"/>
                  <a:t>Ένα σχήμα διαμόρφωσης 64 καταστάσεων επιτυγχάνει πιθανότητα εμφάνισης εσφαλμένων συμβόλων </a:t>
                </a:r>
                <a14:m>
                  <m:oMath xmlns:m="http://schemas.openxmlformats.org/officeDocument/2006/math">
                    <m:r>
                      <a:rPr lang="el-GR" sz="1600" b="0" i="1" smtClean="0">
                        <a:latin typeface="Cambria Math" panose="02040503050406030204" pitchFamily="18" charset="0"/>
                      </a:rPr>
                      <m:t>2</m:t>
                    </m:r>
                  </m:oMath>
                </a14:m>
                <a:r>
                  <a:rPr lang="el-GR" sz="1600" dirty="0"/>
                  <a:t> στα </a:t>
                </a:r>
                <a14:m>
                  <m:oMath xmlns:m="http://schemas.openxmlformats.org/officeDocument/2006/math">
                    <m:sSup>
                      <m:sSupPr>
                        <m:ctrlPr>
                          <a:rPr lang="el-GR" sz="1600" b="0" i="1" smtClean="0">
                            <a:latin typeface="Cambria Math" panose="02040503050406030204" pitchFamily="18" charset="0"/>
                          </a:rPr>
                        </m:ctrlPr>
                      </m:sSupPr>
                      <m:e>
                        <m:r>
                          <a:rPr lang="el-GR" sz="1600" b="0" i="1" smtClean="0">
                            <a:latin typeface="Cambria Math" panose="02040503050406030204" pitchFamily="18" charset="0"/>
                          </a:rPr>
                          <m:t>10</m:t>
                        </m:r>
                      </m:e>
                      <m:sup>
                        <m:r>
                          <a:rPr lang="el-GR" sz="1600" b="0" i="1" smtClean="0">
                            <a:latin typeface="Cambria Math" panose="02040503050406030204" pitchFamily="18" charset="0"/>
                          </a:rPr>
                          <m:t>5</m:t>
                        </m:r>
                      </m:sup>
                    </m:sSup>
                  </m:oMath>
                </a14:m>
                <a:r>
                  <a:rPr lang="el-GR" sz="1600" dirty="0"/>
                  <a:t> σύμβολα, με λόγο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𝐸</m:t>
                        </m:r>
                      </m:e>
                      <m:sub>
                        <m:r>
                          <a:rPr lang="en-US" sz="1600" b="0" i="1" smtClean="0">
                            <a:latin typeface="Cambria Math" panose="02040503050406030204" pitchFamily="18" charset="0"/>
                          </a:rPr>
                          <m:t>𝑏</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𝑁</m:t>
                        </m:r>
                      </m:e>
                      <m:sub>
                        <m:r>
                          <a:rPr lang="en-US" sz="1600" b="0" i="1" smtClean="0">
                            <a:latin typeface="Cambria Math" panose="02040503050406030204" pitchFamily="18" charset="0"/>
                          </a:rPr>
                          <m:t>0</m:t>
                        </m:r>
                      </m:sub>
                    </m:sSub>
                  </m:oMath>
                </a14:m>
                <a:r>
                  <a:rPr lang="en-US" sz="1600" dirty="0"/>
                  <a:t> </a:t>
                </a:r>
                <a:r>
                  <a:rPr lang="el-GR" sz="1600" dirty="0"/>
                  <a:t>ίσο με 23</a:t>
                </a:r>
                <a:r>
                  <a:rPr lang="en-US" sz="1600" dirty="0"/>
                  <a:t>dB</a:t>
                </a:r>
                <a:r>
                  <a:rPr lang="el-GR" sz="1600" dirty="0"/>
                  <a:t>.</a:t>
                </a:r>
                <a:r>
                  <a:rPr lang="en-US" sz="1600" dirty="0"/>
                  <a:t> </a:t>
                </a:r>
                <a:r>
                  <a:rPr lang="el-GR" sz="1600" dirty="0"/>
                  <a:t>Ποια είναι η αντίστοιχη πιθανότητα εσφαλμένων </a:t>
                </a:r>
                <a:r>
                  <a:rPr lang="en-US" sz="1600" dirty="0"/>
                  <a:t>bits </a:t>
                </a:r>
                <a:r>
                  <a:rPr lang="el-GR" sz="1600" dirty="0"/>
                  <a:t>εάν υποθέσουμε ότι έχει χρησιμοποιηθεί ο κώδικας </a:t>
                </a:r>
                <a:r>
                  <a:rPr lang="en-US" sz="1600" dirty="0"/>
                  <a:t>Gray</a:t>
                </a:r>
                <a:r>
                  <a:rPr lang="el-GR" sz="1600"/>
                  <a:t>;</a:t>
                </a:r>
                <a:endParaRPr lang="el-GR" sz="1600" dirty="0"/>
              </a:p>
            </p:txBody>
          </p:sp>
        </mc:Choice>
        <mc:Fallback xmlns="">
          <p:sp>
            <p:nvSpPr>
              <p:cNvPr id="4" name="TextBox 3">
                <a:extLst>
                  <a:ext uri="{FF2B5EF4-FFF2-40B4-BE49-F238E27FC236}">
                    <a16:creationId xmlns:a16="http://schemas.microsoft.com/office/drawing/2014/main" id="{27E79056-AE5B-BB7F-76E7-4228DC1C542D}"/>
                  </a:ext>
                </a:extLst>
              </p:cNvPr>
              <p:cNvSpPr txBox="1">
                <a:spLocks noRot="1" noChangeAspect="1" noMove="1" noResize="1" noEditPoints="1" noAdjustHandles="1" noChangeArrowheads="1" noChangeShapeType="1" noTextEdit="1"/>
              </p:cNvSpPr>
              <p:nvPr/>
            </p:nvSpPr>
            <p:spPr>
              <a:xfrm>
                <a:off x="0" y="1892825"/>
                <a:ext cx="8478981" cy="833818"/>
              </a:xfrm>
              <a:prstGeom prst="rect">
                <a:avLst/>
              </a:prstGeom>
              <a:blipFill>
                <a:blip r:embed="rId2"/>
                <a:stretch>
                  <a:fillRect l="-359" t="-2206" b="-9559"/>
                </a:stretch>
              </a:blipFill>
            </p:spPr>
            <p:txBody>
              <a:bodyPr/>
              <a:lstStyle/>
              <a:p>
                <a:r>
                  <a:rPr lang="el-GR">
                    <a:noFill/>
                  </a:rPr>
                  <a:t> </a:t>
                </a:r>
              </a:p>
            </p:txBody>
          </p:sp>
        </mc:Fallback>
      </mc:AlternateContent>
    </p:spTree>
    <p:extLst>
      <p:ext uri="{BB962C8B-B14F-4D97-AF65-F5344CB8AC3E}">
        <p14:creationId xmlns:p14="http://schemas.microsoft.com/office/powerpoint/2010/main" val="109577106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031240"/>
            <a:ext cx="8953500" cy="67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200000"/>
              </a:lnSpc>
              <a:buFont typeface="Arial" panose="020B0604020202020204" pitchFamily="34" charset="0"/>
              <a:buChar char="•"/>
            </a:pPr>
            <a:r>
              <a:rPr lang="el-GR" altLang="en-US" sz="2200" b="1" dirty="0">
                <a:solidFill>
                  <a:srgbClr val="990000"/>
                </a:solidFill>
                <a:latin typeface="Calibri" panose="020F0502020204030204" pitchFamily="34" charset="0"/>
                <a:cs typeface="Calibri" panose="020F0502020204030204" pitchFamily="34" charset="0"/>
              </a:rPr>
              <a:t>Αναπαράσταση σημάτων στα πεδία χρόνου &amp; συχνότητας</a:t>
            </a: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.7</a:t>
            </a:r>
            <a:r>
              <a:rPr lang="el-GR" altLang="en-US" sz="2200" b="1" dirty="0">
                <a:latin typeface="Times New Roman" panose="02020603050405020304" pitchFamily="18" charset="0"/>
              </a:rPr>
              <a:t>	</a:t>
            </a:r>
            <a:r>
              <a:rPr lang="en-US" sz="2200" b="1" dirty="0">
                <a:latin typeface="Times New Roman" panose="02020603050405020304" pitchFamily="18" charset="0"/>
              </a:rPr>
              <a:t> </a:t>
            </a:r>
            <a:r>
              <a:rPr lang="el-GR" sz="2200" b="1" dirty="0">
                <a:latin typeface="Times New Roman" panose="02020603050405020304" pitchFamily="18" charset="0"/>
              </a:rPr>
              <a:t>ΣΥΝΟΨΗ</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pic>
        <p:nvPicPr>
          <p:cNvPr id="7" name="Picture 11"/>
          <p:cNvPicPr>
            <a:picLocks noChangeAspect="1" noChangeArrowheads="1"/>
          </p:cNvPicPr>
          <p:nvPr/>
        </p:nvPicPr>
        <p:blipFill>
          <a:blip r:embed="rId2">
            <a:extLst>
              <a:ext uri="{28A0092B-C50C-407E-A947-70E740481C1C}">
                <a14:useLocalDpi xmlns:a14="http://schemas.microsoft.com/office/drawing/2010/main" val="0"/>
              </a:ext>
            </a:extLst>
          </a:blip>
          <a:srcRect l="33839" t="16879" r="6902" b="28868"/>
          <a:stretch>
            <a:fillRect/>
          </a:stretch>
        </p:blipFill>
        <p:spPr bwMode="auto">
          <a:xfrm>
            <a:off x="61913" y="3011488"/>
            <a:ext cx="4171950" cy="3046412"/>
          </a:xfrm>
          <a:prstGeom prst="rect">
            <a:avLst/>
          </a:prstGeom>
          <a:solidFill>
            <a:schemeClr val="bg2"/>
          </a:solidFill>
          <a:ln w="28575">
            <a:solidFill>
              <a:srgbClr val="000099"/>
            </a:solidFill>
            <a:miter lim="800000"/>
            <a:headEnd/>
            <a:tailEnd/>
          </a:ln>
        </p:spPr>
      </p:pic>
      <p:pic>
        <p:nvPicPr>
          <p:cNvPr id="8" name="Picture 13"/>
          <p:cNvPicPr>
            <a:picLocks noChangeAspect="1" noChangeArrowheads="1"/>
          </p:cNvPicPr>
          <p:nvPr/>
        </p:nvPicPr>
        <p:blipFill>
          <a:blip r:embed="rId3">
            <a:extLst>
              <a:ext uri="{28A0092B-C50C-407E-A947-70E740481C1C}">
                <a14:useLocalDpi xmlns:a14="http://schemas.microsoft.com/office/drawing/2010/main" val="0"/>
              </a:ext>
            </a:extLst>
          </a:blip>
          <a:srcRect l="33817" t="17412" r="6921" b="28157"/>
          <a:stretch>
            <a:fillRect/>
          </a:stretch>
        </p:blipFill>
        <p:spPr bwMode="auto">
          <a:xfrm>
            <a:off x="4767263" y="3019425"/>
            <a:ext cx="4110037" cy="3024188"/>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82043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031240"/>
            <a:ext cx="8953500" cy="67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200000"/>
              </a:lnSpc>
              <a:buFont typeface="Arial" panose="020B0604020202020204" pitchFamily="34" charset="0"/>
              <a:buChar char="•"/>
            </a:pPr>
            <a:r>
              <a:rPr lang="el-GR" sz="2200" b="1" dirty="0">
                <a:solidFill>
                  <a:srgbClr val="990000"/>
                </a:solidFill>
                <a:latin typeface="Calibri" panose="020F0502020204030204" pitchFamily="34" charset="0"/>
                <a:cs typeface="Calibri" panose="020F0502020204030204" pitchFamily="34" charset="0"/>
              </a:rPr>
              <a:t>Αναπτύγματα &amp; Μετασχηματισμοί </a:t>
            </a:r>
            <a:r>
              <a:rPr lang="en-US" sz="2200" b="1" dirty="0">
                <a:solidFill>
                  <a:srgbClr val="990000"/>
                </a:solidFill>
                <a:latin typeface="Calibri" panose="020F0502020204030204" pitchFamily="34" charset="0"/>
                <a:cs typeface="Calibri" panose="020F0502020204030204" pitchFamily="34" charset="0"/>
              </a:rPr>
              <a:t>Fourier</a:t>
            </a: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.7</a:t>
            </a:r>
            <a:r>
              <a:rPr lang="el-GR" altLang="en-US" sz="2200" b="1" dirty="0">
                <a:latin typeface="Times New Roman" panose="02020603050405020304" pitchFamily="18" charset="0"/>
              </a:rPr>
              <a:t>	</a:t>
            </a:r>
            <a:r>
              <a:rPr lang="en-US" sz="2200" b="1" dirty="0">
                <a:latin typeface="Times New Roman" panose="02020603050405020304" pitchFamily="18" charset="0"/>
              </a:rPr>
              <a:t> </a:t>
            </a:r>
            <a:r>
              <a:rPr lang="el-GR" sz="2200" b="1" dirty="0">
                <a:latin typeface="Times New Roman" panose="02020603050405020304" pitchFamily="18" charset="0"/>
              </a:rPr>
              <a:t>ΣΥΝΟΨΗ</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7" name="Object 7"/>
          <p:cNvGraphicFramePr>
            <a:graphicFrameLocks noChangeAspect="1"/>
          </p:cNvGraphicFramePr>
          <p:nvPr>
            <p:extLst>
              <p:ext uri="{D42A27DB-BD31-4B8C-83A1-F6EECF244321}">
                <p14:modId xmlns:p14="http://schemas.microsoft.com/office/powerpoint/2010/main" val="3851430623"/>
              </p:ext>
            </p:extLst>
          </p:nvPr>
        </p:nvGraphicFramePr>
        <p:xfrm>
          <a:off x="2568258" y="1793305"/>
          <a:ext cx="3529012" cy="833438"/>
        </p:xfrm>
        <a:graphic>
          <a:graphicData uri="http://schemas.openxmlformats.org/presentationml/2006/ole">
            <mc:AlternateContent xmlns:mc="http://schemas.openxmlformats.org/markup-compatibility/2006">
              <mc:Choice xmlns:v="urn:schemas-microsoft-com:vml" Requires="v">
                <p:oleObj r:id="rId2" imgW="2057400" imgH="482600" progId="Equation.3">
                  <p:embed/>
                </p:oleObj>
              </mc:Choice>
              <mc:Fallback>
                <p:oleObj r:id="rId2" imgW="2057400" imgH="482600" progId="Equation.3">
                  <p:embed/>
                  <p:pic>
                    <p:nvPicPr>
                      <p:cNvPr id="7"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8258" y="1793305"/>
                        <a:ext cx="3529012"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1282156644"/>
              </p:ext>
            </p:extLst>
          </p:nvPr>
        </p:nvGraphicFramePr>
        <p:xfrm>
          <a:off x="2568258" y="2844508"/>
          <a:ext cx="3376613" cy="787400"/>
        </p:xfrm>
        <a:graphic>
          <a:graphicData uri="http://schemas.openxmlformats.org/presentationml/2006/ole">
            <mc:AlternateContent xmlns:mc="http://schemas.openxmlformats.org/markup-compatibility/2006">
              <mc:Choice xmlns:v="urn:schemas-microsoft-com:vml" Requires="v">
                <p:oleObj r:id="rId4" imgW="2120900" imgH="495300" progId="Equation.3">
                  <p:embed/>
                </p:oleObj>
              </mc:Choice>
              <mc:Fallback>
                <p:oleObj r:id="rId4" imgW="2120900" imgH="495300" progId="Equation.3">
                  <p:embed/>
                  <p:pic>
                    <p:nvPicPr>
                      <p:cNvPr id="8"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8258" y="2844508"/>
                        <a:ext cx="3376613"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3996004378"/>
              </p:ext>
            </p:extLst>
          </p:nvPr>
        </p:nvGraphicFramePr>
        <p:xfrm>
          <a:off x="142241" y="4271662"/>
          <a:ext cx="3759200" cy="571500"/>
        </p:xfrm>
        <a:graphic>
          <a:graphicData uri="http://schemas.openxmlformats.org/presentationml/2006/ole">
            <mc:AlternateContent xmlns:mc="http://schemas.openxmlformats.org/markup-compatibility/2006">
              <mc:Choice xmlns:v="urn:schemas-microsoft-com:vml" Requires="v">
                <p:oleObj r:id="rId6" imgW="2819400" imgH="431800" progId="Equation.3">
                  <p:embed/>
                </p:oleObj>
              </mc:Choice>
              <mc:Fallback>
                <p:oleObj r:id="rId6" imgW="2819400" imgH="431800" progId="Equation.3">
                  <p:embed/>
                  <p:pic>
                    <p:nvPicPr>
                      <p:cNvPr id="9"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241" y="4271662"/>
                        <a:ext cx="3759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1302481706"/>
              </p:ext>
            </p:extLst>
          </p:nvPr>
        </p:nvGraphicFramePr>
        <p:xfrm>
          <a:off x="142241" y="4843162"/>
          <a:ext cx="3867150" cy="561975"/>
        </p:xfrm>
        <a:graphic>
          <a:graphicData uri="http://schemas.openxmlformats.org/presentationml/2006/ole">
            <mc:AlternateContent xmlns:mc="http://schemas.openxmlformats.org/markup-compatibility/2006">
              <mc:Choice xmlns:v="urn:schemas-microsoft-com:vml" Requires="v">
                <p:oleObj r:id="rId8" imgW="3340100" imgH="482600" progId="Equation.3">
                  <p:embed/>
                </p:oleObj>
              </mc:Choice>
              <mc:Fallback>
                <p:oleObj r:id="rId8" imgW="3340100" imgH="482600" progId="Equation.3">
                  <p:embed/>
                  <p:pic>
                    <p:nvPicPr>
                      <p:cNvPr id="1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241" y="4843162"/>
                        <a:ext cx="38671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4"/>
          <p:cNvGraphicFramePr>
            <a:graphicFrameLocks noChangeAspect="1"/>
          </p:cNvGraphicFramePr>
          <p:nvPr>
            <p:extLst>
              <p:ext uri="{D42A27DB-BD31-4B8C-83A1-F6EECF244321}">
                <p14:modId xmlns:p14="http://schemas.microsoft.com/office/powerpoint/2010/main" val="1993511230"/>
              </p:ext>
            </p:extLst>
          </p:nvPr>
        </p:nvGraphicFramePr>
        <p:xfrm>
          <a:off x="6316345" y="4270751"/>
          <a:ext cx="1856105" cy="696559"/>
        </p:xfrm>
        <a:graphic>
          <a:graphicData uri="http://schemas.openxmlformats.org/presentationml/2006/ole">
            <mc:AlternateContent xmlns:mc="http://schemas.openxmlformats.org/markup-compatibility/2006">
              <mc:Choice xmlns:v="urn:schemas-microsoft-com:vml" Requires="v">
                <p:oleObj r:id="rId10" imgW="1143000" imgH="431800" progId="Equation.3">
                  <p:embed/>
                </p:oleObj>
              </mc:Choice>
              <mc:Fallback>
                <p:oleObj r:id="rId10" imgW="1143000" imgH="431800" progId="Equation.3">
                  <p:embed/>
                  <p:pic>
                    <p:nvPicPr>
                      <p:cNvPr id="11"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16345" y="4270751"/>
                        <a:ext cx="1856105" cy="696559"/>
                      </a:xfrm>
                      <a:prstGeom prst="rect">
                        <a:avLst/>
                      </a:prstGeom>
                      <a:noFill/>
                      <a:ln>
                        <a:noFill/>
                      </a:ln>
                    </p:spPr>
                  </p:pic>
                </p:oleObj>
              </mc:Fallback>
            </mc:AlternateContent>
          </a:graphicData>
        </a:graphic>
      </p:graphicFrame>
      <p:graphicFrame>
        <p:nvGraphicFramePr>
          <p:cNvPr id="12" name="Object 16"/>
          <p:cNvGraphicFramePr>
            <a:graphicFrameLocks noChangeAspect="1"/>
          </p:cNvGraphicFramePr>
          <p:nvPr>
            <p:extLst>
              <p:ext uri="{D42A27DB-BD31-4B8C-83A1-F6EECF244321}">
                <p14:modId xmlns:p14="http://schemas.microsoft.com/office/powerpoint/2010/main" val="658455755"/>
              </p:ext>
            </p:extLst>
          </p:nvPr>
        </p:nvGraphicFramePr>
        <p:xfrm>
          <a:off x="6316345" y="5047315"/>
          <a:ext cx="2153285" cy="741349"/>
        </p:xfrm>
        <a:graphic>
          <a:graphicData uri="http://schemas.openxmlformats.org/presentationml/2006/ole">
            <mc:AlternateContent xmlns:mc="http://schemas.openxmlformats.org/markup-compatibility/2006">
              <mc:Choice xmlns:v="urn:schemas-microsoft-com:vml" Requires="v">
                <p:oleObj r:id="rId12" imgW="1409088" imgH="482391" progId="Equation.3">
                  <p:embed/>
                </p:oleObj>
              </mc:Choice>
              <mc:Fallback>
                <p:oleObj r:id="rId12" imgW="1409088" imgH="482391" progId="Equation.3">
                  <p:embed/>
                  <p:pic>
                    <p:nvPicPr>
                      <p:cNvPr id="12"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16345" y="5047315"/>
                        <a:ext cx="2153285" cy="741349"/>
                      </a:xfrm>
                      <a:prstGeom prst="rect">
                        <a:avLst/>
                      </a:prstGeom>
                      <a:noFill/>
                      <a:ln>
                        <a:noFill/>
                      </a:ln>
                    </p:spPr>
                  </p:pic>
                </p:oleObj>
              </mc:Fallback>
            </mc:AlternateContent>
          </a:graphicData>
        </a:graphic>
      </p:graphicFrame>
      <p:graphicFrame>
        <p:nvGraphicFramePr>
          <p:cNvPr id="13" name="Object 18"/>
          <p:cNvGraphicFramePr>
            <a:graphicFrameLocks noChangeAspect="1"/>
          </p:cNvGraphicFramePr>
          <p:nvPr>
            <p:extLst>
              <p:ext uri="{D42A27DB-BD31-4B8C-83A1-F6EECF244321}">
                <p14:modId xmlns:p14="http://schemas.microsoft.com/office/powerpoint/2010/main" val="3849154381"/>
              </p:ext>
            </p:extLst>
          </p:nvPr>
        </p:nvGraphicFramePr>
        <p:xfrm>
          <a:off x="161291" y="5505728"/>
          <a:ext cx="1957387" cy="590550"/>
        </p:xfrm>
        <a:graphic>
          <a:graphicData uri="http://schemas.openxmlformats.org/presentationml/2006/ole">
            <mc:AlternateContent xmlns:mc="http://schemas.openxmlformats.org/markup-compatibility/2006">
              <mc:Choice xmlns:v="urn:schemas-microsoft-com:vml" Requires="v">
                <p:oleObj r:id="rId14" imgW="1612900" imgH="482600" progId="Equation.3">
                  <p:embed/>
                </p:oleObj>
              </mc:Choice>
              <mc:Fallback>
                <p:oleObj r:id="rId14" imgW="1612900" imgH="482600" progId="Equation.3">
                  <p:embed/>
                  <p:pic>
                    <p:nvPicPr>
                      <p:cNvPr id="13"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1291" y="5505728"/>
                        <a:ext cx="195738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20"/>
          <p:cNvGraphicFramePr>
            <a:graphicFrameLocks noChangeAspect="1"/>
          </p:cNvGraphicFramePr>
          <p:nvPr>
            <p:extLst>
              <p:ext uri="{D42A27DB-BD31-4B8C-83A1-F6EECF244321}">
                <p14:modId xmlns:p14="http://schemas.microsoft.com/office/powerpoint/2010/main" val="2593599744"/>
              </p:ext>
            </p:extLst>
          </p:nvPr>
        </p:nvGraphicFramePr>
        <p:xfrm>
          <a:off x="161291" y="6135861"/>
          <a:ext cx="1879600" cy="581025"/>
        </p:xfrm>
        <a:graphic>
          <a:graphicData uri="http://schemas.openxmlformats.org/presentationml/2006/ole">
            <mc:AlternateContent xmlns:mc="http://schemas.openxmlformats.org/markup-compatibility/2006">
              <mc:Choice xmlns:v="urn:schemas-microsoft-com:vml" Requires="v">
                <p:oleObj r:id="rId16" imgW="1574800" imgH="482600" progId="Equation.3">
                  <p:embed/>
                </p:oleObj>
              </mc:Choice>
              <mc:Fallback>
                <p:oleObj r:id="rId16" imgW="1574800" imgH="482600" progId="Equation.3">
                  <p:embed/>
                  <p:pic>
                    <p:nvPicPr>
                      <p:cNvPr id="14"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1291" y="6135861"/>
                        <a:ext cx="1879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03994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031240"/>
            <a:ext cx="8953500" cy="67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200000"/>
              </a:lnSpc>
              <a:buFont typeface="Arial" panose="020B0604020202020204" pitchFamily="34" charset="0"/>
              <a:buChar char="•"/>
            </a:pPr>
            <a:r>
              <a:rPr lang="el-GR" sz="2200" b="1" dirty="0">
                <a:solidFill>
                  <a:srgbClr val="990000"/>
                </a:solidFill>
                <a:latin typeface="Calibri" panose="020F0502020204030204" pitchFamily="34" charset="0"/>
                <a:cs typeface="Calibri" panose="020F0502020204030204" pitchFamily="34" charset="0"/>
              </a:rPr>
              <a:t>Φάσμα Σήματος</a:t>
            </a: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.7</a:t>
            </a:r>
            <a:r>
              <a:rPr lang="el-GR" altLang="en-US" sz="2200" b="1" dirty="0">
                <a:latin typeface="Times New Roman" panose="02020603050405020304" pitchFamily="18" charset="0"/>
              </a:rPr>
              <a:t>	</a:t>
            </a:r>
            <a:r>
              <a:rPr lang="en-US" sz="2200" b="1" dirty="0">
                <a:latin typeface="Times New Roman" panose="02020603050405020304" pitchFamily="18" charset="0"/>
              </a:rPr>
              <a:t> </a:t>
            </a:r>
            <a:r>
              <a:rPr lang="el-GR" sz="2200" b="1" dirty="0">
                <a:latin typeface="Times New Roman" panose="02020603050405020304" pitchFamily="18" charset="0"/>
              </a:rPr>
              <a:t>ΣΥΝΟΨΗ</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pic>
        <p:nvPicPr>
          <p:cNvPr id="7" name="Picture 1029"/>
          <p:cNvPicPr>
            <a:picLocks noChangeAspect="1" noChangeArrowheads="1"/>
          </p:cNvPicPr>
          <p:nvPr/>
        </p:nvPicPr>
        <p:blipFill>
          <a:blip r:embed="rId2">
            <a:extLst>
              <a:ext uri="{28A0092B-C50C-407E-A947-70E740481C1C}">
                <a14:useLocalDpi xmlns:a14="http://schemas.microsoft.com/office/drawing/2010/main" val="0"/>
              </a:ext>
            </a:extLst>
          </a:blip>
          <a:srcRect l="20157" t="4688" r="24374" b="15625"/>
          <a:stretch>
            <a:fillRect/>
          </a:stretch>
        </p:blipFill>
        <p:spPr bwMode="auto">
          <a:xfrm>
            <a:off x="125731" y="1655763"/>
            <a:ext cx="8751570" cy="4939347"/>
          </a:xfrm>
          <a:prstGeom prst="rect">
            <a:avLst/>
          </a:prstGeom>
          <a:noFill/>
          <a:ln w="12700">
            <a:solidFill>
              <a:srgbClr val="00000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280279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031240"/>
            <a:ext cx="89535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200000"/>
              </a:lnSpc>
              <a:buFont typeface="Arial" panose="020B0604020202020204" pitchFamily="34" charset="0"/>
              <a:buChar char="•"/>
            </a:pPr>
            <a:r>
              <a:rPr lang="el-GR" sz="2200" b="1" dirty="0">
                <a:solidFill>
                  <a:srgbClr val="990000"/>
                </a:solidFill>
                <a:latin typeface="Calibri" panose="020F0502020204030204" pitchFamily="34" charset="0"/>
                <a:cs typeface="Calibri" panose="020F0502020204030204" pitchFamily="34" charset="0"/>
              </a:rPr>
              <a:t>Διασυμβολική Παρεμβολή (</a:t>
            </a:r>
            <a:r>
              <a:rPr lang="en-US" sz="2200" b="1" dirty="0">
                <a:solidFill>
                  <a:srgbClr val="990000"/>
                </a:solidFill>
                <a:latin typeface="Calibri" panose="020F0502020204030204" pitchFamily="34" charset="0"/>
                <a:cs typeface="Calibri" panose="020F0502020204030204" pitchFamily="34" charset="0"/>
              </a:rPr>
              <a:t>ISI) - </a:t>
            </a:r>
            <a:r>
              <a:rPr lang="el-GR" sz="2200" b="1" dirty="0">
                <a:solidFill>
                  <a:srgbClr val="990000"/>
                </a:solidFill>
                <a:latin typeface="Calibri" panose="020F0502020204030204" pitchFamily="34" charset="0"/>
                <a:cs typeface="Calibri" panose="020F0502020204030204" pitchFamily="34" charset="0"/>
              </a:rPr>
              <a:t>Φίλτρα Υψωμένου Συνημιτόνου</a:t>
            </a:r>
            <a:endParaRPr lang="en-US" sz="2200" b="1" dirty="0">
              <a:solidFill>
                <a:srgbClr val="990000"/>
              </a:solidFill>
              <a:latin typeface="Calibri" panose="020F0502020204030204" pitchFamily="34" charset="0"/>
              <a:cs typeface="Calibri" panose="020F0502020204030204" pitchFamily="34" charset="0"/>
            </a:endParaRP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.7</a:t>
            </a:r>
            <a:r>
              <a:rPr lang="el-GR" altLang="en-US" sz="2200" b="1" dirty="0">
                <a:latin typeface="Times New Roman" panose="02020603050405020304" pitchFamily="18" charset="0"/>
              </a:rPr>
              <a:t>	</a:t>
            </a:r>
            <a:r>
              <a:rPr lang="en-US" sz="2200" b="1" dirty="0">
                <a:latin typeface="Times New Roman" panose="02020603050405020304" pitchFamily="18" charset="0"/>
              </a:rPr>
              <a:t> </a:t>
            </a:r>
            <a:r>
              <a:rPr lang="el-GR" sz="2200" b="1" dirty="0">
                <a:latin typeface="Times New Roman" panose="02020603050405020304" pitchFamily="18" charset="0"/>
              </a:rPr>
              <a:t>ΣΥΝΟΨΗ</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pic>
        <p:nvPicPr>
          <p:cNvPr id="7" name="Picture 35" descr="ch3fig1"/>
          <p:cNvPicPr>
            <a:picLocks noChangeAspect="1" noChangeArrowheads="1"/>
          </p:cNvPicPr>
          <p:nvPr/>
        </p:nvPicPr>
        <p:blipFill>
          <a:blip r:embed="rId2">
            <a:lum bright="-30000"/>
            <a:extLst>
              <a:ext uri="{28A0092B-C50C-407E-A947-70E740481C1C}">
                <a14:useLocalDpi xmlns:a14="http://schemas.microsoft.com/office/drawing/2010/main" val="0"/>
              </a:ext>
            </a:extLst>
          </a:blip>
          <a:srcRect/>
          <a:stretch>
            <a:fillRect/>
          </a:stretch>
        </p:blipFill>
        <p:spPr bwMode="auto">
          <a:xfrm>
            <a:off x="0" y="1809377"/>
            <a:ext cx="4884420" cy="202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ch3fig3"/>
          <p:cNvPicPr>
            <a:picLocks noChangeAspect="1" noChangeArrowheads="1"/>
          </p:cNvPicPr>
          <p:nvPr/>
        </p:nvPicPr>
        <p:blipFill>
          <a:blip r:embed="rId3">
            <a:lum bright="-36000" contrast="18000"/>
            <a:extLst>
              <a:ext uri="{28A0092B-C50C-407E-A947-70E740481C1C}">
                <a14:useLocalDpi xmlns:a14="http://schemas.microsoft.com/office/drawing/2010/main" val="0"/>
              </a:ext>
            </a:extLst>
          </a:blip>
          <a:srcRect/>
          <a:stretch>
            <a:fillRect/>
          </a:stretch>
        </p:blipFill>
        <p:spPr bwMode="auto">
          <a:xfrm>
            <a:off x="3783330" y="4224907"/>
            <a:ext cx="4995228" cy="2563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598193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031240"/>
            <a:ext cx="8953500" cy="67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200000"/>
              </a:lnSpc>
              <a:buFont typeface="Arial" panose="020B0604020202020204" pitchFamily="34" charset="0"/>
              <a:buChar char="•"/>
            </a:pPr>
            <a:r>
              <a:rPr lang="en-US" sz="2200" b="1" dirty="0">
                <a:solidFill>
                  <a:srgbClr val="990000"/>
                </a:solidFill>
                <a:latin typeface="Calibri" panose="020F0502020204030204" pitchFamily="34" charset="0"/>
                <a:cs typeface="Calibri" panose="020F0502020204030204" pitchFamily="34" charset="0"/>
              </a:rPr>
              <a:t>SER &amp; BER</a:t>
            </a:r>
            <a:endParaRPr lang="el-GR" sz="2200" b="1" dirty="0">
              <a:solidFill>
                <a:srgbClr val="990000"/>
              </a:solidFill>
              <a:latin typeface="Calibri" panose="020F0502020204030204" pitchFamily="34" charset="0"/>
              <a:cs typeface="Calibri" panose="020F0502020204030204" pitchFamily="34" charset="0"/>
            </a:endParaRP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.7</a:t>
            </a:r>
            <a:r>
              <a:rPr lang="el-GR" altLang="en-US" sz="2200" b="1" dirty="0">
                <a:latin typeface="Times New Roman" panose="02020603050405020304" pitchFamily="18" charset="0"/>
              </a:rPr>
              <a:t>	</a:t>
            </a:r>
            <a:r>
              <a:rPr lang="en-US" sz="2200" b="1" dirty="0">
                <a:latin typeface="Times New Roman" panose="02020603050405020304" pitchFamily="18" charset="0"/>
              </a:rPr>
              <a:t> </a:t>
            </a:r>
            <a:r>
              <a:rPr lang="el-GR" sz="2200" b="1" dirty="0">
                <a:latin typeface="Times New Roman" panose="02020603050405020304" pitchFamily="18" charset="0"/>
              </a:rPr>
              <a:t>ΣΥΝΟΨΗ</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aphicFrame>
        <p:nvGraphicFramePr>
          <p:cNvPr id="7" name="Object 5"/>
          <p:cNvGraphicFramePr>
            <a:graphicFrameLocks noChangeAspect="1"/>
          </p:cNvGraphicFramePr>
          <p:nvPr>
            <p:extLst>
              <p:ext uri="{D42A27DB-BD31-4B8C-83A1-F6EECF244321}">
                <p14:modId xmlns:p14="http://schemas.microsoft.com/office/powerpoint/2010/main" val="3325430295"/>
              </p:ext>
            </p:extLst>
          </p:nvPr>
        </p:nvGraphicFramePr>
        <p:xfrm>
          <a:off x="3922713" y="5333627"/>
          <a:ext cx="1198562" cy="354013"/>
        </p:xfrm>
        <a:graphic>
          <a:graphicData uri="http://schemas.openxmlformats.org/presentationml/2006/ole">
            <mc:AlternateContent xmlns:mc="http://schemas.openxmlformats.org/markup-compatibility/2006">
              <mc:Choice xmlns:v="urn:schemas-microsoft-com:vml" Requires="v">
                <p:oleObj name="Equation" r:id="rId2" imgW="774364" imgH="228501" progId="Equation.3">
                  <p:embed/>
                </p:oleObj>
              </mc:Choice>
              <mc:Fallback>
                <p:oleObj name="Equation" r:id="rId2" imgW="774364" imgH="228501" progId="Equation.3">
                  <p:embed/>
                  <p:pic>
                    <p:nvPicPr>
                      <p:cNvPr id="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2713" y="5333627"/>
                        <a:ext cx="1198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 name="Picture 9" descr="MARY_BER"/>
          <p:cNvPicPr>
            <a:picLocks noChangeAspect="1" noChangeArrowheads="1"/>
          </p:cNvPicPr>
          <p:nvPr/>
        </p:nvPicPr>
        <p:blipFill>
          <a:blip r:embed="rId4">
            <a:extLst>
              <a:ext uri="{28A0092B-C50C-407E-A947-70E740481C1C}">
                <a14:useLocalDpi xmlns:a14="http://schemas.microsoft.com/office/drawing/2010/main" val="0"/>
              </a:ext>
            </a:extLst>
          </a:blip>
          <a:srcRect l="8281" r="-2008" b="7631"/>
          <a:stretch>
            <a:fillRect/>
          </a:stretch>
        </p:blipFill>
        <p:spPr bwMode="auto">
          <a:xfrm>
            <a:off x="2165350" y="1809377"/>
            <a:ext cx="4157663"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Object 23"/>
          <p:cNvGraphicFramePr>
            <a:graphicFrameLocks noGrp="1" noChangeAspect="1"/>
          </p:cNvGraphicFramePr>
          <p:nvPr>
            <p:ph sz="quarter" idx="3"/>
            <p:extLst>
              <p:ext uri="{D42A27DB-BD31-4B8C-83A1-F6EECF244321}">
                <p14:modId xmlns:p14="http://schemas.microsoft.com/office/powerpoint/2010/main" val="2113640284"/>
              </p:ext>
            </p:extLst>
          </p:nvPr>
        </p:nvGraphicFramePr>
        <p:xfrm>
          <a:off x="1843088" y="3100015"/>
          <a:ext cx="384175" cy="576262"/>
        </p:xfrm>
        <a:graphic>
          <a:graphicData uri="http://schemas.openxmlformats.org/presentationml/2006/ole">
            <mc:AlternateContent xmlns:mc="http://schemas.openxmlformats.org/markup-compatibility/2006">
              <mc:Choice xmlns:v="urn:schemas-microsoft-com:vml" Requires="v">
                <p:oleObj name="Equation" r:id="rId5" imgW="152334" imgH="228501" progId="Equation.3">
                  <p:embed/>
                </p:oleObj>
              </mc:Choice>
              <mc:Fallback>
                <p:oleObj name="Equation" r:id="rId5" imgW="152334" imgH="228501" progId="Equation.3">
                  <p:embed/>
                  <p:pic>
                    <p:nvPicPr>
                      <p:cNvPr id="9" name="Object 2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3088" y="3100015"/>
                        <a:ext cx="384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1499303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031240"/>
            <a:ext cx="8953500" cy="67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200000"/>
              </a:lnSpc>
              <a:buFont typeface="Arial" panose="020B0604020202020204" pitchFamily="34" charset="0"/>
              <a:buChar char="•"/>
            </a:pPr>
            <a:r>
              <a:rPr lang="el-GR" sz="2200" b="1" dirty="0">
                <a:solidFill>
                  <a:srgbClr val="990000"/>
                </a:solidFill>
                <a:latin typeface="Calibri" panose="020F0502020204030204" pitchFamily="34" charset="0"/>
                <a:cs typeface="Calibri" panose="020F0502020204030204" pitchFamily="34" charset="0"/>
              </a:rPr>
              <a:t>Μίξη Σημάτων</a:t>
            </a: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.7</a:t>
            </a:r>
            <a:r>
              <a:rPr lang="el-GR" altLang="en-US" sz="2200" b="1" dirty="0">
                <a:latin typeface="Times New Roman" panose="02020603050405020304" pitchFamily="18" charset="0"/>
              </a:rPr>
              <a:t>	</a:t>
            </a:r>
            <a:r>
              <a:rPr lang="en-US" sz="2200" b="1" dirty="0">
                <a:latin typeface="Times New Roman" panose="02020603050405020304" pitchFamily="18" charset="0"/>
              </a:rPr>
              <a:t> </a:t>
            </a:r>
            <a:r>
              <a:rPr lang="el-GR" sz="2200" b="1" dirty="0">
                <a:latin typeface="Times New Roman" panose="02020603050405020304" pitchFamily="18" charset="0"/>
              </a:rPr>
              <a:t>ΣΥΝΟΨΗ</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pic>
        <p:nvPicPr>
          <p:cNvPr id="7" name="Picture 6" descr="untitled1"/>
          <p:cNvPicPr>
            <a:picLocks noChangeAspect="1" noChangeArrowheads="1"/>
          </p:cNvPicPr>
          <p:nvPr/>
        </p:nvPicPr>
        <p:blipFill>
          <a:blip r:embed="rId2">
            <a:grayscl/>
            <a:extLst>
              <a:ext uri="{28A0092B-C50C-407E-A947-70E740481C1C}">
                <a14:useLocalDpi xmlns:a14="http://schemas.microsoft.com/office/drawing/2010/main" val="0"/>
              </a:ext>
            </a:extLst>
          </a:blip>
          <a:srcRect l="19270" t="31314" r="32057" b="49463"/>
          <a:stretch>
            <a:fillRect/>
          </a:stretch>
        </p:blipFill>
        <p:spPr bwMode="auto">
          <a:xfrm>
            <a:off x="2499682" y="1967051"/>
            <a:ext cx="2839710" cy="1857100"/>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8" name="Object 16"/>
          <p:cNvGraphicFramePr>
            <a:graphicFrameLocks noChangeAspect="1"/>
          </p:cNvGraphicFramePr>
          <p:nvPr>
            <p:extLst>
              <p:ext uri="{D42A27DB-BD31-4B8C-83A1-F6EECF244321}">
                <p14:modId xmlns:p14="http://schemas.microsoft.com/office/powerpoint/2010/main" val="2465576070"/>
              </p:ext>
            </p:extLst>
          </p:nvPr>
        </p:nvGraphicFramePr>
        <p:xfrm>
          <a:off x="2499682" y="4637088"/>
          <a:ext cx="2900178" cy="596625"/>
        </p:xfrm>
        <a:graphic>
          <a:graphicData uri="http://schemas.openxmlformats.org/presentationml/2006/ole">
            <mc:AlternateContent xmlns:mc="http://schemas.openxmlformats.org/markup-compatibility/2006">
              <mc:Choice xmlns:v="urn:schemas-microsoft-com:vml" Requires="v">
                <p:oleObj name="Equation" r:id="rId3" imgW="990360" imgH="203040" progId="Equation.3">
                  <p:embed/>
                </p:oleObj>
              </mc:Choice>
              <mc:Fallback>
                <p:oleObj name="Equation" r:id="rId3" imgW="990360" imgH="203040" progId="Equation.3">
                  <p:embed/>
                  <p:pic>
                    <p:nvPicPr>
                      <p:cNvPr id="8" name="Object 16"/>
                      <p:cNvPicPr>
                        <a:picLocks noChangeAspect="1" noChangeArrowheads="1"/>
                      </p:cNvPicPr>
                      <p:nvPr/>
                    </p:nvPicPr>
                    <p:blipFill>
                      <a:blip r:embed="rId4"/>
                      <a:srcRect/>
                      <a:stretch>
                        <a:fillRect/>
                      </a:stretch>
                    </p:blipFill>
                    <p:spPr bwMode="auto">
                      <a:xfrm>
                        <a:off x="2499682" y="4637088"/>
                        <a:ext cx="2900178" cy="5966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5537112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0" y="1031240"/>
            <a:ext cx="8953500" cy="67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rgbClr val="000000"/>
                </a:solidFill>
                <a:latin typeface="Helvetica" panose="020B0604020202020204" pitchFamily="34" charset="0"/>
              </a:defRPr>
            </a:lvl1pPr>
            <a:lvl2pPr marL="1033463" indent="-457200">
              <a:defRPr sz="1400">
                <a:solidFill>
                  <a:srgbClr val="000000"/>
                </a:solidFill>
                <a:latin typeface="Helvetica" panose="020B0604020202020204" pitchFamily="34" charset="0"/>
              </a:defRPr>
            </a:lvl2pPr>
            <a:lvl3pPr marL="1681163" indent="-457200">
              <a:defRPr sz="1400">
                <a:solidFill>
                  <a:srgbClr val="000000"/>
                </a:solidFill>
                <a:latin typeface="Helvetica" panose="020B0604020202020204" pitchFamily="34" charset="0"/>
              </a:defRPr>
            </a:lvl3pPr>
            <a:lvl4pPr marL="2328863" indent="-457200">
              <a:defRPr sz="1400">
                <a:solidFill>
                  <a:srgbClr val="000000"/>
                </a:solidFill>
                <a:latin typeface="Helvetica" panose="020B0604020202020204" pitchFamily="34" charset="0"/>
              </a:defRPr>
            </a:lvl4pPr>
            <a:lvl5pPr marL="2976563" indent="-457200">
              <a:defRPr sz="1400">
                <a:solidFill>
                  <a:srgbClr val="000000"/>
                </a:solidFill>
                <a:latin typeface="Helvetica" panose="020B0604020202020204" pitchFamily="34" charset="0"/>
              </a:defRPr>
            </a:lvl5pPr>
            <a:lvl6pPr marL="3433763" indent="-457200" eaLnBrk="0" fontAlgn="base" hangingPunct="0">
              <a:spcBef>
                <a:spcPct val="0"/>
              </a:spcBef>
              <a:spcAft>
                <a:spcPct val="0"/>
              </a:spcAft>
              <a:defRPr sz="1400">
                <a:solidFill>
                  <a:srgbClr val="000000"/>
                </a:solidFill>
                <a:latin typeface="Helvetica" panose="020B0604020202020204" pitchFamily="34" charset="0"/>
              </a:defRPr>
            </a:lvl6pPr>
            <a:lvl7pPr marL="3890963" indent="-457200" eaLnBrk="0" fontAlgn="base" hangingPunct="0">
              <a:spcBef>
                <a:spcPct val="0"/>
              </a:spcBef>
              <a:spcAft>
                <a:spcPct val="0"/>
              </a:spcAft>
              <a:defRPr sz="1400">
                <a:solidFill>
                  <a:srgbClr val="000000"/>
                </a:solidFill>
                <a:latin typeface="Helvetica" panose="020B0604020202020204" pitchFamily="34" charset="0"/>
              </a:defRPr>
            </a:lvl7pPr>
            <a:lvl8pPr marL="4348163" indent="-457200" eaLnBrk="0" fontAlgn="base" hangingPunct="0">
              <a:spcBef>
                <a:spcPct val="0"/>
              </a:spcBef>
              <a:spcAft>
                <a:spcPct val="0"/>
              </a:spcAft>
              <a:defRPr sz="1400">
                <a:solidFill>
                  <a:srgbClr val="000000"/>
                </a:solidFill>
                <a:latin typeface="Helvetica" panose="020B0604020202020204" pitchFamily="34" charset="0"/>
              </a:defRPr>
            </a:lvl8pPr>
            <a:lvl9pPr marL="4805363" indent="-457200" eaLnBrk="0" fontAlgn="base" hangingPunct="0">
              <a:spcBef>
                <a:spcPct val="0"/>
              </a:spcBef>
              <a:spcAft>
                <a:spcPct val="0"/>
              </a:spcAft>
              <a:defRPr sz="1400">
                <a:solidFill>
                  <a:srgbClr val="000000"/>
                </a:solidFill>
                <a:latin typeface="Helvetica" panose="020B0604020202020204" pitchFamily="34" charset="0"/>
              </a:defRPr>
            </a:lvl9pPr>
          </a:lstStyle>
          <a:p>
            <a:pPr marL="342900" indent="-342900" algn="just">
              <a:lnSpc>
                <a:spcPct val="200000"/>
              </a:lnSpc>
              <a:buFont typeface="Arial" panose="020B0604020202020204" pitchFamily="34" charset="0"/>
              <a:buChar char="•"/>
            </a:pPr>
            <a:r>
              <a:rPr lang="el-GR" sz="2200" b="1" dirty="0">
                <a:solidFill>
                  <a:srgbClr val="990000"/>
                </a:solidFill>
                <a:latin typeface="Calibri" panose="020F0502020204030204" pitchFamily="34" charset="0"/>
                <a:cs typeface="Calibri" panose="020F0502020204030204" pitchFamily="34" charset="0"/>
              </a:rPr>
              <a:t>Κωδικοποίηση Gray</a:t>
            </a:r>
            <a:endParaRPr lang="en-US" altLang="en-US" sz="2200" b="1" dirty="0">
              <a:solidFill>
                <a:srgbClr val="990000"/>
              </a:solidFill>
              <a:latin typeface="Calibri" panose="020F0502020204030204" pitchFamily="34" charset="0"/>
              <a:cs typeface="Calibri" panose="020F0502020204030204" pitchFamily="34" charset="0"/>
            </a:endParaRPr>
          </a:p>
        </p:txBody>
      </p:sp>
      <p:sp>
        <p:nvSpPr>
          <p:cNvPr id="15363" name="Text Box 3"/>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rPr>
              <a:t>3</a:t>
            </a:r>
            <a:r>
              <a:rPr lang="en-US" altLang="en-US" sz="2200" b="1" dirty="0">
                <a:latin typeface="Times New Roman" panose="02020603050405020304" pitchFamily="18" charset="0"/>
              </a:rPr>
              <a:t>.7</a:t>
            </a:r>
            <a:r>
              <a:rPr lang="el-GR" altLang="en-US" sz="2200" b="1" dirty="0">
                <a:latin typeface="Times New Roman" panose="02020603050405020304" pitchFamily="18" charset="0"/>
              </a:rPr>
              <a:t>	</a:t>
            </a:r>
            <a:r>
              <a:rPr lang="en-US" sz="2200" b="1" dirty="0">
                <a:latin typeface="Times New Roman" panose="02020603050405020304" pitchFamily="18" charset="0"/>
              </a:rPr>
              <a:t> </a:t>
            </a:r>
            <a:r>
              <a:rPr lang="el-GR" sz="2200" b="1" dirty="0">
                <a:latin typeface="Times New Roman" panose="02020603050405020304" pitchFamily="18" charset="0"/>
              </a:rPr>
              <a:t>ΣΥΝΟΨΗ</a:t>
            </a:r>
            <a:endParaRPr lang="en-GB" altLang="en-US" dirty="0"/>
          </a:p>
        </p:txBody>
      </p:sp>
      <p:sp>
        <p:nvSpPr>
          <p:cNvPr id="15367" name="Rectangle 11"/>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69" name="Rectangle 13"/>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sp>
        <p:nvSpPr>
          <p:cNvPr id="15371" name="Rectangle 15"/>
          <p:cNvSpPr>
            <a:spLocks noChangeArrowheads="1"/>
          </p:cNvSpPr>
          <p:nvPr/>
        </p:nvSpPr>
        <p:spPr bwMode="auto">
          <a:xfrm>
            <a:off x="0" y="337661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n-US" altLang="en-US"/>
          </a:p>
        </p:txBody>
      </p:sp>
      <p:grpSp>
        <p:nvGrpSpPr>
          <p:cNvPr id="7" name="Group 6"/>
          <p:cNvGrpSpPr/>
          <p:nvPr/>
        </p:nvGrpSpPr>
        <p:grpSpPr>
          <a:xfrm>
            <a:off x="93028" y="2620645"/>
            <a:ext cx="8731885" cy="2441575"/>
            <a:chOff x="93028" y="2620645"/>
            <a:chExt cx="8731885" cy="2441575"/>
          </a:xfrm>
        </p:grpSpPr>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l="19794" t="11292" r="29382" b="33482"/>
            <a:stretch>
              <a:fillRect/>
            </a:stretch>
          </p:blipFill>
          <p:spPr bwMode="auto">
            <a:xfrm>
              <a:off x="93028" y="2620645"/>
              <a:ext cx="873188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303845" y="3526919"/>
              <a:ext cx="5439856" cy="461665"/>
            </a:xfrm>
            <a:prstGeom prst="rect">
              <a:avLst/>
            </a:prstGeom>
            <a:noFill/>
          </p:spPr>
          <p:txBody>
            <a:bodyPr wrap="square" lIns="91440" tIns="45720" rIns="91440" bIns="45720">
              <a:spAutoFit/>
            </a:bodyPr>
            <a:lstStyle/>
            <a:p>
              <a:r>
                <a:rPr lang="en-US" sz="2400" b="1" cap="none" spc="50" dirty="0">
                  <a:ln w="0"/>
                  <a:solidFill>
                    <a:srgbClr val="FF0000"/>
                  </a:solidFill>
                  <a:effectLst>
                    <a:innerShdw blurRad="63500" dist="50800" dir="13500000">
                      <a:srgbClr val="000000">
                        <a:alpha val="50000"/>
                      </a:srgbClr>
                    </a:innerShdw>
                  </a:effectLst>
                </a:rPr>
                <a:t>10             11           01             00</a:t>
              </a:r>
            </a:p>
          </p:txBody>
        </p:sp>
      </p:grpSp>
    </p:spTree>
    <p:extLst>
      <p:ext uri="{BB962C8B-B14F-4D97-AF65-F5344CB8AC3E}">
        <p14:creationId xmlns:p14="http://schemas.microsoft.com/office/powerpoint/2010/main" val="1396100810"/>
      </p:ext>
    </p:extLst>
  </p:cSld>
  <p:clrMapOvr>
    <a:masterClrMapping/>
  </p:clrMapOvr>
  <p:transition/>
</p:sld>
</file>

<file path=ppt/theme/theme1.xml><?xml version="1.0" encoding="utf-8"?>
<a:theme xmlns:a="http://schemas.openxmlformats.org/drawingml/2006/main" name="ti">
  <a:themeElements>
    <a:clrScheme name="">
      <a:dk1>
        <a:srgbClr val="FFFFFF"/>
      </a:dk1>
      <a:lt1>
        <a:srgbClr val="FFFFFF"/>
      </a:lt1>
      <a:dk2>
        <a:srgbClr val="FFFF00"/>
      </a:dk2>
      <a:lt2>
        <a:srgbClr val="081D58"/>
      </a:lt2>
      <a:accent1>
        <a:srgbClr val="FF8000"/>
      </a:accent1>
      <a:accent2>
        <a:srgbClr val="00FF00"/>
      </a:accent2>
      <a:accent3>
        <a:srgbClr val="FFFFFF"/>
      </a:accent3>
      <a:accent4>
        <a:srgbClr val="DADADA"/>
      </a:accent4>
      <a:accent5>
        <a:srgbClr val="FFC0AA"/>
      </a:accent5>
      <a:accent6>
        <a:srgbClr val="00E700"/>
      </a:accent6>
      <a:hlink>
        <a:srgbClr val="FF0000"/>
      </a:hlink>
      <a:folHlink>
        <a:srgbClr val="8080FF"/>
      </a:folHlink>
    </a:clrScheme>
    <a:fontScheme name="t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6350" cap="flat" cmpd="sng" algn="ctr">
          <a:solidFill>
            <a:srgbClr val="000000"/>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400" b="0" i="0" u="none" strike="noStrike" cap="none" normalizeH="0" baseline="0" smtClean="0">
            <a:ln>
              <a:noFill/>
            </a:ln>
            <a:solidFill>
              <a:srgbClr val="000000"/>
            </a:solidFill>
            <a:effectLst/>
            <a:latin typeface="Helvetica" panose="020B0604020202020204" pitchFamily="34" charset="0"/>
          </a:defRPr>
        </a:defPPr>
      </a:lstStyle>
    </a:spDef>
    <a:lnDef>
      <a:spPr bwMode="auto">
        <a:xfrm>
          <a:off x="0" y="0"/>
          <a:ext cx="1" cy="1"/>
        </a:xfrm>
        <a:custGeom>
          <a:avLst/>
          <a:gdLst/>
          <a:ahLst/>
          <a:cxnLst/>
          <a:rect l="0" t="0" r="0" b="0"/>
          <a:pathLst/>
        </a:custGeom>
        <a:noFill/>
        <a:ln w="6350" cap="flat" cmpd="sng" algn="ctr">
          <a:solidFill>
            <a:srgbClr val="000000"/>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400" b="0" i="0" u="none" strike="noStrike" cap="none" normalizeH="0" baseline="0" smtClean="0">
            <a:ln>
              <a:noFill/>
            </a:ln>
            <a:solidFill>
              <a:srgbClr val="000000"/>
            </a:solidFill>
            <a:effectLst/>
            <a:latin typeface="Helvetica" panose="020B0604020202020204" pitchFamily="34" charset="0"/>
          </a:defRPr>
        </a:defPPr>
      </a:lstStyle>
    </a:lnDef>
  </a:objectDefaults>
  <a:extraClrSchemeLst>
    <a:extraClrScheme>
      <a:clrScheme name="ti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i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i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i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i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i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d:\msoffice\powerpnt\template\clrovrhd\ti.ppt</Template>
  <TotalTime>1044</TotalTime>
  <Pages>14</Pages>
  <Words>1661</Words>
  <Application>Microsoft Office PowerPoint</Application>
  <PresentationFormat>Προσαρμογή</PresentationFormat>
  <Paragraphs>170</Paragraphs>
  <Slides>39</Slides>
  <Notes>2</Notes>
  <HiddenSlides>9</HiddenSlides>
  <MMClips>0</MMClips>
  <ScaleCrop>false</ScaleCrop>
  <HeadingPairs>
    <vt:vector size="8" baseType="variant">
      <vt:variant>
        <vt:lpstr>Γραμματοσειρές που χρησιμοποιούνται</vt:lpstr>
      </vt:variant>
      <vt:variant>
        <vt:i4>9</vt:i4>
      </vt:variant>
      <vt:variant>
        <vt:lpstr>Θέμα</vt:lpstr>
      </vt:variant>
      <vt:variant>
        <vt:i4>1</vt:i4>
      </vt:variant>
      <vt:variant>
        <vt:lpstr>Ενσωματωμένοι διακομιστές OLE</vt:lpstr>
      </vt:variant>
      <vt:variant>
        <vt:i4>2</vt:i4>
      </vt:variant>
      <vt:variant>
        <vt:lpstr>Τίτλοι διαφανειών</vt:lpstr>
      </vt:variant>
      <vt:variant>
        <vt:i4>39</vt:i4>
      </vt:variant>
    </vt:vector>
  </HeadingPairs>
  <TitlesOfParts>
    <vt:vector size="51" baseType="lpstr">
      <vt:lpstr>Arial</vt:lpstr>
      <vt:lpstr>Book Antiqua</vt:lpstr>
      <vt:lpstr>Calibri</vt:lpstr>
      <vt:lpstr>Cambria Math</vt:lpstr>
      <vt:lpstr>Helvetica</vt:lpstr>
      <vt:lpstr>Monotype Sorts</vt:lpstr>
      <vt:lpstr>Symbol</vt:lpstr>
      <vt:lpstr>Times New Roman</vt:lpstr>
      <vt:lpstr>Wingdings</vt:lpstr>
      <vt:lpstr>ti</vt:lpstr>
      <vt:lpstr>Equation.3</vt:lpstr>
      <vt:lpstr>Equation</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DSP?</dc:title>
  <dc:subject/>
  <dc:creator>m b akhan</dc:creator>
  <cp:keywords/>
  <dc:description/>
  <cp:lastModifiedBy>Nikos Piperigkos</cp:lastModifiedBy>
  <cp:revision>278</cp:revision>
  <cp:lastPrinted>1998-03-17T19:32:38Z</cp:lastPrinted>
  <dcterms:created xsi:type="dcterms:W3CDTF">1995-10-24T16:03:36Z</dcterms:created>
  <dcterms:modified xsi:type="dcterms:W3CDTF">2024-11-21T12:16:58Z</dcterms:modified>
</cp:coreProperties>
</file>
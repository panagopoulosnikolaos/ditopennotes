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7"/>
  </p:notesMasterIdLst>
  <p:handoutMasterIdLst>
    <p:handoutMasterId r:id="rId58"/>
  </p:handoutMasterIdLst>
  <p:sldIdLst>
    <p:sldId id="294" r:id="rId2"/>
    <p:sldId id="295" r:id="rId3"/>
    <p:sldId id="498" r:id="rId4"/>
    <p:sldId id="487" r:id="rId5"/>
    <p:sldId id="444" r:id="rId6"/>
    <p:sldId id="445" r:id="rId7"/>
    <p:sldId id="501" r:id="rId8"/>
    <p:sldId id="446" r:id="rId9"/>
    <p:sldId id="477" r:id="rId10"/>
    <p:sldId id="448" r:id="rId11"/>
    <p:sldId id="499" r:id="rId12"/>
    <p:sldId id="449" r:id="rId13"/>
    <p:sldId id="450" r:id="rId14"/>
    <p:sldId id="451" r:id="rId15"/>
    <p:sldId id="453" r:id="rId16"/>
    <p:sldId id="502" r:id="rId17"/>
    <p:sldId id="454" r:id="rId18"/>
    <p:sldId id="490" r:id="rId19"/>
    <p:sldId id="464" r:id="rId20"/>
    <p:sldId id="456" r:id="rId21"/>
    <p:sldId id="457" r:id="rId22"/>
    <p:sldId id="458" r:id="rId23"/>
    <p:sldId id="459" r:id="rId24"/>
    <p:sldId id="465" r:id="rId25"/>
    <p:sldId id="492" r:id="rId26"/>
    <p:sldId id="488" r:id="rId27"/>
    <p:sldId id="461" r:id="rId28"/>
    <p:sldId id="489" r:id="rId29"/>
    <p:sldId id="483" r:id="rId30"/>
    <p:sldId id="462" r:id="rId31"/>
    <p:sldId id="485" r:id="rId32"/>
    <p:sldId id="478" r:id="rId33"/>
    <p:sldId id="494" r:id="rId34"/>
    <p:sldId id="495" r:id="rId35"/>
    <p:sldId id="497" r:id="rId36"/>
    <p:sldId id="500" r:id="rId37"/>
    <p:sldId id="496" r:id="rId38"/>
    <p:sldId id="493" r:id="rId39"/>
    <p:sldId id="468" r:id="rId40"/>
    <p:sldId id="486" r:id="rId41"/>
    <p:sldId id="480" r:id="rId42"/>
    <p:sldId id="482" r:id="rId43"/>
    <p:sldId id="469" r:id="rId44"/>
    <p:sldId id="481" r:id="rId45"/>
    <p:sldId id="491" r:id="rId46"/>
    <p:sldId id="470" r:id="rId47"/>
    <p:sldId id="471" r:id="rId48"/>
    <p:sldId id="484" r:id="rId49"/>
    <p:sldId id="472" r:id="rId50"/>
    <p:sldId id="473" r:id="rId51"/>
    <p:sldId id="474" r:id="rId52"/>
    <p:sldId id="475" r:id="rId53"/>
    <p:sldId id="476" r:id="rId54"/>
    <p:sldId id="504" r:id="rId55"/>
    <p:sldId id="503" r:id="rId56"/>
  </p:sldIdLst>
  <p:sldSz cx="9144000" cy="6858000" type="screen4x3"/>
  <p:notesSz cx="7104063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CCECFF"/>
    <a:srgbClr val="FFFF99"/>
    <a:srgbClr val="FFE0A3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65443E-4FDD-4DC5-8EF4-2A4CA378CD60}" v="692" dt="2024-10-16T11:51:39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00" autoAdjust="0"/>
    <p:restoredTop sz="82710" autoAdjust="0"/>
  </p:normalViewPr>
  <p:slideViewPr>
    <p:cSldViewPr>
      <p:cViewPr>
        <p:scale>
          <a:sx n="80" d="100"/>
          <a:sy n="80" d="100"/>
        </p:scale>
        <p:origin x="1090" y="-3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462"/>
    </p:cViewPr>
  </p:sorterViewPr>
  <p:notesViewPr>
    <p:cSldViewPr>
      <p:cViewPr varScale="1">
        <p:scale>
          <a:sx n="52" d="100"/>
          <a:sy n="52" d="100"/>
        </p:scale>
        <p:origin x="2958" y="9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s Piperigkos" userId="b361276a-3497-4fae-9245-3cd0ad5fb2cd" providerId="ADAL" clId="{1965443E-4FDD-4DC5-8EF4-2A4CA378CD60}"/>
    <pc:docChg chg="undo custSel addSld modSld sldOrd">
      <pc:chgData name="Nikos Piperigkos" userId="b361276a-3497-4fae-9245-3cd0ad5fb2cd" providerId="ADAL" clId="{1965443E-4FDD-4DC5-8EF4-2A4CA378CD60}" dt="2024-10-17T12:04:08.875" v="1727" actId="20577"/>
      <pc:docMkLst>
        <pc:docMk/>
      </pc:docMkLst>
      <pc:sldChg chg="modSp mod">
        <pc:chgData name="Nikos Piperigkos" userId="b361276a-3497-4fae-9245-3cd0ad5fb2cd" providerId="ADAL" clId="{1965443E-4FDD-4DC5-8EF4-2A4CA378CD60}" dt="2024-10-15T06:23:17.997" v="0" actId="20577"/>
        <pc:sldMkLst>
          <pc:docMk/>
          <pc:sldMk cId="0" sldId="295"/>
        </pc:sldMkLst>
        <pc:spChg chg="mod">
          <ac:chgData name="Nikos Piperigkos" userId="b361276a-3497-4fae-9245-3cd0ad5fb2cd" providerId="ADAL" clId="{1965443E-4FDD-4DC5-8EF4-2A4CA378CD60}" dt="2024-10-15T06:23:17.997" v="0" actId="20577"/>
          <ac:spMkLst>
            <pc:docMk/>
            <pc:sldMk cId="0" sldId="295"/>
            <ac:spMk id="287747" creationId="{EFC27AAE-C00C-462D-8278-D74BB83A9E6D}"/>
          </ac:spMkLst>
        </pc:spChg>
      </pc:sldChg>
      <pc:sldChg chg="modSp mod">
        <pc:chgData name="Nikos Piperigkos" userId="b361276a-3497-4fae-9245-3cd0ad5fb2cd" providerId="ADAL" clId="{1965443E-4FDD-4DC5-8EF4-2A4CA378CD60}" dt="2024-10-17T11:58:41.230" v="1725" actId="20577"/>
        <pc:sldMkLst>
          <pc:docMk/>
          <pc:sldMk cId="0" sldId="468"/>
        </pc:sldMkLst>
        <pc:spChg chg="mod">
          <ac:chgData name="Nikos Piperigkos" userId="b361276a-3497-4fae-9245-3cd0ad5fb2cd" providerId="ADAL" clId="{1965443E-4FDD-4DC5-8EF4-2A4CA378CD60}" dt="2024-10-17T11:58:41.230" v="1725" actId="20577"/>
          <ac:spMkLst>
            <pc:docMk/>
            <pc:sldMk cId="0" sldId="468"/>
            <ac:spMk id="529411" creationId="{8DC8C79E-C901-4E0A-9371-D4E5BD714F3E}"/>
          </ac:spMkLst>
        </pc:spChg>
      </pc:sldChg>
      <pc:sldChg chg="modSp mod">
        <pc:chgData name="Nikos Piperigkos" userId="b361276a-3497-4fae-9245-3cd0ad5fb2cd" providerId="ADAL" clId="{1965443E-4FDD-4DC5-8EF4-2A4CA378CD60}" dt="2024-10-17T12:04:08.875" v="1727" actId="20577"/>
        <pc:sldMkLst>
          <pc:docMk/>
          <pc:sldMk cId="0" sldId="480"/>
        </pc:sldMkLst>
        <pc:spChg chg="mod">
          <ac:chgData name="Nikos Piperigkos" userId="b361276a-3497-4fae-9245-3cd0ad5fb2cd" providerId="ADAL" clId="{1965443E-4FDD-4DC5-8EF4-2A4CA378CD60}" dt="2024-10-17T12:04:08.875" v="1727" actId="20577"/>
          <ac:spMkLst>
            <pc:docMk/>
            <pc:sldMk cId="0" sldId="480"/>
            <ac:spMk id="542723" creationId="{0F49D751-78AB-47F9-A92B-8C1B62348F61}"/>
          </ac:spMkLst>
        </pc:spChg>
      </pc:sldChg>
      <pc:sldChg chg="modSp">
        <pc:chgData name="Nikos Piperigkos" userId="b361276a-3497-4fae-9245-3cd0ad5fb2cd" providerId="ADAL" clId="{1965443E-4FDD-4DC5-8EF4-2A4CA378CD60}" dt="2024-10-16T11:51:39.679" v="1695" actId="20577"/>
        <pc:sldMkLst>
          <pc:docMk/>
          <pc:sldMk cId="591079462" sldId="493"/>
        </pc:sldMkLst>
        <pc:spChg chg="mod">
          <ac:chgData name="Nikos Piperigkos" userId="b361276a-3497-4fae-9245-3cd0ad5fb2cd" providerId="ADAL" clId="{1965443E-4FDD-4DC5-8EF4-2A4CA378CD60}" dt="2024-10-16T11:51:39.679" v="1695" actId="20577"/>
          <ac:spMkLst>
            <pc:docMk/>
            <pc:sldMk cId="591079462" sldId="493"/>
            <ac:spMk id="9" creationId="{00000000-0000-0000-0000-000000000000}"/>
          </ac:spMkLst>
        </pc:spChg>
      </pc:sldChg>
      <pc:sldChg chg="addSp delSp modSp mod">
        <pc:chgData name="Nikos Piperigkos" userId="b361276a-3497-4fae-9245-3cd0ad5fb2cd" providerId="ADAL" clId="{1965443E-4FDD-4DC5-8EF4-2A4CA378CD60}" dt="2024-10-16T08:09:16.851" v="1412" actId="20577"/>
        <pc:sldMkLst>
          <pc:docMk/>
          <pc:sldMk cId="824752999" sldId="496"/>
        </pc:sldMkLst>
        <pc:spChg chg="add del mod">
          <ac:chgData name="Nikos Piperigkos" userId="b361276a-3497-4fae-9245-3cd0ad5fb2cd" providerId="ADAL" clId="{1965443E-4FDD-4DC5-8EF4-2A4CA378CD60}" dt="2024-10-16T08:00:32.608" v="726" actId="478"/>
          <ac:spMkLst>
            <pc:docMk/>
            <pc:sldMk cId="824752999" sldId="496"/>
            <ac:spMk id="2" creationId="{C58DF9B7-A93C-3BB2-B7DC-005ADBC059A8}"/>
          </ac:spMkLst>
        </pc:spChg>
        <pc:spChg chg="add mod">
          <ac:chgData name="Nikos Piperigkos" userId="b361276a-3497-4fae-9245-3cd0ad5fb2cd" providerId="ADAL" clId="{1965443E-4FDD-4DC5-8EF4-2A4CA378CD60}" dt="2024-10-16T08:09:16.851" v="1412" actId="20577"/>
          <ac:spMkLst>
            <pc:docMk/>
            <pc:sldMk cId="824752999" sldId="496"/>
            <ac:spMk id="3" creationId="{1C56B8DA-522F-6618-1D8C-D575D5B121B1}"/>
          </ac:spMkLst>
        </pc:spChg>
        <pc:spChg chg="mod">
          <ac:chgData name="Nikos Piperigkos" userId="b361276a-3497-4fae-9245-3cd0ad5fb2cd" providerId="ADAL" clId="{1965443E-4FDD-4DC5-8EF4-2A4CA378CD60}" dt="2024-10-16T08:00:20.419" v="724" actId="20577"/>
          <ac:spMkLst>
            <pc:docMk/>
            <pc:sldMk cId="824752999" sldId="496"/>
            <ac:spMk id="540674" creationId="{7E7BDF45-79C0-4916-A734-4FE38CCEE812}"/>
          </ac:spMkLst>
        </pc:spChg>
        <pc:picChg chg="del">
          <ac:chgData name="Nikos Piperigkos" userId="b361276a-3497-4fae-9245-3cd0ad5fb2cd" providerId="ADAL" clId="{1965443E-4FDD-4DC5-8EF4-2A4CA378CD60}" dt="2024-10-16T08:00:23.264" v="725" actId="478"/>
          <ac:picMkLst>
            <pc:docMk/>
            <pc:sldMk cId="824752999" sldId="496"/>
            <ac:picMk id="98312" creationId="{CF3E6480-6EC9-4620-A28A-3B5FADC06959}"/>
          </ac:picMkLst>
        </pc:picChg>
      </pc:sldChg>
      <pc:sldChg chg="modSp add mod modAnim">
        <pc:chgData name="Nikos Piperigkos" userId="b361276a-3497-4fae-9245-3cd0ad5fb2cd" providerId="ADAL" clId="{1965443E-4FDD-4DC5-8EF4-2A4CA378CD60}" dt="2024-10-16T07:28:49.604" v="706" actId="20577"/>
        <pc:sldMkLst>
          <pc:docMk/>
          <pc:sldMk cId="1770243107" sldId="502"/>
        </pc:sldMkLst>
        <pc:spChg chg="mod">
          <ac:chgData name="Nikos Piperigkos" userId="b361276a-3497-4fae-9245-3cd0ad5fb2cd" providerId="ADAL" clId="{1965443E-4FDD-4DC5-8EF4-2A4CA378CD60}" dt="2024-10-16T07:23:39.002" v="28" actId="20577"/>
          <ac:spMkLst>
            <pc:docMk/>
            <pc:sldMk cId="1770243107" sldId="502"/>
            <ac:spMk id="509957" creationId="{F59313B3-2EB4-2860-8438-05404AE0D69D}"/>
          </ac:spMkLst>
        </pc:spChg>
        <pc:spChg chg="mod">
          <ac:chgData name="Nikos Piperigkos" userId="b361276a-3497-4fae-9245-3cd0ad5fb2cd" providerId="ADAL" clId="{1965443E-4FDD-4DC5-8EF4-2A4CA378CD60}" dt="2024-10-16T07:28:49.604" v="706" actId="20577"/>
          <ac:spMkLst>
            <pc:docMk/>
            <pc:sldMk cId="1770243107" sldId="502"/>
            <ac:spMk id="509958" creationId="{5A6FA93C-C892-1B6C-0466-DF1B4A3F0F86}"/>
          </ac:spMkLst>
        </pc:spChg>
      </pc:sldChg>
      <pc:sldChg chg="addSp delSp modSp add mod">
        <pc:chgData name="Nikos Piperigkos" userId="b361276a-3497-4fae-9245-3cd0ad5fb2cd" providerId="ADAL" clId="{1965443E-4FDD-4DC5-8EF4-2A4CA378CD60}" dt="2024-10-16T08:28:54.483" v="1454" actId="20577"/>
        <pc:sldMkLst>
          <pc:docMk/>
          <pc:sldMk cId="2764510037" sldId="503"/>
        </pc:sldMkLst>
        <pc:spChg chg="add del mod">
          <ac:chgData name="Nikos Piperigkos" userId="b361276a-3497-4fae-9245-3cd0ad5fb2cd" providerId="ADAL" clId="{1965443E-4FDD-4DC5-8EF4-2A4CA378CD60}" dt="2024-10-16T08:28:25.624" v="1429" actId="478"/>
          <ac:spMkLst>
            <pc:docMk/>
            <pc:sldMk cId="2764510037" sldId="503"/>
            <ac:spMk id="3" creationId="{0B2547E9-8870-65E4-DEDC-E838F958880B}"/>
          </ac:spMkLst>
        </pc:spChg>
        <pc:spChg chg="mod">
          <ac:chgData name="Nikos Piperigkos" userId="b361276a-3497-4fae-9245-3cd0ad5fb2cd" providerId="ADAL" clId="{1965443E-4FDD-4DC5-8EF4-2A4CA378CD60}" dt="2024-10-16T08:28:54.483" v="1454" actId="20577"/>
          <ac:spMkLst>
            <pc:docMk/>
            <pc:sldMk cId="2764510037" sldId="503"/>
            <ac:spMk id="537602" creationId="{0D42C599-5300-10B0-6469-384508DDBC9F}"/>
          </ac:spMkLst>
        </pc:spChg>
        <pc:spChg chg="del">
          <ac:chgData name="Nikos Piperigkos" userId="b361276a-3497-4fae-9245-3cd0ad5fb2cd" providerId="ADAL" clId="{1965443E-4FDD-4DC5-8EF4-2A4CA378CD60}" dt="2024-10-16T08:28:22.718" v="1428" actId="478"/>
          <ac:spMkLst>
            <pc:docMk/>
            <pc:sldMk cId="2764510037" sldId="503"/>
            <ac:spMk id="537603" creationId="{60FA7536-40D2-F123-C099-7696E7CCF330}"/>
          </ac:spMkLst>
        </pc:spChg>
        <pc:graphicFrameChg chg="del">
          <ac:chgData name="Nikos Piperigkos" userId="b361276a-3497-4fae-9245-3cd0ad5fb2cd" providerId="ADAL" clId="{1965443E-4FDD-4DC5-8EF4-2A4CA378CD60}" dt="2024-10-16T08:28:27.609" v="1430" actId="478"/>
          <ac:graphicFrameMkLst>
            <pc:docMk/>
            <pc:sldMk cId="2764510037" sldId="503"/>
            <ac:graphicFrameMk id="95237" creationId="{FA3045AC-0AC1-59E5-73DC-E3D935A27BAF}"/>
          </ac:graphicFrameMkLst>
        </pc:graphicFrameChg>
        <pc:graphicFrameChg chg="del">
          <ac:chgData name="Nikos Piperigkos" userId="b361276a-3497-4fae-9245-3cd0ad5fb2cd" providerId="ADAL" clId="{1965443E-4FDD-4DC5-8EF4-2A4CA378CD60}" dt="2024-10-16T08:28:28.419" v="1431" actId="478"/>
          <ac:graphicFrameMkLst>
            <pc:docMk/>
            <pc:sldMk cId="2764510037" sldId="503"/>
            <ac:graphicFrameMk id="95238" creationId="{E78BC433-B774-4B5B-624D-AFE95756BFFE}"/>
          </ac:graphicFrameMkLst>
        </pc:graphicFrameChg>
        <pc:picChg chg="add mod">
          <ac:chgData name="Nikos Piperigkos" userId="b361276a-3497-4fae-9245-3cd0ad5fb2cd" providerId="ADAL" clId="{1965443E-4FDD-4DC5-8EF4-2A4CA378CD60}" dt="2024-10-16T08:28:46.691" v="1438" actId="14100"/>
          <ac:picMkLst>
            <pc:docMk/>
            <pc:sldMk cId="2764510037" sldId="503"/>
            <ac:picMk id="1026" creationId="{5FB2B4EF-1540-6550-9E5A-B50B0DBE8E8D}"/>
          </ac:picMkLst>
        </pc:picChg>
        <pc:picChg chg="add mod">
          <ac:chgData name="Nikos Piperigkos" userId="b361276a-3497-4fae-9245-3cd0ad5fb2cd" providerId="ADAL" clId="{1965443E-4FDD-4DC5-8EF4-2A4CA378CD60}" dt="2024-10-16T08:28:37.653" v="1436" actId="14100"/>
          <ac:picMkLst>
            <pc:docMk/>
            <pc:sldMk cId="2764510037" sldId="503"/>
            <ac:picMk id="1027" creationId="{2D2A727F-371E-B971-D6C4-60EDAE16D8CF}"/>
          </ac:picMkLst>
        </pc:picChg>
      </pc:sldChg>
      <pc:sldChg chg="addSp delSp modSp add mod ord">
        <pc:chgData name="Nikos Piperigkos" userId="b361276a-3497-4fae-9245-3cd0ad5fb2cd" providerId="ADAL" clId="{1965443E-4FDD-4DC5-8EF4-2A4CA378CD60}" dt="2024-10-16T08:31:54.066" v="1694" actId="20577"/>
        <pc:sldMkLst>
          <pc:docMk/>
          <pc:sldMk cId="3677200021" sldId="504"/>
        </pc:sldMkLst>
        <pc:spChg chg="add mod">
          <ac:chgData name="Nikos Piperigkos" userId="b361276a-3497-4fae-9245-3cd0ad5fb2cd" providerId="ADAL" clId="{1965443E-4FDD-4DC5-8EF4-2A4CA378CD60}" dt="2024-10-16T08:31:54.066" v="1694" actId="20577"/>
          <ac:spMkLst>
            <pc:docMk/>
            <pc:sldMk cId="3677200021" sldId="504"/>
            <ac:spMk id="2" creationId="{397CB827-CAA6-540D-9610-4DF3D05CCB96}"/>
          </ac:spMkLst>
        </pc:spChg>
        <pc:spChg chg="mod">
          <ac:chgData name="Nikos Piperigkos" userId="b361276a-3497-4fae-9245-3cd0ad5fb2cd" providerId="ADAL" clId="{1965443E-4FDD-4DC5-8EF4-2A4CA378CD60}" dt="2024-10-16T08:29:09.760" v="1471" actId="20577"/>
          <ac:spMkLst>
            <pc:docMk/>
            <pc:sldMk cId="3677200021" sldId="504"/>
            <ac:spMk id="537602" creationId="{B2DD3C8A-998E-91D5-F8C6-5842016ECCDB}"/>
          </ac:spMkLst>
        </pc:spChg>
        <pc:picChg chg="del">
          <ac:chgData name="Nikos Piperigkos" userId="b361276a-3497-4fae-9245-3cd0ad5fb2cd" providerId="ADAL" clId="{1965443E-4FDD-4DC5-8EF4-2A4CA378CD60}" dt="2024-10-16T08:29:12.107" v="1473" actId="478"/>
          <ac:picMkLst>
            <pc:docMk/>
            <pc:sldMk cId="3677200021" sldId="504"/>
            <ac:picMk id="1026" creationId="{46ADE86D-56CB-1984-FE79-685656CE109C}"/>
          </ac:picMkLst>
        </pc:picChg>
        <pc:picChg chg="del">
          <ac:chgData name="Nikos Piperigkos" userId="b361276a-3497-4fae-9245-3cd0ad5fb2cd" providerId="ADAL" clId="{1965443E-4FDD-4DC5-8EF4-2A4CA378CD60}" dt="2024-10-16T08:29:11.701" v="1472" actId="478"/>
          <ac:picMkLst>
            <pc:docMk/>
            <pc:sldMk cId="3677200021" sldId="504"/>
            <ac:picMk id="1027" creationId="{D5BA703E-02BB-962B-7BC5-C7000B4200D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1C56AA9-38D0-4A8A-86C2-A6B80E84BD3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8095" cy="51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131" tIns="50066" rIns="100131" bIns="50066" numCol="1" anchor="t" anchorCtr="0" compatLnSpc="1">
            <a:prstTxWarp prst="textNoShape">
              <a:avLst/>
            </a:prstTxWarp>
          </a:bodyPr>
          <a:lstStyle>
            <a:lvl1pPr algn="l" defTabSz="1002071" eaLnBrk="1" hangingPunct="1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8CC669F-220F-4277-A5CE-94AA15290C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969" y="0"/>
            <a:ext cx="3078094" cy="51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131" tIns="50066" rIns="100131" bIns="50066" numCol="1" anchor="t" anchorCtr="0" compatLnSpc="1">
            <a:prstTxWarp prst="textNoShape">
              <a:avLst/>
            </a:prstTxWarp>
          </a:bodyPr>
          <a:lstStyle>
            <a:lvl1pPr algn="r" defTabSz="1002071" eaLnBrk="1" hangingPunct="1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E0129A2C-F842-4449-8ADD-F3B85937BEE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3538"/>
            <a:ext cx="3078095" cy="51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131" tIns="50066" rIns="100131" bIns="50066" numCol="1" anchor="b" anchorCtr="0" compatLnSpc="1">
            <a:prstTxWarp prst="textNoShape">
              <a:avLst/>
            </a:prstTxWarp>
          </a:bodyPr>
          <a:lstStyle>
            <a:lvl1pPr algn="l" defTabSz="1002071" eaLnBrk="1" hangingPunct="1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E2C3775F-99FB-44E2-B338-CDD44BA05E9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969" y="9723538"/>
            <a:ext cx="3078094" cy="51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131" tIns="50066" rIns="100131" bIns="50066" numCol="1" anchor="b" anchorCtr="0" compatLnSpc="1">
            <a:prstTxWarp prst="textNoShape">
              <a:avLst/>
            </a:prstTxWarp>
          </a:bodyPr>
          <a:lstStyle>
            <a:lvl1pPr algn="r" defTabSz="1002071" eaLnBrk="1" hangingPunct="1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fld id="{1688926C-609C-4974-A254-B7EFFF1A324D}" type="slidenum">
              <a:rPr lang="en-GB" altLang="el-GR"/>
              <a:pPr>
                <a:defRPr/>
              </a:pPr>
              <a:t>‹#›</a:t>
            </a:fld>
            <a:endParaRPr lang="en-GB" altLang="el-GR"/>
          </a:p>
        </p:txBody>
      </p:sp>
    </p:spTree>
    <p:extLst>
      <p:ext uri="{BB962C8B-B14F-4D97-AF65-F5344CB8AC3E}">
        <p14:creationId xmlns:p14="http://schemas.microsoft.com/office/powerpoint/2010/main" val="2054723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026">
            <a:extLst>
              <a:ext uri="{FF2B5EF4-FFF2-40B4-BE49-F238E27FC236}">
                <a16:creationId xmlns:a16="http://schemas.microsoft.com/office/drawing/2014/main" id="{FD6A660C-D50E-4B16-9842-BA85F2FA80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758" cy="504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814" tIns="47908" rIns="95814" bIns="47908" numCol="1" anchor="t" anchorCtr="0" compatLnSpc="1">
            <a:prstTxWarp prst="textNoShape">
              <a:avLst/>
            </a:prstTxWarp>
          </a:bodyPr>
          <a:lstStyle>
            <a:lvl1pPr algn="l" defTabSz="957571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8067" name="Rectangle 1027">
            <a:extLst>
              <a:ext uri="{FF2B5EF4-FFF2-40B4-BE49-F238E27FC236}">
                <a16:creationId xmlns:a16="http://schemas.microsoft.com/office/drawing/2014/main" id="{A61BD49E-C70F-4813-839C-ECBEE8D372F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05" y="0"/>
            <a:ext cx="3079758" cy="504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814" tIns="47908" rIns="95814" bIns="47908" numCol="1" anchor="t" anchorCtr="0" compatLnSpc="1">
            <a:prstTxWarp prst="textNoShape">
              <a:avLst/>
            </a:prstTxWarp>
          </a:bodyPr>
          <a:lstStyle>
            <a:lvl1pPr algn="r" defTabSz="957571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1028">
            <a:extLst>
              <a:ext uri="{FF2B5EF4-FFF2-40B4-BE49-F238E27FC236}">
                <a16:creationId xmlns:a16="http://schemas.microsoft.com/office/drawing/2014/main" id="{89EC2B4C-94CC-4D44-AF05-61CFE2BBA42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79488" y="755650"/>
            <a:ext cx="5145087" cy="38592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1029">
            <a:extLst>
              <a:ext uri="{FF2B5EF4-FFF2-40B4-BE49-F238E27FC236}">
                <a16:creationId xmlns:a16="http://schemas.microsoft.com/office/drawing/2014/main" id="{42E6C7EE-7E08-4F6A-99D3-00270F17083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874" y="4866684"/>
            <a:ext cx="5208316" cy="4612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814" tIns="47908" rIns="95814" bIns="479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8070" name="Rectangle 1030">
            <a:extLst>
              <a:ext uri="{FF2B5EF4-FFF2-40B4-BE49-F238E27FC236}">
                <a16:creationId xmlns:a16="http://schemas.microsoft.com/office/drawing/2014/main" id="{F403CAF7-D6FB-4DB7-87AC-065892B8BD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30090"/>
            <a:ext cx="3079758" cy="504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814" tIns="47908" rIns="95814" bIns="47908" numCol="1" anchor="b" anchorCtr="0" compatLnSpc="1">
            <a:prstTxWarp prst="textNoShape">
              <a:avLst/>
            </a:prstTxWarp>
          </a:bodyPr>
          <a:lstStyle>
            <a:lvl1pPr algn="l" defTabSz="957571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8071" name="Rectangle 1031">
            <a:extLst>
              <a:ext uri="{FF2B5EF4-FFF2-40B4-BE49-F238E27FC236}">
                <a16:creationId xmlns:a16="http://schemas.microsoft.com/office/drawing/2014/main" id="{3F16D16C-E452-4D25-99AC-3DD4B8ECDB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05" y="9730090"/>
            <a:ext cx="3079758" cy="504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814" tIns="47908" rIns="95814" bIns="47908" numCol="1" anchor="b" anchorCtr="0" compatLnSpc="1">
            <a:prstTxWarp prst="textNoShape">
              <a:avLst/>
            </a:prstTxWarp>
          </a:bodyPr>
          <a:lstStyle>
            <a:lvl1pPr algn="r" defTabSz="957571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62F01C60-85E9-4C19-8FEA-EBFD62AE918E}" type="slidenum">
              <a:rPr lang="en-GB" altLang="el-GR"/>
              <a:pPr>
                <a:defRPr/>
              </a:pPr>
              <a:t>‹#›</a:t>
            </a:fld>
            <a:endParaRPr lang="en-GB" altLang="el-GR"/>
          </a:p>
        </p:txBody>
      </p:sp>
    </p:spTree>
    <p:extLst>
      <p:ext uri="{BB962C8B-B14F-4D97-AF65-F5344CB8AC3E}">
        <p14:creationId xmlns:p14="http://schemas.microsoft.com/office/powerpoint/2010/main" val="28833954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31">
            <a:extLst>
              <a:ext uri="{FF2B5EF4-FFF2-40B4-BE49-F238E27FC236}">
                <a16:creationId xmlns:a16="http://schemas.microsoft.com/office/drawing/2014/main" id="{69501F40-8309-4FCC-9E2F-D93761CD4F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BE8D38-CE85-447F-933E-421748A8F47B}" type="slidenum">
              <a:rPr kumimoji="0" lang="en-GB" altLang="el-GR" smtClean="0"/>
              <a:pPr>
                <a:spcBef>
                  <a:spcPct val="0"/>
                </a:spcBef>
              </a:pPr>
              <a:t>1</a:t>
            </a:fld>
            <a:endParaRPr kumimoji="0" lang="en-GB" altLang="el-GR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1DC6944-7624-4252-BE2F-EEF383AF97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B5DDCD6C-965D-4F5D-85C9-528673E90F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l-GR" dirty="0"/>
          </a:p>
        </p:txBody>
      </p:sp>
    </p:spTree>
    <p:extLst>
      <p:ext uri="{BB962C8B-B14F-4D97-AF65-F5344CB8AC3E}">
        <p14:creationId xmlns:p14="http://schemas.microsoft.com/office/powerpoint/2010/main" val="435835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2EF03A7C-3A90-46BA-9B2D-4337CC08D0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9D84DF88-39C1-4DE3-9B31-E4D332E59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8831ECF9-6FF0-475C-A158-851534C32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74FDFD-B092-482A-9FB3-A0D3570F8E98}" type="slidenum">
              <a:rPr kumimoji="0" lang="en-GB" altLang="el-GR" smtClean="0"/>
              <a:pPr>
                <a:spcBef>
                  <a:spcPct val="0"/>
                </a:spcBef>
              </a:pPr>
              <a:t>2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985349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2EF03A7C-3A90-46BA-9B2D-4337CC08D0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9D84DF88-39C1-4DE3-9B31-E4D332E59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n"/>
            </a:pPr>
            <a:endParaRPr lang="el-GR" altLang="el-GR" dirty="0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8831ECF9-6FF0-475C-A158-851534C32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74FDFD-B092-482A-9FB3-A0D3570F8E98}" type="slidenum">
              <a:rPr kumimoji="0" lang="en-GB" altLang="el-GR" smtClean="0"/>
              <a:pPr>
                <a:spcBef>
                  <a:spcPct val="0"/>
                </a:spcBef>
              </a:pPr>
              <a:t>3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1114918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D65D3C63-DEE4-4ACF-8206-4B4AC47EE1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DA4D3E43-D37D-4FAE-BC16-A97419BA8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DBA3C60A-E161-4B63-8148-1C0A3B26F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0818C1-421A-4C70-9EBA-CEAF27EB9B05}" type="slidenum">
              <a:rPr kumimoji="0" lang="en-GB" altLang="el-GR" smtClean="0"/>
              <a:pPr>
                <a:spcBef>
                  <a:spcPct val="0"/>
                </a:spcBef>
              </a:pPr>
              <a:t>4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1892152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3C58A49-D865-438F-AA74-099E066F52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B4EBEED9-0D6B-4D38-9084-389E6624E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9330">
              <a:defRPr/>
            </a:pPr>
            <a:endParaRPr lang="el-GR" altLang="el-GR" dirty="0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25072C72-FCDF-4782-871E-5733221B4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9AEE33-9776-4CE9-A22E-2A0FA4895C6E}" type="slidenum">
              <a:rPr kumimoji="0" lang="en-GB" altLang="el-GR" smtClean="0"/>
              <a:pPr>
                <a:spcBef>
                  <a:spcPct val="0"/>
                </a:spcBef>
              </a:pPr>
              <a:t>5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892142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37C1637E-279B-4CD6-B335-3CCCEBC127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34AABBAD-9152-49AF-8AB4-D9EC380F2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485FBCB-7EA4-4381-94F9-95B0119D2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AA8111-433C-41B5-BF34-7028E1F941A8}" type="slidenum">
              <a:rPr kumimoji="0" lang="en-GB" altLang="el-GR" smtClean="0"/>
              <a:pPr>
                <a:spcBef>
                  <a:spcPct val="0"/>
                </a:spcBef>
              </a:pPr>
              <a:t>6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433527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37C1637E-279B-4CD6-B335-3CCCEBC127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34AABBAD-9152-49AF-8AB4-D9EC380F2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485FBCB-7EA4-4381-94F9-95B0119D2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AA8111-433C-41B5-BF34-7028E1F941A8}" type="slidenum">
              <a:rPr kumimoji="0" lang="en-GB" altLang="el-GR" smtClean="0"/>
              <a:pPr>
                <a:spcBef>
                  <a:spcPct val="0"/>
                </a:spcBef>
              </a:pPr>
              <a:t>7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454220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8F626645-21DE-4E8C-9760-D984E2C919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EF475076-23D1-45A3-9008-C0F2DC61F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D459FC64-2C77-4901-8A49-CE2B796BA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93CD44-5F47-49D0-9879-7F3D9DA2CCA7}" type="slidenum">
              <a:rPr kumimoji="0" lang="en-GB" altLang="el-GR" smtClean="0"/>
              <a:pPr>
                <a:spcBef>
                  <a:spcPct val="0"/>
                </a:spcBef>
              </a:pPr>
              <a:t>8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120453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0B7DCFA1-837E-4A21-BDF0-392423E198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D2192A48-EB6A-46F8-B391-FB1E2C4F3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31998B33-39BB-4186-9B77-36DA1D3EC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330554-EAAB-4A9D-A8A9-EA15EDAB7BC3}" type="slidenum">
              <a:rPr kumimoji="0" lang="en-GB" altLang="el-GR" smtClean="0"/>
              <a:pPr>
                <a:spcBef>
                  <a:spcPct val="0"/>
                </a:spcBef>
              </a:pPr>
              <a:t>9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751824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10D43F70-9834-426B-855D-2D96E9E485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7F9E5126-5EEC-4230-BC92-6867106D1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207377E5-2940-40C7-A878-165AEE42B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CCFC2F7-B55F-429A-8D30-C87396AE5E95}" type="slidenum">
              <a:rPr kumimoji="0" lang="en-GB" altLang="el-GR" smtClean="0"/>
              <a:pPr>
                <a:spcBef>
                  <a:spcPct val="0"/>
                </a:spcBef>
              </a:pPr>
              <a:t>10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09787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10D43F70-9834-426B-855D-2D96E9E485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7F9E5126-5EEC-4230-BC92-6867106D1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207377E5-2940-40C7-A878-165AEE42B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CCFC2F7-B55F-429A-8D30-C87396AE5E95}" type="slidenum">
              <a:rPr kumimoji="0" lang="en-GB" altLang="el-GR" smtClean="0"/>
              <a:pPr>
                <a:spcBef>
                  <a:spcPct val="0"/>
                </a:spcBef>
              </a:pPr>
              <a:t>11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666765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6AD14CA2-133E-4BBE-BB01-37CA7ED974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4262D706-CD66-42C7-8D20-600A90710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6622A0AA-1A16-4AEF-8574-8E4A67BDF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251E852-519A-4E2E-B22B-F162872FE31B}" type="slidenum">
              <a:rPr kumimoji="0" lang="en-GB" altLang="el-GR" smtClean="0"/>
              <a:pPr>
                <a:spcBef>
                  <a:spcPct val="0"/>
                </a:spcBef>
              </a:pPr>
              <a:t>12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146058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F5F88E88-53CA-4AFA-90B6-F5FB6E5159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9D512331-E713-4C3F-8F44-FCCED2A60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BE546C8D-5477-42C8-9C97-F652E2C2C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D912C-1078-4B0D-BE25-352BDE8DF6B0}" type="slidenum">
              <a:rPr kumimoji="0" lang="en-GB" altLang="el-GR" smtClean="0"/>
              <a:pPr>
                <a:spcBef>
                  <a:spcPct val="0"/>
                </a:spcBef>
              </a:pPr>
              <a:t>13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317274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5AB1B9F5-1276-4AC7-85FB-86A1E978BF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C71F37AA-360F-4D0F-9861-DA0C869E4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l-GR" dirty="0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7BBD6BA8-41B9-4131-B37F-0889080EE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DAB631E-DE77-4688-A9B9-87C10499A278}" type="slidenum">
              <a:rPr kumimoji="0" lang="en-GB" altLang="el-GR" smtClean="0"/>
              <a:pPr>
                <a:spcBef>
                  <a:spcPct val="0"/>
                </a:spcBef>
              </a:pPr>
              <a:t>14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8943781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B438F630-6DA7-4721-8A92-750A35F76B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6B560BD2-30F3-4BD0-AC26-54DE2F4D9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0CA79C70-BFF5-49D3-9E8F-41053072D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D3234F-94E6-4160-943F-702811D464EA}" type="slidenum">
              <a:rPr kumimoji="0" lang="en-GB" altLang="el-GR" smtClean="0"/>
              <a:pPr>
                <a:spcBef>
                  <a:spcPct val="0"/>
                </a:spcBef>
              </a:pPr>
              <a:t>15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11167504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8467B-18E5-5773-556B-D3892759B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70A9EC45-9D1C-BA7F-B6A9-453597F1D1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A99B988B-C241-4B74-8AFB-43F0FAD7D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C5A19D89-DFCA-2A95-965D-F1AF5F230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D3234F-94E6-4160-943F-702811D464EA}" type="slidenum">
              <a:rPr kumimoji="0" lang="en-GB" altLang="el-GR" smtClean="0"/>
              <a:pPr>
                <a:spcBef>
                  <a:spcPct val="0"/>
                </a:spcBef>
              </a:pPr>
              <a:t>16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208205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A3FEAC36-DE20-4190-A781-829FF39AD6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D093F44A-9C5F-4AFE-9FB1-DD5BA0F9B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AA75536D-B0E1-449C-9194-065360465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51818E3-063F-46EA-937D-4D1CD408B7AE}" type="slidenum">
              <a:rPr kumimoji="0" lang="en-GB" altLang="el-GR" smtClean="0"/>
              <a:pPr>
                <a:spcBef>
                  <a:spcPct val="0"/>
                </a:spcBef>
              </a:pPr>
              <a:t>17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171743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676988E1-0D56-4966-82BA-79B1835897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978694C4-BD69-4DB6-83EE-9261FD904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8A5DE23C-F738-44CB-B699-509A6797F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AA455F5-D1ED-4CB6-AC1D-086D020DF1B4}" type="slidenum">
              <a:rPr kumimoji="0" lang="en-GB" altLang="el-GR" smtClean="0"/>
              <a:pPr>
                <a:spcBef>
                  <a:spcPct val="0"/>
                </a:spcBef>
              </a:pPr>
              <a:t>18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1438564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3EE67D1A-2FD5-474E-BF58-22B4693346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718451F0-67DD-486B-9A98-F017B270F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79870102-1C5D-492C-87A6-4D67BB5C9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75D5354-AAB4-45C8-96B8-9CCF8221FCCC}" type="slidenum">
              <a:rPr kumimoji="0" lang="en-GB" altLang="el-GR" smtClean="0"/>
              <a:pPr>
                <a:spcBef>
                  <a:spcPct val="0"/>
                </a:spcBef>
              </a:pPr>
              <a:t>19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8814922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EE608935-5868-46FF-B038-6DD82DB002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DCDBDB14-5806-4C54-8E08-422202135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0BE1E8FC-FF1B-44E3-9C33-C6379D285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C91E5BD-9768-4D27-AD75-DBBC01B70B33}" type="slidenum">
              <a:rPr kumimoji="0" lang="en-GB" altLang="el-GR" smtClean="0"/>
              <a:pPr>
                <a:spcBef>
                  <a:spcPct val="0"/>
                </a:spcBef>
              </a:pPr>
              <a:t>20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48966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162E2640-63EC-495A-B92D-E3A0BA1A58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79A191FB-ADB4-467F-826E-8827F1236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9330">
              <a:defRPr/>
            </a:pPr>
            <a:endParaRPr lang="el-GR" altLang="el-GR" dirty="0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304CCEFB-BC7D-43D6-A398-BEF071A10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1766E0-86D6-476C-BC8B-2E09CE6205E4}" type="slidenum">
              <a:rPr kumimoji="0" lang="en-GB" altLang="el-GR" smtClean="0"/>
              <a:pPr>
                <a:spcBef>
                  <a:spcPct val="0"/>
                </a:spcBef>
              </a:pPr>
              <a:t>21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9716319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37924F6C-2EEA-4F16-A287-F159318642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F9DF1575-4018-45A7-BEAD-BED7293A6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4963E977-B5A2-4D10-A08A-E128B0000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7929407-4956-4271-85C7-A327AEEA10F7}" type="slidenum">
              <a:rPr kumimoji="0" lang="en-GB" altLang="el-GR" smtClean="0"/>
              <a:pPr>
                <a:spcBef>
                  <a:spcPct val="0"/>
                </a:spcBef>
              </a:pPr>
              <a:t>22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734475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2883D376-2813-4C6A-8248-46F4441E3F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9D11A47B-CB7C-4C41-84F3-5A581A400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170823F2-A75A-4562-949C-8E7F09667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F2320B-8BA5-4C03-A5DF-82E1542FD0AF}" type="slidenum">
              <a:rPr kumimoji="0" lang="en-GB" altLang="el-GR" smtClean="0"/>
              <a:pPr>
                <a:spcBef>
                  <a:spcPct val="0"/>
                </a:spcBef>
              </a:pPr>
              <a:t>23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5440164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452393D8-05B3-4647-9A82-B3C3A2A133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DD04E4F8-2312-4EDF-8EB7-CAB2F61C7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6ADE5EA9-463D-4D00-8567-C7DFF5AE0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DE9CCE-5DB5-48A8-A283-439E3AF6B749}" type="slidenum">
              <a:rPr kumimoji="0" lang="en-GB" altLang="el-GR" smtClean="0"/>
              <a:pPr>
                <a:spcBef>
                  <a:spcPct val="0"/>
                </a:spcBef>
              </a:pPr>
              <a:t>24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5652947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AA55A2EE-6F48-4425-A524-5833DA2AF4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CB9ED624-D322-4216-98F4-41B9ADB28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02AF527F-43E7-4A3B-B9FB-25B1AD3CC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6D13DA-AF21-47EC-8713-ED2F5F45C390}" type="slidenum">
              <a:rPr kumimoji="0" lang="en-GB" altLang="el-GR" smtClean="0"/>
              <a:pPr>
                <a:spcBef>
                  <a:spcPct val="0"/>
                </a:spcBef>
              </a:pPr>
              <a:t>25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9015437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FECB28E2-5608-48A7-B34D-6B4281B9AD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E4BFBAEE-4B20-4C86-9323-77663C8CF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B834CD71-22FF-461D-86DB-795B366E0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57DA9D7-132B-4561-92AE-7636B6982F8D}" type="slidenum">
              <a:rPr kumimoji="0" lang="en-GB" altLang="el-GR" smtClean="0"/>
              <a:pPr>
                <a:spcBef>
                  <a:spcPct val="0"/>
                </a:spcBef>
              </a:pPr>
              <a:t>26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1676284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49268AC0-CEA3-4AB0-8925-D8DC1B197B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36230E58-5506-4E1F-893A-D5DCB8AE8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F20CE988-29D8-463D-800C-20B35B25F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C470D5-D68C-43BD-8D1D-D9DA1CE445EA}" type="slidenum">
              <a:rPr kumimoji="0" lang="en-GB" altLang="el-GR" smtClean="0"/>
              <a:pPr>
                <a:spcBef>
                  <a:spcPct val="0"/>
                </a:spcBef>
              </a:pPr>
              <a:t>27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14288417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952D60CE-8326-4D7D-8457-5E70E1FFB7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6B605853-04A1-43C3-AF53-F4A94DA39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3FF4AA05-99DB-432E-99E5-1C38586D8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2E58CC7-F8BB-47F6-AF60-7933065D5643}" type="slidenum">
              <a:rPr kumimoji="0" lang="en-GB" altLang="el-GR" smtClean="0"/>
              <a:pPr>
                <a:spcBef>
                  <a:spcPct val="0"/>
                </a:spcBef>
              </a:pPr>
              <a:t>28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7424241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91D6CF80-0B4E-41F5-90FD-BBDF27F7E5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68762B7F-CE7D-41C8-8166-B7F39AA13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AF831815-8340-42F4-8BF2-80D38FE5D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261D20-E19F-4687-B74B-41E6397DCB42}" type="slidenum">
              <a:rPr kumimoji="0" lang="en-GB" altLang="el-GR" smtClean="0"/>
              <a:pPr>
                <a:spcBef>
                  <a:spcPct val="0"/>
                </a:spcBef>
              </a:pPr>
              <a:t>29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175275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6BC85136-3EA2-4E17-9956-A74564337A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D3FFDFE0-282A-4A3E-8179-AC7E3E405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l-GR" dirty="0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2D01EA11-2D6A-4441-8CB9-90C7FF511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126931-8414-4E00-815F-44BCC5BD1D5F}" type="slidenum">
              <a:rPr kumimoji="0" lang="en-GB" altLang="el-GR" smtClean="0"/>
              <a:pPr>
                <a:spcBef>
                  <a:spcPct val="0"/>
                </a:spcBef>
              </a:pPr>
              <a:t>30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9486915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9BEC7E33-3ADB-46F9-87BB-63132AEE7C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2B95F01F-7CD1-4952-84C3-A785E992A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5EF89483-C961-46BC-A826-D50380DC5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03BBFC-4EB5-48C4-8606-BA66EB41E609}" type="slidenum">
              <a:rPr kumimoji="0" lang="en-GB" altLang="el-GR" smtClean="0"/>
              <a:pPr>
                <a:spcBef>
                  <a:spcPct val="0"/>
                </a:spcBef>
              </a:pPr>
              <a:t>31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10891549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4DA83EDA-843B-465B-A5EF-C2D397A31D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5057A50F-F3B3-4531-9157-E5B7839B4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0A04588B-191E-4997-B2D7-86710A700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FD477-E3C8-43AE-8545-0746A087D304}" type="slidenum">
              <a:rPr kumimoji="0" lang="en-GB" altLang="el-GR" smtClean="0"/>
              <a:pPr>
                <a:spcBef>
                  <a:spcPct val="0"/>
                </a:spcBef>
              </a:pPr>
              <a:t>32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6453952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4DA83EDA-843B-465B-A5EF-C2D397A31D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5057A50F-F3B3-4531-9157-E5B7839B4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0A04588B-191E-4997-B2D7-86710A700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FD477-E3C8-43AE-8545-0746A087D304}" type="slidenum">
              <a:rPr kumimoji="0" lang="en-GB" altLang="el-GR" smtClean="0"/>
              <a:pPr>
                <a:spcBef>
                  <a:spcPct val="0"/>
                </a:spcBef>
              </a:pPr>
              <a:t>33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2152808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4DA83EDA-843B-465B-A5EF-C2D397A31D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5057A50F-F3B3-4531-9157-E5B7839B4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0A04588B-191E-4997-B2D7-86710A700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FD477-E3C8-43AE-8545-0746A087D304}" type="slidenum">
              <a:rPr kumimoji="0" lang="en-GB" altLang="el-GR" smtClean="0"/>
              <a:pPr>
                <a:spcBef>
                  <a:spcPct val="0"/>
                </a:spcBef>
              </a:pPr>
              <a:t>34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8728795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4DA83EDA-843B-465B-A5EF-C2D397A31D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5057A50F-F3B3-4531-9157-E5B7839B4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0A04588B-191E-4997-B2D7-86710A700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FD477-E3C8-43AE-8545-0746A087D304}" type="slidenum">
              <a:rPr kumimoji="0" lang="en-GB" altLang="el-GR" smtClean="0"/>
              <a:pPr>
                <a:spcBef>
                  <a:spcPct val="0"/>
                </a:spcBef>
              </a:pPr>
              <a:t>35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1761666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4DA83EDA-843B-465B-A5EF-C2D397A31D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5057A50F-F3B3-4531-9157-E5B7839B4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>
              <a:solidFill>
                <a:schemeClr val="tx1"/>
              </a:solidFill>
            </a:endParaRP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0A04588B-191E-4997-B2D7-86710A700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FD477-E3C8-43AE-8545-0746A087D304}" type="slidenum">
              <a:rPr kumimoji="0" lang="en-GB" altLang="el-GR" smtClean="0"/>
              <a:pPr>
                <a:spcBef>
                  <a:spcPct val="0"/>
                </a:spcBef>
              </a:pPr>
              <a:t>36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18186534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4DA83EDA-843B-465B-A5EF-C2D397A31D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5057A50F-F3B3-4531-9157-E5B7839B4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l-GR" altLang="el-GR" dirty="0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0A04588B-191E-4997-B2D7-86710A700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FD477-E3C8-43AE-8545-0746A087D304}" type="slidenum">
              <a:rPr kumimoji="0" lang="en-GB" altLang="el-GR" smtClean="0"/>
              <a:pPr>
                <a:spcBef>
                  <a:spcPct val="0"/>
                </a:spcBef>
              </a:pPr>
              <a:t>37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5886382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F01C60-85E9-4C19-8FEA-EBFD62AE918E}" type="slidenum">
              <a:rPr lang="en-GB" altLang="el-GR" smtClean="0"/>
              <a:pPr>
                <a:defRPr/>
              </a:pPr>
              <a:t>38</a:t>
            </a:fld>
            <a:endParaRPr lang="en-GB" altLang="el-GR"/>
          </a:p>
        </p:txBody>
      </p:sp>
    </p:spTree>
    <p:extLst>
      <p:ext uri="{BB962C8B-B14F-4D97-AF65-F5344CB8AC3E}">
        <p14:creationId xmlns:p14="http://schemas.microsoft.com/office/powerpoint/2010/main" val="31015992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5E9E2000-1ED5-415E-A227-8AE99E2ABE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78B5567F-9830-4BC6-A2A7-3ABEBADDB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BC3473BA-EB0E-4FD5-A572-1573C2A55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70D478-62EE-4B6A-B770-19C62E185E8B}" type="slidenum">
              <a:rPr kumimoji="0" lang="en-GB" altLang="el-GR" smtClean="0"/>
              <a:pPr>
                <a:spcBef>
                  <a:spcPct val="0"/>
                </a:spcBef>
              </a:pPr>
              <a:t>39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8405009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2B64775D-E560-4EAC-AA2F-0212DB770B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7B5FA8FF-F3D7-421E-A711-10BF3B8E4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32D7D145-E16E-4B28-945C-179D181F0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C65054-B5C9-418D-8A0E-655DFB398E41}" type="slidenum">
              <a:rPr kumimoji="0" lang="en-GB" altLang="el-GR" smtClean="0"/>
              <a:pPr>
                <a:spcBef>
                  <a:spcPct val="0"/>
                </a:spcBef>
              </a:pPr>
              <a:t>40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9981526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77F3F9B9-7860-416C-8850-56C7094BEE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FFFA2CD1-50C6-4695-AF70-EBD894192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C908C933-B389-40E6-A2CC-73AE0FC99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72F70A-C41E-4C15-A43B-69B3A4110D17}" type="slidenum">
              <a:rPr kumimoji="0" lang="en-GB" altLang="el-GR" smtClean="0"/>
              <a:pPr>
                <a:spcBef>
                  <a:spcPct val="0"/>
                </a:spcBef>
              </a:pPr>
              <a:t>41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4862930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881ADFCD-5C2E-4CB9-AB38-C5CC40C29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09943ADE-3049-48CE-A180-98E0F5B8D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976C02ED-072C-48D7-B388-AC2CB433A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218834D-20ED-4E7C-98BD-A0CED53B9F47}" type="slidenum">
              <a:rPr kumimoji="0" lang="en-GB" altLang="el-GR" smtClean="0"/>
              <a:pPr>
                <a:spcBef>
                  <a:spcPct val="0"/>
                </a:spcBef>
              </a:pPr>
              <a:t>42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8205979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B12F3BDB-FBB0-4F1F-9620-C086BD1C4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54F8DE10-21EF-475C-BFBB-D25F23771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AE011B75-7CB0-420A-A4B2-C15F97128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8BFC05-F7B0-4F2C-B31F-0EFB44EE2367}" type="slidenum">
              <a:rPr kumimoji="0" lang="en-GB" altLang="el-GR" smtClean="0"/>
              <a:pPr>
                <a:spcBef>
                  <a:spcPct val="0"/>
                </a:spcBef>
              </a:pPr>
              <a:t>43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9111825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4248BEA8-3B87-4922-9337-DDF48FCB3F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3C630BAE-2824-47CA-8E82-3D8EBCCCA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n"/>
            </a:pPr>
            <a:endParaRPr lang="el-GR" altLang="el-GR" dirty="0"/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C7CC3F0E-7E68-4222-A6DA-D787D9754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DFD7CE2-190E-4F24-970A-197ED5163347}" type="slidenum">
              <a:rPr kumimoji="0" lang="en-GB" altLang="el-GR" smtClean="0"/>
              <a:pPr>
                <a:spcBef>
                  <a:spcPct val="0"/>
                </a:spcBef>
              </a:pPr>
              <a:t>44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9093948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B1839CDB-1025-428A-BDB6-688D4E6861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CA9CEE06-1485-4754-9465-B77CD93E7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1DD92C00-54A5-45B5-B073-C13AFB8C9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43DF839-F18A-42E9-B9B7-C4F60D18F535}" type="slidenum">
              <a:rPr kumimoji="0" lang="en-GB" altLang="el-GR" smtClean="0"/>
              <a:pPr>
                <a:spcBef>
                  <a:spcPct val="0"/>
                </a:spcBef>
              </a:pPr>
              <a:t>45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778181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01AEF45D-702B-45D0-BCA6-7DDC205460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F1439111-B922-428B-BC25-9A2175833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8C040E53-975C-4564-B8D2-81CEC8018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382036E-AA18-4948-AB91-4B5DDE5FD65F}" type="slidenum">
              <a:rPr kumimoji="0" lang="en-GB" altLang="el-GR" smtClean="0"/>
              <a:pPr>
                <a:spcBef>
                  <a:spcPct val="0"/>
                </a:spcBef>
              </a:pPr>
              <a:t>46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14916737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A410D580-A9D0-47E1-9076-4FCD2F053A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5F37F427-A082-4A49-B882-4D3AFDB46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0FC244DE-8C3E-4AC8-8E6F-63886D10D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65A66A9-A0B0-4C64-9B26-E61B778EE7B1}" type="slidenum">
              <a:rPr kumimoji="0" lang="en-GB" altLang="el-GR" smtClean="0"/>
              <a:pPr>
                <a:spcBef>
                  <a:spcPct val="0"/>
                </a:spcBef>
              </a:pPr>
              <a:t>47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11702427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4F625EA8-6738-4D84-A78F-9C71000666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DC7C3445-778E-4CF8-A40B-96D77E0FB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l-GR" dirty="0"/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CAA5819F-8B9A-4DC9-A4D4-9BC1A792D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3A115B-7059-4BB4-8D95-75A406F814CE}" type="slidenum">
              <a:rPr kumimoji="0" lang="en-GB" altLang="el-GR" smtClean="0"/>
              <a:pPr>
                <a:spcBef>
                  <a:spcPct val="0"/>
                </a:spcBef>
              </a:pPr>
              <a:t>48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7157444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>
            <a:extLst>
              <a:ext uri="{FF2B5EF4-FFF2-40B4-BE49-F238E27FC236}">
                <a16:creationId xmlns:a16="http://schemas.microsoft.com/office/drawing/2014/main" id="{1E569409-D1D1-4C01-B077-01209E3B8D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>
            <a:extLst>
              <a:ext uri="{FF2B5EF4-FFF2-40B4-BE49-F238E27FC236}">
                <a16:creationId xmlns:a16="http://schemas.microsoft.com/office/drawing/2014/main" id="{035C8870-8FB1-494F-94E5-967A7A169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88068" name="Slide Number Placeholder 3">
            <a:extLst>
              <a:ext uri="{FF2B5EF4-FFF2-40B4-BE49-F238E27FC236}">
                <a16:creationId xmlns:a16="http://schemas.microsoft.com/office/drawing/2014/main" id="{FC77B229-F38C-4924-BA98-1E1E0B1DD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6B2D4F-6D7C-4A8A-BE48-E6836A68495D}" type="slidenum">
              <a:rPr kumimoji="0" lang="en-GB" altLang="el-GR" smtClean="0"/>
              <a:pPr>
                <a:spcBef>
                  <a:spcPct val="0"/>
                </a:spcBef>
              </a:pPr>
              <a:t>49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5693199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>
            <a:extLst>
              <a:ext uri="{FF2B5EF4-FFF2-40B4-BE49-F238E27FC236}">
                <a16:creationId xmlns:a16="http://schemas.microsoft.com/office/drawing/2014/main" id="{FC50AA8E-827D-4EF8-96B0-ED8422FA88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>
            <a:extLst>
              <a:ext uri="{FF2B5EF4-FFF2-40B4-BE49-F238E27FC236}">
                <a16:creationId xmlns:a16="http://schemas.microsoft.com/office/drawing/2014/main" id="{7585D5E5-ACC5-42AA-848F-399AEF8E9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90116" name="Slide Number Placeholder 3">
            <a:extLst>
              <a:ext uri="{FF2B5EF4-FFF2-40B4-BE49-F238E27FC236}">
                <a16:creationId xmlns:a16="http://schemas.microsoft.com/office/drawing/2014/main" id="{1CB98223-F987-41A6-A63C-BF044D57E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09BD8F3-73F3-47C4-B667-5652F1775CBA}" type="slidenum">
              <a:rPr kumimoji="0" lang="en-GB" altLang="el-GR" smtClean="0"/>
              <a:pPr>
                <a:spcBef>
                  <a:spcPct val="0"/>
                </a:spcBef>
              </a:pPr>
              <a:t>50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1887092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>
            <a:extLst>
              <a:ext uri="{FF2B5EF4-FFF2-40B4-BE49-F238E27FC236}">
                <a16:creationId xmlns:a16="http://schemas.microsoft.com/office/drawing/2014/main" id="{38779CAC-9308-41C7-AFF8-D6C7145710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>
            <a:extLst>
              <a:ext uri="{FF2B5EF4-FFF2-40B4-BE49-F238E27FC236}">
                <a16:creationId xmlns:a16="http://schemas.microsoft.com/office/drawing/2014/main" id="{FADCC014-D28F-4A69-BDBA-327570491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92164" name="Slide Number Placeholder 3">
            <a:extLst>
              <a:ext uri="{FF2B5EF4-FFF2-40B4-BE49-F238E27FC236}">
                <a16:creationId xmlns:a16="http://schemas.microsoft.com/office/drawing/2014/main" id="{E4B6E391-5C5A-41B9-AAAA-A25B52FD8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3CD0430-29D4-4758-8809-B24FCD8B5992}" type="slidenum">
              <a:rPr kumimoji="0" lang="en-GB" altLang="el-GR" smtClean="0"/>
              <a:pPr>
                <a:spcBef>
                  <a:spcPct val="0"/>
                </a:spcBef>
              </a:pPr>
              <a:t>51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58972538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>
            <a:extLst>
              <a:ext uri="{FF2B5EF4-FFF2-40B4-BE49-F238E27FC236}">
                <a16:creationId xmlns:a16="http://schemas.microsoft.com/office/drawing/2014/main" id="{4D00B03D-B672-4093-8ECF-C956842EA3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>
            <a:extLst>
              <a:ext uri="{FF2B5EF4-FFF2-40B4-BE49-F238E27FC236}">
                <a16:creationId xmlns:a16="http://schemas.microsoft.com/office/drawing/2014/main" id="{FDD87EC0-E9AB-40C6-8B35-4731DA5F4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94212" name="Slide Number Placeholder 3">
            <a:extLst>
              <a:ext uri="{FF2B5EF4-FFF2-40B4-BE49-F238E27FC236}">
                <a16:creationId xmlns:a16="http://schemas.microsoft.com/office/drawing/2014/main" id="{9B5F930F-B4FF-475B-AC06-E14EE3FE3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C48488-FD68-4FD9-84C7-63DCB182A24C}" type="slidenum">
              <a:rPr kumimoji="0" lang="en-GB" altLang="el-GR" smtClean="0"/>
              <a:pPr>
                <a:spcBef>
                  <a:spcPct val="0"/>
                </a:spcBef>
              </a:pPr>
              <a:t>52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224916084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>
            <a:extLst>
              <a:ext uri="{FF2B5EF4-FFF2-40B4-BE49-F238E27FC236}">
                <a16:creationId xmlns:a16="http://schemas.microsoft.com/office/drawing/2014/main" id="{DFA05952-7F76-44A5-9A64-F698F2BE89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>
            <a:extLst>
              <a:ext uri="{FF2B5EF4-FFF2-40B4-BE49-F238E27FC236}">
                <a16:creationId xmlns:a16="http://schemas.microsoft.com/office/drawing/2014/main" id="{23FDEEE8-4F7B-4EEB-BE1A-70980A043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96260" name="Slide Number Placeholder 3">
            <a:extLst>
              <a:ext uri="{FF2B5EF4-FFF2-40B4-BE49-F238E27FC236}">
                <a16:creationId xmlns:a16="http://schemas.microsoft.com/office/drawing/2014/main" id="{FEE6618D-70F3-4F0C-B982-E57042A1C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B1B6AF-1454-4201-96D9-0175AA470FE3}" type="slidenum">
              <a:rPr kumimoji="0" lang="en-GB" altLang="el-GR" smtClean="0"/>
              <a:pPr>
                <a:spcBef>
                  <a:spcPct val="0"/>
                </a:spcBef>
              </a:pPr>
              <a:t>53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34904666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3F1FF-2E3A-D28E-2B2B-F6D959CE3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>
            <a:extLst>
              <a:ext uri="{FF2B5EF4-FFF2-40B4-BE49-F238E27FC236}">
                <a16:creationId xmlns:a16="http://schemas.microsoft.com/office/drawing/2014/main" id="{58AF6EFD-CFCB-347E-AE20-C8B83A29B2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>
            <a:extLst>
              <a:ext uri="{FF2B5EF4-FFF2-40B4-BE49-F238E27FC236}">
                <a16:creationId xmlns:a16="http://schemas.microsoft.com/office/drawing/2014/main" id="{CBB38217-F3E8-DF82-0630-4491047A6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96260" name="Slide Number Placeholder 3">
            <a:extLst>
              <a:ext uri="{FF2B5EF4-FFF2-40B4-BE49-F238E27FC236}">
                <a16:creationId xmlns:a16="http://schemas.microsoft.com/office/drawing/2014/main" id="{A42E01ED-991C-AA6D-5CFD-4E3E2BD4C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B1B6AF-1454-4201-96D9-0175AA470FE3}" type="slidenum">
              <a:rPr kumimoji="0" lang="en-GB" altLang="el-GR" smtClean="0"/>
              <a:pPr>
                <a:spcBef>
                  <a:spcPct val="0"/>
                </a:spcBef>
              </a:pPr>
              <a:t>54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308143953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F321D-195C-79BC-316E-CD16FD70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>
            <a:extLst>
              <a:ext uri="{FF2B5EF4-FFF2-40B4-BE49-F238E27FC236}">
                <a16:creationId xmlns:a16="http://schemas.microsoft.com/office/drawing/2014/main" id="{D7B0FEA8-1C03-1EF9-3168-E1F20C5E8A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>
            <a:extLst>
              <a:ext uri="{FF2B5EF4-FFF2-40B4-BE49-F238E27FC236}">
                <a16:creationId xmlns:a16="http://schemas.microsoft.com/office/drawing/2014/main" id="{6EEC0B8B-742F-C3CA-217D-10925ADB3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 dirty="0"/>
          </a:p>
        </p:txBody>
      </p:sp>
      <p:sp>
        <p:nvSpPr>
          <p:cNvPr id="96260" name="Slide Number Placeholder 3">
            <a:extLst>
              <a:ext uri="{FF2B5EF4-FFF2-40B4-BE49-F238E27FC236}">
                <a16:creationId xmlns:a16="http://schemas.microsoft.com/office/drawing/2014/main" id="{128790CF-1D0B-5E6C-C4A3-BEEB76596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71331" indent="-296666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8666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61328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35993" indent="-237333" defTabSz="95757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1065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8532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59988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4653" indent="-237333" defTabSz="95757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B1B6AF-1454-4201-96D9-0175AA470FE3}" type="slidenum">
              <a:rPr kumimoji="0" lang="en-GB" altLang="el-GR" smtClean="0"/>
              <a:pPr>
                <a:spcBef>
                  <a:spcPct val="0"/>
                </a:spcBef>
              </a:pPr>
              <a:t>55</a:t>
            </a:fld>
            <a:endParaRPr kumimoji="0" lang="en-GB" altLang="el-GR"/>
          </a:p>
        </p:txBody>
      </p:sp>
    </p:spTree>
    <p:extLst>
      <p:ext uri="{BB962C8B-B14F-4D97-AF65-F5344CB8AC3E}">
        <p14:creationId xmlns:p14="http://schemas.microsoft.com/office/powerpoint/2010/main" val="73048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10B597B3-F36A-40C1-B218-1F13334E4F1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478838" cy="6173788"/>
            <a:chOff x="0" y="0"/>
            <a:chExt cx="5341" cy="388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6D629288-4070-43E2-8979-8A55F1D85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63" cy="3889"/>
            </a:xfrm>
            <a:custGeom>
              <a:avLst/>
              <a:gdLst>
                <a:gd name="T0" fmla="*/ 3862 w 3863"/>
                <a:gd name="T1" fmla="*/ 3418 h 3889"/>
                <a:gd name="T2" fmla="*/ 457 w 3863"/>
                <a:gd name="T3" fmla="*/ 0 h 3889"/>
                <a:gd name="T4" fmla="*/ 0 w 3863"/>
                <a:gd name="T5" fmla="*/ 0 h 3889"/>
                <a:gd name="T6" fmla="*/ 0 w 3863"/>
                <a:gd name="T7" fmla="*/ 481 h 3889"/>
                <a:gd name="T8" fmla="*/ 3394 w 3863"/>
                <a:gd name="T9" fmla="*/ 3888 h 3889"/>
                <a:gd name="T10" fmla="*/ 3862 w 3863"/>
                <a:gd name="T11" fmla="*/ 3418 h 38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4CF64DE5-A51B-4F02-8190-1FBA4A902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0"/>
              <a:ext cx="3394" cy="3223"/>
            </a:xfrm>
            <a:custGeom>
              <a:avLst/>
              <a:gdLst>
                <a:gd name="T0" fmla="*/ 370 w 3394"/>
                <a:gd name="T1" fmla="*/ 0 h 3223"/>
                <a:gd name="T2" fmla="*/ 3393 w 3394"/>
                <a:gd name="T3" fmla="*/ 3036 h 3223"/>
                <a:gd name="T4" fmla="*/ 3208 w 3394"/>
                <a:gd name="T5" fmla="*/ 3222 h 3223"/>
                <a:gd name="T6" fmla="*/ 0 w 3394"/>
                <a:gd name="T7" fmla="*/ 0 h 3223"/>
                <a:gd name="T8" fmla="*/ 370 w 3394"/>
                <a:gd name="T9" fmla="*/ 0 h 3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4044901-EA4D-4728-A43E-C05FD682B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0"/>
              <a:ext cx="2859" cy="2556"/>
            </a:xfrm>
            <a:custGeom>
              <a:avLst/>
              <a:gdLst>
                <a:gd name="T0" fmla="*/ 630 w 2859"/>
                <a:gd name="T1" fmla="*/ 0 h 2556"/>
                <a:gd name="T2" fmla="*/ 2858 w 2859"/>
                <a:gd name="T3" fmla="*/ 2238 h 2556"/>
                <a:gd name="T4" fmla="*/ 2543 w 2859"/>
                <a:gd name="T5" fmla="*/ 2555 h 2556"/>
                <a:gd name="T6" fmla="*/ 0 w 2859"/>
                <a:gd name="T7" fmla="*/ 0 h 2556"/>
                <a:gd name="T8" fmla="*/ 630 w 2859"/>
                <a:gd name="T9" fmla="*/ 0 h 25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372C10E-2CA5-4FC1-80CD-2B5CA56F4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0"/>
              <a:ext cx="2286" cy="2121"/>
            </a:xfrm>
            <a:custGeom>
              <a:avLst/>
              <a:gdLst>
                <a:gd name="T0" fmla="*/ 0 w 2286"/>
                <a:gd name="T1" fmla="*/ 0 h 2121"/>
                <a:gd name="T2" fmla="*/ 2111 w 2286"/>
                <a:gd name="T3" fmla="*/ 2120 h 2121"/>
                <a:gd name="T4" fmla="*/ 2285 w 2286"/>
                <a:gd name="T5" fmla="*/ 1945 h 2121"/>
                <a:gd name="T6" fmla="*/ 348 w 2286"/>
                <a:gd name="T7" fmla="*/ 0 h 2121"/>
                <a:gd name="T8" fmla="*/ 0 w 2286"/>
                <a:gd name="T9" fmla="*/ 0 h 21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3079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143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  <a:ln w="9525">
            <a:headEnd/>
            <a:tailEnd/>
          </a:ln>
        </p:spPr>
        <p:txBody>
          <a:bodyPr lIns="92065" tIns="46033" rIns="92065" bIns="46033"/>
          <a:lstStyle>
            <a:lvl1pPr marL="0" indent="0" algn="ctr">
              <a:buFont typeface="Wingdings" pitchFamily="2" charset="2"/>
              <a:buNone/>
              <a:defRPr sz="3200" i="1">
                <a:solidFill>
                  <a:srgbClr val="0033CC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5465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0EE377A-4604-4102-9A58-0035BDA700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7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A6CB1FFF-DCDA-4117-B8A6-D850BC5DBD1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18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7038" y="765175"/>
            <a:ext cx="40767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138" y="765175"/>
            <a:ext cx="40767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DA755DC1-459D-4852-882F-A742DB4BCF5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7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F72ED357-D7A3-4FD4-8EB1-2DDE4A4A72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4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24B17353-9E6C-463C-BE7D-63C9DC6112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4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46F49614-F06B-470E-902B-E6DEDE9867F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22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ABA06610-C17B-4EA2-82EB-E6CABAFBE23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90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l-G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C8C3F70C-3B14-4C06-B10F-737C48EC137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7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ED695B8E-94B3-4DE7-8F2C-77E1823358B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3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0200" y="0"/>
            <a:ext cx="2082800" cy="6480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7038" y="0"/>
            <a:ext cx="6100762" cy="6480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543F3BA-68DE-411C-AC8B-307ED7ADE86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Rectangle 12">
            <a:extLst>
              <a:ext uri="{FF2B5EF4-FFF2-40B4-BE49-F238E27FC236}">
                <a16:creationId xmlns:a16="http://schemas.microsoft.com/office/drawing/2014/main" id="{019E9B1D-1548-4F31-87E1-B91B7858E3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7038" y="765175"/>
            <a:ext cx="8305800" cy="5715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9AD1C813-BA6D-4B5F-9C29-E6ED328D1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65" tIns="46033" rIns="92065" bIns="4603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8" name="Line 13">
            <a:extLst>
              <a:ext uri="{FF2B5EF4-FFF2-40B4-BE49-F238E27FC236}">
                <a16:creationId xmlns:a16="http://schemas.microsoft.com/office/drawing/2014/main" id="{784A90B5-5871-485A-963D-B3580F9714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33400" y="762000"/>
            <a:ext cx="8153400" cy="0"/>
          </a:xfrm>
          <a:prstGeom prst="line">
            <a:avLst/>
          </a:prstGeom>
          <a:noFill/>
          <a:ln w="57150" cap="sq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1029" name="Line 14">
            <a:extLst>
              <a:ext uri="{FF2B5EF4-FFF2-40B4-BE49-F238E27FC236}">
                <a16:creationId xmlns:a16="http://schemas.microsoft.com/office/drawing/2014/main" id="{057895F5-5274-4694-BEEA-C8591EC17AF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33400" y="6553200"/>
            <a:ext cx="8153400" cy="0"/>
          </a:xfrm>
          <a:prstGeom prst="line">
            <a:avLst/>
          </a:prstGeom>
          <a:noFill/>
          <a:ln w="57150" cap="sq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188A70C1-F610-4915-9857-E52CEBC098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864475" y="6588125"/>
            <a:ext cx="1012825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5305" tIns="27652" rIns="55305" bIns="27652"/>
          <a:lstStyle>
            <a:lvl1pPr defTabSz="5524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5524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5524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5524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5524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552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552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552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552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fld id="{D3DE2E09-A905-41F9-AD83-16C6DEB88D3C}" type="slidenum">
              <a:rPr lang="el-GR" altLang="el-GR" sz="1400" smtClean="0"/>
              <a:pPr algn="r" eaLnBrk="1" hangingPunct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  <a:defRPr/>
              </a:pPr>
              <a:t>‹#›</a:t>
            </a:fld>
            <a:endParaRPr lang="en-GB" altLang="el-GR" sz="1400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C287E891-3009-4681-8DE4-AF2F3E42F13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6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6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7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9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10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3.w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0" name="Rectangle 8">
            <a:extLst>
              <a:ext uri="{FF2B5EF4-FFF2-40B4-BE49-F238E27FC236}">
                <a16:creationId xmlns:a16="http://schemas.microsoft.com/office/drawing/2014/main" id="{4DD413F5-F39B-44D1-B462-670916BC848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Ψηφιακές Τηλεπικοινωνίες</a:t>
            </a:r>
            <a:endParaRPr lang="en-GB" dirty="0"/>
          </a:p>
        </p:txBody>
      </p:sp>
      <p:sp>
        <p:nvSpPr>
          <p:cNvPr id="105481" name="Rectangle 9">
            <a:extLst>
              <a:ext uri="{FF2B5EF4-FFF2-40B4-BE49-F238E27FC236}">
                <a16:creationId xmlns:a16="http://schemas.microsoft.com/office/drawing/2014/main" id="{80D63570-6C4E-48E3-AAFB-5050D0FC87F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Εισαγωγή </a:t>
            </a:r>
            <a:r>
              <a:rPr lang="en-US" dirty="0"/>
              <a:t> 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75F35F4E-4FFC-45F6-95C4-0F470F49C2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287746" name="Rectangle 2">
            <a:extLst>
              <a:ext uri="{FF2B5EF4-FFF2-40B4-BE49-F238E27FC236}">
                <a16:creationId xmlns:a16="http://schemas.microsoft.com/office/drawing/2014/main" id="{07178A11-8593-49AC-A7E6-042BB9C5F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2400" dirty="0"/>
              <a:t>Επισκόπηση Τεχνολογικών Εξελίξεων στις </a:t>
            </a:r>
            <a:r>
              <a:rPr lang="el-GR" sz="2400" dirty="0" err="1"/>
              <a:t>Τηλ</a:t>
            </a:r>
            <a:r>
              <a:rPr lang="el-GR" sz="2400" dirty="0"/>
              <a:t>/νιες</a:t>
            </a:r>
            <a:endParaRPr lang="en-GB" sz="2400" dirty="0"/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EFC27AAE-C00C-462D-8278-D74BB83A9E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1838" y="887392"/>
            <a:ext cx="8305800" cy="5715000"/>
          </a:xfrm>
        </p:spPr>
        <p:txBody>
          <a:bodyPr/>
          <a:lstStyle/>
          <a:p>
            <a:pPr marL="179388" indent="-179388" eaLnBrk="1" hangingPunct="1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l-GR" sz="2400" b="1" dirty="0">
                <a:solidFill>
                  <a:srgbClr val="0033CC"/>
                </a:solidFill>
              </a:rPr>
              <a:t>Τηλεγραφία και Τηλεφωνία</a:t>
            </a:r>
            <a:endParaRPr lang="el-GR" sz="2400" b="1" dirty="0"/>
          </a:p>
          <a:p>
            <a:pPr marL="358775" lvl="1" indent="0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dirty="0">
                <a:solidFill>
                  <a:srgbClr val="0033CC"/>
                </a:solidFill>
              </a:rPr>
              <a:t>1837:</a:t>
            </a:r>
            <a:r>
              <a:rPr lang="en-US" dirty="0"/>
              <a:t>  </a:t>
            </a:r>
            <a:r>
              <a:rPr lang="el-GR" dirty="0"/>
              <a:t>Ο </a:t>
            </a:r>
            <a:r>
              <a:rPr lang="en-US" dirty="0">
                <a:solidFill>
                  <a:srgbClr val="0033CC"/>
                </a:solidFill>
              </a:rPr>
              <a:t>Samuel Morse</a:t>
            </a:r>
            <a:r>
              <a:rPr lang="en-US" dirty="0"/>
              <a:t> </a:t>
            </a:r>
            <a:r>
              <a:rPr lang="el-GR" dirty="0"/>
              <a:t>εφευρίσκει τον ηλεκτρικό τηλέγραφο (με τη βοήθεια του </a:t>
            </a:r>
            <a:r>
              <a:rPr lang="en-US" dirty="0">
                <a:solidFill>
                  <a:srgbClr val="0033CC"/>
                </a:solidFill>
              </a:rPr>
              <a:t>Alfred Vail</a:t>
            </a:r>
            <a:r>
              <a:rPr lang="el-GR" dirty="0">
                <a:solidFill>
                  <a:srgbClr val="0033CC"/>
                </a:solidFill>
              </a:rPr>
              <a:t>)</a:t>
            </a:r>
            <a:r>
              <a:rPr lang="en-US" dirty="0"/>
              <a:t>,</a:t>
            </a:r>
            <a:r>
              <a:rPr lang="el-GR" dirty="0"/>
              <a:t> παράλληλα με τους </a:t>
            </a:r>
            <a:r>
              <a:rPr lang="en-US" dirty="0">
                <a:solidFill>
                  <a:srgbClr val="0033CC"/>
                </a:solidFill>
              </a:rPr>
              <a:t>Cooke</a:t>
            </a:r>
            <a:r>
              <a:rPr lang="en-US" dirty="0"/>
              <a:t> </a:t>
            </a:r>
            <a:r>
              <a:rPr lang="el-GR" dirty="0"/>
              <a:t>και </a:t>
            </a:r>
            <a:r>
              <a:rPr lang="en-US" dirty="0">
                <a:solidFill>
                  <a:srgbClr val="0033CC"/>
                </a:solidFill>
              </a:rPr>
              <a:t>Wheatstone</a:t>
            </a:r>
            <a:r>
              <a:rPr lang="en-US" dirty="0"/>
              <a:t>, </a:t>
            </a:r>
            <a:r>
              <a:rPr lang="en-US" dirty="0">
                <a:solidFill>
                  <a:srgbClr val="0033CC"/>
                </a:solidFill>
              </a:rPr>
              <a:t>Joseph Henry</a:t>
            </a:r>
            <a:r>
              <a:rPr lang="el-GR" dirty="0">
                <a:solidFill>
                  <a:srgbClr val="0033CC"/>
                </a:solidFill>
              </a:rPr>
              <a:t> </a:t>
            </a:r>
            <a:r>
              <a:rPr lang="el-GR" dirty="0"/>
              <a:t>και άλλους</a:t>
            </a:r>
            <a:r>
              <a:rPr lang="en-US" dirty="0"/>
              <a:t> </a:t>
            </a:r>
            <a:r>
              <a:rPr lang="el-GR" dirty="0"/>
              <a:t>και λίγα χρόνια αργότερα τον διάσημο δυαδικό κώδικα μεταβλητού μήκους</a:t>
            </a:r>
            <a:endParaRPr lang="en-US" dirty="0"/>
          </a:p>
          <a:p>
            <a:pPr marL="358775" lvl="1" indent="0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dirty="0">
                <a:solidFill>
                  <a:srgbClr val="0033CC"/>
                </a:solidFill>
              </a:rPr>
              <a:t>1858:</a:t>
            </a:r>
            <a:r>
              <a:rPr lang="en-US" dirty="0"/>
              <a:t> </a:t>
            </a:r>
            <a:r>
              <a:rPr lang="el-GR" dirty="0"/>
              <a:t>Υπερατλαντική καλωδιακή σύνδεση ΗΠΑ – Ευρώπης</a:t>
            </a:r>
            <a:endParaRPr lang="en-US" dirty="0"/>
          </a:p>
          <a:p>
            <a:pPr marL="358775" lvl="1" indent="0" eaLnBrk="1" hangingPunct="1">
              <a:lnSpc>
                <a:spcPct val="125000"/>
              </a:lnSpc>
              <a:spcAft>
                <a:spcPts val="600"/>
              </a:spcAft>
              <a:defRPr/>
            </a:pPr>
            <a:endParaRPr lang="en-US" dirty="0"/>
          </a:p>
        </p:txBody>
      </p:sp>
      <p:pic>
        <p:nvPicPr>
          <p:cNvPr id="96258" name="Picture 2">
            <a:extLst>
              <a:ext uri="{FF2B5EF4-FFF2-40B4-BE49-F238E27FC236}">
                <a16:creationId xmlns:a16="http://schemas.microsoft.com/office/drawing/2014/main" id="{8CF9556A-3920-4611-BE69-C9AFE925C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021" y="3977208"/>
            <a:ext cx="5545958" cy="247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75F35F4E-4FFC-45F6-95C4-0F470F49C2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287746" name="Rectangle 2">
            <a:extLst>
              <a:ext uri="{FF2B5EF4-FFF2-40B4-BE49-F238E27FC236}">
                <a16:creationId xmlns:a16="http://schemas.microsoft.com/office/drawing/2014/main" id="{07178A11-8593-49AC-A7E6-042BB9C5F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2400" dirty="0"/>
              <a:t>Επισκόπηση Τεχνολογικών Εξελίξεων στις </a:t>
            </a:r>
            <a:r>
              <a:rPr lang="el-GR" sz="2400" dirty="0" err="1"/>
              <a:t>Τηλ</a:t>
            </a:r>
            <a:r>
              <a:rPr lang="el-GR" sz="2400" dirty="0"/>
              <a:t>/νιες</a:t>
            </a:r>
            <a:endParaRPr lang="en-GB" sz="2400" dirty="0"/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EFC27AAE-C00C-462D-8278-D74BB83A9E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252536" y="838200"/>
            <a:ext cx="9217024" cy="5715000"/>
          </a:xfrm>
        </p:spPr>
        <p:txBody>
          <a:bodyPr/>
          <a:lstStyle/>
          <a:p>
            <a:pPr marL="358775" lvl="1" indent="0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18</a:t>
            </a:r>
            <a:r>
              <a:rPr lang="en-US" dirty="0">
                <a:solidFill>
                  <a:srgbClr val="0033CC"/>
                </a:solidFill>
              </a:rPr>
              <a:t>75:</a:t>
            </a:r>
            <a:r>
              <a:rPr lang="en-US" dirty="0"/>
              <a:t> </a:t>
            </a:r>
            <a:r>
              <a:rPr lang="el-GR" dirty="0"/>
              <a:t>Ο </a:t>
            </a:r>
            <a:r>
              <a:rPr lang="en-US" dirty="0">
                <a:solidFill>
                  <a:srgbClr val="0033CC"/>
                </a:solidFill>
              </a:rPr>
              <a:t>Emile </a:t>
            </a:r>
            <a:r>
              <a:rPr lang="en-US" dirty="0" err="1">
                <a:solidFill>
                  <a:srgbClr val="0033CC"/>
                </a:solidFill>
              </a:rPr>
              <a:t>Baudot</a:t>
            </a:r>
            <a:r>
              <a:rPr lang="en-US" dirty="0"/>
              <a:t> </a:t>
            </a:r>
            <a:r>
              <a:rPr lang="el-GR" dirty="0"/>
              <a:t>εφευρίσκει ένα «εκτυπωτικό» τηλέγραφο με βάση έναν δυαδικό κώδικα σταθερού μήκους όπου κάθε γράμμα κωδικοποιείται με 5</a:t>
            </a:r>
            <a:r>
              <a:rPr lang="en-US" dirty="0"/>
              <a:t> bits</a:t>
            </a:r>
            <a:endParaRPr lang="el-GR" dirty="0"/>
          </a:p>
          <a:p>
            <a:pPr marL="358775" lvl="1" indent="0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18</a:t>
            </a:r>
            <a:r>
              <a:rPr lang="en-US" dirty="0">
                <a:solidFill>
                  <a:srgbClr val="0033CC"/>
                </a:solidFill>
              </a:rPr>
              <a:t>76:</a:t>
            </a:r>
            <a:r>
              <a:rPr lang="el-GR" dirty="0"/>
              <a:t> </a:t>
            </a:r>
            <a:r>
              <a:rPr lang="en-US" dirty="0"/>
              <a:t>O </a:t>
            </a:r>
            <a:r>
              <a:rPr lang="en-US" dirty="0">
                <a:solidFill>
                  <a:srgbClr val="0033CC"/>
                </a:solidFill>
              </a:rPr>
              <a:t>Alexander Graham Bell </a:t>
            </a:r>
            <a:r>
              <a:rPr lang="el-GR" dirty="0"/>
              <a:t>εφευρίσκει το τηλέφωνο</a:t>
            </a:r>
            <a:r>
              <a:rPr lang="en-US" dirty="0"/>
              <a:t>  (</a:t>
            </a:r>
            <a:r>
              <a:rPr lang="el-GR" dirty="0"/>
              <a:t>αν και σήμερα έχει αναγνωριστεί επίσημα και η μεγάλη συμβολή του </a:t>
            </a:r>
            <a:r>
              <a:rPr lang="en-US" dirty="0">
                <a:solidFill>
                  <a:srgbClr val="0033CC"/>
                </a:solidFill>
              </a:rPr>
              <a:t>Antonio </a:t>
            </a:r>
            <a:r>
              <a:rPr lang="en-US" dirty="0" err="1">
                <a:solidFill>
                  <a:srgbClr val="0033CC"/>
                </a:solidFill>
              </a:rPr>
              <a:t>Meucci</a:t>
            </a:r>
            <a:r>
              <a:rPr lang="en-US" dirty="0">
                <a:solidFill>
                  <a:srgbClr val="0033CC"/>
                </a:solidFill>
              </a:rPr>
              <a:t>,</a:t>
            </a:r>
            <a:r>
              <a:rPr lang="el-GR" dirty="0">
                <a:solidFill>
                  <a:srgbClr val="0033CC"/>
                </a:solidFill>
              </a:rPr>
              <a:t> </a:t>
            </a:r>
            <a:r>
              <a:rPr lang="el-GR" dirty="0"/>
              <a:t>που είχε προηγηθεί του </a:t>
            </a:r>
            <a:r>
              <a:rPr lang="en-US" dirty="0"/>
              <a:t>A. Bell</a:t>
            </a:r>
            <a:r>
              <a:rPr lang="el-GR" dirty="0"/>
              <a:t>)</a:t>
            </a:r>
            <a:endParaRPr lang="en-US" dirty="0"/>
          </a:p>
          <a:p>
            <a:pPr marL="358775" lvl="1" indent="0" eaLnBrk="1" hangingPunct="1">
              <a:lnSpc>
                <a:spcPct val="114000"/>
              </a:lnSpc>
              <a:spcAft>
                <a:spcPts val="2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</a:t>
            </a:r>
            <a:r>
              <a:rPr lang="en-US" dirty="0">
                <a:solidFill>
                  <a:srgbClr val="0033CC"/>
                </a:solidFill>
              </a:rPr>
              <a:t>915:</a:t>
            </a:r>
            <a:r>
              <a:rPr lang="en-US" dirty="0"/>
              <a:t> </a:t>
            </a:r>
            <a:r>
              <a:rPr lang="el-GR" dirty="0"/>
              <a:t>Πρώτη τηλεφωνική μετάδοση μεγάλων αποστάσεων</a:t>
            </a:r>
          </a:p>
          <a:p>
            <a:pPr marL="1150938" lvl="2" eaLnBrk="1" hangingPunct="1">
              <a:lnSpc>
                <a:spcPct val="114000"/>
              </a:lnSpc>
              <a:spcAft>
                <a:spcPts val="200"/>
              </a:spcAft>
              <a:defRPr/>
            </a:pPr>
            <a:r>
              <a:rPr lang="el-GR" dirty="0"/>
              <a:t>χάρη στην εφεύρεση του τριοδικού ενισχυτή το 1906</a:t>
            </a:r>
          </a:p>
          <a:p>
            <a:pPr marL="1150938" lvl="2" eaLnBrk="1" hangingPunct="1">
              <a:lnSpc>
                <a:spcPct val="114000"/>
              </a:lnSpc>
              <a:spcAft>
                <a:spcPts val="200"/>
              </a:spcAft>
              <a:buFontTx/>
              <a:buNone/>
              <a:defRPr/>
            </a:pPr>
            <a:r>
              <a:rPr lang="en-US" dirty="0"/>
              <a:t>* </a:t>
            </a:r>
            <a:r>
              <a:rPr lang="el-GR" dirty="0"/>
              <a:t>Το πρώτο υπερατλαντικό καλώδιο για τηλεφωνικές υπηρεσίες καθίσταται διαθέσιμο το 1953</a:t>
            </a:r>
          </a:p>
          <a:p>
            <a:pPr marL="358775" lvl="1" indent="0" eaLnBrk="1" hangingPunct="1">
              <a:lnSpc>
                <a:spcPct val="114000"/>
              </a:lnSpc>
              <a:spcAft>
                <a:spcPts val="200"/>
              </a:spcAft>
              <a:defRPr/>
            </a:pPr>
            <a:r>
              <a:rPr lang="en-US" dirty="0">
                <a:solidFill>
                  <a:srgbClr val="0033CC"/>
                </a:solidFill>
              </a:rPr>
              <a:t>1897:</a:t>
            </a:r>
            <a:r>
              <a:rPr lang="en-US" dirty="0"/>
              <a:t> </a:t>
            </a:r>
            <a:r>
              <a:rPr lang="el-GR" dirty="0"/>
              <a:t>Ο </a:t>
            </a:r>
            <a:r>
              <a:rPr lang="en-US" dirty="0">
                <a:solidFill>
                  <a:srgbClr val="0033CC"/>
                </a:solidFill>
              </a:rPr>
              <a:t>Almon Brown </a:t>
            </a:r>
            <a:r>
              <a:rPr lang="en-US" dirty="0" err="1">
                <a:solidFill>
                  <a:srgbClr val="0033CC"/>
                </a:solidFill>
              </a:rPr>
              <a:t>Strowger</a:t>
            </a:r>
            <a:r>
              <a:rPr lang="en-US" dirty="0"/>
              <a:t> </a:t>
            </a:r>
            <a:r>
              <a:rPr lang="el-GR" dirty="0"/>
              <a:t>αναπτύσσει τον πρώτο ηλεκτρομηχανικό αυτόματο </a:t>
            </a:r>
            <a:r>
              <a:rPr lang="el-GR" dirty="0" err="1"/>
              <a:t>μεταγωγέα</a:t>
            </a:r>
            <a:r>
              <a:rPr lang="en-US" dirty="0"/>
              <a:t> (</a:t>
            </a:r>
            <a:r>
              <a:rPr lang="el-GR" dirty="0"/>
              <a:t>για να μη χάνει πελάτες !!!)</a:t>
            </a:r>
          </a:p>
          <a:p>
            <a:pPr marL="1150938" lvl="2" eaLnBrk="1" hangingPunct="1">
              <a:lnSpc>
                <a:spcPct val="114000"/>
              </a:lnSpc>
              <a:spcAft>
                <a:spcPts val="600"/>
              </a:spcAft>
              <a:defRPr/>
            </a:pPr>
            <a:r>
              <a:rPr lang="el-GR" dirty="0"/>
              <a:t>ο πρώτος ψηφιακός </a:t>
            </a:r>
            <a:r>
              <a:rPr lang="el-GR" dirty="0" err="1"/>
              <a:t>μεταγωγέας</a:t>
            </a:r>
            <a:r>
              <a:rPr lang="el-GR" dirty="0"/>
              <a:t> θα αναπτυχθεί το 1960</a:t>
            </a:r>
          </a:p>
          <a:p>
            <a:pPr marL="358775" lvl="1" indent="0" eaLnBrk="1" hangingPunct="1">
              <a:lnSpc>
                <a:spcPct val="125000"/>
              </a:lnSpc>
              <a:spcAft>
                <a:spcPts val="600"/>
              </a:spcAft>
              <a:buFontTx/>
              <a:buNone/>
              <a:defRPr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857908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D134192B-7569-4AAF-87BF-3B8A225B45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287746" name="Rectangle 2">
            <a:extLst>
              <a:ext uri="{FF2B5EF4-FFF2-40B4-BE49-F238E27FC236}">
                <a16:creationId xmlns:a16="http://schemas.microsoft.com/office/drawing/2014/main" id="{B4E4DA41-3A29-4553-BA83-34CAA2D62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2400" dirty="0"/>
              <a:t>Επισκόπηση Τεχνολογικών Εξελίξεων στις </a:t>
            </a:r>
            <a:r>
              <a:rPr lang="el-GR" sz="2400" dirty="0" err="1"/>
              <a:t>Τηλ</a:t>
            </a:r>
            <a:r>
              <a:rPr lang="el-GR" sz="2400" dirty="0"/>
              <a:t>/νιες</a:t>
            </a:r>
            <a:endParaRPr lang="en-GB" sz="2400" dirty="0"/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99B011F2-1C9C-49F1-8878-4D9999A51C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12028" y="980728"/>
            <a:ext cx="9108380" cy="5715000"/>
          </a:xfrm>
        </p:spPr>
        <p:txBody>
          <a:bodyPr/>
          <a:lstStyle/>
          <a:p>
            <a:pPr marL="358775" lvl="1" indent="0" eaLnBrk="1" hangingPunct="1">
              <a:lnSpc>
                <a:spcPct val="114000"/>
              </a:lnSpc>
              <a:spcAft>
                <a:spcPts val="200"/>
              </a:spcAft>
              <a:buNone/>
              <a:defRPr/>
            </a:pPr>
            <a:r>
              <a:rPr lang="el-GR" sz="2400" b="1" dirty="0">
                <a:solidFill>
                  <a:srgbClr val="0033CC"/>
                </a:solidFill>
              </a:rPr>
              <a:t>Ασύρματες Επικοινωνίες</a:t>
            </a:r>
          </a:p>
          <a:p>
            <a:pPr marL="358775" lvl="1" indent="1588" eaLnBrk="1" hangingPunct="1">
              <a:lnSpc>
                <a:spcPct val="114000"/>
              </a:lnSpc>
              <a:spcAft>
                <a:spcPts val="600"/>
              </a:spcAft>
              <a:defRPr/>
            </a:pPr>
            <a:r>
              <a:rPr lang="en-US" dirty="0"/>
              <a:t> 1820:  </a:t>
            </a:r>
            <a:r>
              <a:rPr lang="el-GR" dirty="0"/>
              <a:t>Ο </a:t>
            </a:r>
            <a:r>
              <a:rPr lang="en-US" dirty="0">
                <a:solidFill>
                  <a:srgbClr val="0033CC"/>
                </a:solidFill>
              </a:rPr>
              <a:t>Oersted </a:t>
            </a:r>
            <a:r>
              <a:rPr lang="el-GR" dirty="0"/>
              <a:t>δείχνει ότι ηλεκτρικό ρεύμα παράγει μαγνητικό πεδίο   (και γενικά η μετακίνηση ηλεκτρικού φορτίου)</a:t>
            </a:r>
            <a:endParaRPr lang="en-US" dirty="0"/>
          </a:p>
          <a:p>
            <a:pPr marL="358775" lvl="1" indent="1588" eaLnBrk="1" hangingPunct="1">
              <a:lnSpc>
                <a:spcPct val="114000"/>
              </a:lnSpc>
              <a:spcAft>
                <a:spcPts val="200"/>
              </a:spcAft>
              <a:defRPr/>
            </a:pPr>
            <a:r>
              <a:rPr lang="en-US" dirty="0"/>
              <a:t>1821: </a:t>
            </a:r>
            <a:r>
              <a:rPr lang="el-GR" dirty="0"/>
              <a:t>Ο </a:t>
            </a:r>
            <a:r>
              <a:rPr lang="en-US" dirty="0">
                <a:solidFill>
                  <a:srgbClr val="0033CC"/>
                </a:solidFill>
              </a:rPr>
              <a:t>Faraday </a:t>
            </a:r>
            <a:r>
              <a:rPr lang="el-GR" dirty="0"/>
              <a:t>έδειξε ότι η μετακίνηση ενός μαγνήτη κοντά σε έναν  αγωγό προκαλεί επαγωγικό ρεύμα  (δηλαδή ένα μεταβαλλόμενο μαγνητικό πεδίο παράγει ηλεκτρικό πεδίο)</a:t>
            </a:r>
            <a:endParaRPr lang="en-US" dirty="0"/>
          </a:p>
          <a:p>
            <a:pPr marL="358775" lvl="1" indent="1588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1867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n-US" dirty="0"/>
              <a:t> </a:t>
            </a:r>
            <a:r>
              <a:rPr lang="el-GR" dirty="0"/>
              <a:t>Βασιζόμενος στα προηγούμενα, ο </a:t>
            </a:r>
            <a:r>
              <a:rPr lang="en-US" dirty="0">
                <a:solidFill>
                  <a:srgbClr val="0033CC"/>
                </a:solidFill>
              </a:rPr>
              <a:t>James M</a:t>
            </a:r>
            <a:r>
              <a:rPr lang="el-GR" dirty="0" err="1">
                <a:solidFill>
                  <a:srgbClr val="0033CC"/>
                </a:solidFill>
              </a:rPr>
              <a:t>axwell</a:t>
            </a:r>
            <a:r>
              <a:rPr lang="el-GR" dirty="0"/>
              <a:t> προέβλεψε την ύπαρξη των ηλεκτρομαγνητικών (ΗΜ) κυμάτων και διατύπωσε τη βασική θεωρία  (ένα σύνολο από 4 </a:t>
            </a:r>
            <a:r>
              <a:rPr lang="en-US" dirty="0"/>
              <a:t>“</a:t>
            </a:r>
            <a:r>
              <a:rPr lang="el-GR" dirty="0"/>
              <a:t>μερικές </a:t>
            </a:r>
            <a:r>
              <a:rPr lang="el-GR" dirty="0" err="1"/>
              <a:t>δ.ε</a:t>
            </a:r>
            <a:r>
              <a:rPr lang="el-GR" dirty="0"/>
              <a:t>.</a:t>
            </a:r>
            <a:r>
              <a:rPr lang="en-US" dirty="0"/>
              <a:t>”</a:t>
            </a:r>
            <a:r>
              <a:rPr lang="el-GR" dirty="0"/>
              <a:t> ,  με διόρθωση στο Νόμο του </a:t>
            </a:r>
            <a:r>
              <a:rPr lang="en-US" dirty="0"/>
              <a:t>Ampere</a:t>
            </a:r>
            <a:r>
              <a:rPr lang="el-GR" dirty="0"/>
              <a:t>)</a:t>
            </a:r>
          </a:p>
          <a:p>
            <a:pPr marL="358775" lvl="1" indent="1588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1887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l-GR" dirty="0"/>
              <a:t> Ο </a:t>
            </a:r>
            <a:r>
              <a:rPr lang="el-GR" dirty="0" err="1">
                <a:solidFill>
                  <a:srgbClr val="0033CC"/>
                </a:solidFill>
              </a:rPr>
              <a:t>Hertz</a:t>
            </a:r>
            <a:r>
              <a:rPr lang="el-GR" dirty="0"/>
              <a:t> έδειξε πειραματικά την ύπαρξη των ΗΜ κυμάτων</a:t>
            </a:r>
          </a:p>
          <a:p>
            <a:pPr marL="1150938" lvl="2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/>
              <a:t>ασύρματη μετάδοση σήματος για μερικά μέτρα</a:t>
            </a:r>
          </a:p>
          <a:p>
            <a:pPr marL="358775" lvl="1" indent="0" eaLnBrk="1" hangingPunct="1">
              <a:lnSpc>
                <a:spcPct val="114000"/>
              </a:lnSpc>
              <a:spcAft>
                <a:spcPts val="200"/>
              </a:spcAft>
              <a:buNone/>
              <a:defRPr/>
            </a:pPr>
            <a:endParaRPr lang="en-US" dirty="0"/>
          </a:p>
          <a:p>
            <a:pPr marL="1150938" lvl="2" eaLnBrk="1" hangingPunct="1">
              <a:lnSpc>
                <a:spcPct val="90000"/>
              </a:lnSpc>
              <a:spcAft>
                <a:spcPts val="200"/>
              </a:spcAft>
              <a:defRPr/>
            </a:pPr>
            <a:endParaRPr lang="el-G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0ACD3476-3A24-4499-8DC7-1FF2FFEDD2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00738" name="Rectangle 2">
            <a:extLst>
              <a:ext uri="{FF2B5EF4-FFF2-40B4-BE49-F238E27FC236}">
                <a16:creationId xmlns:a16="http://schemas.microsoft.com/office/drawing/2014/main" id="{267E7043-C100-4078-9C07-7672B724A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2400" dirty="0"/>
              <a:t>Επισκόπηση Τεχνολογικών Εξελίξεων στις </a:t>
            </a:r>
            <a:r>
              <a:rPr lang="el-GR" sz="2400" dirty="0" err="1"/>
              <a:t>Τηλ</a:t>
            </a:r>
            <a:r>
              <a:rPr lang="el-GR" sz="2400" dirty="0"/>
              <a:t>/νιες</a:t>
            </a:r>
            <a:endParaRPr lang="en-GB" sz="2400" dirty="0"/>
          </a:p>
        </p:txBody>
      </p:sp>
      <p:sp>
        <p:nvSpPr>
          <p:cNvPr id="500739" name="Rectangle 3">
            <a:extLst>
              <a:ext uri="{FF2B5EF4-FFF2-40B4-BE49-F238E27FC236}">
                <a16:creationId xmlns:a16="http://schemas.microsoft.com/office/drawing/2014/main" id="{3494949C-153D-450C-AE3F-62627CC5BA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027113"/>
            <a:ext cx="8785225" cy="5715000"/>
          </a:xfrm>
        </p:spPr>
        <p:txBody>
          <a:bodyPr/>
          <a:lstStyle/>
          <a:p>
            <a:pPr marL="358775" lvl="1" indent="1588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1896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l-GR" dirty="0"/>
              <a:t> Ο </a:t>
            </a:r>
            <a:r>
              <a:rPr lang="el-GR" dirty="0">
                <a:solidFill>
                  <a:srgbClr val="0033CC"/>
                </a:solidFill>
              </a:rPr>
              <a:t>Guglielmo Marconi</a:t>
            </a:r>
            <a:r>
              <a:rPr lang="el-GR" dirty="0"/>
              <a:t> κάνει επίδειξη του ασύρματου τηλέγραφου στη Βρετανική Υπηρεσία Τηλεγράφων</a:t>
            </a:r>
            <a:endParaRPr lang="en-US" dirty="0"/>
          </a:p>
          <a:p>
            <a:pPr marL="358775" lvl="1" indent="1588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1901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l-GR" dirty="0"/>
              <a:t> Ο </a:t>
            </a:r>
            <a:r>
              <a:rPr lang="el-GR" dirty="0">
                <a:solidFill>
                  <a:srgbClr val="0033CC"/>
                </a:solidFill>
              </a:rPr>
              <a:t>Marconi</a:t>
            </a:r>
            <a:r>
              <a:rPr lang="el-GR" dirty="0"/>
              <a:t> μεταδίδει με επιτυχία ραδιοφωνικό σήμα κατά μήκος του Ατλαντικού (</a:t>
            </a:r>
            <a:r>
              <a:rPr lang="en-US" dirty="0"/>
              <a:t>C</a:t>
            </a:r>
            <a:r>
              <a:rPr lang="el-GR" dirty="0"/>
              <a:t>ornwall </a:t>
            </a:r>
            <a:r>
              <a:rPr lang="el-GR" dirty="0">
                <a:sym typeface="Wingdings" pitchFamily="2" charset="2"/>
              </a:rPr>
              <a:t></a:t>
            </a:r>
            <a:r>
              <a:rPr lang="el-GR" dirty="0"/>
              <a:t> Newfoundland)</a:t>
            </a:r>
          </a:p>
          <a:p>
            <a:pPr marL="358775" lvl="1" indent="1588" eaLnBrk="1" hangingPunct="1">
              <a:lnSpc>
                <a:spcPct val="125000"/>
              </a:lnSpc>
              <a:spcAft>
                <a:spcPts val="600"/>
              </a:spcAft>
              <a:buFontTx/>
              <a:buNone/>
              <a:defRPr/>
            </a:pPr>
            <a:r>
              <a:rPr lang="el-GR" dirty="0"/>
              <a:t>(η συμβολή των </a:t>
            </a:r>
            <a:r>
              <a:rPr lang="en-US" dirty="0">
                <a:solidFill>
                  <a:srgbClr val="0033CC"/>
                </a:solidFill>
              </a:rPr>
              <a:t>Nicola Tesla</a:t>
            </a:r>
            <a:r>
              <a:rPr lang="en-US" dirty="0"/>
              <a:t> </a:t>
            </a:r>
            <a:r>
              <a:rPr lang="el-GR" dirty="0"/>
              <a:t>και </a:t>
            </a:r>
            <a:r>
              <a:rPr lang="en-US" dirty="0">
                <a:solidFill>
                  <a:srgbClr val="0033CC"/>
                </a:solidFill>
              </a:rPr>
              <a:t>Alexander </a:t>
            </a:r>
            <a:r>
              <a:rPr lang="en-US" dirty="0" err="1">
                <a:solidFill>
                  <a:srgbClr val="0033CC"/>
                </a:solidFill>
              </a:rPr>
              <a:t>Stepanovich</a:t>
            </a:r>
            <a:r>
              <a:rPr lang="en-US" dirty="0">
                <a:solidFill>
                  <a:srgbClr val="0033CC"/>
                </a:solidFill>
              </a:rPr>
              <a:t> Popov</a:t>
            </a:r>
            <a:r>
              <a:rPr lang="el-GR" dirty="0"/>
              <a:t>)</a:t>
            </a:r>
            <a:endParaRPr lang="en-US" dirty="0"/>
          </a:p>
          <a:p>
            <a:pPr marL="358775" lvl="1" indent="1588" eaLnBrk="1" hangingPunct="1"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1914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n-US" dirty="0"/>
              <a:t> </a:t>
            </a:r>
            <a:r>
              <a:rPr lang="el-GR" dirty="0"/>
              <a:t>Πρώτη </a:t>
            </a:r>
            <a:r>
              <a:rPr lang="el-GR" dirty="0" err="1"/>
              <a:t>ραδιοεπικοινωνιακή</a:t>
            </a:r>
            <a:r>
              <a:rPr lang="el-GR" dirty="0"/>
              <a:t> μετάδοση φωνής</a:t>
            </a:r>
          </a:p>
          <a:p>
            <a:pPr marL="358775" lvl="1" indent="1588" eaLnBrk="1" hangingPunct="1"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1920s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l-GR" dirty="0"/>
              <a:t> Ασύρματοι </a:t>
            </a:r>
            <a:r>
              <a:rPr lang="el-GR" b="1" dirty="0"/>
              <a:t>δέκτες</a:t>
            </a:r>
            <a:r>
              <a:rPr lang="el-GR" dirty="0"/>
              <a:t> εγκαθίστανται σε αστυνομικά αυτοκίνητα του </a:t>
            </a:r>
            <a:r>
              <a:rPr lang="el-GR" dirty="0" err="1"/>
              <a:t>Detroit</a:t>
            </a:r>
            <a:r>
              <a:rPr lang="el-GR" dirty="0"/>
              <a:t> </a:t>
            </a:r>
          </a:p>
          <a:p>
            <a:pPr marL="358775" lvl="1" indent="1588" eaLnBrk="1" hangingPunct="1"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1930s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l-GR" dirty="0"/>
              <a:t> Αναπτύσσονται ασύρματοι </a:t>
            </a:r>
            <a:r>
              <a:rPr lang="el-GR" b="1" dirty="0"/>
              <a:t>πομποί</a:t>
            </a:r>
          </a:p>
          <a:p>
            <a:pPr marL="1150938" lvl="2" eaLnBrk="1" hangingPunct="1">
              <a:spcAft>
                <a:spcPts val="600"/>
              </a:spcAft>
              <a:defRPr/>
            </a:pPr>
            <a:r>
              <a:rPr lang="el-GR" dirty="0"/>
              <a:t>Διαμόρφωση κατά πλάτος φέρουσας.   Ο </a:t>
            </a:r>
            <a:r>
              <a:rPr lang="el-GR" dirty="0" err="1"/>
              <a:t>τηλ</a:t>
            </a:r>
            <a:r>
              <a:rPr lang="el-GR" dirty="0"/>
              <a:t>/κος εξοπλισμός καταλαμβάνει το μισό αυτοκίνητο!</a:t>
            </a:r>
            <a:r>
              <a:rPr lang="en-US" dirty="0"/>
              <a:t>  </a:t>
            </a:r>
          </a:p>
          <a:p>
            <a:pPr marL="750888" lvl="1" eaLnBrk="1" hangingPunct="1"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1935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l-GR" dirty="0"/>
              <a:t> Ο </a:t>
            </a:r>
            <a:r>
              <a:rPr lang="en-US" dirty="0">
                <a:solidFill>
                  <a:srgbClr val="0033CC"/>
                </a:solidFill>
              </a:rPr>
              <a:t>Edwin A</a:t>
            </a:r>
            <a:r>
              <a:rPr lang="el-GR" dirty="0" err="1">
                <a:solidFill>
                  <a:srgbClr val="0033CC"/>
                </a:solidFill>
              </a:rPr>
              <a:t>rmstrong</a:t>
            </a:r>
            <a:r>
              <a:rPr lang="el-GR" dirty="0"/>
              <a:t> επιδεικνύει τη διαμόρφωση κατά συχνότητα (</a:t>
            </a:r>
            <a:r>
              <a:rPr lang="en-US" dirty="0"/>
              <a:t>Frequency Modulation, FM</a:t>
            </a:r>
            <a:r>
              <a:rPr lang="el-GR" dirty="0"/>
              <a:t>)</a:t>
            </a:r>
          </a:p>
          <a:p>
            <a:pPr marL="1150938" lvl="2" eaLnBrk="1" hangingPunct="1">
              <a:spcAft>
                <a:spcPts val="600"/>
              </a:spcAft>
              <a:defRPr/>
            </a:pPr>
            <a:endParaRPr lang="el-GR" dirty="0"/>
          </a:p>
          <a:p>
            <a:pPr marL="358775" lvl="1" indent="1588" eaLnBrk="1" hangingPunct="1">
              <a:lnSpc>
                <a:spcPct val="125000"/>
              </a:lnSpc>
              <a:spcAft>
                <a:spcPts val="600"/>
              </a:spcAft>
              <a:buFontTx/>
              <a:buNone/>
              <a:defRPr/>
            </a:pPr>
            <a:endParaRPr lang="el-GR" dirty="0"/>
          </a:p>
          <a:p>
            <a:pPr marL="358775" lvl="1" indent="1588" eaLnBrk="1" hangingPunct="1">
              <a:lnSpc>
                <a:spcPct val="125000"/>
              </a:lnSpc>
              <a:spcAft>
                <a:spcPts val="600"/>
              </a:spcAft>
              <a:buFontTx/>
              <a:buNone/>
              <a:defRPr/>
            </a:pPr>
            <a:endParaRPr lang="el-G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B5A87E8E-4ADB-4E1F-8141-8DC993D5D9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01762" name="Rectangle 2">
            <a:extLst>
              <a:ext uri="{FF2B5EF4-FFF2-40B4-BE49-F238E27FC236}">
                <a16:creationId xmlns:a16="http://schemas.microsoft.com/office/drawing/2014/main" id="{2680B85C-54B9-4BA5-9389-9B0ACA50F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2400" dirty="0"/>
              <a:t>Επισκόπηση Τεχνολογικών Εξελίξεων στις </a:t>
            </a:r>
            <a:r>
              <a:rPr lang="el-GR" sz="2400" dirty="0" err="1"/>
              <a:t>Τηλ</a:t>
            </a:r>
            <a:r>
              <a:rPr lang="el-GR" sz="2400" dirty="0"/>
              <a:t>/νιες</a:t>
            </a:r>
            <a:endParaRPr lang="en-GB" sz="2400" dirty="0"/>
          </a:p>
        </p:txBody>
      </p:sp>
      <p:sp>
        <p:nvSpPr>
          <p:cNvPr id="501763" name="Rectangle 3">
            <a:extLst>
              <a:ext uri="{FF2B5EF4-FFF2-40B4-BE49-F238E27FC236}">
                <a16:creationId xmlns:a16="http://schemas.microsoft.com/office/drawing/2014/main" id="{766F414D-C12E-43FE-AA23-FFC9F19C86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9278" y="838200"/>
            <a:ext cx="8804721" cy="5715000"/>
          </a:xfrm>
        </p:spPr>
        <p:txBody>
          <a:bodyPr/>
          <a:lstStyle/>
          <a:p>
            <a:pPr marL="358775" lvl="1" indent="1588" eaLnBrk="1" hangingPunct="1"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1946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l-GR" dirty="0"/>
              <a:t> Πρώτη διασύνδεση κινητών χρηστών με το δημόσιο δίκτυο PSTN </a:t>
            </a:r>
          </a:p>
          <a:p>
            <a:pPr marL="358775" lvl="1" indent="1588" eaLnBrk="1" hangingPunct="1">
              <a:spcAft>
                <a:spcPts val="18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1949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l-GR" dirty="0"/>
              <a:t> Η</a:t>
            </a:r>
            <a:r>
              <a:rPr lang="en-US" dirty="0"/>
              <a:t> </a:t>
            </a:r>
            <a:r>
              <a:rPr lang="el-GR" dirty="0"/>
              <a:t>FCC αναγνωρίζει την ασύρματη ραδιοεπικοινωνία ως μια νέα κατηγορία υπηρεσιών</a:t>
            </a:r>
          </a:p>
          <a:p>
            <a:pPr marL="0" indent="-41275" eaLnBrk="1" hangingPunct="1">
              <a:spcAft>
                <a:spcPts val="600"/>
              </a:spcAft>
              <a:buNone/>
              <a:defRPr/>
            </a:pPr>
            <a:r>
              <a:rPr lang="el-GR" sz="2400" dirty="0">
                <a:solidFill>
                  <a:srgbClr val="0070C0"/>
                </a:solidFill>
              </a:rPr>
              <a:t>Ασύρματες κινητές επικοινωνίες</a:t>
            </a:r>
          </a:p>
          <a:p>
            <a:pPr eaLnBrk="1" hangingPunct="1">
              <a:lnSpc>
                <a:spcPct val="80000"/>
              </a:lnSpc>
              <a:spcBef>
                <a:spcPct val="35000"/>
              </a:spcBef>
              <a:spcAft>
                <a:spcPts val="1200"/>
              </a:spcAft>
            </a:pPr>
            <a:r>
              <a:rPr lang="el-GR" altLang="el-GR" sz="2000" dirty="0"/>
              <a:t>1979</a:t>
            </a:r>
            <a:r>
              <a:rPr lang="en-US" altLang="el-GR" sz="2000" dirty="0"/>
              <a:t>: </a:t>
            </a:r>
            <a:r>
              <a:rPr lang="el-GR" altLang="el-GR" sz="2000" dirty="0"/>
              <a:t> </a:t>
            </a:r>
            <a:r>
              <a:rPr lang="el-GR" altLang="el-GR" sz="2000" dirty="0">
                <a:solidFill>
                  <a:srgbClr val="0070C0"/>
                </a:solidFill>
              </a:rPr>
              <a:t>Η NTT/</a:t>
            </a:r>
            <a:r>
              <a:rPr lang="el-GR" altLang="el-GR" sz="2000" dirty="0" err="1">
                <a:solidFill>
                  <a:srgbClr val="0070C0"/>
                </a:solidFill>
              </a:rPr>
              <a:t>Japan</a:t>
            </a:r>
            <a:r>
              <a:rPr lang="el-GR" altLang="el-GR" sz="2000" dirty="0">
                <a:solidFill>
                  <a:srgbClr val="0070C0"/>
                </a:solidFill>
              </a:rPr>
              <a:t> </a:t>
            </a:r>
            <a:r>
              <a:rPr lang="el-GR" altLang="el-GR" sz="2000" dirty="0"/>
              <a:t>αναπτύσσει το πρώτο </a:t>
            </a:r>
            <a:r>
              <a:rPr lang="el-GR" altLang="el-GR" sz="2000" dirty="0" err="1"/>
              <a:t>κυψελωτό</a:t>
            </a:r>
            <a:r>
              <a:rPr lang="el-GR" altLang="el-GR" sz="2000" dirty="0"/>
              <a:t> σύστημα κινητής τηλεφωνίας</a:t>
            </a:r>
          </a:p>
          <a:p>
            <a:pPr eaLnBrk="1" hangingPunct="1">
              <a:lnSpc>
                <a:spcPct val="80000"/>
              </a:lnSpc>
              <a:spcBef>
                <a:spcPct val="35000"/>
              </a:spcBef>
              <a:spcAft>
                <a:spcPts val="1200"/>
              </a:spcAft>
            </a:pPr>
            <a:r>
              <a:rPr lang="el-GR" altLang="el-GR" sz="2000" dirty="0"/>
              <a:t>1983</a:t>
            </a:r>
            <a:r>
              <a:rPr lang="en-US" altLang="el-GR" sz="2000" dirty="0"/>
              <a:t>:</a:t>
            </a:r>
            <a:r>
              <a:rPr lang="el-GR" altLang="el-GR" sz="2000" dirty="0"/>
              <a:t> Στις ΗΠΑ αναπτύσσεται το </a:t>
            </a:r>
            <a:r>
              <a:rPr lang="el-GR" altLang="el-GR" sz="2000" dirty="0" err="1"/>
              <a:t>Advanced</a:t>
            </a:r>
            <a:r>
              <a:rPr lang="el-GR" altLang="el-GR" sz="2000" dirty="0"/>
              <a:t> </a:t>
            </a:r>
            <a:r>
              <a:rPr lang="el-GR" altLang="el-GR" sz="2000" dirty="0" err="1"/>
              <a:t>Mobile</a:t>
            </a:r>
            <a:r>
              <a:rPr lang="el-GR" altLang="el-GR" sz="2000" dirty="0"/>
              <a:t> </a:t>
            </a:r>
            <a:r>
              <a:rPr lang="el-GR" altLang="el-GR" sz="2000" dirty="0" err="1"/>
              <a:t>Phone</a:t>
            </a:r>
            <a:r>
              <a:rPr lang="el-GR" altLang="el-GR" sz="2000" dirty="0"/>
              <a:t> </a:t>
            </a:r>
            <a:r>
              <a:rPr lang="el-GR" altLang="el-GR" sz="2000" dirty="0" err="1"/>
              <a:t>System</a:t>
            </a:r>
            <a:r>
              <a:rPr lang="el-GR" altLang="el-GR" sz="2000" dirty="0"/>
              <a:t> (</a:t>
            </a:r>
            <a:r>
              <a:rPr lang="el-GR" altLang="el-GR" sz="2000" dirty="0">
                <a:solidFill>
                  <a:srgbClr val="0070C0"/>
                </a:solidFill>
              </a:rPr>
              <a:t>AMPS</a:t>
            </a:r>
            <a:r>
              <a:rPr lang="el-GR" altLang="el-GR" sz="2000" dirty="0"/>
              <a:t>)  (στην 900 </a:t>
            </a:r>
            <a:r>
              <a:rPr lang="el-GR" altLang="el-GR" sz="2000" dirty="0" err="1"/>
              <a:t>MHz</a:t>
            </a:r>
            <a:r>
              <a:rPr lang="el-GR" altLang="el-GR" sz="2000" dirty="0"/>
              <a:t> </a:t>
            </a:r>
            <a:r>
              <a:rPr lang="el-GR" altLang="el-GR" sz="2000" dirty="0" err="1"/>
              <a:t>band</a:t>
            </a:r>
            <a:r>
              <a:rPr lang="el-GR" altLang="el-GR" sz="2000" dirty="0"/>
              <a:t>, με 666 </a:t>
            </a:r>
            <a:r>
              <a:rPr lang="el-GR" altLang="el-GR" sz="2000" dirty="0" err="1"/>
              <a:t>duplex</a:t>
            </a:r>
            <a:r>
              <a:rPr lang="el-GR" altLang="el-GR" sz="2000" dirty="0"/>
              <a:t> </a:t>
            </a:r>
            <a:r>
              <a:rPr lang="el-GR" altLang="el-GR" sz="2000" dirty="0" err="1"/>
              <a:t>channels</a:t>
            </a:r>
            <a:r>
              <a:rPr lang="el-GR" altLang="el-GR" sz="2000" dirty="0"/>
              <a:t>)</a:t>
            </a:r>
          </a:p>
          <a:p>
            <a:pPr eaLnBrk="1" hangingPunct="1">
              <a:lnSpc>
                <a:spcPct val="80000"/>
              </a:lnSpc>
              <a:spcBef>
                <a:spcPct val="35000"/>
              </a:spcBef>
              <a:spcAft>
                <a:spcPts val="1200"/>
              </a:spcAft>
            </a:pPr>
            <a:r>
              <a:rPr lang="el-GR" altLang="el-GR" sz="2000" dirty="0"/>
              <a:t>1989</a:t>
            </a:r>
            <a:r>
              <a:rPr lang="en-US" altLang="el-GR" sz="2000" dirty="0"/>
              <a:t>:</a:t>
            </a:r>
            <a:r>
              <a:rPr lang="el-GR" altLang="el-GR" sz="2000" dirty="0"/>
              <a:t>  Ανακοινώνεται το πρώτο ψηφιακό πρότυπο κινητής τηλεφωνίας (από το ευρωπαϊκό </a:t>
            </a:r>
            <a:r>
              <a:rPr lang="el-GR" altLang="el-GR" sz="2000" dirty="0" err="1"/>
              <a:t>Groupe</a:t>
            </a:r>
            <a:r>
              <a:rPr lang="el-GR" altLang="el-GR" sz="2000" dirty="0"/>
              <a:t> </a:t>
            </a:r>
            <a:r>
              <a:rPr lang="el-GR" altLang="el-GR" sz="2000" dirty="0" err="1"/>
              <a:t>Spècial</a:t>
            </a:r>
            <a:r>
              <a:rPr lang="el-GR" altLang="el-GR" sz="2000" dirty="0"/>
              <a:t> </a:t>
            </a:r>
            <a:r>
              <a:rPr lang="el-GR" altLang="el-GR" sz="2000" dirty="0" err="1"/>
              <a:t>Mobile</a:t>
            </a:r>
            <a:r>
              <a:rPr lang="el-GR" altLang="el-GR" sz="2000" dirty="0"/>
              <a:t> – </a:t>
            </a:r>
            <a:r>
              <a:rPr lang="el-GR" altLang="el-GR" sz="2000" dirty="0">
                <a:solidFill>
                  <a:srgbClr val="0070C0"/>
                </a:solidFill>
              </a:rPr>
              <a:t>GSM</a:t>
            </a:r>
            <a:r>
              <a:rPr lang="el-GR" altLang="el-GR" sz="2000" dirty="0"/>
              <a:t>) </a:t>
            </a:r>
          </a:p>
          <a:p>
            <a:pPr eaLnBrk="1" hangingPunct="1">
              <a:lnSpc>
                <a:spcPct val="80000"/>
              </a:lnSpc>
              <a:spcBef>
                <a:spcPct val="35000"/>
              </a:spcBef>
              <a:spcAft>
                <a:spcPts val="1200"/>
              </a:spcAft>
            </a:pPr>
            <a:r>
              <a:rPr lang="el-GR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2G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 3G  4G  </a:t>
            </a:r>
            <a:r>
              <a:rPr lang="en-US" sz="2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5G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  B5G  6G 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l-GR" dirty="0">
                <a:sym typeface="Wingdings" panose="05000000000000000000" pitchFamily="2" charset="2"/>
              </a:rPr>
              <a:t>αλλαγή γενιάς ανά ~8-10 χρόνια)</a:t>
            </a:r>
            <a:endParaRPr lang="el-G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B5A87E8E-4ADB-4E1F-8141-8DC993D5D9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01762" name="Rectangle 2">
            <a:extLst>
              <a:ext uri="{FF2B5EF4-FFF2-40B4-BE49-F238E27FC236}">
                <a16:creationId xmlns:a16="http://schemas.microsoft.com/office/drawing/2014/main" id="{2680B85C-54B9-4BA5-9389-9B0ACA50F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2400" dirty="0"/>
              <a:t>Επισκόπηση Τεχνολογικών Εξελίξεων στις </a:t>
            </a:r>
            <a:r>
              <a:rPr lang="el-GR" sz="2400" dirty="0" err="1"/>
              <a:t>Τηλ</a:t>
            </a:r>
            <a:r>
              <a:rPr lang="el-GR" sz="2400" dirty="0"/>
              <a:t>/νιες</a:t>
            </a:r>
            <a:endParaRPr lang="en-GB" sz="2400" dirty="0"/>
          </a:p>
        </p:txBody>
      </p:sp>
      <p:sp>
        <p:nvSpPr>
          <p:cNvPr id="501763" name="Rectangle 3">
            <a:extLst>
              <a:ext uri="{FF2B5EF4-FFF2-40B4-BE49-F238E27FC236}">
                <a16:creationId xmlns:a16="http://schemas.microsoft.com/office/drawing/2014/main" id="{766F414D-C12E-43FE-AA23-FFC9F19C86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9639" y="980728"/>
            <a:ext cx="8804721" cy="5715000"/>
          </a:xfrm>
        </p:spPr>
        <p:txBody>
          <a:bodyPr/>
          <a:lstStyle/>
          <a:p>
            <a:pPr marL="0" indent="0">
              <a:buNone/>
            </a:pPr>
            <a:r>
              <a:rPr lang="en-US" altLang="el-GR" sz="2400" dirty="0"/>
              <a:t>5G specs: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B5B5B"/>
                </a:solidFill>
                <a:effectLst/>
                <a:latin typeface="gibson"/>
              </a:rPr>
              <a:t>Up to 10Gbps data rate - &gt; 10 to 100x speed improvement over 4G and 4.5G networks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B5B5B"/>
                </a:solidFill>
                <a:effectLst/>
                <a:latin typeface="gibson"/>
              </a:rPr>
              <a:t>1-millisecond latency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B5B5B"/>
                </a:solidFill>
                <a:effectLst/>
                <a:latin typeface="gibson"/>
              </a:rPr>
              <a:t>1000x bandwidth per unit area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B5B5B"/>
                </a:solidFill>
                <a:effectLst/>
                <a:latin typeface="gibson"/>
              </a:rPr>
              <a:t>Up to 100x number of connected devices per unit area (compared with 4G LTE)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B5B5B"/>
                </a:solidFill>
                <a:effectLst/>
                <a:latin typeface="gibson"/>
              </a:rPr>
              <a:t>99.999% availability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B5B5B"/>
                </a:solidFill>
                <a:effectLst/>
                <a:latin typeface="gibson"/>
              </a:rPr>
              <a:t>100% coverage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B5B5B"/>
                </a:solidFill>
                <a:effectLst/>
                <a:latin typeface="gibson"/>
              </a:rPr>
              <a:t>90% reduction in network energy usage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B5B5B"/>
                </a:solidFill>
                <a:effectLst/>
                <a:latin typeface="gibson"/>
              </a:rPr>
              <a:t>Up to 10-year battery life for low power IoT device</a:t>
            </a:r>
          </a:p>
          <a:p>
            <a:pPr marL="358775" lvl="1" indent="0" eaLnBrk="1" hangingPunct="1">
              <a:spcAft>
                <a:spcPts val="600"/>
              </a:spcAft>
              <a:buNone/>
              <a:defRPr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789153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CF68EF26-0994-4879-9865-C7C937A293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02788" name="Rectangle 4">
            <a:extLst>
              <a:ext uri="{FF2B5EF4-FFF2-40B4-BE49-F238E27FC236}">
                <a16:creationId xmlns:a16="http://schemas.microsoft.com/office/drawing/2014/main" id="{17B2EBC2-CAC9-4312-951D-D42996952B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2400" dirty="0"/>
              <a:t>Επισκόπηση Τεχνολογικών Εξελίξεων στις </a:t>
            </a:r>
            <a:r>
              <a:rPr lang="el-GR" sz="2400" dirty="0" err="1"/>
              <a:t>Τηλ</a:t>
            </a:r>
            <a:r>
              <a:rPr lang="el-GR" sz="2400" dirty="0"/>
              <a:t>/νιες</a:t>
            </a:r>
            <a:endParaRPr lang="en-GB" sz="2400" dirty="0"/>
          </a:p>
        </p:txBody>
      </p:sp>
      <p:sp>
        <p:nvSpPr>
          <p:cNvPr id="502789" name="Rectangle 5">
            <a:extLst>
              <a:ext uri="{FF2B5EF4-FFF2-40B4-BE49-F238E27FC236}">
                <a16:creationId xmlns:a16="http://schemas.microsoft.com/office/drawing/2014/main" id="{3DECFB61-0744-4D27-8E10-BE85DD27E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36613"/>
            <a:ext cx="2416175" cy="5715000"/>
          </a:xfrm>
        </p:spPr>
        <p:txBody>
          <a:bodyPr/>
          <a:lstStyle/>
          <a:p>
            <a:pPr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Τα τελευταία </a:t>
            </a:r>
            <a:r>
              <a:rPr lang="en-US" dirty="0">
                <a:solidFill>
                  <a:srgbClr val="0033CC"/>
                </a:solidFill>
              </a:rPr>
              <a:t>70</a:t>
            </a:r>
            <a:r>
              <a:rPr lang="el-GR" dirty="0">
                <a:solidFill>
                  <a:srgbClr val="0033CC"/>
                </a:solidFill>
              </a:rPr>
              <a:t> χρόνια</a:t>
            </a:r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Τεχνολογικές Εξελίξεις</a:t>
            </a:r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Θεωρητικές Εξελίξεις</a:t>
            </a:r>
          </a:p>
        </p:txBody>
      </p:sp>
      <p:sp>
        <p:nvSpPr>
          <p:cNvPr id="502790" name="Rectangle 6">
            <a:extLst>
              <a:ext uri="{FF2B5EF4-FFF2-40B4-BE49-F238E27FC236}">
                <a16:creationId xmlns:a16="http://schemas.microsoft.com/office/drawing/2014/main" id="{9DB52AA0-2270-4A4B-A700-16EE534CC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809625"/>
            <a:ext cx="6078538" cy="5715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91430" tIns="45715" rIns="91430" bIns="45715"/>
          <a:lstStyle/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Δορυφορικές Επικοινωνίες</a:t>
            </a: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Οπτικές Επικοινωνίες</a:t>
            </a: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Κινητές (Κυψελωτές) Ασύρματες Επικοινωνίες</a:t>
            </a: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Αναλογικά </a:t>
            </a: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sym typeface="Wingdings" pitchFamily="2" charset="2"/>
              </a:rPr>
              <a:t></a:t>
            </a: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Ψηφιακά Συστήματα</a:t>
            </a:r>
          </a:p>
          <a:p>
            <a:pPr marL="742950" lvl="1" indent="-285750" eaLnBrk="1" hangingPunct="1"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defRPr/>
            </a:pPr>
            <a:endParaRPr lang="el-GR" sz="1000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transistor</a:t>
            </a:r>
            <a:endParaRPr lang="el-GR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ολοκληρωμένα κυκλώματα</a:t>
            </a: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οπτοηλεκτρονική</a:t>
            </a: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παραγωγή και ενίσχυση μικροκυμάτων</a:t>
            </a: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τεχνολογία κεραιών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FontTx/>
              <a:buChar char="–"/>
              <a:defRPr/>
            </a:pPr>
            <a:endParaRPr lang="el-GR" sz="800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defRPr/>
            </a:pPr>
            <a:endParaRPr lang="el-GR" sz="800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defRPr/>
            </a:pPr>
            <a:endParaRPr lang="el-GR" sz="800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Θεωρία Πληροφορίας</a:t>
            </a: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Τεχνικές διαμόρφωσης</a:t>
            </a: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Αλγόριθμοι επεξεργασίας σήματος</a:t>
            </a: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ΜΙΜΟ / Συνεργατικές επικοινωνίες / Γνωσιακές επικοινωνίες 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Machine Learning for COM</a:t>
            </a:r>
          </a:p>
          <a:p>
            <a:pPr marL="742950" lvl="1" indent="-285750" eaLnBrk="1" hangingPunct="1">
              <a:buClr>
                <a:schemeClr val="tx1"/>
              </a:buClr>
              <a:buFontTx/>
              <a:buChar char="–"/>
              <a:defRPr/>
            </a:pPr>
            <a:endParaRPr lang="el-GR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82D0C54D-E33A-4E29-98AF-FC3E1D5702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38626" name="Rectangle 2">
            <a:extLst>
              <a:ext uri="{FF2B5EF4-FFF2-40B4-BE49-F238E27FC236}">
                <a16:creationId xmlns:a16="http://schemas.microsoft.com/office/drawing/2014/main" id="{AB18F9AD-D125-4552-9BA7-64E5E80D6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«Φρυκτωρία»</a:t>
            </a:r>
            <a:endParaRPr lang="en-US" sz="3200" dirty="0"/>
          </a:p>
        </p:txBody>
      </p:sp>
      <p:sp>
        <p:nvSpPr>
          <p:cNvPr id="538627" name="Rectangle 3">
            <a:extLst>
              <a:ext uri="{FF2B5EF4-FFF2-40B4-BE49-F238E27FC236}">
                <a16:creationId xmlns:a16="http://schemas.microsoft.com/office/drawing/2014/main" id="{52703193-FC3E-4E46-BCA3-75019A88A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62013"/>
            <a:ext cx="5135562" cy="4438650"/>
          </a:xfrm>
        </p:spPr>
        <p:txBody>
          <a:bodyPr/>
          <a:lstStyle/>
          <a:p>
            <a:pPr eaLnBrk="1" hangingPunct="1">
              <a:defRPr/>
            </a:pPr>
            <a:r>
              <a:rPr lang="el-GR" sz="1800" dirty="0"/>
              <a:t>Το πρώτο σύστημα ασύρματης ψηφιακής επικοινωνίας</a:t>
            </a:r>
            <a:endParaRPr lang="en-US" sz="1800" dirty="0"/>
          </a:p>
          <a:p>
            <a:pPr eaLnBrk="1" hangingPunct="1">
              <a:defRPr/>
            </a:pPr>
            <a:r>
              <a:rPr lang="el-GR" sz="1800" dirty="0"/>
              <a:t>Στην πρώτη μορφή του συναντάται ήδη πριν το 1100 π.Χ.</a:t>
            </a:r>
          </a:p>
          <a:p>
            <a:pPr eaLnBrk="1" hangingPunct="1">
              <a:defRPr/>
            </a:pPr>
            <a:r>
              <a:rPr lang="el-GR" sz="1800" dirty="0"/>
              <a:t>Διαδοχικά βελτιώθηκε τεχνολογικά και επεκτάθηκε σε ολόκληρη την Ελληνική επικράτεια</a:t>
            </a:r>
          </a:p>
          <a:p>
            <a:pPr eaLnBrk="1" hangingPunct="1">
              <a:defRPr/>
            </a:pPr>
            <a:r>
              <a:rPr lang="el-GR" sz="1800" dirty="0"/>
              <a:t>Μια ώριμη μορφή του, η </a:t>
            </a:r>
            <a:r>
              <a:rPr lang="el-GR" sz="1800" dirty="0" err="1"/>
              <a:t>Πυρσεία</a:t>
            </a:r>
            <a:r>
              <a:rPr lang="el-GR" sz="1800" dirty="0"/>
              <a:t> (~150πχ, περιγράφεται από τον αρχαίο ιστορικό Πολύβιο) φαίνεται στο σχήμα</a:t>
            </a:r>
            <a:endParaRPr lang="el-GR" sz="1800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r>
              <a:rPr lang="el-GR" sz="1800" dirty="0">
                <a:solidFill>
                  <a:srgbClr val="0033CC"/>
                </a:solidFill>
              </a:rPr>
              <a:t>Σύστημα Αναμετάδοσης</a:t>
            </a:r>
            <a:r>
              <a:rPr lang="en-US" sz="1800" dirty="0"/>
              <a:t>: </a:t>
            </a:r>
            <a:r>
              <a:rPr lang="el-GR" sz="1800" dirty="0"/>
              <a:t>το ελληνικό αλφάβητο διαιρείται σε </a:t>
            </a:r>
            <a:r>
              <a:rPr lang="el-GR" sz="1800" dirty="0">
                <a:solidFill>
                  <a:srgbClr val="0033CC"/>
                </a:solidFill>
              </a:rPr>
              <a:t>5 τμήματα διαδοχικών γραμμάτων. Υπάρχουν δ</a:t>
            </a:r>
            <a:r>
              <a:rPr lang="el-GR" sz="1800" dirty="0"/>
              <a:t>ύο ομάδες από 5 πυρσούς η κάθε μία. </a:t>
            </a:r>
            <a:endParaRPr lang="el-GR" sz="1800" dirty="0">
              <a:solidFill>
                <a:srgbClr val="0033CC"/>
              </a:solidFill>
            </a:endParaRPr>
          </a:p>
        </p:txBody>
      </p:sp>
      <p:pic>
        <p:nvPicPr>
          <p:cNvPr id="17413" name="Picture 4" descr="frictoria">
            <a:extLst>
              <a:ext uri="{FF2B5EF4-FFF2-40B4-BE49-F238E27FC236}">
                <a16:creationId xmlns:a16="http://schemas.microsoft.com/office/drawing/2014/main" id="{CCDFBD0D-5384-48F5-A6BC-542475C9A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838200"/>
            <a:ext cx="2940050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8629" name="Rectangle 5">
            <a:extLst>
              <a:ext uri="{FF2B5EF4-FFF2-40B4-BE49-F238E27FC236}">
                <a16:creationId xmlns:a16="http://schemas.microsoft.com/office/drawing/2014/main" id="{6B4CE4DB-2183-4ADB-A35B-062E6B1C3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29200"/>
            <a:ext cx="8229600" cy="13716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91430" tIns="45715" rIns="91430" bIns="45715"/>
          <a:lstStyle/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–"/>
              <a:defRPr/>
            </a:pPr>
            <a:r>
              <a:rPr lang="el-GR" sz="18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Πρώτη ομάδα:</a:t>
            </a:r>
            <a:r>
              <a:rPr lang="el-GR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ο αριθμός των αναμμένων πυρσών δείχνει σε πιο τμήμα γραμμάτων αναφερόμαστε 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–"/>
              <a:defRPr/>
            </a:pPr>
            <a:r>
              <a:rPr lang="el-GR" sz="18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Δεύτερη ομάδα</a:t>
            </a:r>
            <a:r>
              <a:rPr lang="el-GR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: ο αριθμός των αναμμένων πυρσών δείχνει το συγκεκριμένο γράμμα από το τμήμα αυτό</a:t>
            </a:r>
            <a:endParaRPr lang="en-US" sz="1800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41A6D135-EE00-440E-A3E2-9B2C76892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04838" name="Rectangle 6">
            <a:extLst>
              <a:ext uri="{FF2B5EF4-FFF2-40B4-BE49-F238E27FC236}">
                <a16:creationId xmlns:a16="http://schemas.microsoft.com/office/drawing/2014/main" id="{7F63B2CF-1149-4F68-A947-DE2A16B79A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«Φρυκτωρία» (2)</a:t>
            </a:r>
            <a:endParaRPr lang="en-US" sz="3200" dirty="0"/>
          </a:p>
        </p:txBody>
      </p:sp>
      <p:sp>
        <p:nvSpPr>
          <p:cNvPr id="504839" name="Rectangle 7">
            <a:extLst>
              <a:ext uri="{FF2B5EF4-FFF2-40B4-BE49-F238E27FC236}">
                <a16:creationId xmlns:a16="http://schemas.microsoft.com/office/drawing/2014/main" id="{BBB4F91F-5C6F-4FAB-90F4-FF308778F0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012825"/>
            <a:ext cx="4681538" cy="3429000"/>
          </a:xfrm>
        </p:spPr>
        <p:txBody>
          <a:bodyPr/>
          <a:lstStyle/>
          <a:p>
            <a:pPr eaLnBrk="1" hangingPunct="1">
              <a:spcAft>
                <a:spcPts val="600"/>
              </a:spcAft>
              <a:defRPr/>
            </a:pPr>
            <a:r>
              <a:rPr lang="el-GR" dirty="0"/>
              <a:t>Οι πυρσοί ήταν πάντοτε αναμμένοι και καλύπτονταν ή απο-καλύπτονταν ανάλογα με τον προς μετάδοση χαρακτήρα</a:t>
            </a:r>
            <a:endParaRPr lang="en-US" dirty="0"/>
          </a:p>
          <a:p>
            <a:pPr eaLnBrk="1" hangingPunct="1">
              <a:defRPr/>
            </a:pPr>
            <a:r>
              <a:rPr lang="el-GR" dirty="0"/>
              <a:t>Ένα μήνυμα μπορούσε να μεταδοθεί σε αποστάσεις πάνω από </a:t>
            </a:r>
            <a:r>
              <a:rPr lang="en-US" dirty="0"/>
              <a:t>1000km </a:t>
            </a:r>
            <a:r>
              <a:rPr lang="el-GR" dirty="0"/>
              <a:t>σε λιγότερο από</a:t>
            </a:r>
            <a:r>
              <a:rPr lang="en-US" dirty="0"/>
              <a:t> 1h</a:t>
            </a:r>
            <a:r>
              <a:rPr lang="el-GR" dirty="0"/>
              <a:t> </a:t>
            </a:r>
            <a:endParaRPr lang="en-US" dirty="0"/>
          </a:p>
        </p:txBody>
      </p:sp>
      <p:pic>
        <p:nvPicPr>
          <p:cNvPr id="19461" name="Picture 5" descr="img_537afe3908a9">
            <a:extLst>
              <a:ext uri="{FF2B5EF4-FFF2-40B4-BE49-F238E27FC236}">
                <a16:creationId xmlns:a16="http://schemas.microsoft.com/office/drawing/2014/main" id="{504318DD-21BA-4F56-B617-03E7647EC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513" y="908050"/>
            <a:ext cx="3957637" cy="387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4840" name="Rectangle 8">
            <a:extLst>
              <a:ext uri="{FF2B5EF4-FFF2-40B4-BE49-F238E27FC236}">
                <a16:creationId xmlns:a16="http://schemas.microsoft.com/office/drawing/2014/main" id="{00CA4DFA-D184-4DD8-AC9C-C618434F0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500438"/>
            <a:ext cx="4332288" cy="14287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91430" tIns="45715" rIns="91430" bIns="45715"/>
          <a:lstStyle/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el-GR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Ενδιαφέρον:</a:t>
            </a: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οι θέσεις των «σταθμών αναμετάδοσης» ήταν περίπου οι ίδιες με αυτές που χρησιμοποιούνται από τα σύγχρονα ασύρματα τηλεπικοινωνιακά δίκτυα</a:t>
            </a:r>
            <a:endParaRPr lang="en-GB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800CFB7-7D43-4A8E-9B05-1A5118459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5716588"/>
            <a:ext cx="8740775" cy="66516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91430" tIns="45715" rIns="91430" bIns="45715"/>
          <a:lstStyle/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  <a:defRPr/>
            </a:pPr>
            <a:r>
              <a:rPr lang="el-GR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Βυζάντιο:  </a:t>
            </a: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Καμινοβίγλες και Ωρονόμιο</a:t>
            </a:r>
            <a:endParaRPr lang="en-GB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41A6D135-EE00-440E-A3E2-9B2C76892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04838" name="Rectangle 6">
            <a:extLst>
              <a:ext uri="{FF2B5EF4-FFF2-40B4-BE49-F238E27FC236}">
                <a16:creationId xmlns:a16="http://schemas.microsoft.com/office/drawing/2014/main" id="{7F63B2CF-1149-4F68-A947-DE2A16B79A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>
                <a:solidFill>
                  <a:srgbClr val="0033CC"/>
                </a:solidFill>
              </a:rPr>
              <a:t>Τι μάθαμε από την ιστορική αναδρομή;</a:t>
            </a:r>
            <a:endParaRPr lang="en-US" sz="3200" dirty="0">
              <a:solidFill>
                <a:srgbClr val="0033CC"/>
              </a:solidFill>
            </a:endParaRPr>
          </a:p>
        </p:txBody>
      </p:sp>
      <p:sp>
        <p:nvSpPr>
          <p:cNvPr id="504839" name="Rectangle 7">
            <a:extLst>
              <a:ext uri="{FF2B5EF4-FFF2-40B4-BE49-F238E27FC236}">
                <a16:creationId xmlns:a16="http://schemas.microsoft.com/office/drawing/2014/main" id="{BBB4F91F-5C6F-4FAB-90F4-FF308778F0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24744"/>
            <a:ext cx="8512175" cy="3429000"/>
          </a:xfrm>
        </p:spPr>
        <p:txBody>
          <a:bodyPr/>
          <a:lstStyle/>
          <a:p>
            <a:pPr eaLnBrk="1" hangingPunct="1">
              <a:spcAft>
                <a:spcPts val="1200"/>
              </a:spcAft>
              <a:defRPr/>
            </a:pPr>
            <a:r>
              <a:rPr lang="el-GR" sz="2400" dirty="0"/>
              <a:t>Αναγνώριση των σημαντικών σταθμών και των πυλώνων της ανάπτυξης των Τηλεπικοινωνιών.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lang="el-GR" sz="2400" dirty="0"/>
              <a:t>Βασικές επινοήσεις (ανακαλύψεις, εφευρέσεις) συχνά με απρόβλεπτο χαρακτήρα.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lang="el-GR" sz="2400" dirty="0"/>
              <a:t>Κύρια βήματα της τεχνολογικής προόδου (κάπως λιγότερο απρόβλεπτα).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lang="el-GR" sz="2400" dirty="0"/>
              <a:t>Διαπίστωση της ανάγκης για συνέργεια επιστημών και επιστημόνων.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lang="en-US" sz="2400" dirty="0"/>
              <a:t>“</a:t>
            </a:r>
            <a:r>
              <a:rPr lang="el-GR" sz="2400" dirty="0"/>
              <a:t>Αφανείς ήρωες</a:t>
            </a:r>
            <a:r>
              <a:rPr lang="en-US" sz="2400" dirty="0"/>
              <a:t>”</a:t>
            </a:r>
            <a:r>
              <a:rPr lang="el-GR" sz="2400" dirty="0"/>
              <a:t> με καθοριστική συμβολή.</a:t>
            </a:r>
          </a:p>
          <a:p>
            <a:pPr eaLnBrk="1" hangingPunct="1">
              <a:spcAft>
                <a:spcPts val="600"/>
              </a:spcAft>
              <a:defRPr/>
            </a:pPr>
            <a:endParaRPr lang="el-GR" dirty="0"/>
          </a:p>
          <a:p>
            <a:pPr eaLnBrk="1" hangingPunct="1">
              <a:spcAft>
                <a:spcPts val="60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040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4D4828FE-DBC2-485F-87DA-7104B47A03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05858" name="Rectangle 2">
            <a:extLst>
              <a:ext uri="{FF2B5EF4-FFF2-40B4-BE49-F238E27FC236}">
                <a16:creationId xmlns:a16="http://schemas.microsoft.com/office/drawing/2014/main" id="{FFEE0FF9-8B2F-4A19-BECB-B3E4770FE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Είδη Τηλ/κων Συστημάτων</a:t>
            </a:r>
            <a:endParaRPr lang="en-US" sz="3200" dirty="0"/>
          </a:p>
        </p:txBody>
      </p:sp>
      <p:sp>
        <p:nvSpPr>
          <p:cNvPr id="505859" name="Rectangle 3">
            <a:extLst>
              <a:ext uri="{FF2B5EF4-FFF2-40B4-BE49-F238E27FC236}">
                <a16:creationId xmlns:a16="http://schemas.microsoft.com/office/drawing/2014/main" id="{43D03D3B-FA5B-423C-8C19-DFED1F63B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82650"/>
            <a:ext cx="8305800" cy="5715000"/>
          </a:xfrm>
        </p:spPr>
        <p:txBody>
          <a:bodyPr/>
          <a:lstStyle/>
          <a:p>
            <a:pPr lvl="1" eaLnBrk="1" hangingPunct="1">
              <a:spcAft>
                <a:spcPts val="600"/>
              </a:spcAft>
              <a:defRPr/>
            </a:pPr>
            <a:r>
              <a:rPr lang="el-GR" dirty="0"/>
              <a:t>Τηλεπικοινωνιακά συστήματα</a:t>
            </a:r>
          </a:p>
          <a:p>
            <a:pPr lvl="2" eaLnBrk="1" hangingPunct="1">
              <a:defRPr/>
            </a:pPr>
            <a:r>
              <a:rPr lang="el-GR" dirty="0"/>
              <a:t>πολλά διαφορετικά συστήματα</a:t>
            </a:r>
            <a:r>
              <a:rPr lang="en-US" dirty="0"/>
              <a:t> </a:t>
            </a:r>
            <a:r>
              <a:rPr lang="en-US" dirty="0">
                <a:solidFill>
                  <a:srgbClr val="0033CC"/>
                </a:solidFill>
              </a:rPr>
              <a:t>(from molecule to deep space)</a:t>
            </a:r>
            <a:endParaRPr lang="el-GR" dirty="0">
              <a:solidFill>
                <a:srgbClr val="0033CC"/>
              </a:solidFill>
            </a:endParaRPr>
          </a:p>
          <a:p>
            <a:pPr lvl="2" eaLnBrk="1" hangingPunct="1">
              <a:spcAft>
                <a:spcPts val="600"/>
              </a:spcAft>
              <a:defRPr/>
            </a:pPr>
            <a:r>
              <a:rPr lang="el-GR" dirty="0"/>
              <a:t>πολλοί διαφορετικοί τύποι πληροφορίας</a:t>
            </a:r>
            <a:endParaRPr lang="en-US" dirty="0"/>
          </a:p>
          <a:p>
            <a:pPr lvl="1" eaLnBrk="1" hangingPunct="1">
              <a:spcAft>
                <a:spcPts val="600"/>
              </a:spcAft>
              <a:defRPr/>
            </a:pPr>
            <a:r>
              <a:rPr lang="el-GR" dirty="0"/>
              <a:t>Σχεδιαστικές προκλήσεις σε θέματα</a:t>
            </a:r>
          </a:p>
          <a:p>
            <a:pPr lvl="2" eaLnBrk="1" hangingPunct="1">
              <a:defRPr/>
            </a:pPr>
            <a:r>
              <a:rPr lang="el-GR" dirty="0"/>
              <a:t>υλικού</a:t>
            </a:r>
          </a:p>
          <a:p>
            <a:pPr lvl="2" eaLnBrk="1" hangingPunct="1">
              <a:spcAft>
                <a:spcPts val="600"/>
              </a:spcAft>
              <a:defRPr/>
            </a:pPr>
            <a:r>
              <a:rPr lang="el-GR" dirty="0"/>
              <a:t>επεξεργασίας</a:t>
            </a:r>
          </a:p>
          <a:p>
            <a:pPr lvl="1" eaLnBrk="1" hangingPunct="1">
              <a:spcAft>
                <a:spcPts val="600"/>
              </a:spcAft>
              <a:defRPr/>
            </a:pPr>
            <a:r>
              <a:rPr lang="el-GR" dirty="0"/>
              <a:t>Αναπαράσταση πληροφορίας</a:t>
            </a:r>
          </a:p>
          <a:p>
            <a:pPr lvl="2" eaLnBrk="1" hangingPunct="1">
              <a:defRPr/>
            </a:pPr>
            <a:r>
              <a:rPr lang="el-GR" dirty="0"/>
              <a:t>αναλογικά σήματα</a:t>
            </a:r>
          </a:p>
          <a:p>
            <a:pPr lvl="2" eaLnBrk="1" hangingPunct="1">
              <a:spcAft>
                <a:spcPts val="600"/>
              </a:spcAft>
              <a:defRPr/>
            </a:pPr>
            <a:r>
              <a:rPr lang="el-GR" dirty="0"/>
              <a:t>σύμβολα</a:t>
            </a:r>
            <a:endParaRPr lang="en-US" dirty="0"/>
          </a:p>
          <a:p>
            <a:pPr lvl="1" eaLnBrk="1" hangingPunct="1">
              <a:defRPr/>
            </a:pPr>
            <a:r>
              <a:rPr lang="el-GR" dirty="0"/>
              <a:t>Αναλογικά, Διακριτά και Ψηφιακά Σήματα</a:t>
            </a:r>
            <a:endParaRPr lang="en-US" dirty="0"/>
          </a:p>
        </p:txBody>
      </p:sp>
      <p:grpSp>
        <p:nvGrpSpPr>
          <p:cNvPr id="21509" name="Group 4">
            <a:extLst>
              <a:ext uri="{FF2B5EF4-FFF2-40B4-BE49-F238E27FC236}">
                <a16:creationId xmlns:a16="http://schemas.microsoft.com/office/drawing/2014/main" id="{8E375113-ADC0-4A25-A94E-8371F8F7E6B2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5135563"/>
            <a:ext cx="8066088" cy="1389062"/>
            <a:chOff x="478" y="3375"/>
            <a:chExt cx="4995" cy="787"/>
          </a:xfrm>
        </p:grpSpPr>
        <p:grpSp>
          <p:nvGrpSpPr>
            <p:cNvPr id="21510" name="Group 5">
              <a:extLst>
                <a:ext uri="{FF2B5EF4-FFF2-40B4-BE49-F238E27FC236}">
                  <a16:creationId xmlns:a16="http://schemas.microsoft.com/office/drawing/2014/main" id="{F939F009-1E27-49DE-B28E-5490F5B0D8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" y="3380"/>
              <a:ext cx="1592" cy="777"/>
              <a:chOff x="477" y="3482"/>
              <a:chExt cx="1592" cy="619"/>
            </a:xfrm>
          </p:grpSpPr>
          <p:sp>
            <p:nvSpPr>
              <p:cNvPr id="21553" name="Text Box 6">
                <a:extLst>
                  <a:ext uri="{FF2B5EF4-FFF2-40B4-BE49-F238E27FC236}">
                    <a16:creationId xmlns:a16="http://schemas.microsoft.com/office/drawing/2014/main" id="{858490A1-1D2A-435C-A937-DF10F3AACC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8" y="3895"/>
                <a:ext cx="161" cy="2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l-GR" sz="2400" i="1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t</a:t>
                </a:r>
              </a:p>
            </p:txBody>
          </p:sp>
          <p:grpSp>
            <p:nvGrpSpPr>
              <p:cNvPr id="21554" name="Group 7">
                <a:extLst>
                  <a:ext uri="{FF2B5EF4-FFF2-40B4-BE49-F238E27FC236}">
                    <a16:creationId xmlns:a16="http://schemas.microsoft.com/office/drawing/2014/main" id="{785DF287-DCA2-44B6-AEC2-7AEAFEBAC8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7" y="3482"/>
                <a:ext cx="1466" cy="522"/>
                <a:chOff x="651" y="3464"/>
                <a:chExt cx="1466" cy="522"/>
              </a:xfrm>
            </p:grpSpPr>
            <p:sp>
              <p:nvSpPr>
                <p:cNvPr id="21555" name="Line 8">
                  <a:extLst>
                    <a:ext uri="{FF2B5EF4-FFF2-40B4-BE49-F238E27FC236}">
                      <a16:creationId xmlns:a16="http://schemas.microsoft.com/office/drawing/2014/main" id="{89C45CA6-2E8D-4442-91FF-14A39D19B8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29" y="3560"/>
                  <a:ext cx="0" cy="42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l-GR"/>
                </a:p>
              </p:txBody>
            </p:sp>
            <p:sp>
              <p:nvSpPr>
                <p:cNvPr id="21556" name="Line 9">
                  <a:extLst>
                    <a:ext uri="{FF2B5EF4-FFF2-40B4-BE49-F238E27FC236}">
                      <a16:creationId xmlns:a16="http://schemas.microsoft.com/office/drawing/2014/main" id="{08A52170-D8A7-41E5-A139-CEC7A193C0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38" y="3979"/>
                  <a:ext cx="1079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l-GR"/>
                </a:p>
              </p:txBody>
            </p:sp>
            <p:sp>
              <p:nvSpPr>
                <p:cNvPr id="21557" name="Freeform 10">
                  <a:extLst>
                    <a:ext uri="{FF2B5EF4-FFF2-40B4-BE49-F238E27FC236}">
                      <a16:creationId xmlns:a16="http://schemas.microsoft.com/office/drawing/2014/main" id="{F8BF79C3-ED72-4897-8E2A-2A525AC9B2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38" y="3670"/>
                  <a:ext cx="1032" cy="195"/>
                </a:xfrm>
                <a:custGeom>
                  <a:avLst/>
                  <a:gdLst>
                    <a:gd name="T0" fmla="*/ 0 w 1332"/>
                    <a:gd name="T1" fmla="*/ 1 h 340"/>
                    <a:gd name="T2" fmla="*/ 2 w 1332"/>
                    <a:gd name="T3" fmla="*/ 1 h 340"/>
                    <a:gd name="T4" fmla="*/ 2 w 1332"/>
                    <a:gd name="T5" fmla="*/ 1 h 340"/>
                    <a:gd name="T6" fmla="*/ 2 w 1332"/>
                    <a:gd name="T7" fmla="*/ 1 h 340"/>
                    <a:gd name="T8" fmla="*/ 2 w 1332"/>
                    <a:gd name="T9" fmla="*/ 1 h 340"/>
                    <a:gd name="T10" fmla="*/ 2 w 1332"/>
                    <a:gd name="T11" fmla="*/ 1 h 340"/>
                    <a:gd name="T12" fmla="*/ 2 w 1332"/>
                    <a:gd name="T13" fmla="*/ 1 h 340"/>
                    <a:gd name="T14" fmla="*/ 2 w 1332"/>
                    <a:gd name="T15" fmla="*/ 1 h 340"/>
                    <a:gd name="T16" fmla="*/ 2 w 1332"/>
                    <a:gd name="T17" fmla="*/ 1 h 340"/>
                    <a:gd name="T18" fmla="*/ 2 w 1332"/>
                    <a:gd name="T19" fmla="*/ 1 h 340"/>
                    <a:gd name="T20" fmla="*/ 2 w 1332"/>
                    <a:gd name="T21" fmla="*/ 1 h 340"/>
                    <a:gd name="T22" fmla="*/ 2 w 1332"/>
                    <a:gd name="T23" fmla="*/ 0 h 340"/>
                    <a:gd name="T24" fmla="*/ 2 w 1332"/>
                    <a:gd name="T25" fmla="*/ 1 h 340"/>
                    <a:gd name="T26" fmla="*/ 2 w 1332"/>
                    <a:gd name="T27" fmla="*/ 1 h 340"/>
                    <a:gd name="T28" fmla="*/ 2 w 1332"/>
                    <a:gd name="T29" fmla="*/ 1 h 340"/>
                    <a:gd name="T30" fmla="*/ 2 w 1332"/>
                    <a:gd name="T31" fmla="*/ 1 h 340"/>
                    <a:gd name="T32" fmla="*/ 2 w 1332"/>
                    <a:gd name="T33" fmla="*/ 1 h 340"/>
                    <a:gd name="T34" fmla="*/ 2 w 1332"/>
                    <a:gd name="T35" fmla="*/ 1 h 340"/>
                    <a:gd name="T36" fmla="*/ 2 w 1332"/>
                    <a:gd name="T37" fmla="*/ 1 h 340"/>
                    <a:gd name="T38" fmla="*/ 2 w 1332"/>
                    <a:gd name="T39" fmla="*/ 1 h 340"/>
                    <a:gd name="T40" fmla="*/ 2 w 1332"/>
                    <a:gd name="T41" fmla="*/ 1 h 340"/>
                    <a:gd name="T42" fmla="*/ 2 w 1332"/>
                    <a:gd name="T43" fmla="*/ 1 h 340"/>
                    <a:gd name="T44" fmla="*/ 2 w 1332"/>
                    <a:gd name="T45" fmla="*/ 1 h 34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1332"/>
                    <a:gd name="T70" fmla="*/ 0 h 340"/>
                    <a:gd name="T71" fmla="*/ 1332 w 1332"/>
                    <a:gd name="T72" fmla="*/ 340 h 34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1332" h="340">
                      <a:moveTo>
                        <a:pt x="0" y="156"/>
                      </a:moveTo>
                      <a:cubicBezTo>
                        <a:pt x="16" y="152"/>
                        <a:pt x="33" y="151"/>
                        <a:pt x="48" y="144"/>
                      </a:cubicBezTo>
                      <a:cubicBezTo>
                        <a:pt x="74" y="131"/>
                        <a:pt x="120" y="96"/>
                        <a:pt x="120" y="96"/>
                      </a:cubicBezTo>
                      <a:cubicBezTo>
                        <a:pt x="144" y="104"/>
                        <a:pt x="175" y="111"/>
                        <a:pt x="192" y="132"/>
                      </a:cubicBezTo>
                      <a:cubicBezTo>
                        <a:pt x="199" y="141"/>
                        <a:pt x="214" y="211"/>
                        <a:pt x="216" y="216"/>
                      </a:cubicBezTo>
                      <a:cubicBezTo>
                        <a:pt x="232" y="253"/>
                        <a:pt x="244" y="255"/>
                        <a:pt x="276" y="276"/>
                      </a:cubicBezTo>
                      <a:cubicBezTo>
                        <a:pt x="318" y="340"/>
                        <a:pt x="337" y="326"/>
                        <a:pt x="408" y="312"/>
                      </a:cubicBezTo>
                      <a:cubicBezTo>
                        <a:pt x="504" y="248"/>
                        <a:pt x="388" y="332"/>
                        <a:pt x="468" y="252"/>
                      </a:cubicBezTo>
                      <a:cubicBezTo>
                        <a:pt x="478" y="242"/>
                        <a:pt x="493" y="238"/>
                        <a:pt x="504" y="228"/>
                      </a:cubicBezTo>
                      <a:cubicBezTo>
                        <a:pt x="529" y="205"/>
                        <a:pt x="576" y="156"/>
                        <a:pt x="576" y="156"/>
                      </a:cubicBezTo>
                      <a:cubicBezTo>
                        <a:pt x="605" y="68"/>
                        <a:pt x="591" y="38"/>
                        <a:pt x="684" y="12"/>
                      </a:cubicBezTo>
                      <a:cubicBezTo>
                        <a:pt x="700" y="7"/>
                        <a:pt x="716" y="4"/>
                        <a:pt x="732" y="0"/>
                      </a:cubicBezTo>
                      <a:cubicBezTo>
                        <a:pt x="760" y="4"/>
                        <a:pt x="790" y="1"/>
                        <a:pt x="816" y="12"/>
                      </a:cubicBezTo>
                      <a:cubicBezTo>
                        <a:pt x="829" y="18"/>
                        <a:pt x="829" y="39"/>
                        <a:pt x="840" y="48"/>
                      </a:cubicBezTo>
                      <a:cubicBezTo>
                        <a:pt x="862" y="67"/>
                        <a:pt x="885" y="87"/>
                        <a:pt x="912" y="96"/>
                      </a:cubicBezTo>
                      <a:cubicBezTo>
                        <a:pt x="936" y="104"/>
                        <a:pt x="984" y="120"/>
                        <a:pt x="984" y="120"/>
                      </a:cubicBezTo>
                      <a:cubicBezTo>
                        <a:pt x="1008" y="112"/>
                        <a:pt x="1032" y="104"/>
                        <a:pt x="1056" y="96"/>
                      </a:cubicBezTo>
                      <a:cubicBezTo>
                        <a:pt x="1068" y="92"/>
                        <a:pt x="1092" y="84"/>
                        <a:pt x="1092" y="84"/>
                      </a:cubicBezTo>
                      <a:cubicBezTo>
                        <a:pt x="1121" y="94"/>
                        <a:pt x="1141" y="97"/>
                        <a:pt x="1164" y="120"/>
                      </a:cubicBezTo>
                      <a:cubicBezTo>
                        <a:pt x="1174" y="130"/>
                        <a:pt x="1177" y="147"/>
                        <a:pt x="1188" y="156"/>
                      </a:cubicBezTo>
                      <a:cubicBezTo>
                        <a:pt x="1210" y="175"/>
                        <a:pt x="1236" y="188"/>
                        <a:pt x="1260" y="204"/>
                      </a:cubicBezTo>
                      <a:cubicBezTo>
                        <a:pt x="1271" y="211"/>
                        <a:pt x="1285" y="210"/>
                        <a:pt x="1296" y="216"/>
                      </a:cubicBezTo>
                      <a:cubicBezTo>
                        <a:pt x="1309" y="222"/>
                        <a:pt x="1332" y="240"/>
                        <a:pt x="1332" y="240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33CC"/>
                  </a:solidFill>
                  <a:prstDash val="solid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l-GR"/>
                </a:p>
              </p:txBody>
            </p:sp>
            <p:sp>
              <p:nvSpPr>
                <p:cNvPr id="21558" name="Text Box 11">
                  <a:extLst>
                    <a:ext uri="{FF2B5EF4-FFF2-40B4-BE49-F238E27FC236}">
                      <a16:creationId xmlns:a16="http://schemas.microsoft.com/office/drawing/2014/main" id="{CF3C21CB-CE92-4493-BC55-5AF410B3CA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51" y="3464"/>
                  <a:ext cx="358" cy="2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l-GR" sz="2400" i="1">
                      <a:solidFill>
                        <a:srgbClr val="000000"/>
                      </a:solidFill>
                      <a:latin typeface="Garamond" panose="02020404030301010803" pitchFamily="18" charset="0"/>
                    </a:rPr>
                    <a:t>x(t)</a:t>
                  </a:r>
                </a:p>
              </p:txBody>
            </p:sp>
          </p:grpSp>
        </p:grpSp>
        <p:grpSp>
          <p:nvGrpSpPr>
            <p:cNvPr id="21511" name="Group 12">
              <a:extLst>
                <a:ext uri="{FF2B5EF4-FFF2-40B4-BE49-F238E27FC236}">
                  <a16:creationId xmlns:a16="http://schemas.microsoft.com/office/drawing/2014/main" id="{822EE2F6-8DC6-4227-BB90-2203A1FEA1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3" y="3375"/>
              <a:ext cx="1497" cy="786"/>
              <a:chOff x="2251" y="3387"/>
              <a:chExt cx="1497" cy="786"/>
            </a:xfrm>
          </p:grpSpPr>
          <p:sp>
            <p:nvSpPr>
              <p:cNvPr id="21536" name="Line 13">
                <a:extLst>
                  <a:ext uri="{FF2B5EF4-FFF2-40B4-BE49-F238E27FC236}">
                    <a16:creationId xmlns:a16="http://schemas.microsoft.com/office/drawing/2014/main" id="{8C2E5D4F-FBB5-4954-9E92-EDBA1BD536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7" y="3466"/>
                <a:ext cx="0" cy="53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37" name="Text Box 14">
                <a:extLst>
                  <a:ext uri="{FF2B5EF4-FFF2-40B4-BE49-F238E27FC236}">
                    <a16:creationId xmlns:a16="http://schemas.microsoft.com/office/drawing/2014/main" id="{2A7D8BCF-ACEC-4AED-90C6-3FCFC39CED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7" y="3914"/>
                <a:ext cx="161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l-GR" sz="2400" i="1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t</a:t>
                </a:r>
              </a:p>
            </p:txBody>
          </p:sp>
          <p:sp>
            <p:nvSpPr>
              <p:cNvPr id="21538" name="Text Box 15">
                <a:extLst>
                  <a:ext uri="{FF2B5EF4-FFF2-40B4-BE49-F238E27FC236}">
                    <a16:creationId xmlns:a16="http://schemas.microsoft.com/office/drawing/2014/main" id="{8419FB6A-0604-4EEC-BE31-C0CF5A76B2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1" y="3387"/>
                <a:ext cx="358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l-GR" sz="2400" i="1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x(t)</a:t>
                </a:r>
              </a:p>
            </p:txBody>
          </p:sp>
          <p:sp>
            <p:nvSpPr>
              <p:cNvPr id="21539" name="Line 16">
                <a:extLst>
                  <a:ext uri="{FF2B5EF4-FFF2-40B4-BE49-F238E27FC236}">
                    <a16:creationId xmlns:a16="http://schemas.microsoft.com/office/drawing/2014/main" id="{6412C279-4FB0-4049-A601-F5274ECC1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36" y="3992"/>
                <a:ext cx="99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40" name="Line 17">
                <a:extLst>
                  <a:ext uri="{FF2B5EF4-FFF2-40B4-BE49-F238E27FC236}">
                    <a16:creationId xmlns:a16="http://schemas.microsoft.com/office/drawing/2014/main" id="{66E666FE-B138-47CC-969F-81C6FF5BE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31" y="3872"/>
                <a:ext cx="146" cy="0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41" name="Line 18">
                <a:extLst>
                  <a:ext uri="{FF2B5EF4-FFF2-40B4-BE49-F238E27FC236}">
                    <a16:creationId xmlns:a16="http://schemas.microsoft.com/office/drawing/2014/main" id="{570C8B72-6FF1-4352-883E-4B0B50868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4" y="3630"/>
                <a:ext cx="154" cy="0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42" name="Line 19">
                <a:extLst>
                  <a:ext uri="{FF2B5EF4-FFF2-40B4-BE49-F238E27FC236}">
                    <a16:creationId xmlns:a16="http://schemas.microsoft.com/office/drawing/2014/main" id="{F19E9147-033A-42C1-878E-F1D9C2B662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4" y="3760"/>
                <a:ext cx="154" cy="0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43" name="Line 20">
                <a:extLst>
                  <a:ext uri="{FF2B5EF4-FFF2-40B4-BE49-F238E27FC236}">
                    <a16:creationId xmlns:a16="http://schemas.microsoft.com/office/drawing/2014/main" id="{74F2D856-99DD-447C-AED1-49740D8DA5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7" y="3990"/>
                <a:ext cx="146" cy="0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44" name="Line 21">
                <a:extLst>
                  <a:ext uri="{FF2B5EF4-FFF2-40B4-BE49-F238E27FC236}">
                    <a16:creationId xmlns:a16="http://schemas.microsoft.com/office/drawing/2014/main" id="{D378B8C1-C47B-458F-A186-B146BA554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0" y="3624"/>
                <a:ext cx="3" cy="254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45" name="Line 22">
                <a:extLst>
                  <a:ext uri="{FF2B5EF4-FFF2-40B4-BE49-F238E27FC236}">
                    <a16:creationId xmlns:a16="http://schemas.microsoft.com/office/drawing/2014/main" id="{3833AC21-A2F0-451C-8173-FA23DAACF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5" y="3762"/>
                <a:ext cx="146" cy="0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46" name="Line 23">
                <a:extLst>
                  <a:ext uri="{FF2B5EF4-FFF2-40B4-BE49-F238E27FC236}">
                    <a16:creationId xmlns:a16="http://schemas.microsoft.com/office/drawing/2014/main" id="{01D844D6-2AB9-42C0-91EC-CD6382CED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3" y="3876"/>
                <a:ext cx="152" cy="0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47" name="Line 24">
                <a:extLst>
                  <a:ext uri="{FF2B5EF4-FFF2-40B4-BE49-F238E27FC236}">
                    <a16:creationId xmlns:a16="http://schemas.microsoft.com/office/drawing/2014/main" id="{568C0FAC-D642-4887-A360-837C17696B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8" y="3635"/>
                <a:ext cx="146" cy="0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48" name="Line 25">
                <a:extLst>
                  <a:ext uri="{FF2B5EF4-FFF2-40B4-BE49-F238E27FC236}">
                    <a16:creationId xmlns:a16="http://schemas.microsoft.com/office/drawing/2014/main" id="{50AD8B3D-9DD4-43A7-AF7E-B520B96EF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22" y="3622"/>
                <a:ext cx="0" cy="142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49" name="Line 26">
                <a:extLst>
                  <a:ext uri="{FF2B5EF4-FFF2-40B4-BE49-F238E27FC236}">
                    <a16:creationId xmlns:a16="http://schemas.microsoft.com/office/drawing/2014/main" id="{9202D2B1-77EE-411D-B62D-6817BCDC5B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59" y="3762"/>
                <a:ext cx="0" cy="230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50" name="Line 27">
                <a:extLst>
                  <a:ext uri="{FF2B5EF4-FFF2-40B4-BE49-F238E27FC236}">
                    <a16:creationId xmlns:a16="http://schemas.microsoft.com/office/drawing/2014/main" id="{6C8A4442-28B3-4F57-AD85-3150EF4A06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01" y="3753"/>
                <a:ext cx="2" cy="244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51" name="Line 28">
                <a:extLst>
                  <a:ext uri="{FF2B5EF4-FFF2-40B4-BE49-F238E27FC236}">
                    <a16:creationId xmlns:a16="http://schemas.microsoft.com/office/drawing/2014/main" id="{05732CDB-6921-4185-9C48-593A23527E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6" y="3626"/>
                <a:ext cx="0" cy="254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1552" name="Line 29">
                <a:extLst>
                  <a:ext uri="{FF2B5EF4-FFF2-40B4-BE49-F238E27FC236}">
                    <a16:creationId xmlns:a16="http://schemas.microsoft.com/office/drawing/2014/main" id="{4313997B-241C-4E95-82E6-1CEC73786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6" y="3753"/>
                <a:ext cx="0" cy="132"/>
              </a:xfrm>
              <a:prstGeom prst="line">
                <a:avLst/>
              </a:prstGeom>
              <a:noFill/>
              <a:ln w="38100">
                <a:solidFill>
                  <a:srgbClr val="0033CC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</p:grpSp>
        <p:sp>
          <p:nvSpPr>
            <p:cNvPr id="21512" name="Line 30">
              <a:extLst>
                <a:ext uri="{FF2B5EF4-FFF2-40B4-BE49-F238E27FC236}">
                  <a16:creationId xmlns:a16="http://schemas.microsoft.com/office/drawing/2014/main" id="{16DCF104-BC0A-4085-9F0B-CC2621687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3430"/>
              <a:ext cx="1" cy="5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13" name="Line 31">
              <a:extLst>
                <a:ext uri="{FF2B5EF4-FFF2-40B4-BE49-F238E27FC236}">
                  <a16:creationId xmlns:a16="http://schemas.microsoft.com/office/drawing/2014/main" id="{09C3345A-8762-40AA-BA9E-2BE6037BE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5" y="3986"/>
              <a:ext cx="104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14" name="Text Box 32">
              <a:extLst>
                <a:ext uri="{FF2B5EF4-FFF2-40B4-BE49-F238E27FC236}">
                  <a16:creationId xmlns:a16="http://schemas.microsoft.com/office/drawing/2014/main" id="{3398E21F-B5F4-4580-993D-E39416D17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2" y="3903"/>
              <a:ext cx="161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2400" i="1">
                  <a:solidFill>
                    <a:srgbClr val="000000"/>
                  </a:solidFill>
                  <a:latin typeface="Garamond" panose="02020404030301010803" pitchFamily="18" charset="0"/>
                </a:rPr>
                <a:t>t</a:t>
              </a:r>
            </a:p>
          </p:txBody>
        </p:sp>
        <p:sp>
          <p:nvSpPr>
            <p:cNvPr id="21515" name="Text Box 33">
              <a:extLst>
                <a:ext uri="{FF2B5EF4-FFF2-40B4-BE49-F238E27FC236}">
                  <a16:creationId xmlns:a16="http://schemas.microsoft.com/office/drawing/2014/main" id="{7A6FD2F7-FEA1-4835-ABD9-0786313BB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5" y="3375"/>
              <a:ext cx="35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2400" i="1">
                  <a:solidFill>
                    <a:srgbClr val="000000"/>
                  </a:solidFill>
                  <a:latin typeface="Garamond" panose="02020404030301010803" pitchFamily="18" charset="0"/>
                </a:rPr>
                <a:t>x(t)</a:t>
              </a:r>
            </a:p>
          </p:txBody>
        </p:sp>
        <p:sp>
          <p:nvSpPr>
            <p:cNvPr id="21516" name="Line 34">
              <a:extLst>
                <a:ext uri="{FF2B5EF4-FFF2-40B4-BE49-F238E27FC236}">
                  <a16:creationId xmlns:a16="http://schemas.microsoft.com/office/drawing/2014/main" id="{3B83719D-96A0-4213-88DC-991CF6C5C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0" y="3863"/>
              <a:ext cx="153" cy="1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17" name="Line 35">
              <a:extLst>
                <a:ext uri="{FF2B5EF4-FFF2-40B4-BE49-F238E27FC236}">
                  <a16:creationId xmlns:a16="http://schemas.microsoft.com/office/drawing/2014/main" id="{0D0D77D0-3169-41B1-9EA2-C94278269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" y="3603"/>
              <a:ext cx="153" cy="1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18" name="Line 36">
              <a:extLst>
                <a:ext uri="{FF2B5EF4-FFF2-40B4-BE49-F238E27FC236}">
                  <a16:creationId xmlns:a16="http://schemas.microsoft.com/office/drawing/2014/main" id="{25F48F32-DB03-431E-B6DA-2402421F9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4" y="3861"/>
              <a:ext cx="153" cy="1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19" name="Line 37">
              <a:extLst>
                <a:ext uri="{FF2B5EF4-FFF2-40B4-BE49-F238E27FC236}">
                  <a16:creationId xmlns:a16="http://schemas.microsoft.com/office/drawing/2014/main" id="{897506FA-229A-442C-BB66-3FFC7E025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2" y="3594"/>
              <a:ext cx="2" cy="269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20" name="Line 38">
              <a:extLst>
                <a:ext uri="{FF2B5EF4-FFF2-40B4-BE49-F238E27FC236}">
                  <a16:creationId xmlns:a16="http://schemas.microsoft.com/office/drawing/2014/main" id="{CAFE590A-DAD8-4A11-81C9-08838CA86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5" y="3861"/>
              <a:ext cx="153" cy="1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21" name="Line 39">
              <a:extLst>
                <a:ext uri="{FF2B5EF4-FFF2-40B4-BE49-F238E27FC236}">
                  <a16:creationId xmlns:a16="http://schemas.microsoft.com/office/drawing/2014/main" id="{5359D750-F4C5-49A7-81E6-3BB4B8BBD8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7" y="3603"/>
              <a:ext cx="159" cy="1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22" name="Line 40">
              <a:extLst>
                <a:ext uri="{FF2B5EF4-FFF2-40B4-BE49-F238E27FC236}">
                  <a16:creationId xmlns:a16="http://schemas.microsoft.com/office/drawing/2014/main" id="{6BB875C8-6E13-4B7F-ABF4-15F891792E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76" y="3594"/>
              <a:ext cx="1" cy="274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23" name="Line 41">
              <a:extLst>
                <a:ext uri="{FF2B5EF4-FFF2-40B4-BE49-F238E27FC236}">
                  <a16:creationId xmlns:a16="http://schemas.microsoft.com/office/drawing/2014/main" id="{8B27F6FD-ECA9-4025-9874-3644E79947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0" y="3599"/>
              <a:ext cx="1" cy="269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24" name="Line 42">
              <a:extLst>
                <a:ext uri="{FF2B5EF4-FFF2-40B4-BE49-F238E27FC236}">
                  <a16:creationId xmlns:a16="http://schemas.microsoft.com/office/drawing/2014/main" id="{B1120A63-CFB1-4A48-A7DF-3733B24F9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" y="3599"/>
              <a:ext cx="3" cy="271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25" name="Line 43">
              <a:extLst>
                <a:ext uri="{FF2B5EF4-FFF2-40B4-BE49-F238E27FC236}">
                  <a16:creationId xmlns:a16="http://schemas.microsoft.com/office/drawing/2014/main" id="{433E5F70-9942-4383-BAE2-42963C12A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0" y="3863"/>
              <a:ext cx="153" cy="1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26" name="Line 44">
              <a:extLst>
                <a:ext uri="{FF2B5EF4-FFF2-40B4-BE49-F238E27FC236}">
                  <a16:creationId xmlns:a16="http://schemas.microsoft.com/office/drawing/2014/main" id="{C9CCEA3C-20F0-4DAA-B557-9877E8B51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0" y="3601"/>
              <a:ext cx="156" cy="2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27" name="Text Box 45">
              <a:extLst>
                <a:ext uri="{FF2B5EF4-FFF2-40B4-BE49-F238E27FC236}">
                  <a16:creationId xmlns:a16="http://schemas.microsoft.com/office/drawing/2014/main" id="{738237C7-6EEE-4F4F-887C-7198C7050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3" y="3418"/>
              <a:ext cx="177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600">
                  <a:solidFill>
                    <a:srgbClr val="0033CC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28" name="Text Box 46">
              <a:extLst>
                <a:ext uri="{FF2B5EF4-FFF2-40B4-BE49-F238E27FC236}">
                  <a16:creationId xmlns:a16="http://schemas.microsoft.com/office/drawing/2014/main" id="{50064B57-5717-4F6B-A532-291E6264D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9" y="3685"/>
              <a:ext cx="177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600">
                  <a:solidFill>
                    <a:srgbClr val="0033CC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29" name="Text Box 47">
              <a:extLst>
                <a:ext uri="{FF2B5EF4-FFF2-40B4-BE49-F238E27FC236}">
                  <a16:creationId xmlns:a16="http://schemas.microsoft.com/office/drawing/2014/main" id="{B6CA1D97-B52F-443A-B13C-F4F082B7B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9" y="3680"/>
              <a:ext cx="177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600">
                  <a:solidFill>
                    <a:srgbClr val="0033CC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30" name="Text Box 48">
              <a:extLst>
                <a:ext uri="{FF2B5EF4-FFF2-40B4-BE49-F238E27FC236}">
                  <a16:creationId xmlns:a16="http://schemas.microsoft.com/office/drawing/2014/main" id="{4062E0EF-15F2-4895-88D4-453C1FA07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3" y="3685"/>
              <a:ext cx="177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600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31" name="Text Box 49">
              <a:extLst>
                <a:ext uri="{FF2B5EF4-FFF2-40B4-BE49-F238E27FC236}">
                  <a16:creationId xmlns:a16="http://schemas.microsoft.com/office/drawing/2014/main" id="{5C32F71F-FF45-407E-861F-73F8CAB26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5" y="3422"/>
              <a:ext cx="177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600">
                  <a:solidFill>
                    <a:srgbClr val="0033CC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32" name="Text Box 50">
              <a:extLst>
                <a:ext uri="{FF2B5EF4-FFF2-40B4-BE49-F238E27FC236}">
                  <a16:creationId xmlns:a16="http://schemas.microsoft.com/office/drawing/2014/main" id="{77814DF8-E7F1-40D3-B4C9-04D2DCA34D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8" y="3420"/>
              <a:ext cx="177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600">
                  <a:solidFill>
                    <a:srgbClr val="0033CC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33" name="Text Box 51">
              <a:extLst>
                <a:ext uri="{FF2B5EF4-FFF2-40B4-BE49-F238E27FC236}">
                  <a16:creationId xmlns:a16="http://schemas.microsoft.com/office/drawing/2014/main" id="{4C707286-7998-42DB-95D3-6293FE1759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9" y="3684"/>
              <a:ext cx="1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600">
                  <a:solidFill>
                    <a:srgbClr val="0033CC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34" name="Line 52">
              <a:extLst>
                <a:ext uri="{FF2B5EF4-FFF2-40B4-BE49-F238E27FC236}">
                  <a16:creationId xmlns:a16="http://schemas.microsoft.com/office/drawing/2014/main" id="{3F35B609-332E-4E20-ABAF-B85D714C1B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680"/>
              <a:ext cx="145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1535" name="Text Box 53">
              <a:extLst>
                <a:ext uri="{FF2B5EF4-FFF2-40B4-BE49-F238E27FC236}">
                  <a16:creationId xmlns:a16="http://schemas.microsoft.com/office/drawing/2014/main" id="{A128E05C-F588-4B0D-A96A-7BEEB269E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3731"/>
              <a:ext cx="18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600" i="1">
                  <a:solidFill>
                    <a:srgbClr val="CC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9367CB7E-FC92-47B7-999F-6DD51D90CE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06882" name="Rectangle 2">
            <a:extLst>
              <a:ext uri="{FF2B5EF4-FFF2-40B4-BE49-F238E27FC236}">
                <a16:creationId xmlns:a16="http://schemas.microsoft.com/office/drawing/2014/main" id="{E11312A7-3C8D-4DD3-A641-286734D4C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2600"/>
              <a:t>Γενικό Μοντέλο Τηλεπικοινωνιακού Συστήματος</a:t>
            </a:r>
            <a:endParaRPr lang="en-US" sz="2600"/>
          </a:p>
        </p:txBody>
      </p:sp>
      <p:sp>
        <p:nvSpPr>
          <p:cNvPr id="506883" name="Rectangle 3">
            <a:extLst>
              <a:ext uri="{FF2B5EF4-FFF2-40B4-BE49-F238E27FC236}">
                <a16:creationId xmlns:a16="http://schemas.microsoft.com/office/drawing/2014/main" id="{F6931D76-15B0-447B-99F2-CA1BCF726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3090863"/>
            <a:ext cx="8305800" cy="3389312"/>
          </a:xfrm>
        </p:spPr>
        <p:txBody>
          <a:bodyPr/>
          <a:lstStyle/>
          <a:p>
            <a:pPr eaLnBrk="1" hangingPunct="1">
              <a:spcAft>
                <a:spcPts val="600"/>
              </a:spcAft>
              <a:defRPr/>
            </a:pPr>
            <a:r>
              <a:rPr lang="el-GR" dirty="0"/>
              <a:t>Η πηγή παράγει το προς μετάδοση σήμα</a:t>
            </a:r>
            <a:endParaRPr lang="en-US" dirty="0"/>
          </a:p>
          <a:p>
            <a:pPr eaLnBrk="1" hangingPunct="1">
              <a:spcBef>
                <a:spcPct val="25000"/>
              </a:spcBef>
              <a:spcAft>
                <a:spcPts val="600"/>
              </a:spcAft>
              <a:defRPr/>
            </a:pPr>
            <a:r>
              <a:rPr lang="el-GR" dirty="0"/>
              <a:t>Ο πομπός μετατρέπει το σήμα εισόδου σε μορφή κατάλληλη για τη μετάδοση από το κανάλι (αναλογικό σήμα)</a:t>
            </a:r>
          </a:p>
          <a:p>
            <a:pPr eaLnBrk="1" hangingPunct="1">
              <a:spcBef>
                <a:spcPct val="25000"/>
              </a:spcBef>
              <a:spcAft>
                <a:spcPts val="600"/>
              </a:spcAft>
              <a:defRPr/>
            </a:pPr>
            <a:r>
              <a:rPr lang="el-GR" dirty="0"/>
              <a:t>Το κανάλι εισάγει παραμόρφωση, θόρυβο και παρεμβολή</a:t>
            </a:r>
          </a:p>
          <a:p>
            <a:pPr eaLnBrk="1" hangingPunct="1">
              <a:spcBef>
                <a:spcPct val="25000"/>
              </a:spcBef>
              <a:spcAft>
                <a:spcPts val="600"/>
              </a:spcAft>
              <a:defRPr/>
            </a:pPr>
            <a:r>
              <a:rPr lang="el-GR" dirty="0"/>
              <a:t>Ο δέκτης αποδιαμορφώνει και επεξεργάζεται το ληφθέν σήμα</a:t>
            </a:r>
          </a:p>
          <a:p>
            <a:pPr eaLnBrk="1" hangingPunct="1">
              <a:spcBef>
                <a:spcPct val="25000"/>
              </a:spcBef>
              <a:spcAft>
                <a:spcPts val="600"/>
              </a:spcAft>
              <a:defRPr/>
            </a:pPr>
            <a:r>
              <a:rPr lang="el-GR" dirty="0"/>
              <a:t>Ο μετατροπέας εξόδου μετατρέπει την έξοδο του δέκτη στην αρχική μορφή</a:t>
            </a:r>
            <a:r>
              <a:rPr lang="en-US" dirty="0"/>
              <a:t> </a:t>
            </a:r>
            <a:r>
              <a:rPr lang="el-GR" dirty="0"/>
              <a:t>της πληροφορίας</a:t>
            </a:r>
            <a:endParaRPr lang="en-US" dirty="0"/>
          </a:p>
        </p:txBody>
      </p:sp>
      <p:grpSp>
        <p:nvGrpSpPr>
          <p:cNvPr id="23557" name="Group 20">
            <a:extLst>
              <a:ext uri="{FF2B5EF4-FFF2-40B4-BE49-F238E27FC236}">
                <a16:creationId xmlns:a16="http://schemas.microsoft.com/office/drawing/2014/main" id="{863E0D8F-0C42-4EDC-8731-6B7EA3EC179B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406525"/>
            <a:ext cx="8640763" cy="654050"/>
            <a:chOff x="158" y="754"/>
            <a:chExt cx="5443" cy="412"/>
          </a:xfrm>
        </p:grpSpPr>
        <p:sp>
          <p:nvSpPr>
            <p:cNvPr id="23558" name="Rectangle 5">
              <a:extLst>
                <a:ext uri="{FF2B5EF4-FFF2-40B4-BE49-F238E27FC236}">
                  <a16:creationId xmlns:a16="http://schemas.microsoft.com/office/drawing/2014/main" id="{AA02D6C8-84DD-4EE7-B7C8-E3AE9AEF2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798"/>
              <a:ext cx="48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/>
              <a:endParaRPr lang="el-GR" altLang="el-GR">
                <a:latin typeface="Tahoma" panose="020B0604030504040204" pitchFamily="34" charset="0"/>
              </a:endParaRPr>
            </a:p>
          </p:txBody>
        </p:sp>
        <p:sp>
          <p:nvSpPr>
            <p:cNvPr id="23559" name="Text Box 6">
              <a:extLst>
                <a:ext uri="{FF2B5EF4-FFF2-40B4-BE49-F238E27FC236}">
                  <a16:creationId xmlns:a16="http://schemas.microsoft.com/office/drawing/2014/main" id="{AE4DAE00-6113-4779-AB63-6A0B143C6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846"/>
              <a:ext cx="590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el-GR" sz="1800"/>
                <a:t>ΠΗΓΗ</a:t>
              </a:r>
              <a:r>
                <a:rPr lang="en-US" altLang="el-GR" sz="1800"/>
                <a:t> </a:t>
              </a:r>
              <a:endParaRPr lang="el-GR" altLang="el-GR" sz="1800"/>
            </a:p>
          </p:txBody>
        </p:sp>
        <p:sp>
          <p:nvSpPr>
            <p:cNvPr id="23560" name="Text Box 8">
              <a:extLst>
                <a:ext uri="{FF2B5EF4-FFF2-40B4-BE49-F238E27FC236}">
                  <a16:creationId xmlns:a16="http://schemas.microsoft.com/office/drawing/2014/main" id="{19E57C46-4983-4B56-84A3-D9D599F09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" y="846"/>
              <a:ext cx="960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el-GR" sz="1800"/>
                <a:t>ΠΟΜΠΟΣ</a:t>
              </a:r>
            </a:p>
          </p:txBody>
        </p:sp>
        <p:sp>
          <p:nvSpPr>
            <p:cNvPr id="23561" name="Text Box 9">
              <a:extLst>
                <a:ext uri="{FF2B5EF4-FFF2-40B4-BE49-F238E27FC236}">
                  <a16:creationId xmlns:a16="http://schemas.microsoft.com/office/drawing/2014/main" id="{D1721603-68FB-4817-91AF-B6F5724C7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4" y="846"/>
              <a:ext cx="781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el-GR" sz="1800"/>
                <a:t>ΚΑΝΑΛΙ</a:t>
              </a:r>
            </a:p>
          </p:txBody>
        </p:sp>
        <p:sp>
          <p:nvSpPr>
            <p:cNvPr id="23562" name="Text Box 12">
              <a:extLst>
                <a:ext uri="{FF2B5EF4-FFF2-40B4-BE49-F238E27FC236}">
                  <a16:creationId xmlns:a16="http://schemas.microsoft.com/office/drawing/2014/main" id="{D5F3FD13-FA3C-40E3-8931-C8EC9D03D4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4" y="846"/>
              <a:ext cx="834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el-GR" sz="1800"/>
                <a:t>ΔΕΚΤΗΣ</a:t>
              </a:r>
            </a:p>
          </p:txBody>
        </p:sp>
        <p:sp>
          <p:nvSpPr>
            <p:cNvPr id="23563" name="Text Box 14">
              <a:extLst>
                <a:ext uri="{FF2B5EF4-FFF2-40B4-BE49-F238E27FC236}">
                  <a16:creationId xmlns:a16="http://schemas.microsoft.com/office/drawing/2014/main" id="{A7BF26A1-391F-4BB3-9AD8-3C3361488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754"/>
              <a:ext cx="1405" cy="4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el-GR" sz="1800"/>
                <a:t>ΜΕΤΑΤΡΟΠΕΑΣ ΕΞΟΔΟΥ</a:t>
              </a:r>
            </a:p>
          </p:txBody>
        </p:sp>
        <p:sp>
          <p:nvSpPr>
            <p:cNvPr id="23564" name="Line 15">
              <a:extLst>
                <a:ext uri="{FF2B5EF4-FFF2-40B4-BE49-F238E27FC236}">
                  <a16:creationId xmlns:a16="http://schemas.microsoft.com/office/drawing/2014/main" id="{F6C6EDED-9E53-43C6-B278-676EE0A16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" y="990"/>
              <a:ext cx="227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3565" name="Line 16">
              <a:extLst>
                <a:ext uri="{FF2B5EF4-FFF2-40B4-BE49-F238E27FC236}">
                  <a16:creationId xmlns:a16="http://schemas.microsoft.com/office/drawing/2014/main" id="{95C78364-367E-46E3-BB17-5D45E0DFD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990"/>
              <a:ext cx="227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3566" name="Line 17">
              <a:extLst>
                <a:ext uri="{FF2B5EF4-FFF2-40B4-BE49-F238E27FC236}">
                  <a16:creationId xmlns:a16="http://schemas.microsoft.com/office/drawing/2014/main" id="{E51234D3-1469-4823-9703-63C8A2394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990"/>
              <a:ext cx="227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23567" name="Line 18">
              <a:extLst>
                <a:ext uri="{FF2B5EF4-FFF2-40B4-BE49-F238E27FC236}">
                  <a16:creationId xmlns:a16="http://schemas.microsoft.com/office/drawing/2014/main" id="{7CEF8353-953F-40F7-A671-F03B1A2B5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8" y="990"/>
              <a:ext cx="227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>
            <a:extLst>
              <a:ext uri="{FF2B5EF4-FFF2-40B4-BE49-F238E27FC236}">
                <a16:creationId xmlns:a16="http://schemas.microsoft.com/office/drawing/2014/main" id="{12C99865-778B-48C8-BF3C-6572AA2E74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07906" name="Rectangle 2">
            <a:extLst>
              <a:ext uri="{FF2B5EF4-FFF2-40B4-BE49-F238E27FC236}">
                <a16:creationId xmlns:a16="http://schemas.microsoft.com/office/drawing/2014/main" id="{E3460EBC-E6E6-482F-A038-F921B2D95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Κριτήρια Απόδοσης</a:t>
            </a:r>
            <a:endParaRPr lang="en-US" sz="3200" dirty="0"/>
          </a:p>
        </p:txBody>
      </p:sp>
      <p:sp>
        <p:nvSpPr>
          <p:cNvPr id="507907" name="Rectangle 3">
            <a:extLst>
              <a:ext uri="{FF2B5EF4-FFF2-40B4-BE49-F238E27FC236}">
                <a16:creationId xmlns:a16="http://schemas.microsoft.com/office/drawing/2014/main" id="{01C9FC9B-0A74-40A2-B2FB-006856D2F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12" y="813707"/>
            <a:ext cx="8712968" cy="5810250"/>
          </a:xfrm>
        </p:spPr>
        <p:txBody>
          <a:bodyPr/>
          <a:lstStyle/>
          <a:p>
            <a:pPr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Αναλογικά Συστήματα Επικοινωνίας </a:t>
            </a:r>
          </a:p>
          <a:p>
            <a:pPr lvl="1" eaLnBrk="1" hangingPunct="1">
              <a:defRPr/>
            </a:pPr>
            <a:r>
              <a:rPr lang="el-GR" dirty="0"/>
              <a:t>Το κριτήριο είναι η </a:t>
            </a:r>
            <a:r>
              <a:rPr lang="el-GR" dirty="0">
                <a:solidFill>
                  <a:srgbClr val="FF0000"/>
                </a:solidFill>
              </a:rPr>
              <a:t>πιστότητα</a:t>
            </a:r>
            <a:endParaRPr lang="en-US" dirty="0">
              <a:solidFill>
                <a:srgbClr val="FF0000"/>
              </a:solidFill>
            </a:endParaRPr>
          </a:p>
          <a:p>
            <a:pPr lvl="1" eaLnBrk="1" hangingPunct="1">
              <a:defRPr/>
            </a:pPr>
            <a:endParaRPr lang="el-GR" dirty="0"/>
          </a:p>
          <a:p>
            <a:pPr lvl="1" eaLnBrk="1" hangingPunct="1">
              <a:defRPr/>
            </a:pPr>
            <a:endParaRPr lang="el-GR" dirty="0"/>
          </a:p>
          <a:p>
            <a:pPr lvl="1"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Ψηφιακά Συστήματα Επικοινωνίας</a:t>
            </a:r>
          </a:p>
          <a:p>
            <a:pPr lvl="1" eaLnBrk="1" hangingPunct="1">
              <a:spcAft>
                <a:spcPts val="600"/>
              </a:spcAft>
              <a:defRPr/>
            </a:pPr>
            <a:r>
              <a:rPr lang="el-GR" dirty="0"/>
              <a:t>Το κριτήριο είναι</a:t>
            </a:r>
            <a:r>
              <a:rPr lang="en-US" dirty="0"/>
              <a:t> </a:t>
            </a:r>
            <a:r>
              <a:rPr lang="el-GR" dirty="0"/>
              <a:t>η </a:t>
            </a:r>
            <a:r>
              <a:rPr lang="el-GR" dirty="0">
                <a:solidFill>
                  <a:srgbClr val="FF0000"/>
                </a:solidFill>
              </a:rPr>
              <a:t>πιθανότητα σφάλματος </a:t>
            </a:r>
            <a:endParaRPr lang="el-GR" dirty="0">
              <a:sym typeface="Symbol" pitchFamily="18" charset="2"/>
            </a:endParaRPr>
          </a:p>
          <a:p>
            <a:pPr lvl="1" eaLnBrk="1" hangingPunct="1">
              <a:spcAft>
                <a:spcPts val="600"/>
              </a:spcAft>
              <a:defRPr/>
            </a:pPr>
            <a:r>
              <a:rPr lang="el-GR" dirty="0">
                <a:sym typeface="Symbol" pitchFamily="18" charset="2"/>
              </a:rPr>
              <a:t>Σε συνθήκες μη ιδανικού καναλιού, η </a:t>
            </a:r>
            <a:r>
              <a:rPr lang="en-US" i="1" dirty="0" err="1">
                <a:sym typeface="Symbol" pitchFamily="18" charset="2"/>
              </a:rPr>
              <a:t>P</a:t>
            </a:r>
            <a:r>
              <a:rPr lang="en-US" i="1" baseline="-25000" dirty="0" err="1">
                <a:sym typeface="Symbol" pitchFamily="18" charset="2"/>
              </a:rPr>
              <a:t>b</a:t>
            </a:r>
            <a:r>
              <a:rPr lang="en-US" dirty="0">
                <a:sym typeface="Symbol" pitchFamily="18" charset="2"/>
              </a:rPr>
              <a:t> </a:t>
            </a:r>
            <a:r>
              <a:rPr lang="el-GR" dirty="0">
                <a:sym typeface="Symbol" pitchFamily="18" charset="2"/>
              </a:rPr>
              <a:t>εξαρτάται </a:t>
            </a:r>
          </a:p>
          <a:p>
            <a:pPr lvl="2" eaLnBrk="1" hangingPunct="1">
              <a:defRPr/>
            </a:pPr>
            <a:r>
              <a:rPr lang="el-GR" dirty="0">
                <a:sym typeface="Symbol" pitchFamily="18" charset="2"/>
              </a:rPr>
              <a:t>από την ισχύ σήματος και την ισχύ του </a:t>
            </a:r>
            <a:r>
              <a:rPr lang="en-US" dirty="0">
                <a:sym typeface="Symbol" pitchFamily="18" charset="2"/>
              </a:rPr>
              <a:t>“</a:t>
            </a:r>
            <a:r>
              <a:rPr lang="el-GR" dirty="0">
                <a:sym typeface="Symbol" pitchFamily="18" charset="2"/>
              </a:rPr>
              <a:t>θορύβου</a:t>
            </a:r>
            <a:r>
              <a:rPr lang="en-US" dirty="0">
                <a:sym typeface="Symbol" pitchFamily="18" charset="2"/>
              </a:rPr>
              <a:t>”</a:t>
            </a:r>
            <a:endParaRPr lang="el-GR" dirty="0">
              <a:sym typeface="Symbol" pitchFamily="18" charset="2"/>
            </a:endParaRPr>
          </a:p>
          <a:p>
            <a:pPr lvl="2" eaLnBrk="1" hangingPunct="1">
              <a:defRPr/>
            </a:pPr>
            <a:r>
              <a:rPr lang="el-GR" dirty="0">
                <a:sym typeface="Symbol" pitchFamily="18" charset="2"/>
              </a:rPr>
              <a:t>το ρυθμό μετάδοσης δεδομένων</a:t>
            </a:r>
          </a:p>
          <a:p>
            <a:pPr lvl="2" eaLnBrk="1" hangingPunct="1">
              <a:spcAft>
                <a:spcPts val="1200"/>
              </a:spcAft>
              <a:defRPr/>
            </a:pPr>
            <a:r>
              <a:rPr lang="el-GR" dirty="0">
                <a:sym typeface="Symbol" pitchFamily="18" charset="2"/>
              </a:rPr>
              <a:t>τα χαρακτηριστικά του καναλιού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l-GR" dirty="0">
                <a:solidFill>
                  <a:srgbClr val="FF0000"/>
                </a:solidFill>
              </a:rPr>
              <a:t>Είναι δυνατόν να αποφευχθούν τα σφάλματα όταν υπάρχει θόρυβος;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l-GR" dirty="0">
                <a:solidFill>
                  <a:srgbClr val="0070C0"/>
                </a:solidFill>
              </a:rPr>
              <a:t>Αν μεταδίδουμε με ρυθμό </a:t>
            </a:r>
            <a:r>
              <a:rPr lang="en-US" dirty="0">
                <a:solidFill>
                  <a:srgbClr val="0070C0"/>
                </a:solidFill>
              </a:rPr>
              <a:t>R </a:t>
            </a:r>
            <a:r>
              <a:rPr lang="el-GR" dirty="0">
                <a:solidFill>
                  <a:srgbClr val="0070C0"/>
                </a:solidFill>
              </a:rPr>
              <a:t>&lt; </a:t>
            </a:r>
            <a:r>
              <a:rPr lang="en-US" dirty="0">
                <a:solidFill>
                  <a:srgbClr val="0070C0"/>
                </a:solidFill>
              </a:rPr>
              <a:t>C </a:t>
            </a:r>
            <a:r>
              <a:rPr lang="el-GR" dirty="0">
                <a:solidFill>
                  <a:srgbClr val="0070C0"/>
                </a:solidFill>
              </a:rPr>
              <a:t>τότε υπάρχει τρόπος ώστε να μεταδώσουμε χωρίς σφάλματα, παρά την ύπαρξη θορύβου!!!</a:t>
            </a:r>
          </a:p>
          <a:p>
            <a:pPr lvl="2" eaLnBrk="1" hangingPunct="1">
              <a:defRPr/>
            </a:pPr>
            <a:endParaRPr lang="en-US" dirty="0"/>
          </a:p>
        </p:txBody>
      </p:sp>
      <p:graphicFrame>
        <p:nvGraphicFramePr>
          <p:cNvPr id="25605" name="Object 4">
            <a:extLst>
              <a:ext uri="{FF2B5EF4-FFF2-40B4-BE49-F238E27FC236}">
                <a16:creationId xmlns:a16="http://schemas.microsoft.com/office/drawing/2014/main" id="{F37C036D-54B9-4E00-8220-759A283054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0213" y="1700213"/>
          <a:ext cx="1935162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058" imgH="253890" progId="Equation.DSMT4">
                  <p:embed/>
                </p:oleObj>
              </mc:Choice>
              <mc:Fallback>
                <p:oleObj name="Equation" r:id="rId3" imgW="787058" imgH="253890" progId="Equation.DSMT4">
                  <p:embed/>
                  <p:pic>
                    <p:nvPicPr>
                      <p:cNvPr id="25605" name="Object 4">
                        <a:extLst>
                          <a:ext uri="{FF2B5EF4-FFF2-40B4-BE49-F238E27FC236}">
                            <a16:creationId xmlns:a16="http://schemas.microsoft.com/office/drawing/2014/main" id="{F37C036D-54B9-4E00-8220-759A283054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213" y="1700213"/>
                        <a:ext cx="1935162" cy="623887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5">
            <a:extLst>
              <a:ext uri="{FF2B5EF4-FFF2-40B4-BE49-F238E27FC236}">
                <a16:creationId xmlns:a16="http://schemas.microsoft.com/office/drawing/2014/main" id="{6396DA3A-9C30-47FC-A8B0-00B635018E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168700"/>
              </p:ext>
            </p:extLst>
          </p:nvPr>
        </p:nvGraphicFramePr>
        <p:xfrm>
          <a:off x="6632834" y="2677198"/>
          <a:ext cx="2154237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75920" imgH="304668" progId="Equation.DSMT4">
                  <p:embed/>
                </p:oleObj>
              </mc:Choice>
              <mc:Fallback>
                <p:oleObj name="Equation" r:id="rId5" imgW="875920" imgH="304668" progId="Equation.DSMT4">
                  <p:embed/>
                  <p:pic>
                    <p:nvPicPr>
                      <p:cNvPr id="25606" name="Object 5">
                        <a:extLst>
                          <a:ext uri="{FF2B5EF4-FFF2-40B4-BE49-F238E27FC236}">
                            <a16:creationId xmlns:a16="http://schemas.microsoft.com/office/drawing/2014/main" id="{6396DA3A-9C30-47FC-A8B0-00B635018E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2834" y="2677198"/>
                        <a:ext cx="2154237" cy="74930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>
            <a:extLst>
              <a:ext uri="{FF2B5EF4-FFF2-40B4-BE49-F238E27FC236}">
                <a16:creationId xmlns:a16="http://schemas.microsoft.com/office/drawing/2014/main" id="{9C8D92F8-8FE1-43CB-BC30-D8D498787B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09957" name="Rectangle 5">
            <a:extLst>
              <a:ext uri="{FF2B5EF4-FFF2-40B4-BE49-F238E27FC236}">
                <a16:creationId xmlns:a16="http://schemas.microsoft.com/office/drawing/2014/main" id="{7E6565A0-26ED-4CD1-B0F3-51BFA0F88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Βασικά Σημεία για τα Τηλ/κα Συστ.</a:t>
            </a:r>
            <a:endParaRPr lang="en-GB" sz="3200" dirty="0"/>
          </a:p>
        </p:txBody>
      </p:sp>
      <p:sp>
        <p:nvSpPr>
          <p:cNvPr id="509958" name="Rectangle 6">
            <a:extLst>
              <a:ext uri="{FF2B5EF4-FFF2-40B4-BE49-F238E27FC236}">
                <a16:creationId xmlns:a16="http://schemas.microsoft.com/office/drawing/2014/main" id="{0934AF27-84FE-4D1F-AC0E-92AA03849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09625"/>
            <a:ext cx="8305800" cy="5715000"/>
          </a:xfrm>
        </p:spPr>
        <p:txBody>
          <a:bodyPr/>
          <a:lstStyle/>
          <a:p>
            <a:pPr eaLnBrk="1" hangingPunct="1">
              <a:spcBef>
                <a:spcPts val="0"/>
              </a:spcBef>
              <a:defRPr/>
            </a:pPr>
            <a:r>
              <a:rPr lang="el-GR" sz="1800" dirty="0"/>
              <a:t>Τα τηλεπικοινωνιακά συστήματα διαμορφώνουν αναλογικά σήματα ή </a:t>
            </a:r>
            <a:r>
              <a:rPr lang="en-US" sz="1800" dirty="0"/>
              <a:t>bits </a:t>
            </a:r>
            <a:r>
              <a:rPr lang="el-GR" sz="1800" dirty="0"/>
              <a:t>για μετάδοση πάνω σε ένα κανάλι</a:t>
            </a:r>
          </a:p>
          <a:p>
            <a:pPr eaLnBrk="1" hangingPunct="1">
              <a:spcBef>
                <a:spcPts val="0"/>
              </a:spcBef>
              <a:defRPr/>
            </a:pPr>
            <a:endParaRPr lang="en-US" sz="1800" dirty="0"/>
          </a:p>
          <a:p>
            <a:pPr eaLnBrk="1" hangingPunct="1">
              <a:spcBef>
                <a:spcPts val="0"/>
              </a:spcBef>
              <a:defRPr/>
            </a:pPr>
            <a:r>
              <a:rPr lang="el-GR" sz="1800" dirty="0"/>
              <a:t>Σχεδιαστικός στόχος σε ότι αφορά πομπό και δέκτη είναι η αντιμετώπιση της παραμόρφωσης και του θορύβου του καναλιού</a:t>
            </a:r>
          </a:p>
          <a:p>
            <a:pPr eaLnBrk="1" hangingPunct="1">
              <a:spcBef>
                <a:spcPts val="0"/>
              </a:spcBef>
              <a:defRPr/>
            </a:pPr>
            <a:endParaRPr lang="en-US" sz="1800" dirty="0"/>
          </a:p>
          <a:p>
            <a:pPr eaLnBrk="1" hangingPunct="1">
              <a:spcBef>
                <a:spcPts val="0"/>
              </a:spcBef>
              <a:defRPr/>
            </a:pPr>
            <a:r>
              <a:rPr lang="el-GR" sz="1800" dirty="0"/>
              <a:t>Μετρικές απόδοσης</a:t>
            </a:r>
          </a:p>
          <a:p>
            <a:pPr lvl="1" eaLnBrk="1" hangingPunct="1">
              <a:spcBef>
                <a:spcPts val="0"/>
              </a:spcBef>
              <a:defRPr/>
            </a:pPr>
            <a:r>
              <a:rPr lang="el-GR" sz="1800" dirty="0"/>
              <a:t>αναλογικά συστήματα: πιστότητα</a:t>
            </a:r>
          </a:p>
          <a:p>
            <a:pPr lvl="1" eaLnBrk="1" hangingPunct="1">
              <a:spcBef>
                <a:spcPts val="0"/>
              </a:spcBef>
              <a:defRPr/>
            </a:pPr>
            <a:r>
              <a:rPr lang="el-GR" sz="1800" dirty="0"/>
              <a:t>ψηφιακά συστήματα: πιθανότητα σφάλματος  (για δεδομένα: εύρος ζώνης, ισχύ μετάδοσης, ρυθμό)</a:t>
            </a:r>
          </a:p>
          <a:p>
            <a:pPr eaLnBrk="1" hangingPunct="1">
              <a:spcBef>
                <a:spcPts val="0"/>
              </a:spcBef>
              <a:defRPr/>
            </a:pPr>
            <a:endParaRPr lang="en-US" sz="1800" dirty="0"/>
          </a:p>
          <a:p>
            <a:pPr eaLnBrk="1" hangingPunct="1">
              <a:spcBef>
                <a:spcPts val="0"/>
              </a:spcBef>
              <a:defRPr/>
            </a:pPr>
            <a:r>
              <a:rPr lang="el-GR" sz="1800" dirty="0"/>
              <a:t>Ο ρυθμός μετάδοσης πάνω από ενθόρυβα κανάλια έχει ένα θεμελιώδες όριο χωρητικότητας ακόμη κι αν διατεθεί άπειρο εύρος ζώνης</a:t>
            </a:r>
          </a:p>
          <a:p>
            <a:pPr eaLnBrk="1" hangingPunct="1">
              <a:spcBef>
                <a:spcPts val="0"/>
              </a:spcBef>
              <a:defRPr/>
            </a:pPr>
            <a:endParaRPr lang="el-GR" sz="1800" dirty="0"/>
          </a:p>
          <a:p>
            <a:pPr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l-GR" sz="1800" i="1" dirty="0"/>
              <a:t>Πρακτικό παράδειγμα μετεξέλιξης από αναλογικό σε ψηφιακό:</a:t>
            </a:r>
            <a:r>
              <a:rPr lang="el-GR" sz="1800" dirty="0"/>
              <a:t>      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l-GR" sz="1800" dirty="0"/>
              <a:t>    Το τηλεφωνικό δίκτυο</a:t>
            </a:r>
            <a:r>
              <a:rPr lang="en-US" sz="1800" dirty="0"/>
              <a:t> </a:t>
            </a:r>
            <a:r>
              <a:rPr lang="el-GR" sz="1800" dirty="0"/>
              <a:t>βελτιστοποιήθηκε για φωνή και υστερούσε σε μετάδοση δεδομένων</a:t>
            </a:r>
            <a:r>
              <a:rPr lang="en-US" sz="1800" dirty="0"/>
              <a:t> (~50Kbps)</a:t>
            </a:r>
            <a:r>
              <a:rPr lang="el-GR" sz="1800" dirty="0"/>
              <a:t>. Σήμερα όμως μπορεί να υποστηρίξει υψηλούς ρυθμούς μετάδοσης δεδομένων</a:t>
            </a:r>
            <a:r>
              <a:rPr lang="en-US" sz="1800" dirty="0"/>
              <a:t>  (&gt;</a:t>
            </a:r>
            <a:r>
              <a:rPr lang="el-GR" sz="1800" dirty="0"/>
              <a:t>10</a:t>
            </a:r>
            <a:r>
              <a:rPr lang="en-US" sz="1800" dirty="0"/>
              <a:t>0Mbps)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7ED18-177F-6DBF-9251-4716EA13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>
            <a:extLst>
              <a:ext uri="{FF2B5EF4-FFF2-40B4-BE49-F238E27FC236}">
                <a16:creationId xmlns:a16="http://schemas.microsoft.com/office/drawing/2014/main" id="{35C20D75-5B26-54BA-A996-5E772A5BD4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09957" name="Rectangle 5">
            <a:extLst>
              <a:ext uri="{FF2B5EF4-FFF2-40B4-BE49-F238E27FC236}">
                <a16:creationId xmlns:a16="http://schemas.microsoft.com/office/drawing/2014/main" id="{F59313B3-2EB4-2860-8438-05404AE0D6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Αναλογικές </a:t>
            </a:r>
            <a:r>
              <a:rPr lang="en-US" sz="3200" dirty="0"/>
              <a:t>vs </a:t>
            </a:r>
            <a:r>
              <a:rPr lang="el-GR" sz="3200" dirty="0" err="1"/>
              <a:t>Ψηφ</a:t>
            </a:r>
            <a:r>
              <a:rPr lang="el-GR" sz="3200" dirty="0"/>
              <a:t>. </a:t>
            </a:r>
            <a:r>
              <a:rPr lang="el-GR" sz="3200" dirty="0" err="1"/>
              <a:t>Τηλεπικ</a:t>
            </a:r>
            <a:r>
              <a:rPr lang="el-GR" sz="3200" dirty="0"/>
              <a:t>.</a:t>
            </a:r>
            <a:endParaRPr lang="en-GB" sz="3200" dirty="0"/>
          </a:p>
        </p:txBody>
      </p:sp>
      <p:sp>
        <p:nvSpPr>
          <p:cNvPr id="509958" name="Rectangle 6">
            <a:extLst>
              <a:ext uri="{FF2B5EF4-FFF2-40B4-BE49-F238E27FC236}">
                <a16:creationId xmlns:a16="http://schemas.microsoft.com/office/drawing/2014/main" id="{5A6FA93C-C892-1B6C-0466-DF1B4A3F0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09625"/>
            <a:ext cx="8305800" cy="5715000"/>
          </a:xfrm>
        </p:spPr>
        <p:txBody>
          <a:bodyPr/>
          <a:lstStyle/>
          <a:p>
            <a:pPr eaLnBrk="1" hangingPunct="1">
              <a:spcBef>
                <a:spcPts val="0"/>
              </a:spcBef>
              <a:defRPr/>
            </a:pPr>
            <a:r>
              <a:rPr lang="el-GR" sz="1800" dirty="0"/>
              <a:t>Τα αναλογικά σήματα μπορούν να μεταδοθούν απευθείας μέσω διαμόρφωσης φέροντος με ένα κανάλι ενδιαφέροντος και να </a:t>
            </a:r>
            <a:r>
              <a:rPr lang="el-GR" sz="1800" dirty="0" err="1"/>
              <a:t>αποδιαμορφωθούν</a:t>
            </a:r>
            <a:r>
              <a:rPr lang="el-GR" sz="1800" dirty="0"/>
              <a:t> στο δέκτη (</a:t>
            </a:r>
            <a:r>
              <a:rPr lang="el-GR" sz="1800" i="1" dirty="0"/>
              <a:t>αναλογικές τηλεπικοινωνίες</a:t>
            </a:r>
            <a:r>
              <a:rPr lang="el-GR" sz="1800" dirty="0"/>
              <a:t>)</a:t>
            </a:r>
          </a:p>
          <a:p>
            <a:pPr eaLnBrk="1" hangingPunct="1">
              <a:spcBef>
                <a:spcPts val="0"/>
              </a:spcBef>
              <a:defRPr/>
            </a:pPr>
            <a:endParaRPr lang="el-GR" sz="1800" dirty="0"/>
          </a:p>
          <a:p>
            <a:pPr eaLnBrk="1" hangingPunct="1">
              <a:spcBef>
                <a:spcPts val="0"/>
              </a:spcBef>
              <a:defRPr/>
            </a:pPr>
            <a:r>
              <a:rPr lang="el-GR" sz="1800" dirty="0"/>
              <a:t>Η έξοδος της αναλογικής πηγής θα μπορούσε να μετατραπεί σε ψηφιακή μορφή, και το μήνυμα να μεταδοθεί μέσω ψηφιακής διαμόρφωσης και να </a:t>
            </a:r>
            <a:r>
              <a:rPr lang="el-GR" sz="1800" dirty="0" err="1"/>
              <a:t>αποδιαμορφωθεί</a:t>
            </a:r>
            <a:r>
              <a:rPr lang="el-GR" sz="1800" dirty="0"/>
              <a:t> ως ψηφιακό σήμα στο δέκτη (</a:t>
            </a:r>
            <a:r>
              <a:rPr lang="el-GR" sz="1800" i="1" dirty="0"/>
              <a:t>ψηφιακές τηλεπικοινωνίες</a:t>
            </a:r>
            <a:r>
              <a:rPr lang="el-GR" sz="1800" dirty="0"/>
              <a:t>)</a:t>
            </a:r>
          </a:p>
          <a:p>
            <a:pPr eaLnBrk="1" hangingPunct="1">
              <a:spcBef>
                <a:spcPts val="0"/>
              </a:spcBef>
              <a:defRPr/>
            </a:pPr>
            <a:endParaRPr lang="el-GR" sz="1800" dirty="0"/>
          </a:p>
          <a:p>
            <a:pPr eaLnBrk="1" hangingPunct="1">
              <a:spcBef>
                <a:spcPts val="0"/>
              </a:spcBef>
              <a:defRPr/>
            </a:pPr>
            <a:r>
              <a:rPr lang="el-GR" sz="1800" dirty="0"/>
              <a:t>Πλεονεκτήματα:</a:t>
            </a:r>
          </a:p>
          <a:p>
            <a:pPr eaLnBrk="1" hangingPunct="1">
              <a:spcBef>
                <a:spcPts val="0"/>
              </a:spcBef>
              <a:defRPr/>
            </a:pPr>
            <a:endParaRPr lang="el-GR" sz="1800" dirty="0"/>
          </a:p>
          <a:p>
            <a:pPr eaLnBrk="1" hangingPunct="1">
              <a:spcBef>
                <a:spcPts val="0"/>
              </a:spcBef>
              <a:buFont typeface="+mj-lt"/>
              <a:buAutoNum type="arabicPeriod"/>
              <a:defRPr/>
            </a:pPr>
            <a:r>
              <a:rPr lang="el-GR" sz="1800" dirty="0"/>
              <a:t>Η πιστότητα του σήματος ελέγχεται καλύτερα μέσω ψηφιακής μετάδοσης</a:t>
            </a:r>
          </a:p>
          <a:p>
            <a:pPr eaLnBrk="1" hangingPunct="1">
              <a:spcBef>
                <a:spcPts val="0"/>
              </a:spcBef>
              <a:buFont typeface="+mj-lt"/>
              <a:buAutoNum type="arabicPeriod"/>
              <a:defRPr/>
            </a:pPr>
            <a:endParaRPr lang="el-GR" sz="1800" dirty="0"/>
          </a:p>
          <a:p>
            <a:pPr eaLnBrk="1" hangingPunct="1">
              <a:spcBef>
                <a:spcPts val="0"/>
              </a:spcBef>
              <a:buFont typeface="+mj-lt"/>
              <a:buAutoNum type="arabicPeriod"/>
              <a:defRPr/>
            </a:pPr>
            <a:r>
              <a:rPr lang="el-GR" sz="1800" dirty="0"/>
              <a:t>Αναλογικό σήμα περιέχει πλεονασμό πληροφορίας</a:t>
            </a:r>
          </a:p>
          <a:p>
            <a:pPr eaLnBrk="1" hangingPunct="1">
              <a:spcBef>
                <a:spcPts val="0"/>
              </a:spcBef>
              <a:buFont typeface="+mj-lt"/>
              <a:buAutoNum type="arabicPeriod"/>
              <a:defRPr/>
            </a:pPr>
            <a:endParaRPr lang="el-GR" sz="1800" dirty="0"/>
          </a:p>
          <a:p>
            <a:pPr eaLnBrk="1" hangingPunct="1">
              <a:spcBef>
                <a:spcPts val="0"/>
              </a:spcBef>
              <a:buFont typeface="+mj-lt"/>
              <a:buAutoNum type="arabicPeriod"/>
              <a:defRPr/>
            </a:pPr>
            <a:r>
              <a:rPr lang="el-GR" sz="1800" dirty="0"/>
              <a:t>Σημαντικό χαμηλότερο κόστος κατασκευής ψηφιακών συστημάτων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7024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>
            <a:extLst>
              <a:ext uri="{FF2B5EF4-FFF2-40B4-BE49-F238E27FC236}">
                <a16:creationId xmlns:a16="http://schemas.microsoft.com/office/drawing/2014/main" id="{BDE97D7E-A95C-429C-B414-1EF79B4C41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11012" name="Rectangle 36">
            <a:extLst>
              <a:ext uri="{FF2B5EF4-FFF2-40B4-BE49-F238E27FC236}">
                <a16:creationId xmlns:a16="http://schemas.microsoft.com/office/drawing/2014/main" id="{BEBCDD00-CFD3-4459-9EF9-14A96A56C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2400" dirty="0"/>
              <a:t>Ψηφιακό Τηλεπικοινωνιακό Σύστημα: Βασική Δομή</a:t>
            </a:r>
            <a:endParaRPr lang="en-GB" sz="2400" dirty="0"/>
          </a:p>
        </p:txBody>
      </p:sp>
      <p:pic>
        <p:nvPicPr>
          <p:cNvPr id="31748" name="Picture 41">
            <a:extLst>
              <a:ext uri="{FF2B5EF4-FFF2-40B4-BE49-F238E27FC236}">
                <a16:creationId xmlns:a16="http://schemas.microsoft.com/office/drawing/2014/main" id="{4D5EAFFC-B408-49D2-A87E-D4A59EE57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593850"/>
            <a:ext cx="8950325" cy="426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TextBox 40">
            <a:extLst>
              <a:ext uri="{FF2B5EF4-FFF2-40B4-BE49-F238E27FC236}">
                <a16:creationId xmlns:a16="http://schemas.microsoft.com/office/drawing/2014/main" id="{E1E548AF-75F9-4EF4-96A5-6A9C18C0E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981075"/>
            <a:ext cx="172878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Μ-αδικά σύμβολα</a:t>
            </a:r>
            <a:endParaRPr lang="en-US" altLang="el-GR" sz="120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ή αναλογικό σήμα</a:t>
            </a:r>
          </a:p>
        </p:txBody>
      </p:sp>
      <p:sp>
        <p:nvSpPr>
          <p:cNvPr id="31750" name="TextBox 41">
            <a:extLst>
              <a:ext uri="{FF2B5EF4-FFF2-40B4-BE49-F238E27FC236}">
                <a16:creationId xmlns:a16="http://schemas.microsoft.com/office/drawing/2014/main" id="{FE2ABCE5-B98B-4FCE-AB11-DD818D145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981075"/>
            <a:ext cx="792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Δυαδικά σύμβολα</a:t>
            </a:r>
          </a:p>
        </p:txBody>
      </p:sp>
      <p:sp>
        <p:nvSpPr>
          <p:cNvPr id="31751" name="TextBox 42">
            <a:extLst>
              <a:ext uri="{FF2B5EF4-FFF2-40B4-BE49-F238E27FC236}">
                <a16:creationId xmlns:a16="http://schemas.microsoft.com/office/drawing/2014/main" id="{F5D536E4-0AD4-48B5-8E19-3B785CAF0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1022350"/>
            <a:ext cx="792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Δυαδικά σύμβολα</a:t>
            </a:r>
          </a:p>
        </p:txBody>
      </p:sp>
      <p:sp>
        <p:nvSpPr>
          <p:cNvPr id="31752" name="TextBox 43">
            <a:extLst>
              <a:ext uri="{FF2B5EF4-FFF2-40B4-BE49-F238E27FC236}">
                <a16:creationId xmlns:a16="http://schemas.microsoft.com/office/drawing/2014/main" id="{C5E35D0D-85F2-4057-89D6-01BBF0CA3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1022350"/>
            <a:ext cx="1152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Αναλογικά σήματα</a:t>
            </a:r>
          </a:p>
        </p:txBody>
      </p:sp>
      <p:sp>
        <p:nvSpPr>
          <p:cNvPr id="31753" name="TextBox 44">
            <a:extLst>
              <a:ext uri="{FF2B5EF4-FFF2-40B4-BE49-F238E27FC236}">
                <a16:creationId xmlns:a16="http://schemas.microsoft.com/office/drawing/2014/main" id="{90490568-A07E-4349-AE07-C16180F4D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4622800"/>
            <a:ext cx="1152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Αναλογικά σήματα</a:t>
            </a:r>
          </a:p>
        </p:txBody>
      </p:sp>
      <p:cxnSp>
        <p:nvCxnSpPr>
          <p:cNvPr id="31754" name="Straight Arrow Connector 46">
            <a:extLst>
              <a:ext uri="{FF2B5EF4-FFF2-40B4-BE49-F238E27FC236}">
                <a16:creationId xmlns:a16="http://schemas.microsoft.com/office/drawing/2014/main" id="{9AA8A3AE-FC11-4C48-B6E3-0E72EE2E29F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35150" y="148431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5" name="Straight Arrow Connector 48">
            <a:extLst>
              <a:ext uri="{FF2B5EF4-FFF2-40B4-BE49-F238E27FC236}">
                <a16:creationId xmlns:a16="http://schemas.microsoft.com/office/drawing/2014/main" id="{60AF7169-4604-4084-94F2-6121ADA189B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851275" y="148431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6" name="Straight Arrow Connector 49">
            <a:extLst>
              <a:ext uri="{FF2B5EF4-FFF2-40B4-BE49-F238E27FC236}">
                <a16:creationId xmlns:a16="http://schemas.microsoft.com/office/drawing/2014/main" id="{0B2E4212-890C-45CE-AF35-FF5D154CF95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67400" y="148431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7" name="Straight Arrow Connector 50">
            <a:extLst>
              <a:ext uri="{FF2B5EF4-FFF2-40B4-BE49-F238E27FC236}">
                <a16:creationId xmlns:a16="http://schemas.microsoft.com/office/drawing/2014/main" id="{11A916B7-5A55-49A4-BF0C-D93D2E94818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027988" y="148431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8" name="Straight Arrow Connector 51">
            <a:extLst>
              <a:ext uri="{FF2B5EF4-FFF2-40B4-BE49-F238E27FC236}">
                <a16:creationId xmlns:a16="http://schemas.microsoft.com/office/drawing/2014/main" id="{E145A3D6-9834-4302-AE60-61434D0A5FD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243888" y="4221163"/>
            <a:ext cx="504825" cy="287337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59" name="TextBox 42">
            <a:extLst>
              <a:ext uri="{FF2B5EF4-FFF2-40B4-BE49-F238E27FC236}">
                <a16:creationId xmlns:a16="http://schemas.microsoft.com/office/drawing/2014/main" id="{89607107-A204-4124-9C69-0E626C42D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75100"/>
            <a:ext cx="7921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Δυαδικά σύμβολα</a:t>
            </a:r>
          </a:p>
        </p:txBody>
      </p:sp>
      <p:cxnSp>
        <p:nvCxnSpPr>
          <p:cNvPr id="31760" name="Straight Arrow Connector 49">
            <a:extLst>
              <a:ext uri="{FF2B5EF4-FFF2-40B4-BE49-F238E27FC236}">
                <a16:creationId xmlns:a16="http://schemas.microsoft.com/office/drawing/2014/main" id="{AC7CBFA6-472E-451B-A5C1-EC83AB5A857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27763" y="443706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61" name="TextBox 42">
            <a:extLst>
              <a:ext uri="{FF2B5EF4-FFF2-40B4-BE49-F238E27FC236}">
                <a16:creationId xmlns:a16="http://schemas.microsoft.com/office/drawing/2014/main" id="{36F84A7A-7E0C-444B-A00B-7917F147A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75100"/>
            <a:ext cx="792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Δυαδικά σύμβολα</a:t>
            </a:r>
          </a:p>
        </p:txBody>
      </p:sp>
      <p:cxnSp>
        <p:nvCxnSpPr>
          <p:cNvPr id="31762" name="Straight Arrow Connector 49">
            <a:extLst>
              <a:ext uri="{FF2B5EF4-FFF2-40B4-BE49-F238E27FC236}">
                <a16:creationId xmlns:a16="http://schemas.microsoft.com/office/drawing/2014/main" id="{4C42854E-6355-4FB4-A262-0A0E8EBA618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40200" y="443706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63" name="TextBox 40">
            <a:extLst>
              <a:ext uri="{FF2B5EF4-FFF2-40B4-BE49-F238E27FC236}">
                <a16:creationId xmlns:a16="http://schemas.microsoft.com/office/drawing/2014/main" id="{1BFFDEBB-5829-4DDE-AAEB-19F0D4EE4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933825"/>
            <a:ext cx="172878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Μ-αδικά σύμβολα</a:t>
            </a:r>
            <a:endParaRPr lang="en-US" altLang="el-GR" sz="120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ή αναλογικό σήμα</a:t>
            </a:r>
          </a:p>
        </p:txBody>
      </p:sp>
      <p:cxnSp>
        <p:nvCxnSpPr>
          <p:cNvPr id="31764" name="Straight Arrow Connector 46">
            <a:extLst>
              <a:ext uri="{FF2B5EF4-FFF2-40B4-BE49-F238E27FC236}">
                <a16:creationId xmlns:a16="http://schemas.microsoft.com/office/drawing/2014/main" id="{5588AE1B-5602-4C41-AF28-8258EA51E5D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35150" y="443706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65" name="TextBox 42">
            <a:extLst>
              <a:ext uri="{FF2B5EF4-FFF2-40B4-BE49-F238E27FC236}">
                <a16:creationId xmlns:a16="http://schemas.microsoft.com/office/drawing/2014/main" id="{288883B0-3ABA-4028-8664-A87A03905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836613"/>
            <a:ext cx="1439862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 dirty="0">
                <a:solidFill>
                  <a:srgbClr val="FF0000"/>
                </a:solidFill>
                <a:latin typeface="Tahoma" panose="020B0604030504040204" pitchFamily="34" charset="0"/>
              </a:rPr>
              <a:t>Εσωτερικά: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 dirty="0">
                <a:solidFill>
                  <a:srgbClr val="FF0000"/>
                </a:solidFill>
                <a:latin typeface="Tahoma" panose="020B0604030504040204" pitchFamily="34" charset="0"/>
              </a:rPr>
              <a:t>Δυαδικά  σε       Ν-</a:t>
            </a:r>
            <a:r>
              <a:rPr lang="el-GR" altLang="el-GR" sz="1200" dirty="0" err="1">
                <a:solidFill>
                  <a:srgbClr val="FF0000"/>
                </a:solidFill>
                <a:latin typeface="Tahoma" panose="020B0604030504040204" pitchFamily="34" charset="0"/>
              </a:rPr>
              <a:t>αδικά</a:t>
            </a:r>
            <a:r>
              <a:rPr lang="el-GR" altLang="el-GR" sz="1200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</a:p>
        </p:txBody>
      </p:sp>
      <p:cxnSp>
        <p:nvCxnSpPr>
          <p:cNvPr id="31766" name="Straight Arrow Connector 50">
            <a:extLst>
              <a:ext uri="{FF2B5EF4-FFF2-40B4-BE49-F238E27FC236}">
                <a16:creationId xmlns:a16="http://schemas.microsoft.com/office/drawing/2014/main" id="{C676CDA5-AC23-43CF-A902-2FD57C6186C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235825" y="1484313"/>
            <a:ext cx="1588" cy="3603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67" name="TextBox 42">
            <a:extLst>
              <a:ext uri="{FF2B5EF4-FFF2-40B4-BE49-F238E27FC236}">
                <a16:creationId xmlns:a16="http://schemas.microsoft.com/office/drawing/2014/main" id="{0AA4A08E-DC44-4C90-8768-8DF5CB1C4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5805488"/>
            <a:ext cx="1439863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 dirty="0">
                <a:solidFill>
                  <a:srgbClr val="FF0000"/>
                </a:solidFill>
                <a:latin typeface="Tahoma" panose="020B0604030504040204" pitchFamily="34" charset="0"/>
              </a:rPr>
              <a:t>Εσωτερικά: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 dirty="0">
                <a:solidFill>
                  <a:srgbClr val="FF0000"/>
                </a:solidFill>
                <a:latin typeface="Tahoma" panose="020B0604030504040204" pitchFamily="34" charset="0"/>
              </a:rPr>
              <a:t>Ν-</a:t>
            </a:r>
            <a:r>
              <a:rPr lang="el-GR" altLang="el-GR" sz="1200" dirty="0" err="1">
                <a:solidFill>
                  <a:srgbClr val="FF0000"/>
                </a:solidFill>
                <a:latin typeface="Tahoma" panose="020B0604030504040204" pitchFamily="34" charset="0"/>
              </a:rPr>
              <a:t>αδικά</a:t>
            </a:r>
            <a:r>
              <a:rPr lang="el-GR" altLang="el-GR" sz="1200" dirty="0">
                <a:solidFill>
                  <a:srgbClr val="FF0000"/>
                </a:solidFill>
                <a:latin typeface="Tahoma" panose="020B0604030504040204" pitchFamily="34" charset="0"/>
              </a:rPr>
              <a:t>  σε δυαδικά</a:t>
            </a:r>
          </a:p>
        </p:txBody>
      </p:sp>
      <p:cxnSp>
        <p:nvCxnSpPr>
          <p:cNvPr id="31768" name="Straight Arrow Connector 50">
            <a:extLst>
              <a:ext uri="{FF2B5EF4-FFF2-40B4-BE49-F238E27FC236}">
                <a16:creationId xmlns:a16="http://schemas.microsoft.com/office/drawing/2014/main" id="{35562794-1900-43B1-A952-85D534B439A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235825" y="5516563"/>
            <a:ext cx="0" cy="3603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>
            <a:extLst>
              <a:ext uri="{FF2B5EF4-FFF2-40B4-BE49-F238E27FC236}">
                <a16:creationId xmlns:a16="http://schemas.microsoft.com/office/drawing/2014/main" id="{3B32E51E-6BC2-4C66-BA90-764141CD96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20237" name="Rectangle 45">
            <a:extLst>
              <a:ext uri="{FF2B5EF4-FFF2-40B4-BE49-F238E27FC236}">
                <a16:creationId xmlns:a16="http://schemas.microsoft.com/office/drawing/2014/main" id="{BDA3BDC7-3C1D-4362-9B25-06587A6C1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Ανάλυση της Δομής ενός Ψ.Τ.Σ.</a:t>
            </a:r>
            <a:endParaRPr lang="en-GB" sz="3200" dirty="0"/>
          </a:p>
        </p:txBody>
      </p:sp>
      <p:sp>
        <p:nvSpPr>
          <p:cNvPr id="520238" name="Rectangle 46">
            <a:extLst>
              <a:ext uri="{FF2B5EF4-FFF2-40B4-BE49-F238E27FC236}">
                <a16:creationId xmlns:a16="http://schemas.microsoft.com/office/drawing/2014/main" id="{FA5D68B7-0E2F-4357-A480-6594C7ABC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1385888"/>
            <a:ext cx="8305800" cy="5715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algn="ctr" eaLnBrk="1" hangingPunct="1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l-GR" sz="2400" dirty="0">
                <a:solidFill>
                  <a:srgbClr val="0033CC"/>
                </a:solidFill>
              </a:rPr>
              <a:t>Ακολουθεί συνοπτική παρουσίαση των </a:t>
            </a:r>
            <a:endParaRPr lang="en-US" sz="2400" dirty="0">
              <a:solidFill>
                <a:srgbClr val="0033CC"/>
              </a:solidFill>
            </a:endParaRPr>
          </a:p>
          <a:p>
            <a:pPr algn="ctr" eaLnBrk="1" hangingPunct="1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l-GR" sz="2400" dirty="0">
                <a:solidFill>
                  <a:srgbClr val="0033CC"/>
                </a:solidFill>
              </a:rPr>
              <a:t>βασικών επιμέρους υποσυστημάτων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>
            <a:extLst>
              <a:ext uri="{FF2B5EF4-FFF2-40B4-BE49-F238E27FC236}">
                <a16:creationId xmlns:a16="http://schemas.microsoft.com/office/drawing/2014/main" id="{7C1DC9CC-48DA-498E-82C0-1872F04A65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7EFBD0D5-B74E-49EA-BB13-4C0B5F4BD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Πηγή Πληροφορίας</a:t>
            </a:r>
            <a:endParaRPr lang="en-GB" sz="3200" dirty="0"/>
          </a:p>
        </p:txBody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DE51B2E9-927E-493B-9F5C-92A114B1F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908050"/>
            <a:ext cx="8305800" cy="57150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/>
              <a:t>Αναλογική</a:t>
            </a:r>
          </a:p>
          <a:p>
            <a:pPr lvl="1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/>
              <a:t>μπορεί</a:t>
            </a:r>
            <a:r>
              <a:rPr lang="en-US" dirty="0"/>
              <a:t>/</a:t>
            </a:r>
            <a:r>
              <a:rPr lang="el-GR" dirty="0"/>
              <a:t>πρέπει να μετατραπεί σε ψ</a:t>
            </a:r>
            <a:r>
              <a:rPr lang="el-GR" dirty="0">
                <a:sym typeface="Wingdings" pitchFamily="2" charset="2"/>
              </a:rPr>
              <a:t>ηφιακή</a:t>
            </a:r>
          </a:p>
          <a:p>
            <a:pPr lvl="2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/>
              <a:t>δειγματοληψία (</a:t>
            </a:r>
            <a:r>
              <a:rPr lang="en-US" dirty="0" err="1"/>
              <a:t>Nyquist</a:t>
            </a:r>
            <a:r>
              <a:rPr lang="el-GR" dirty="0"/>
              <a:t>)</a:t>
            </a:r>
            <a:endParaRPr lang="en-US" dirty="0"/>
          </a:p>
          <a:p>
            <a:pPr lvl="2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/>
              <a:t>κβαντισμός</a:t>
            </a:r>
            <a:endParaRPr lang="en-US" dirty="0"/>
          </a:p>
          <a:p>
            <a:pPr eaLnBrk="1" hangingPunct="1">
              <a:lnSpc>
                <a:spcPct val="125000"/>
              </a:lnSpc>
              <a:spcAft>
                <a:spcPts val="600"/>
              </a:spcAft>
              <a:defRPr/>
            </a:pPr>
            <a:endParaRPr lang="el-GR" dirty="0"/>
          </a:p>
          <a:p>
            <a:pPr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/>
              <a:t>Ψηφιακή</a:t>
            </a:r>
          </a:p>
          <a:p>
            <a:pPr lvl="1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/>
              <a:t>σύμβολα από πεπερασμένο αλφάβητο</a:t>
            </a:r>
          </a:p>
          <a:p>
            <a:pPr lvl="1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/>
              <a:t>μετατροπή σε δυαδική ή Μιαδική μορφή</a:t>
            </a:r>
          </a:p>
          <a:p>
            <a:pPr lvl="1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πληροφορία</a:t>
            </a:r>
            <a:r>
              <a:rPr lang="el-GR" dirty="0"/>
              <a:t> συμβόλου </a:t>
            </a:r>
            <a:endParaRPr lang="en-US" dirty="0"/>
          </a:p>
          <a:p>
            <a:pPr lvl="1" eaLnBrk="1" hangingPunct="1">
              <a:lnSpc>
                <a:spcPct val="125000"/>
              </a:lnSpc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εντροπία:</a:t>
            </a:r>
            <a:r>
              <a:rPr lang="el-GR" dirty="0"/>
              <a:t> η μέση πληροφορία των συμβόλων της πηγής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>
            <a:extLst>
              <a:ext uri="{FF2B5EF4-FFF2-40B4-BE49-F238E27FC236}">
                <a16:creationId xmlns:a16="http://schemas.microsoft.com/office/drawing/2014/main" id="{0A8BB51D-6B3E-4021-AA4F-16DE4E39A1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13029" name="Rectangle 5">
            <a:extLst>
              <a:ext uri="{FF2B5EF4-FFF2-40B4-BE49-F238E27FC236}">
                <a16:creationId xmlns:a16="http://schemas.microsoft.com/office/drawing/2014/main" id="{4687F569-B35C-4B66-B31E-897E293952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Κωδικοποιητής</a:t>
            </a:r>
            <a:r>
              <a:rPr lang="en-US" sz="3200" dirty="0"/>
              <a:t> </a:t>
            </a:r>
            <a:r>
              <a:rPr lang="el-GR" sz="3200" dirty="0"/>
              <a:t>και Α/Κ Πηγής</a:t>
            </a:r>
            <a:endParaRPr lang="en-GB" sz="3200" dirty="0"/>
          </a:p>
        </p:txBody>
      </p:sp>
      <p:sp>
        <p:nvSpPr>
          <p:cNvPr id="513030" name="Rectangle 6">
            <a:extLst>
              <a:ext uri="{FF2B5EF4-FFF2-40B4-BE49-F238E27FC236}">
                <a16:creationId xmlns:a16="http://schemas.microsoft.com/office/drawing/2014/main" id="{CE8FCB27-BE16-4877-BE69-CB9BBB384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809625"/>
            <a:ext cx="8713788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9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Στόχος:</a:t>
            </a:r>
            <a:r>
              <a:rPr lang="el-GR" dirty="0"/>
              <a:t> η </a:t>
            </a:r>
            <a:r>
              <a:rPr lang="el-GR" dirty="0">
                <a:solidFill>
                  <a:srgbClr val="FF0000"/>
                </a:solidFill>
              </a:rPr>
              <a:t>οικονομική αναπαράσταση σε </a:t>
            </a:r>
            <a:r>
              <a:rPr lang="en-US" dirty="0">
                <a:solidFill>
                  <a:srgbClr val="FF0000"/>
                </a:solidFill>
              </a:rPr>
              <a:t>bits</a:t>
            </a:r>
          </a:p>
          <a:p>
            <a:pPr lvl="1" eaLnBrk="1" hangingPunct="1">
              <a:lnSpc>
                <a:spcPct val="90000"/>
              </a:lnSpc>
              <a:spcAft>
                <a:spcPts val="900"/>
              </a:spcAft>
              <a:defRPr/>
            </a:pPr>
            <a:r>
              <a:rPr lang="el-GR" dirty="0"/>
              <a:t>αποδοτικότερη αναπαράσταση της εξόδου μιας πηγής</a:t>
            </a:r>
          </a:p>
          <a:p>
            <a:pPr eaLnBrk="1" hangingPunct="1">
              <a:lnSpc>
                <a:spcPct val="90000"/>
              </a:lnSpc>
              <a:spcAft>
                <a:spcPts val="9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Παραδείγματα:</a:t>
            </a:r>
          </a:p>
          <a:p>
            <a:pPr lvl="1" eaLnBrk="1" hangingPunct="1">
              <a:lnSpc>
                <a:spcPct val="90000"/>
              </a:lnSpc>
              <a:spcAft>
                <a:spcPts val="900"/>
              </a:spcAft>
              <a:defRPr/>
            </a:pPr>
            <a:r>
              <a:rPr lang="el-GR" dirty="0"/>
              <a:t>η κωδικοποίηση μεταβλητού μήκους (</a:t>
            </a:r>
            <a:r>
              <a:rPr lang="en-US" dirty="0"/>
              <a:t>Morse</a:t>
            </a:r>
            <a:r>
              <a:rPr lang="el-GR" dirty="0"/>
              <a:t>, </a:t>
            </a:r>
            <a:r>
              <a:rPr lang="en-US" dirty="0"/>
              <a:t>Huffman</a:t>
            </a:r>
            <a:r>
              <a:rPr lang="el-GR" dirty="0"/>
              <a:t>, </a:t>
            </a:r>
            <a:r>
              <a:rPr lang="en-US" dirty="0"/>
              <a:t>LZW</a:t>
            </a:r>
            <a:r>
              <a:rPr lang="el-GR" dirty="0"/>
              <a:t>)</a:t>
            </a:r>
          </a:p>
          <a:p>
            <a:pPr lvl="1" eaLnBrk="1" hangingPunct="1">
              <a:lnSpc>
                <a:spcPct val="90000"/>
              </a:lnSpc>
              <a:spcAft>
                <a:spcPts val="900"/>
              </a:spcAft>
              <a:defRPr/>
            </a:pPr>
            <a:r>
              <a:rPr lang="el-GR" dirty="0"/>
              <a:t>οι αλγόριθμοι συμπίεσης στα πρότυπα </a:t>
            </a:r>
            <a:r>
              <a:rPr lang="en-US" dirty="0"/>
              <a:t>jpeg, mp3</a:t>
            </a:r>
            <a:r>
              <a:rPr lang="el-GR" dirty="0"/>
              <a:t>, </a:t>
            </a:r>
            <a:r>
              <a:rPr lang="en-US" dirty="0"/>
              <a:t>mp4 …</a:t>
            </a:r>
            <a:endParaRPr lang="el-GR" dirty="0"/>
          </a:p>
          <a:p>
            <a:pPr lvl="1" eaLnBrk="1" hangingPunct="1">
              <a:lnSpc>
                <a:spcPct val="90000"/>
              </a:lnSpc>
              <a:spcAft>
                <a:spcPts val="900"/>
              </a:spcAft>
              <a:defRPr/>
            </a:pPr>
            <a:r>
              <a:rPr lang="en-US" dirty="0"/>
              <a:t>PCM, ADPCM, DM</a:t>
            </a:r>
            <a:endParaRPr lang="el-GR" dirty="0"/>
          </a:p>
          <a:p>
            <a:pPr eaLnBrk="1" hangingPunct="1">
              <a:lnSpc>
                <a:spcPct val="90000"/>
              </a:lnSpc>
              <a:spcAft>
                <a:spcPts val="9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Είσοδος:</a:t>
            </a:r>
            <a:r>
              <a:rPr lang="el-GR" dirty="0"/>
              <a:t> ακολουθία συμβόλων ή αναλογικό σήμα</a:t>
            </a:r>
          </a:p>
          <a:p>
            <a:pPr eaLnBrk="1" hangingPunct="1">
              <a:lnSpc>
                <a:spcPct val="90000"/>
              </a:lnSpc>
              <a:spcAft>
                <a:spcPts val="9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Έξοδος:</a:t>
            </a:r>
            <a:r>
              <a:rPr lang="el-GR" dirty="0"/>
              <a:t> ακολουθία </a:t>
            </a:r>
            <a:r>
              <a:rPr lang="en-US" dirty="0"/>
              <a:t>bits</a:t>
            </a:r>
            <a:endParaRPr lang="el-GR" dirty="0"/>
          </a:p>
          <a:p>
            <a:pPr eaLnBrk="1" hangingPunct="1">
              <a:lnSpc>
                <a:spcPct val="90000"/>
              </a:lnSpc>
              <a:spcAft>
                <a:spcPts val="900"/>
              </a:spcAft>
              <a:defRPr/>
            </a:pPr>
            <a:r>
              <a:rPr lang="el-GR" dirty="0"/>
              <a:t>Η κωδικοποίηση μπορεί να είναι</a:t>
            </a:r>
          </a:p>
          <a:p>
            <a:pPr lvl="1" eaLnBrk="1" hangingPunct="1">
              <a:lnSpc>
                <a:spcPct val="90000"/>
              </a:lnSpc>
              <a:spcAft>
                <a:spcPts val="900"/>
              </a:spcAft>
              <a:defRPr/>
            </a:pPr>
            <a:r>
              <a:rPr lang="el-GR" dirty="0"/>
              <a:t>με απώλειες (</a:t>
            </a:r>
            <a:r>
              <a:rPr lang="en-US" dirty="0" err="1">
                <a:solidFill>
                  <a:srgbClr val="FF0000"/>
                </a:solidFill>
              </a:rPr>
              <a:t>lossy</a:t>
            </a:r>
            <a:r>
              <a:rPr lang="el-GR" dirty="0"/>
              <a:t>)</a:t>
            </a:r>
            <a:endParaRPr lang="en-US" dirty="0"/>
          </a:p>
          <a:p>
            <a:pPr lvl="1" eaLnBrk="1" hangingPunct="1">
              <a:lnSpc>
                <a:spcPct val="90000"/>
              </a:lnSpc>
              <a:spcAft>
                <a:spcPts val="900"/>
              </a:spcAft>
              <a:defRPr/>
            </a:pPr>
            <a:r>
              <a:rPr lang="el-GR" dirty="0"/>
              <a:t>και χωρίς απώλειες (</a:t>
            </a:r>
            <a:r>
              <a:rPr lang="en-US" dirty="0">
                <a:solidFill>
                  <a:srgbClr val="FF0000"/>
                </a:solidFill>
              </a:rPr>
              <a:t>lossless</a:t>
            </a:r>
            <a:r>
              <a:rPr lang="el-GR" dirty="0"/>
              <a:t>)</a:t>
            </a:r>
          </a:p>
          <a:p>
            <a:pPr eaLnBrk="1" hangingPunct="1">
              <a:lnSpc>
                <a:spcPct val="90000"/>
              </a:lnSpc>
              <a:spcAft>
                <a:spcPts val="900"/>
              </a:spcAft>
              <a:defRPr/>
            </a:pPr>
            <a:r>
              <a:rPr lang="el-GR" dirty="0"/>
              <a:t>Αν η πηγή είναι </a:t>
            </a:r>
            <a:r>
              <a:rPr lang="el-GR" dirty="0">
                <a:solidFill>
                  <a:srgbClr val="0033CC"/>
                </a:solidFill>
              </a:rPr>
              <a:t>αναλογική</a:t>
            </a:r>
            <a:r>
              <a:rPr lang="el-GR" dirty="0"/>
              <a:t>, τότε η κωδικοποίηση είναι πάντοτε με </a:t>
            </a:r>
            <a:r>
              <a:rPr lang="el-GR" dirty="0">
                <a:solidFill>
                  <a:srgbClr val="0033CC"/>
                </a:solidFill>
              </a:rPr>
              <a:t>απώλειες</a:t>
            </a:r>
            <a:r>
              <a:rPr lang="en-US" dirty="0"/>
              <a:t>  (</a:t>
            </a:r>
            <a:r>
              <a:rPr lang="el-GR" dirty="0"/>
              <a:t>γιατί ;)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3">
            <a:extLst>
              <a:ext uri="{FF2B5EF4-FFF2-40B4-BE49-F238E27FC236}">
                <a16:creationId xmlns:a16="http://schemas.microsoft.com/office/drawing/2014/main" id="{C1903FE6-27C4-4448-82FD-035319339D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14053" name="Rectangle 5">
            <a:extLst>
              <a:ext uri="{FF2B5EF4-FFF2-40B4-BE49-F238E27FC236}">
                <a16:creationId xmlns:a16="http://schemas.microsoft.com/office/drawing/2014/main" id="{718B0F31-1C5E-420D-96E3-1CE2FE6C5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Κωδικοποιητής και Α/Κ Καναλιού</a:t>
            </a:r>
            <a:endParaRPr lang="en-GB" sz="3200" dirty="0"/>
          </a:p>
        </p:txBody>
      </p:sp>
      <p:sp>
        <p:nvSpPr>
          <p:cNvPr id="514054" name="Rectangle 6">
            <a:extLst>
              <a:ext uri="{FF2B5EF4-FFF2-40B4-BE49-F238E27FC236}">
                <a16:creationId xmlns:a16="http://schemas.microsoft.com/office/drawing/2014/main" id="{6F75F69F-8465-420E-84BF-B18D92C3B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954088"/>
            <a:ext cx="83058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l-GR" dirty="0">
                <a:solidFill>
                  <a:srgbClr val="0033CC"/>
                </a:solidFill>
              </a:rPr>
              <a:t>Στόχος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l-GR" dirty="0"/>
              <a:t> ο έλεγχος σφαλμάτων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dirty="0"/>
              <a:t>ανίχνευση (μόνο) ή 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  <a:defRPr/>
            </a:pPr>
            <a:r>
              <a:rPr lang="el-GR" dirty="0"/>
              <a:t>ανίχνευση και διόρθωση σφαλμάτων</a:t>
            </a:r>
            <a:endParaRPr lang="el-GR" dirty="0">
              <a:solidFill>
                <a:srgbClr val="0033CC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ts val="12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Είσοδος</a:t>
            </a:r>
            <a:r>
              <a:rPr lang="en-US" dirty="0"/>
              <a:t>: </a:t>
            </a:r>
            <a:r>
              <a:rPr lang="el-GR" dirty="0"/>
              <a:t>ακολουθία </a:t>
            </a:r>
            <a:r>
              <a:rPr lang="en-US" dirty="0"/>
              <a:t>bits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Έξοδος</a:t>
            </a:r>
            <a:r>
              <a:rPr lang="en-US" dirty="0">
                <a:solidFill>
                  <a:srgbClr val="0033CC"/>
                </a:solidFill>
              </a:rPr>
              <a:t>: </a:t>
            </a:r>
            <a:r>
              <a:rPr lang="el-GR" dirty="0"/>
              <a:t>ακολουθία </a:t>
            </a:r>
            <a:r>
              <a:rPr lang="en-US" dirty="0"/>
              <a:t>bits</a:t>
            </a:r>
            <a:endParaRPr lang="el-GR" dirty="0"/>
          </a:p>
          <a:p>
            <a:pPr eaLnBrk="1" hangingPunct="1">
              <a:lnSpc>
                <a:spcPct val="90000"/>
              </a:lnSpc>
              <a:defRPr/>
            </a:pPr>
            <a:r>
              <a:rPr lang="el-GR" dirty="0"/>
              <a:t>Μπλοκ των </a:t>
            </a:r>
            <a:r>
              <a:rPr lang="en-US" i="1" dirty="0"/>
              <a:t>k</a:t>
            </a:r>
            <a:r>
              <a:rPr lang="en-US" dirty="0"/>
              <a:t> bits </a:t>
            </a:r>
            <a:r>
              <a:rPr lang="el-GR" dirty="0"/>
              <a:t>αντιστοιχίζονται σε μπλοκ των </a:t>
            </a:r>
            <a:r>
              <a:rPr lang="en-US" i="1" dirty="0">
                <a:sym typeface="Symbol" pitchFamily="18" charset="2"/>
              </a:rPr>
              <a:t>n</a:t>
            </a:r>
            <a:r>
              <a:rPr lang="el-GR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bits</a:t>
            </a:r>
            <a:endParaRPr lang="el-GR" dirty="0">
              <a:sym typeface="Symbol" pitchFamily="18" charset="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i="1" dirty="0">
                <a:sym typeface="Symbol" pitchFamily="18" charset="2"/>
              </a:rPr>
              <a:t>n=</a:t>
            </a:r>
            <a:r>
              <a:rPr lang="en-US" i="1" dirty="0" err="1">
                <a:sym typeface="Symbol" pitchFamily="18" charset="2"/>
              </a:rPr>
              <a:t>k+r</a:t>
            </a:r>
            <a:endParaRPr lang="el-GR" i="1" dirty="0">
              <a:sym typeface="Symbol" pitchFamily="18" charset="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dirty="0">
                <a:sym typeface="Symbol" pitchFamily="18" charset="2"/>
              </a:rPr>
              <a:t>εισάγεται </a:t>
            </a:r>
            <a:r>
              <a:rPr lang="el-GR" dirty="0">
                <a:solidFill>
                  <a:srgbClr val="FF0000"/>
                </a:solidFill>
                <a:sym typeface="Symbol" pitchFamily="18" charset="2"/>
              </a:rPr>
              <a:t>πλεονασμός</a:t>
            </a:r>
            <a:r>
              <a:rPr lang="el-GR" dirty="0">
                <a:sym typeface="Symbol" pitchFamily="18" charset="2"/>
              </a:rPr>
              <a:t> με έναν ελεγχόμενο τρόπο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dirty="0">
                <a:sym typeface="Symbol" pitchFamily="18" charset="2"/>
              </a:rPr>
              <a:t>ρυθμός κωδικοποίησης </a:t>
            </a:r>
            <a:r>
              <a:rPr lang="en-US" i="1" dirty="0">
                <a:sym typeface="Symbol" pitchFamily="18" charset="2"/>
              </a:rPr>
              <a:t>k/n</a:t>
            </a:r>
            <a:endParaRPr lang="el-GR" i="1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l-GR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l-GR" dirty="0">
                <a:solidFill>
                  <a:srgbClr val="0033CC"/>
                </a:solidFill>
                <a:sym typeface="Symbol" pitchFamily="18" charset="2"/>
              </a:rPr>
              <a:t>Είδη: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dirty="0">
                <a:sym typeface="Symbol" pitchFamily="18" charset="2"/>
              </a:rPr>
              <a:t>γραμμικοί μπλοκ κώδικες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dirty="0">
                <a:sym typeface="Symbol" pitchFamily="18" charset="2"/>
              </a:rPr>
              <a:t>κυκλικοί κώδικες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dirty="0">
                <a:sym typeface="Symbol" pitchFamily="18" charset="2"/>
              </a:rPr>
              <a:t>συνελικτικοί κώδικες</a:t>
            </a:r>
            <a:endParaRPr lang="en-US" dirty="0">
              <a:sym typeface="Symbol" pitchFamily="18" charset="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dirty="0">
                <a:sym typeface="Symbol" pitchFamily="18" charset="2"/>
              </a:rPr>
              <a:t>Κώδικες </a:t>
            </a:r>
            <a:r>
              <a:rPr lang="en-US" dirty="0">
                <a:sym typeface="Symbol" pitchFamily="18" charset="2"/>
              </a:rPr>
              <a:t>Turbo</a:t>
            </a:r>
            <a:r>
              <a:rPr lang="el-GR" dirty="0">
                <a:sym typeface="Symbol" pitchFamily="18" charset="2"/>
              </a:rPr>
              <a:t>, </a:t>
            </a:r>
            <a:r>
              <a:rPr lang="en-US" dirty="0">
                <a:sym typeface="Symbol" pitchFamily="18" charset="2"/>
              </a:rPr>
              <a:t> </a:t>
            </a:r>
            <a:r>
              <a:rPr lang="el-GR" dirty="0">
                <a:sym typeface="Symbol" pitchFamily="18" charset="2"/>
              </a:rPr>
              <a:t>Κώδικες </a:t>
            </a:r>
            <a:r>
              <a:rPr lang="en-US" dirty="0">
                <a:sym typeface="Symbol" pitchFamily="18" charset="2"/>
              </a:rPr>
              <a:t>LDPC, Polar codes </a:t>
            </a:r>
            <a:r>
              <a:rPr lang="el-GR" dirty="0">
                <a:sym typeface="Symbol" pitchFamily="18" charset="2"/>
              </a:rPr>
              <a:t>κλπ.</a:t>
            </a:r>
            <a:endParaRPr lang="en-US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>
            <a:extLst>
              <a:ext uri="{FF2B5EF4-FFF2-40B4-BE49-F238E27FC236}">
                <a16:creationId xmlns:a16="http://schemas.microsoft.com/office/drawing/2014/main" id="{0853CB8C-7D42-415A-90CA-C1E349A342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15077" name="Rectangle 5">
            <a:extLst>
              <a:ext uri="{FF2B5EF4-FFF2-40B4-BE49-F238E27FC236}">
                <a16:creationId xmlns:a16="http://schemas.microsoft.com/office/drawing/2014/main" id="{71DEAB37-C4FE-42F2-B706-8226843730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Φίλτρα Πομπού και Δέκτη</a:t>
            </a:r>
            <a:endParaRPr lang="en-GB" sz="3200" dirty="0"/>
          </a:p>
        </p:txBody>
      </p:sp>
      <p:sp>
        <p:nvSpPr>
          <p:cNvPr id="515078" name="Rectangle 6">
            <a:extLst>
              <a:ext uri="{FF2B5EF4-FFF2-40B4-BE49-F238E27FC236}">
                <a16:creationId xmlns:a16="http://schemas.microsoft.com/office/drawing/2014/main" id="{BC5E48F5-7DD8-4C50-80CE-4A5306639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2913" y="954088"/>
            <a:ext cx="8305800" cy="5715000"/>
          </a:xfrm>
        </p:spPr>
        <p:txBody>
          <a:bodyPr/>
          <a:lstStyle/>
          <a:p>
            <a:pPr eaLnBrk="1" hangingPunct="1">
              <a:defRPr/>
            </a:pPr>
            <a:r>
              <a:rPr lang="el-GR" dirty="0"/>
              <a:t>Αναφερόμαστε στη </a:t>
            </a:r>
            <a:r>
              <a:rPr lang="el-GR" u="sng" dirty="0"/>
              <a:t>μετάδοση βασικής ζώνης</a:t>
            </a:r>
            <a:endParaRPr lang="en-US" u="sng" dirty="0"/>
          </a:p>
          <a:p>
            <a:pPr eaLnBrk="1" hangingPunct="1">
              <a:defRPr/>
            </a:pPr>
            <a:endParaRPr lang="el-GR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Στόχος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l-GR" dirty="0"/>
              <a:t> το μεταδιδόμενο σύμβολο μορφοποιείται κατάλληλα προκειμένου να αντιμετωπιστούν οι ατέλειες του καναλιού βασικής ζώνης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n-US" dirty="0"/>
              <a:t>PAM: </a:t>
            </a:r>
            <a:r>
              <a:rPr lang="el-GR" dirty="0"/>
              <a:t>δυαδικά σύμβολα </a:t>
            </a:r>
            <a:r>
              <a:rPr lang="el-GR" dirty="0">
                <a:sym typeface="Wingdings" pitchFamily="2" charset="2"/>
              </a:rPr>
              <a:t> ορθογώνιοι παλμοί</a:t>
            </a:r>
            <a:endParaRPr lang="el-GR" dirty="0"/>
          </a:p>
          <a:p>
            <a:pPr lvl="1" eaLnBrk="1" hangingPunct="1">
              <a:defRPr/>
            </a:pPr>
            <a:r>
              <a:rPr lang="el-GR" dirty="0">
                <a:sym typeface="Symbol" pitchFamily="18" charset="2"/>
              </a:rPr>
              <a:t>ένας ορθογώνιος παλμός έχει </a:t>
            </a:r>
            <a:r>
              <a:rPr lang="el-GR" dirty="0">
                <a:solidFill>
                  <a:srgbClr val="FF0000"/>
                </a:solidFill>
                <a:sym typeface="Symbol" pitchFamily="18" charset="2"/>
              </a:rPr>
              <a:t>εύρος ζώνης ??</a:t>
            </a:r>
          </a:p>
          <a:p>
            <a:pPr lvl="1" eaLnBrk="1" hangingPunct="1">
              <a:defRPr/>
            </a:pPr>
            <a:r>
              <a:rPr lang="el-GR" dirty="0">
                <a:solidFill>
                  <a:srgbClr val="FF0000"/>
                </a:solidFill>
                <a:sym typeface="Symbol" pitchFamily="18" charset="2"/>
              </a:rPr>
              <a:t>Ορθογώνιος παλμός σε 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bandlimited channel ??</a:t>
            </a:r>
            <a:endParaRPr lang="el-GR" dirty="0">
              <a:solidFill>
                <a:srgbClr val="FF0000"/>
              </a:solidFill>
              <a:sym typeface="Symbol" pitchFamily="18" charset="2"/>
            </a:endParaRPr>
          </a:p>
          <a:p>
            <a:pPr eaLnBrk="1" hangingPunct="1">
              <a:defRPr/>
            </a:pPr>
            <a:endParaRPr lang="el-GR" dirty="0">
              <a:sym typeface="Symbol" pitchFamily="18" charset="2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l-GR" dirty="0">
                <a:sym typeface="Symbol" pitchFamily="18" charset="2"/>
              </a:rPr>
              <a:t>Η μορφοποίηση παλμού (</a:t>
            </a:r>
            <a:r>
              <a:rPr lang="en-US" dirty="0">
                <a:sym typeface="Symbol" pitchFamily="18" charset="2"/>
              </a:rPr>
              <a:t>TX+RX</a:t>
            </a:r>
            <a:r>
              <a:rPr lang="el-GR" dirty="0">
                <a:sym typeface="Symbol" pitchFamily="18" charset="2"/>
              </a:rPr>
              <a:t>) γίνεται έτσι ώστε να:</a:t>
            </a:r>
          </a:p>
          <a:p>
            <a:pPr lvl="1" eaLnBrk="1" hangingPunct="1">
              <a:defRPr/>
            </a:pPr>
            <a:r>
              <a:rPr lang="el-GR" dirty="0">
                <a:sym typeface="Symbol" pitchFamily="18" charset="2"/>
              </a:rPr>
              <a:t>είναι υλοποιήσιμη</a:t>
            </a:r>
          </a:p>
          <a:p>
            <a:pPr lvl="1" eaLnBrk="1" hangingPunct="1">
              <a:defRPr/>
            </a:pPr>
            <a:r>
              <a:rPr lang="el-GR" dirty="0">
                <a:sym typeface="Symbol" pitchFamily="18" charset="2"/>
              </a:rPr>
              <a:t>απαιτεί πεπερασμένο εύρος ζώνης</a:t>
            </a:r>
          </a:p>
          <a:p>
            <a:pPr lvl="1" eaLnBrk="1" hangingPunct="1">
              <a:defRPr/>
            </a:pPr>
            <a:r>
              <a:rPr lang="el-GR" dirty="0">
                <a:sym typeface="Symbol" pitchFamily="18" charset="2"/>
              </a:rPr>
              <a:t>ικανοποιεί το κριτήριο του </a:t>
            </a:r>
            <a:r>
              <a:rPr lang="en-US" dirty="0" err="1">
                <a:sym typeface="Symbol" pitchFamily="18" charset="2"/>
              </a:rPr>
              <a:t>Nyquist</a:t>
            </a:r>
            <a:r>
              <a:rPr lang="en-US" dirty="0">
                <a:sym typeface="Symbol" pitchFamily="18" charset="2"/>
              </a:rPr>
              <a:t> </a:t>
            </a:r>
            <a:r>
              <a:rPr lang="el-GR" dirty="0">
                <a:sym typeface="Symbol" pitchFamily="18" charset="2"/>
              </a:rPr>
              <a:t>για μηδενική </a:t>
            </a:r>
            <a:r>
              <a:rPr lang="el-GR" dirty="0" err="1">
                <a:sym typeface="Symbol" pitchFamily="18" charset="2"/>
              </a:rPr>
              <a:t>διασυμβολική</a:t>
            </a:r>
            <a:r>
              <a:rPr lang="el-GR" dirty="0">
                <a:sym typeface="Symbol" pitchFamily="18" charset="2"/>
              </a:rPr>
              <a:t> παρεμβολή</a:t>
            </a:r>
            <a:endParaRPr lang="en-US" dirty="0">
              <a:sym typeface="Symbol" pitchFamily="18" charset="2"/>
            </a:endParaRPr>
          </a:p>
          <a:p>
            <a:pPr eaLnBrk="1" hangingPunct="1">
              <a:defRPr/>
            </a:pPr>
            <a:endParaRPr lang="en-US" dirty="0">
              <a:sym typeface="Symbol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>
            <a:extLst>
              <a:ext uri="{FF2B5EF4-FFF2-40B4-BE49-F238E27FC236}">
                <a16:creationId xmlns:a16="http://schemas.microsoft.com/office/drawing/2014/main" id="{45B1AE84-FB93-46EC-A3B7-FCA40B831D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16101" name="Rectangle 5">
            <a:extLst>
              <a:ext uri="{FF2B5EF4-FFF2-40B4-BE49-F238E27FC236}">
                <a16:creationId xmlns:a16="http://schemas.microsoft.com/office/drawing/2014/main" id="{535C8255-9A38-4ABF-8A42-37DF186BA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Διαμόρφωση και Α/Δ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6102" name="Rectangle 6">
                <a:extLst>
                  <a:ext uri="{FF2B5EF4-FFF2-40B4-BE49-F238E27FC236}">
                    <a16:creationId xmlns:a16="http://schemas.microsoft.com/office/drawing/2014/main" id="{1373136F-0FAE-4DBD-A9AB-7AC8F04A2F0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882650"/>
                <a:ext cx="8820472" cy="5715000"/>
              </a:xfrm>
            </p:spPr>
            <p:txBody>
              <a:bodyPr/>
              <a:lstStyle/>
              <a:p>
                <a:pPr eaLnBrk="1" hangingPunct="1">
                  <a:spcBef>
                    <a:spcPts val="0"/>
                  </a:spcBef>
                  <a:defRPr/>
                </a:pPr>
                <a:r>
                  <a:rPr lang="el-GR" dirty="0"/>
                  <a:t>Αναφερόμαστε στη </a:t>
                </a:r>
                <a:r>
                  <a:rPr lang="el-GR" u="sng" dirty="0"/>
                  <a:t>ζωνοπερατή μετάδοση</a:t>
                </a:r>
                <a:endParaRPr lang="en-US" u="sng" dirty="0"/>
              </a:p>
              <a:p>
                <a:pPr eaLnBrk="1" hangingPunct="1">
                  <a:spcBef>
                    <a:spcPts val="0"/>
                  </a:spcBef>
                  <a:defRPr/>
                </a:pPr>
                <a:endParaRPr lang="el-GR" dirty="0"/>
              </a:p>
              <a:p>
                <a:pPr eaLnBrk="1" hangingPunct="1">
                  <a:spcBef>
                    <a:spcPts val="0"/>
                  </a:spcBef>
                  <a:spcAft>
                    <a:spcPct val="50000"/>
                  </a:spcAft>
                  <a:defRPr/>
                </a:pPr>
                <a:r>
                  <a:rPr lang="el-GR" dirty="0">
                    <a:solidFill>
                      <a:srgbClr val="0033CC"/>
                    </a:solidFill>
                  </a:rPr>
                  <a:t>Στόχος:</a:t>
                </a:r>
                <a:r>
                  <a:rPr lang="el-GR" dirty="0"/>
                  <a:t> τα μεταδιδόμενα σήματα (που αντιστοιχούν σε σύμβολα) αντιστοιχίζονται σε </a:t>
                </a:r>
                <a:r>
                  <a:rPr lang="el-GR" dirty="0" err="1"/>
                  <a:t>κυματομορφές</a:t>
                </a:r>
                <a:r>
                  <a:rPr lang="el-GR" dirty="0"/>
                  <a:t> σήματος</a:t>
                </a:r>
                <a:r>
                  <a:rPr lang="en-US" dirty="0"/>
                  <a:t> (</a:t>
                </a:r>
                <a:r>
                  <a:rPr lang="el-GR" dirty="0"/>
                  <a:t>σήματα)</a:t>
                </a:r>
              </a:p>
              <a:p>
                <a:pPr eaLnBrk="1" hangingPunct="1">
                  <a:spcBef>
                    <a:spcPts val="0"/>
                  </a:spcBef>
                  <a:spcAft>
                    <a:spcPct val="50000"/>
                  </a:spcAft>
                  <a:defRPr/>
                </a:pPr>
                <a:r>
                  <a:rPr lang="el-GR" dirty="0"/>
                  <a:t>Τα σήματα είναι τέτοια που να μπορούν να διέλθουν από ζωνοπερατό κανάλι</a:t>
                </a:r>
              </a:p>
              <a:p>
                <a:pPr eaLnBrk="1" hangingPunct="1">
                  <a:spcBef>
                    <a:spcPts val="0"/>
                  </a:spcBef>
                  <a:spcAft>
                    <a:spcPct val="50000"/>
                  </a:spcAft>
                  <a:defRPr/>
                </a:pPr>
                <a:r>
                  <a:rPr lang="el-GR" dirty="0"/>
                  <a:t>Απευθείας εφαρμογή της </a:t>
                </a:r>
                <a:r>
                  <a:rPr lang="el-GR" dirty="0">
                    <a:solidFill>
                      <a:srgbClr val="0033CC"/>
                    </a:solidFill>
                  </a:rPr>
                  <a:t>ιδιότητας διαμόρφωσης</a:t>
                </a:r>
                <a:r>
                  <a:rPr lang="el-GR" dirty="0"/>
                  <a:t> του</a:t>
                </a:r>
                <a:r>
                  <a:rPr lang="en-US" dirty="0"/>
                  <a:t> M.F.</a:t>
                </a:r>
                <a:r>
                  <a:rPr lang="el-GR" dirty="0"/>
                  <a:t> </a:t>
                </a:r>
                <a:endParaRPr lang="en-US" dirty="0"/>
              </a:p>
              <a:p>
                <a:pPr marL="0" indent="0" algn="ctr" eaLnBrk="1" hangingPunct="1">
                  <a:spcBef>
                    <a:spcPts val="0"/>
                  </a:spcBef>
                  <a:spcAft>
                    <a:spcPct val="50000"/>
                  </a:spcAft>
                  <a:buNone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groupChr>
                  </m:oMath>
                </a14:m>
                <a:r>
                  <a:rPr lang="en-US" dirty="0"/>
                  <a:t>X(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l-GR" dirty="0">
                    <a:latin typeface="+mj-lt"/>
                  </a:rPr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l-GR" dirty="0">
                    <a:latin typeface="+mj-lt"/>
                  </a:rPr>
                  <a:t>)   όπου  </a:t>
                </a:r>
                <a:r>
                  <a:rPr lang="el-GR" i="1" dirty="0">
                    <a:latin typeface="+mj-lt"/>
                  </a:rPr>
                  <a:t>Χ(ω)</a:t>
                </a:r>
                <a:r>
                  <a:rPr lang="el-GR" dirty="0">
                    <a:latin typeface="+mj-lt"/>
                  </a:rPr>
                  <a:t> ο </a:t>
                </a:r>
                <a:r>
                  <a:rPr lang="en-US" dirty="0">
                    <a:latin typeface="+mj-lt"/>
                  </a:rPr>
                  <a:t>F[</a:t>
                </a:r>
                <a:r>
                  <a:rPr lang="en-US" i="1" dirty="0">
                    <a:latin typeface="+mj-lt"/>
                  </a:rPr>
                  <a:t>x(t)</a:t>
                </a:r>
                <a:r>
                  <a:rPr lang="en-US" dirty="0">
                    <a:latin typeface="+mj-lt"/>
                  </a:rPr>
                  <a:t>]</a:t>
                </a:r>
              </a:p>
              <a:p>
                <a:pPr marL="0" indent="0" algn="ctr" eaLnBrk="1" hangingPunct="1">
                  <a:spcBef>
                    <a:spcPts val="0"/>
                  </a:spcBef>
                  <a:spcAft>
                    <a:spcPct val="500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l-GR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l-G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groupChr>
                        <m:groupChrPr>
                          <m:chr m:val="↔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groupCh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l-G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r>
                            <a:rPr lang="el-G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l-G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latin typeface="+mj-lt"/>
                </a:endParaRPr>
              </a:p>
              <a:p>
                <a:pPr eaLnBrk="1" hangingPunct="1">
                  <a:spcBef>
                    <a:spcPts val="0"/>
                  </a:spcBef>
                  <a:spcAft>
                    <a:spcPct val="50000"/>
                  </a:spcAft>
                  <a:defRPr/>
                </a:pPr>
                <a:r>
                  <a:rPr lang="el-GR" dirty="0"/>
                  <a:t>Το σήμα που «</a:t>
                </a:r>
                <a:r>
                  <a:rPr lang="el-GR" dirty="0" err="1"/>
                  <a:t>μετα</a:t>
                </a:r>
                <a:r>
                  <a:rPr lang="el-GR" dirty="0"/>
                  <a:t>-φέρει» την πληροφορία βασικής ζώνης λέγεται </a:t>
                </a:r>
                <a:r>
                  <a:rPr lang="el-GR" dirty="0">
                    <a:solidFill>
                      <a:srgbClr val="0033CC"/>
                    </a:solidFill>
                  </a:rPr>
                  <a:t>φέρον (ή φέρουσα)</a:t>
                </a:r>
                <a:r>
                  <a:rPr lang="el-GR" dirty="0"/>
                  <a:t> και έχει ημιτονοειδή μορφή</a:t>
                </a:r>
              </a:p>
              <a:p>
                <a:pPr eaLnBrk="1" hangingPunct="1">
                  <a:spcBef>
                    <a:spcPts val="0"/>
                  </a:spcBef>
                  <a:spcAft>
                    <a:spcPct val="15000"/>
                  </a:spcAft>
                  <a:defRPr/>
                </a:pPr>
                <a:r>
                  <a:rPr lang="el-GR" dirty="0"/>
                  <a:t>Η πληροφορία αποτυπώνεται στις παραμέτρους του ημιτόνου</a:t>
                </a:r>
              </a:p>
              <a:p>
                <a:pPr lvl="1" eaLnBrk="1" hangingPunct="1">
                  <a:spcBef>
                    <a:spcPts val="0"/>
                  </a:spcBef>
                  <a:defRPr/>
                </a:pPr>
                <a:r>
                  <a:rPr lang="el-GR" dirty="0"/>
                  <a:t>Πλάτος, Συχνότητα, Φάση</a:t>
                </a:r>
              </a:p>
            </p:txBody>
          </p:sp>
        </mc:Choice>
        <mc:Fallback xmlns="">
          <p:sp>
            <p:nvSpPr>
              <p:cNvPr id="516102" name="Rectangle 6">
                <a:extLst>
                  <a:ext uri="{FF2B5EF4-FFF2-40B4-BE49-F238E27FC236}">
                    <a16:creationId xmlns:a16="http://schemas.microsoft.com/office/drawing/2014/main" id="{1373136F-0FAE-4DBD-A9AB-7AC8F04A2F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882650"/>
                <a:ext cx="8820472" cy="5715000"/>
              </a:xfrm>
              <a:blipFill>
                <a:blip r:embed="rId3"/>
                <a:stretch>
                  <a:fillRect l="-276" t="-747" r="-1728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>
            <a:extLst>
              <a:ext uri="{FF2B5EF4-FFF2-40B4-BE49-F238E27FC236}">
                <a16:creationId xmlns:a16="http://schemas.microsoft.com/office/drawing/2014/main" id="{C9B09FCF-47CF-41B6-B7E9-7EDC63DF9F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22244" name="Rectangle 4">
            <a:extLst>
              <a:ext uri="{FF2B5EF4-FFF2-40B4-BE49-F238E27FC236}">
                <a16:creationId xmlns:a16="http://schemas.microsoft.com/office/drawing/2014/main" id="{6A86F946-9682-427B-B3D9-4554217C6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Διαμόρφωση και Α/Δ  (2)</a:t>
            </a:r>
            <a:endParaRPr lang="en-GB" sz="3200" dirty="0"/>
          </a:p>
        </p:txBody>
      </p:sp>
      <p:sp>
        <p:nvSpPr>
          <p:cNvPr id="522245" name="Rectangle 5">
            <a:extLst>
              <a:ext uri="{FF2B5EF4-FFF2-40B4-BE49-F238E27FC236}">
                <a16:creationId xmlns:a16="http://schemas.microsoft.com/office/drawing/2014/main" id="{4866C2FF-E03F-4444-BBB7-BF2931E53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82650"/>
            <a:ext cx="8305800" cy="5715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Amplitude Shift Keying (ASK)</a:t>
            </a:r>
          </a:p>
          <a:p>
            <a:pPr eaLnBrk="1" hangingPunct="1">
              <a:defRPr/>
            </a:pPr>
            <a:endParaRPr lang="el-GR"/>
          </a:p>
          <a:p>
            <a:pPr eaLnBrk="1" hangingPunct="1">
              <a:defRPr/>
            </a:pPr>
            <a:endParaRPr lang="el-GR"/>
          </a:p>
          <a:p>
            <a:pPr eaLnBrk="1" hangingPunct="1">
              <a:defRPr/>
            </a:pPr>
            <a:endParaRPr lang="el-GR"/>
          </a:p>
          <a:p>
            <a:pPr eaLnBrk="1" hangingPunct="1">
              <a:defRPr/>
            </a:pPr>
            <a:endParaRPr lang="el-GR"/>
          </a:p>
          <a:p>
            <a:pPr eaLnBrk="1" hangingPunct="1">
              <a:defRPr/>
            </a:pPr>
            <a:r>
              <a:rPr lang="en-US"/>
              <a:t>Phase Shift Keying (PSK)</a:t>
            </a:r>
          </a:p>
          <a:p>
            <a:pPr eaLnBrk="1" hangingPunct="1">
              <a:defRPr/>
            </a:pPr>
            <a:endParaRPr lang="el-GR"/>
          </a:p>
          <a:p>
            <a:pPr eaLnBrk="1" hangingPunct="1">
              <a:defRPr/>
            </a:pPr>
            <a:endParaRPr lang="el-GR"/>
          </a:p>
          <a:p>
            <a:pPr eaLnBrk="1" hangingPunct="1">
              <a:defRPr/>
            </a:pPr>
            <a:endParaRPr lang="el-GR"/>
          </a:p>
          <a:p>
            <a:pPr eaLnBrk="1" hangingPunct="1">
              <a:defRPr/>
            </a:pPr>
            <a:endParaRPr lang="el-GR"/>
          </a:p>
          <a:p>
            <a:pPr eaLnBrk="1" hangingPunct="1">
              <a:defRPr/>
            </a:pPr>
            <a:r>
              <a:rPr lang="en-US"/>
              <a:t>Frequency Shift Keying (FSK)</a:t>
            </a:r>
          </a:p>
          <a:p>
            <a:pPr eaLnBrk="1" hangingPunct="1">
              <a:defRPr/>
            </a:pPr>
            <a:endParaRPr lang="en-US">
              <a:sym typeface="Symbol" pitchFamily="18" charset="2"/>
            </a:endParaRPr>
          </a:p>
        </p:txBody>
      </p:sp>
      <p:graphicFrame>
        <p:nvGraphicFramePr>
          <p:cNvPr id="46085" name="Object 6">
            <a:extLst>
              <a:ext uri="{FF2B5EF4-FFF2-40B4-BE49-F238E27FC236}">
                <a16:creationId xmlns:a16="http://schemas.microsoft.com/office/drawing/2014/main" id="{96616DC7-7977-427A-8437-EFA0E8920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50" y="1517650"/>
          <a:ext cx="577215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29000" imgH="393700" progId="Equation.DSMT4">
                  <p:embed/>
                </p:oleObj>
              </mc:Choice>
              <mc:Fallback>
                <p:oleObj name="Equation" r:id="rId3" imgW="3429000" imgH="393700" progId="Equation.DSMT4">
                  <p:embed/>
                  <p:pic>
                    <p:nvPicPr>
                      <p:cNvPr id="46085" name="Object 6">
                        <a:extLst>
                          <a:ext uri="{FF2B5EF4-FFF2-40B4-BE49-F238E27FC236}">
                            <a16:creationId xmlns:a16="http://schemas.microsoft.com/office/drawing/2014/main" id="{96616DC7-7977-427A-8437-EFA0E8920F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517650"/>
                        <a:ext cx="5772150" cy="687388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7">
            <a:extLst>
              <a:ext uri="{FF2B5EF4-FFF2-40B4-BE49-F238E27FC236}">
                <a16:creationId xmlns:a16="http://schemas.microsoft.com/office/drawing/2014/main" id="{5B6A8E7A-B173-4763-A32D-A56E354C8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50" y="3290888"/>
          <a:ext cx="577691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70300" imgH="393700" progId="Equation.DSMT4">
                  <p:embed/>
                </p:oleObj>
              </mc:Choice>
              <mc:Fallback>
                <p:oleObj name="Equation" r:id="rId5" imgW="3670300" imgH="393700" progId="Equation.DSMT4">
                  <p:embed/>
                  <p:pic>
                    <p:nvPicPr>
                      <p:cNvPr id="46086" name="Object 7">
                        <a:extLst>
                          <a:ext uri="{FF2B5EF4-FFF2-40B4-BE49-F238E27FC236}">
                            <a16:creationId xmlns:a16="http://schemas.microsoft.com/office/drawing/2014/main" id="{5B6A8E7A-B173-4763-A32D-A56E354C82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3290888"/>
                        <a:ext cx="5776913" cy="714375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8">
            <a:extLst>
              <a:ext uri="{FF2B5EF4-FFF2-40B4-BE49-F238E27FC236}">
                <a16:creationId xmlns:a16="http://schemas.microsoft.com/office/drawing/2014/main" id="{C79C3F0B-451B-45BD-BFEB-5D48C598AF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176838"/>
          <a:ext cx="40116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84400" imgH="393700" progId="Equation.DSMT4">
                  <p:embed/>
                </p:oleObj>
              </mc:Choice>
              <mc:Fallback>
                <p:oleObj name="Equation" r:id="rId7" imgW="2184400" imgH="393700" progId="Equation.DSMT4">
                  <p:embed/>
                  <p:pic>
                    <p:nvPicPr>
                      <p:cNvPr id="46087" name="Object 8">
                        <a:extLst>
                          <a:ext uri="{FF2B5EF4-FFF2-40B4-BE49-F238E27FC236}">
                            <a16:creationId xmlns:a16="http://schemas.microsoft.com/office/drawing/2014/main" id="{C79C3F0B-451B-45BD-BFEB-5D48C598AF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176838"/>
                        <a:ext cx="4011613" cy="62865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88" name="Group 9">
            <a:extLst>
              <a:ext uri="{FF2B5EF4-FFF2-40B4-BE49-F238E27FC236}">
                <a16:creationId xmlns:a16="http://schemas.microsoft.com/office/drawing/2014/main" id="{7DDBF82C-488B-4E61-8BA3-A788377AD478}"/>
              </a:ext>
            </a:extLst>
          </p:cNvPr>
          <p:cNvGrpSpPr>
            <a:grpSpLocks/>
          </p:cNvGrpSpPr>
          <p:nvPr/>
        </p:nvGrpSpPr>
        <p:grpSpPr bwMode="auto">
          <a:xfrm>
            <a:off x="6037263" y="990600"/>
            <a:ext cx="2922587" cy="4724400"/>
            <a:chOff x="3803" y="960"/>
            <a:chExt cx="1841" cy="2976"/>
          </a:xfrm>
        </p:grpSpPr>
        <p:sp>
          <p:nvSpPr>
            <p:cNvPr id="46089" name="Line 10">
              <a:extLst>
                <a:ext uri="{FF2B5EF4-FFF2-40B4-BE49-F238E27FC236}">
                  <a16:creationId xmlns:a16="http://schemas.microsoft.com/office/drawing/2014/main" id="{6D4848D2-DD45-4C74-ACAB-A2F1E84AE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3" y="1471"/>
              <a:ext cx="14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grpSp>
          <p:nvGrpSpPr>
            <p:cNvPr id="46090" name="Group 11">
              <a:extLst>
                <a:ext uri="{FF2B5EF4-FFF2-40B4-BE49-F238E27FC236}">
                  <a16:creationId xmlns:a16="http://schemas.microsoft.com/office/drawing/2014/main" id="{D4B7B5AA-B675-4174-BCD1-D8332E22B9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7" y="1279"/>
              <a:ext cx="344" cy="400"/>
              <a:chOff x="3827" y="1563"/>
              <a:chExt cx="380" cy="400"/>
            </a:xfrm>
          </p:grpSpPr>
          <p:grpSp>
            <p:nvGrpSpPr>
              <p:cNvPr id="46385" name="Group 12">
                <a:extLst>
                  <a:ext uri="{FF2B5EF4-FFF2-40B4-BE49-F238E27FC236}">
                    <a16:creationId xmlns:a16="http://schemas.microsoft.com/office/drawing/2014/main" id="{5A7E5E3D-1A6C-430B-86ED-C4DBA7E6DC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827" y="1563"/>
                <a:ext cx="125" cy="388"/>
                <a:chOff x="3497" y="3155"/>
                <a:chExt cx="320" cy="388"/>
              </a:xfrm>
            </p:grpSpPr>
            <p:grpSp>
              <p:nvGrpSpPr>
                <p:cNvPr id="46400" name="Group 13">
                  <a:extLst>
                    <a:ext uri="{FF2B5EF4-FFF2-40B4-BE49-F238E27FC236}">
                      <a16:creationId xmlns:a16="http://schemas.microsoft.com/office/drawing/2014/main" id="{8F77238D-D24D-4F3B-B556-6F91FD51EC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404" name="Arc 14">
                    <a:extLst>
                      <a:ext uri="{FF2B5EF4-FFF2-40B4-BE49-F238E27FC236}">
                        <a16:creationId xmlns:a16="http://schemas.microsoft.com/office/drawing/2014/main" id="{2A63BB43-6F37-4B96-83E0-ED2D0991119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405" name="Arc 15">
                    <a:extLst>
                      <a:ext uri="{FF2B5EF4-FFF2-40B4-BE49-F238E27FC236}">
                        <a16:creationId xmlns:a16="http://schemas.microsoft.com/office/drawing/2014/main" id="{70F34290-C906-4EB2-B7C5-55CC129EF6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401" name="Group 16">
                  <a:extLst>
                    <a:ext uri="{FF2B5EF4-FFF2-40B4-BE49-F238E27FC236}">
                      <a16:creationId xmlns:a16="http://schemas.microsoft.com/office/drawing/2014/main" id="{4D5EC88D-1655-4F97-A51E-C65E426B6F6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402" name="Arc 17">
                    <a:extLst>
                      <a:ext uri="{FF2B5EF4-FFF2-40B4-BE49-F238E27FC236}">
                        <a16:creationId xmlns:a16="http://schemas.microsoft.com/office/drawing/2014/main" id="{CF3BF9BD-246C-4187-A616-AEC3BCC600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403" name="Arc 18">
                    <a:extLst>
                      <a:ext uri="{FF2B5EF4-FFF2-40B4-BE49-F238E27FC236}">
                        <a16:creationId xmlns:a16="http://schemas.microsoft.com/office/drawing/2014/main" id="{DDEFC1E5-0C9F-4521-BFEE-553CEFC956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  <p:grpSp>
            <p:nvGrpSpPr>
              <p:cNvPr id="46386" name="Group 19">
                <a:extLst>
                  <a:ext uri="{FF2B5EF4-FFF2-40B4-BE49-F238E27FC236}">
                    <a16:creationId xmlns:a16="http://schemas.microsoft.com/office/drawing/2014/main" id="{F0C83D67-FF34-4D1D-9281-89D469E27E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955" y="1569"/>
                <a:ext cx="125" cy="388"/>
                <a:chOff x="3497" y="3155"/>
                <a:chExt cx="320" cy="388"/>
              </a:xfrm>
            </p:grpSpPr>
            <p:grpSp>
              <p:nvGrpSpPr>
                <p:cNvPr id="46394" name="Group 20">
                  <a:extLst>
                    <a:ext uri="{FF2B5EF4-FFF2-40B4-BE49-F238E27FC236}">
                      <a16:creationId xmlns:a16="http://schemas.microsoft.com/office/drawing/2014/main" id="{84B623DC-D7F5-45C7-A433-015C9FBFF1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398" name="Arc 21">
                    <a:extLst>
                      <a:ext uri="{FF2B5EF4-FFF2-40B4-BE49-F238E27FC236}">
                        <a16:creationId xmlns:a16="http://schemas.microsoft.com/office/drawing/2014/main" id="{E09AB457-96BB-468B-87A8-26A7AB63539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99" name="Arc 22">
                    <a:extLst>
                      <a:ext uri="{FF2B5EF4-FFF2-40B4-BE49-F238E27FC236}">
                        <a16:creationId xmlns:a16="http://schemas.microsoft.com/office/drawing/2014/main" id="{F7C96965-4061-4E7B-B31F-169C3D6AAE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395" name="Group 23">
                  <a:extLst>
                    <a:ext uri="{FF2B5EF4-FFF2-40B4-BE49-F238E27FC236}">
                      <a16:creationId xmlns:a16="http://schemas.microsoft.com/office/drawing/2014/main" id="{EA308DF8-CA68-4DA1-A55B-5E4FA50878F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396" name="Arc 24">
                    <a:extLst>
                      <a:ext uri="{FF2B5EF4-FFF2-40B4-BE49-F238E27FC236}">
                        <a16:creationId xmlns:a16="http://schemas.microsoft.com/office/drawing/2014/main" id="{9D945884-7D60-477A-82CE-7D26C2BB0C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97" name="Arc 25">
                    <a:extLst>
                      <a:ext uri="{FF2B5EF4-FFF2-40B4-BE49-F238E27FC236}">
                        <a16:creationId xmlns:a16="http://schemas.microsoft.com/office/drawing/2014/main" id="{BC762AC0-C1E2-4F94-9609-0C5D40AD75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  <p:grpSp>
            <p:nvGrpSpPr>
              <p:cNvPr id="46387" name="Group 26">
                <a:extLst>
                  <a:ext uri="{FF2B5EF4-FFF2-40B4-BE49-F238E27FC236}">
                    <a16:creationId xmlns:a16="http://schemas.microsoft.com/office/drawing/2014/main" id="{F414B743-448A-49AA-B341-95DDDF4570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082" y="1575"/>
                <a:ext cx="125" cy="388"/>
                <a:chOff x="3497" y="3155"/>
                <a:chExt cx="320" cy="388"/>
              </a:xfrm>
            </p:grpSpPr>
            <p:grpSp>
              <p:nvGrpSpPr>
                <p:cNvPr id="46388" name="Group 27">
                  <a:extLst>
                    <a:ext uri="{FF2B5EF4-FFF2-40B4-BE49-F238E27FC236}">
                      <a16:creationId xmlns:a16="http://schemas.microsoft.com/office/drawing/2014/main" id="{F4FFB9AF-FDA1-4B18-AD4A-AD656DAA5E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392" name="Arc 28">
                    <a:extLst>
                      <a:ext uri="{FF2B5EF4-FFF2-40B4-BE49-F238E27FC236}">
                        <a16:creationId xmlns:a16="http://schemas.microsoft.com/office/drawing/2014/main" id="{E46870C9-5B46-40DC-BED9-E723CE75808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93" name="Arc 29">
                    <a:extLst>
                      <a:ext uri="{FF2B5EF4-FFF2-40B4-BE49-F238E27FC236}">
                        <a16:creationId xmlns:a16="http://schemas.microsoft.com/office/drawing/2014/main" id="{C85482C8-BDCE-436E-9264-DC9BA6DA39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389" name="Group 30">
                  <a:extLst>
                    <a:ext uri="{FF2B5EF4-FFF2-40B4-BE49-F238E27FC236}">
                      <a16:creationId xmlns:a16="http://schemas.microsoft.com/office/drawing/2014/main" id="{C0746FA8-38A5-4221-A452-4F811E7683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390" name="Arc 31">
                    <a:extLst>
                      <a:ext uri="{FF2B5EF4-FFF2-40B4-BE49-F238E27FC236}">
                        <a16:creationId xmlns:a16="http://schemas.microsoft.com/office/drawing/2014/main" id="{136B808F-C14C-411E-A7EB-6D25EBFBC0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91" name="Arc 32">
                    <a:extLst>
                      <a:ext uri="{FF2B5EF4-FFF2-40B4-BE49-F238E27FC236}">
                        <a16:creationId xmlns:a16="http://schemas.microsoft.com/office/drawing/2014/main" id="{706AE9F1-61DF-4CF9-B796-557622CB91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</p:grpSp>
        <p:grpSp>
          <p:nvGrpSpPr>
            <p:cNvPr id="46091" name="Group 33">
              <a:extLst>
                <a:ext uri="{FF2B5EF4-FFF2-40B4-BE49-F238E27FC236}">
                  <a16:creationId xmlns:a16="http://schemas.microsoft.com/office/drawing/2014/main" id="{4354826D-2DA6-4BCB-A14F-726B06559F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1" y="1279"/>
              <a:ext cx="344" cy="400"/>
              <a:chOff x="3827" y="1563"/>
              <a:chExt cx="380" cy="400"/>
            </a:xfrm>
          </p:grpSpPr>
          <p:grpSp>
            <p:nvGrpSpPr>
              <p:cNvPr id="46364" name="Group 34">
                <a:extLst>
                  <a:ext uri="{FF2B5EF4-FFF2-40B4-BE49-F238E27FC236}">
                    <a16:creationId xmlns:a16="http://schemas.microsoft.com/office/drawing/2014/main" id="{E9502B0A-643F-4948-BC2A-29D5C608B5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827" y="1563"/>
                <a:ext cx="125" cy="388"/>
                <a:chOff x="3497" y="3155"/>
                <a:chExt cx="320" cy="388"/>
              </a:xfrm>
            </p:grpSpPr>
            <p:grpSp>
              <p:nvGrpSpPr>
                <p:cNvPr id="46379" name="Group 35">
                  <a:extLst>
                    <a:ext uri="{FF2B5EF4-FFF2-40B4-BE49-F238E27FC236}">
                      <a16:creationId xmlns:a16="http://schemas.microsoft.com/office/drawing/2014/main" id="{1A7CCCF3-0E76-4C21-B24F-0EF54416DE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383" name="Arc 36">
                    <a:extLst>
                      <a:ext uri="{FF2B5EF4-FFF2-40B4-BE49-F238E27FC236}">
                        <a16:creationId xmlns:a16="http://schemas.microsoft.com/office/drawing/2014/main" id="{B5366AD6-A3A1-40F1-9C1D-1C2C008416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84" name="Arc 37">
                    <a:extLst>
                      <a:ext uri="{FF2B5EF4-FFF2-40B4-BE49-F238E27FC236}">
                        <a16:creationId xmlns:a16="http://schemas.microsoft.com/office/drawing/2014/main" id="{2A044393-0D22-48E8-9023-57DB30F692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380" name="Group 38">
                  <a:extLst>
                    <a:ext uri="{FF2B5EF4-FFF2-40B4-BE49-F238E27FC236}">
                      <a16:creationId xmlns:a16="http://schemas.microsoft.com/office/drawing/2014/main" id="{D803577E-AA1B-4011-8030-882CA8B952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381" name="Arc 39">
                    <a:extLst>
                      <a:ext uri="{FF2B5EF4-FFF2-40B4-BE49-F238E27FC236}">
                        <a16:creationId xmlns:a16="http://schemas.microsoft.com/office/drawing/2014/main" id="{AD6A9355-ECF6-49DE-AFCC-86DF9B5C1E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82" name="Arc 40">
                    <a:extLst>
                      <a:ext uri="{FF2B5EF4-FFF2-40B4-BE49-F238E27FC236}">
                        <a16:creationId xmlns:a16="http://schemas.microsoft.com/office/drawing/2014/main" id="{946DD760-478D-49B9-822C-026768EE71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  <p:grpSp>
            <p:nvGrpSpPr>
              <p:cNvPr id="46365" name="Group 41">
                <a:extLst>
                  <a:ext uri="{FF2B5EF4-FFF2-40B4-BE49-F238E27FC236}">
                    <a16:creationId xmlns:a16="http://schemas.microsoft.com/office/drawing/2014/main" id="{C0B4D952-154A-4F55-B928-CA666A21D7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955" y="1569"/>
                <a:ext cx="125" cy="388"/>
                <a:chOff x="3497" y="3155"/>
                <a:chExt cx="320" cy="388"/>
              </a:xfrm>
            </p:grpSpPr>
            <p:grpSp>
              <p:nvGrpSpPr>
                <p:cNvPr id="46373" name="Group 42">
                  <a:extLst>
                    <a:ext uri="{FF2B5EF4-FFF2-40B4-BE49-F238E27FC236}">
                      <a16:creationId xmlns:a16="http://schemas.microsoft.com/office/drawing/2014/main" id="{68777941-9DAA-4C86-A587-9F5A57E665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377" name="Arc 43">
                    <a:extLst>
                      <a:ext uri="{FF2B5EF4-FFF2-40B4-BE49-F238E27FC236}">
                        <a16:creationId xmlns:a16="http://schemas.microsoft.com/office/drawing/2014/main" id="{A280D7D9-CCF6-438B-B046-4D2C429E99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78" name="Arc 44">
                    <a:extLst>
                      <a:ext uri="{FF2B5EF4-FFF2-40B4-BE49-F238E27FC236}">
                        <a16:creationId xmlns:a16="http://schemas.microsoft.com/office/drawing/2014/main" id="{D217C3B2-1506-42C8-A79C-A4DEBA9957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374" name="Group 45">
                  <a:extLst>
                    <a:ext uri="{FF2B5EF4-FFF2-40B4-BE49-F238E27FC236}">
                      <a16:creationId xmlns:a16="http://schemas.microsoft.com/office/drawing/2014/main" id="{DC68D5D2-E81E-4B4F-8D80-8181604E8B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375" name="Arc 46">
                    <a:extLst>
                      <a:ext uri="{FF2B5EF4-FFF2-40B4-BE49-F238E27FC236}">
                        <a16:creationId xmlns:a16="http://schemas.microsoft.com/office/drawing/2014/main" id="{4CA7B45F-4CF0-42EB-9DB1-20FD461CE7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76" name="Arc 47">
                    <a:extLst>
                      <a:ext uri="{FF2B5EF4-FFF2-40B4-BE49-F238E27FC236}">
                        <a16:creationId xmlns:a16="http://schemas.microsoft.com/office/drawing/2014/main" id="{0B033998-AB2F-407C-9A5B-15E33BF6DE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  <p:grpSp>
            <p:nvGrpSpPr>
              <p:cNvPr id="46366" name="Group 48">
                <a:extLst>
                  <a:ext uri="{FF2B5EF4-FFF2-40B4-BE49-F238E27FC236}">
                    <a16:creationId xmlns:a16="http://schemas.microsoft.com/office/drawing/2014/main" id="{01BAF222-419D-4A0F-8C97-5028278E48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082" y="1575"/>
                <a:ext cx="125" cy="388"/>
                <a:chOff x="3497" y="3155"/>
                <a:chExt cx="320" cy="388"/>
              </a:xfrm>
            </p:grpSpPr>
            <p:grpSp>
              <p:nvGrpSpPr>
                <p:cNvPr id="46367" name="Group 49">
                  <a:extLst>
                    <a:ext uri="{FF2B5EF4-FFF2-40B4-BE49-F238E27FC236}">
                      <a16:creationId xmlns:a16="http://schemas.microsoft.com/office/drawing/2014/main" id="{7854A25C-EC4B-41E2-B035-8A6521A086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371" name="Arc 50">
                    <a:extLst>
                      <a:ext uri="{FF2B5EF4-FFF2-40B4-BE49-F238E27FC236}">
                        <a16:creationId xmlns:a16="http://schemas.microsoft.com/office/drawing/2014/main" id="{14E4C297-AC89-4601-A6BF-537C8D1293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72" name="Arc 51">
                    <a:extLst>
                      <a:ext uri="{FF2B5EF4-FFF2-40B4-BE49-F238E27FC236}">
                        <a16:creationId xmlns:a16="http://schemas.microsoft.com/office/drawing/2014/main" id="{85D0B24E-E613-4EE1-AB43-30DFC94E88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368" name="Group 52">
                  <a:extLst>
                    <a:ext uri="{FF2B5EF4-FFF2-40B4-BE49-F238E27FC236}">
                      <a16:creationId xmlns:a16="http://schemas.microsoft.com/office/drawing/2014/main" id="{299587AD-DFC3-4D92-B2E2-8F4355F393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369" name="Arc 53">
                    <a:extLst>
                      <a:ext uri="{FF2B5EF4-FFF2-40B4-BE49-F238E27FC236}">
                        <a16:creationId xmlns:a16="http://schemas.microsoft.com/office/drawing/2014/main" id="{9BA4413B-CE6F-433C-B40A-DD6C1EB898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70" name="Arc 54">
                    <a:extLst>
                      <a:ext uri="{FF2B5EF4-FFF2-40B4-BE49-F238E27FC236}">
                        <a16:creationId xmlns:a16="http://schemas.microsoft.com/office/drawing/2014/main" id="{556E976F-CEB8-4F55-8095-9CF5A16DE43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</p:grpSp>
        <p:grpSp>
          <p:nvGrpSpPr>
            <p:cNvPr id="46092" name="Group 55">
              <a:extLst>
                <a:ext uri="{FF2B5EF4-FFF2-40B4-BE49-F238E27FC236}">
                  <a16:creationId xmlns:a16="http://schemas.microsoft.com/office/drawing/2014/main" id="{78718CEC-0C34-4790-8459-061BD00AF5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4" y="1279"/>
              <a:ext cx="344" cy="400"/>
              <a:chOff x="3827" y="1563"/>
              <a:chExt cx="380" cy="400"/>
            </a:xfrm>
          </p:grpSpPr>
          <p:grpSp>
            <p:nvGrpSpPr>
              <p:cNvPr id="46343" name="Group 56">
                <a:extLst>
                  <a:ext uri="{FF2B5EF4-FFF2-40B4-BE49-F238E27FC236}">
                    <a16:creationId xmlns:a16="http://schemas.microsoft.com/office/drawing/2014/main" id="{2DBB1C82-1FEB-4DA2-BADA-FA52630E2E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827" y="1563"/>
                <a:ext cx="125" cy="388"/>
                <a:chOff x="3497" y="3155"/>
                <a:chExt cx="320" cy="388"/>
              </a:xfrm>
            </p:grpSpPr>
            <p:grpSp>
              <p:nvGrpSpPr>
                <p:cNvPr id="46358" name="Group 57">
                  <a:extLst>
                    <a:ext uri="{FF2B5EF4-FFF2-40B4-BE49-F238E27FC236}">
                      <a16:creationId xmlns:a16="http://schemas.microsoft.com/office/drawing/2014/main" id="{29E7C9C9-9A7D-4689-B286-AB2553F462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362" name="Arc 58">
                    <a:extLst>
                      <a:ext uri="{FF2B5EF4-FFF2-40B4-BE49-F238E27FC236}">
                        <a16:creationId xmlns:a16="http://schemas.microsoft.com/office/drawing/2014/main" id="{1516C80A-BBF2-42DB-BB3B-D915C997ED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63" name="Arc 59">
                    <a:extLst>
                      <a:ext uri="{FF2B5EF4-FFF2-40B4-BE49-F238E27FC236}">
                        <a16:creationId xmlns:a16="http://schemas.microsoft.com/office/drawing/2014/main" id="{405631C6-5939-44AE-85F6-18C63CD7F1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359" name="Group 60">
                  <a:extLst>
                    <a:ext uri="{FF2B5EF4-FFF2-40B4-BE49-F238E27FC236}">
                      <a16:creationId xmlns:a16="http://schemas.microsoft.com/office/drawing/2014/main" id="{375FFC0C-D0AF-4665-9793-22D082EDE46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360" name="Arc 61">
                    <a:extLst>
                      <a:ext uri="{FF2B5EF4-FFF2-40B4-BE49-F238E27FC236}">
                        <a16:creationId xmlns:a16="http://schemas.microsoft.com/office/drawing/2014/main" id="{03F49994-8889-4F1E-BD82-5C41EB94E9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61" name="Arc 62">
                    <a:extLst>
                      <a:ext uri="{FF2B5EF4-FFF2-40B4-BE49-F238E27FC236}">
                        <a16:creationId xmlns:a16="http://schemas.microsoft.com/office/drawing/2014/main" id="{9241890D-BCF4-4B88-A41B-9FCEA4D8CD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  <p:grpSp>
            <p:nvGrpSpPr>
              <p:cNvPr id="46344" name="Group 63">
                <a:extLst>
                  <a:ext uri="{FF2B5EF4-FFF2-40B4-BE49-F238E27FC236}">
                    <a16:creationId xmlns:a16="http://schemas.microsoft.com/office/drawing/2014/main" id="{4082FDC3-06ED-49A1-8287-B6BA07CF5B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955" y="1569"/>
                <a:ext cx="125" cy="388"/>
                <a:chOff x="3497" y="3155"/>
                <a:chExt cx="320" cy="388"/>
              </a:xfrm>
            </p:grpSpPr>
            <p:grpSp>
              <p:nvGrpSpPr>
                <p:cNvPr id="46352" name="Group 64">
                  <a:extLst>
                    <a:ext uri="{FF2B5EF4-FFF2-40B4-BE49-F238E27FC236}">
                      <a16:creationId xmlns:a16="http://schemas.microsoft.com/office/drawing/2014/main" id="{41FFEA07-19DC-498A-8F9A-516E6BA128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356" name="Arc 65">
                    <a:extLst>
                      <a:ext uri="{FF2B5EF4-FFF2-40B4-BE49-F238E27FC236}">
                        <a16:creationId xmlns:a16="http://schemas.microsoft.com/office/drawing/2014/main" id="{9638453A-F0E5-46C0-85E5-632109087A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57" name="Arc 66">
                    <a:extLst>
                      <a:ext uri="{FF2B5EF4-FFF2-40B4-BE49-F238E27FC236}">
                        <a16:creationId xmlns:a16="http://schemas.microsoft.com/office/drawing/2014/main" id="{64E3964F-3C15-45EF-B2B9-C0C3A25951E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353" name="Group 67">
                  <a:extLst>
                    <a:ext uri="{FF2B5EF4-FFF2-40B4-BE49-F238E27FC236}">
                      <a16:creationId xmlns:a16="http://schemas.microsoft.com/office/drawing/2014/main" id="{A0CFC10B-EFF9-4869-8F95-A744C500A4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354" name="Arc 68">
                    <a:extLst>
                      <a:ext uri="{FF2B5EF4-FFF2-40B4-BE49-F238E27FC236}">
                        <a16:creationId xmlns:a16="http://schemas.microsoft.com/office/drawing/2014/main" id="{7777F13B-5660-4196-A714-DF06BA788E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55" name="Arc 69">
                    <a:extLst>
                      <a:ext uri="{FF2B5EF4-FFF2-40B4-BE49-F238E27FC236}">
                        <a16:creationId xmlns:a16="http://schemas.microsoft.com/office/drawing/2014/main" id="{1400BD7A-9154-4C1D-BA96-73F68A5C4F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  <p:grpSp>
            <p:nvGrpSpPr>
              <p:cNvPr id="46345" name="Group 70">
                <a:extLst>
                  <a:ext uri="{FF2B5EF4-FFF2-40B4-BE49-F238E27FC236}">
                    <a16:creationId xmlns:a16="http://schemas.microsoft.com/office/drawing/2014/main" id="{6C6027AF-9EE9-4548-B83A-3A66682428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082" y="1575"/>
                <a:ext cx="125" cy="388"/>
                <a:chOff x="3497" y="3155"/>
                <a:chExt cx="320" cy="388"/>
              </a:xfrm>
            </p:grpSpPr>
            <p:grpSp>
              <p:nvGrpSpPr>
                <p:cNvPr id="46346" name="Group 71">
                  <a:extLst>
                    <a:ext uri="{FF2B5EF4-FFF2-40B4-BE49-F238E27FC236}">
                      <a16:creationId xmlns:a16="http://schemas.microsoft.com/office/drawing/2014/main" id="{2B83C7D2-FFCF-4BE4-BDF7-95B9E396D0A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350" name="Arc 72">
                    <a:extLst>
                      <a:ext uri="{FF2B5EF4-FFF2-40B4-BE49-F238E27FC236}">
                        <a16:creationId xmlns:a16="http://schemas.microsoft.com/office/drawing/2014/main" id="{A0F8F066-7A87-4A03-A565-6BC368EBF31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51" name="Arc 73">
                    <a:extLst>
                      <a:ext uri="{FF2B5EF4-FFF2-40B4-BE49-F238E27FC236}">
                        <a16:creationId xmlns:a16="http://schemas.microsoft.com/office/drawing/2014/main" id="{92CAF505-23C1-4A99-B35F-0D70CB0CAC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347" name="Group 74">
                  <a:extLst>
                    <a:ext uri="{FF2B5EF4-FFF2-40B4-BE49-F238E27FC236}">
                      <a16:creationId xmlns:a16="http://schemas.microsoft.com/office/drawing/2014/main" id="{2A8DD455-8399-49B1-BE47-AC4B352597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348" name="Arc 75">
                    <a:extLst>
                      <a:ext uri="{FF2B5EF4-FFF2-40B4-BE49-F238E27FC236}">
                        <a16:creationId xmlns:a16="http://schemas.microsoft.com/office/drawing/2014/main" id="{6DADB647-A283-4450-88A8-F644A6A31F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349" name="Arc 76">
                    <a:extLst>
                      <a:ext uri="{FF2B5EF4-FFF2-40B4-BE49-F238E27FC236}">
                        <a16:creationId xmlns:a16="http://schemas.microsoft.com/office/drawing/2014/main" id="{8B9FF13B-C010-478F-A418-1253210D9C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</p:grpSp>
        <p:sp>
          <p:nvSpPr>
            <p:cNvPr id="46093" name="Text Box 77">
              <a:extLst>
                <a:ext uri="{FF2B5EF4-FFF2-40B4-BE49-F238E27FC236}">
                  <a16:creationId xmlns:a16="http://schemas.microsoft.com/office/drawing/2014/main" id="{319041A0-2437-4941-9143-C2AA9BD36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1" y="960"/>
              <a:ext cx="13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2400">
                  <a:solidFill>
                    <a:srgbClr val="0033CC"/>
                  </a:solidFill>
                  <a:latin typeface="Times New Roman" panose="02020603050405020304" pitchFamily="18" charset="0"/>
                </a:rPr>
                <a:t>1     0      1      1</a:t>
              </a:r>
            </a:p>
          </p:txBody>
        </p:sp>
        <p:sp>
          <p:nvSpPr>
            <p:cNvPr id="46094" name="Text Box 78">
              <a:extLst>
                <a:ext uri="{FF2B5EF4-FFF2-40B4-BE49-F238E27FC236}">
                  <a16:creationId xmlns:a16="http://schemas.microsoft.com/office/drawing/2014/main" id="{6D8AC39E-7317-4B37-994A-6DA6AC74CC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2" y="1997"/>
              <a:ext cx="13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2400">
                  <a:solidFill>
                    <a:srgbClr val="0033CC"/>
                  </a:solidFill>
                  <a:latin typeface="Times New Roman" panose="02020603050405020304" pitchFamily="18" charset="0"/>
                </a:rPr>
                <a:t>1     0      1      1</a:t>
              </a:r>
            </a:p>
          </p:txBody>
        </p:sp>
        <p:grpSp>
          <p:nvGrpSpPr>
            <p:cNvPr id="46095" name="Group 79">
              <a:extLst>
                <a:ext uri="{FF2B5EF4-FFF2-40B4-BE49-F238E27FC236}">
                  <a16:creationId xmlns:a16="http://schemas.microsoft.com/office/drawing/2014/main" id="{BCDDEC5B-FD99-4716-8BD5-D691D7E964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4" y="2316"/>
              <a:ext cx="1436" cy="404"/>
              <a:chOff x="3844" y="2587"/>
              <a:chExt cx="1436" cy="404"/>
            </a:xfrm>
          </p:grpSpPr>
          <p:sp>
            <p:nvSpPr>
              <p:cNvPr id="46254" name="Line 80">
                <a:extLst>
                  <a:ext uri="{FF2B5EF4-FFF2-40B4-BE49-F238E27FC236}">
                    <a16:creationId xmlns:a16="http://schemas.microsoft.com/office/drawing/2014/main" id="{124D53A3-2995-42E4-AB4F-FA603386CD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4" y="2779"/>
                <a:ext cx="143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l-GR"/>
              </a:p>
            </p:txBody>
          </p:sp>
          <p:grpSp>
            <p:nvGrpSpPr>
              <p:cNvPr id="46255" name="Group 81">
                <a:extLst>
                  <a:ext uri="{FF2B5EF4-FFF2-40B4-BE49-F238E27FC236}">
                    <a16:creationId xmlns:a16="http://schemas.microsoft.com/office/drawing/2014/main" id="{9135639B-82F7-4322-A47A-08BF4717D8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8" y="2587"/>
                <a:ext cx="344" cy="400"/>
                <a:chOff x="3827" y="1563"/>
                <a:chExt cx="380" cy="400"/>
              </a:xfrm>
            </p:grpSpPr>
            <p:grpSp>
              <p:nvGrpSpPr>
                <p:cNvPr id="46322" name="Group 82">
                  <a:extLst>
                    <a:ext uri="{FF2B5EF4-FFF2-40B4-BE49-F238E27FC236}">
                      <a16:creationId xmlns:a16="http://schemas.microsoft.com/office/drawing/2014/main" id="{CF4AC28E-8C0B-4594-A46B-8B7DDA82E2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827" y="1563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337" name="Group 83">
                    <a:extLst>
                      <a:ext uri="{FF2B5EF4-FFF2-40B4-BE49-F238E27FC236}">
                        <a16:creationId xmlns:a16="http://schemas.microsoft.com/office/drawing/2014/main" id="{47968E4A-CAF3-44FD-AE74-39BF19C921C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341" name="Arc 84">
                      <a:extLst>
                        <a:ext uri="{FF2B5EF4-FFF2-40B4-BE49-F238E27FC236}">
                          <a16:creationId xmlns:a16="http://schemas.microsoft.com/office/drawing/2014/main" id="{AF8759F2-34CE-498B-A1B9-483EBA857D7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42" name="Arc 85">
                      <a:extLst>
                        <a:ext uri="{FF2B5EF4-FFF2-40B4-BE49-F238E27FC236}">
                          <a16:creationId xmlns:a16="http://schemas.microsoft.com/office/drawing/2014/main" id="{5FDAC69F-0BB7-4404-BB84-94CCEFE926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338" name="Group 86">
                    <a:extLst>
                      <a:ext uri="{FF2B5EF4-FFF2-40B4-BE49-F238E27FC236}">
                        <a16:creationId xmlns:a16="http://schemas.microsoft.com/office/drawing/2014/main" id="{2FF010A5-E6FB-41EB-A9BF-F1F25520E8E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339" name="Arc 87">
                      <a:extLst>
                        <a:ext uri="{FF2B5EF4-FFF2-40B4-BE49-F238E27FC236}">
                          <a16:creationId xmlns:a16="http://schemas.microsoft.com/office/drawing/2014/main" id="{AFDCF36D-14D7-4849-AFF0-C433D660895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40" name="Arc 88">
                      <a:extLst>
                        <a:ext uri="{FF2B5EF4-FFF2-40B4-BE49-F238E27FC236}">
                          <a16:creationId xmlns:a16="http://schemas.microsoft.com/office/drawing/2014/main" id="{CD1C4D4A-CBD2-448B-9A2F-77462669DB0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  <p:grpSp>
              <p:nvGrpSpPr>
                <p:cNvPr id="46323" name="Group 89">
                  <a:extLst>
                    <a:ext uri="{FF2B5EF4-FFF2-40B4-BE49-F238E27FC236}">
                      <a16:creationId xmlns:a16="http://schemas.microsoft.com/office/drawing/2014/main" id="{025DB7F9-33A6-405C-8B4A-538DD749E19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955" y="1569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331" name="Group 90">
                    <a:extLst>
                      <a:ext uri="{FF2B5EF4-FFF2-40B4-BE49-F238E27FC236}">
                        <a16:creationId xmlns:a16="http://schemas.microsoft.com/office/drawing/2014/main" id="{125FC31A-BC9C-499F-940A-219CE97424A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335" name="Arc 91">
                      <a:extLst>
                        <a:ext uri="{FF2B5EF4-FFF2-40B4-BE49-F238E27FC236}">
                          <a16:creationId xmlns:a16="http://schemas.microsoft.com/office/drawing/2014/main" id="{E8C29228-EB4C-4DDA-90BE-FA220364C5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36" name="Arc 92">
                      <a:extLst>
                        <a:ext uri="{FF2B5EF4-FFF2-40B4-BE49-F238E27FC236}">
                          <a16:creationId xmlns:a16="http://schemas.microsoft.com/office/drawing/2014/main" id="{6605E7DB-33DA-4603-8344-2136AC44D5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332" name="Group 93">
                    <a:extLst>
                      <a:ext uri="{FF2B5EF4-FFF2-40B4-BE49-F238E27FC236}">
                        <a16:creationId xmlns:a16="http://schemas.microsoft.com/office/drawing/2014/main" id="{56D098A8-CE2A-47F6-B9C4-3E84D0CD77B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333" name="Arc 94">
                      <a:extLst>
                        <a:ext uri="{FF2B5EF4-FFF2-40B4-BE49-F238E27FC236}">
                          <a16:creationId xmlns:a16="http://schemas.microsoft.com/office/drawing/2014/main" id="{FF78E84C-527E-4058-A8A2-5FB57FD6809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34" name="Arc 95">
                      <a:extLst>
                        <a:ext uri="{FF2B5EF4-FFF2-40B4-BE49-F238E27FC236}">
                          <a16:creationId xmlns:a16="http://schemas.microsoft.com/office/drawing/2014/main" id="{62654852-0590-4FCF-BCA9-265A6F424E2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  <p:grpSp>
              <p:nvGrpSpPr>
                <p:cNvPr id="46324" name="Group 96">
                  <a:extLst>
                    <a:ext uri="{FF2B5EF4-FFF2-40B4-BE49-F238E27FC236}">
                      <a16:creationId xmlns:a16="http://schemas.microsoft.com/office/drawing/2014/main" id="{D30EBDB0-9EB2-4F69-ACD9-1D28AC129C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4082" y="1575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325" name="Group 97">
                    <a:extLst>
                      <a:ext uri="{FF2B5EF4-FFF2-40B4-BE49-F238E27FC236}">
                        <a16:creationId xmlns:a16="http://schemas.microsoft.com/office/drawing/2014/main" id="{7A30E18E-97BE-468B-9AC6-05A1EB02EB8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329" name="Arc 98">
                      <a:extLst>
                        <a:ext uri="{FF2B5EF4-FFF2-40B4-BE49-F238E27FC236}">
                          <a16:creationId xmlns:a16="http://schemas.microsoft.com/office/drawing/2014/main" id="{66BF14A3-DEED-4102-97AB-219EACAFAD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30" name="Arc 99">
                      <a:extLst>
                        <a:ext uri="{FF2B5EF4-FFF2-40B4-BE49-F238E27FC236}">
                          <a16:creationId xmlns:a16="http://schemas.microsoft.com/office/drawing/2014/main" id="{767B1715-4975-4EDB-B87E-C380C1E3E64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326" name="Group 100">
                    <a:extLst>
                      <a:ext uri="{FF2B5EF4-FFF2-40B4-BE49-F238E27FC236}">
                        <a16:creationId xmlns:a16="http://schemas.microsoft.com/office/drawing/2014/main" id="{0B6C47E4-93B1-4766-B476-8001027475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327" name="Arc 101">
                      <a:extLst>
                        <a:ext uri="{FF2B5EF4-FFF2-40B4-BE49-F238E27FC236}">
                          <a16:creationId xmlns:a16="http://schemas.microsoft.com/office/drawing/2014/main" id="{8F7F37A0-4166-4730-8CC9-9169FE1FD7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28" name="Arc 102">
                      <a:extLst>
                        <a:ext uri="{FF2B5EF4-FFF2-40B4-BE49-F238E27FC236}">
                          <a16:creationId xmlns:a16="http://schemas.microsoft.com/office/drawing/2014/main" id="{93474675-EF15-424F-A72E-28987B77CDE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</p:grpSp>
          <p:grpSp>
            <p:nvGrpSpPr>
              <p:cNvPr id="46256" name="Group 103">
                <a:extLst>
                  <a:ext uri="{FF2B5EF4-FFF2-40B4-BE49-F238E27FC236}">
                    <a16:creationId xmlns:a16="http://schemas.microsoft.com/office/drawing/2014/main" id="{25A6E2A0-1CFB-4FE5-8125-F8C6A2FEE8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72" y="2587"/>
                <a:ext cx="344" cy="400"/>
                <a:chOff x="3827" y="1563"/>
                <a:chExt cx="380" cy="400"/>
              </a:xfrm>
            </p:grpSpPr>
            <p:grpSp>
              <p:nvGrpSpPr>
                <p:cNvPr id="46301" name="Group 104">
                  <a:extLst>
                    <a:ext uri="{FF2B5EF4-FFF2-40B4-BE49-F238E27FC236}">
                      <a16:creationId xmlns:a16="http://schemas.microsoft.com/office/drawing/2014/main" id="{5946761F-DE72-46A1-864E-0F2D3272FD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827" y="1563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316" name="Group 105">
                    <a:extLst>
                      <a:ext uri="{FF2B5EF4-FFF2-40B4-BE49-F238E27FC236}">
                        <a16:creationId xmlns:a16="http://schemas.microsoft.com/office/drawing/2014/main" id="{BE56B01B-CC93-4CCC-8574-E44A3E4948D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320" name="Arc 106">
                      <a:extLst>
                        <a:ext uri="{FF2B5EF4-FFF2-40B4-BE49-F238E27FC236}">
                          <a16:creationId xmlns:a16="http://schemas.microsoft.com/office/drawing/2014/main" id="{0BF4DF22-C462-468B-AAFD-D7399189824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21" name="Arc 107">
                      <a:extLst>
                        <a:ext uri="{FF2B5EF4-FFF2-40B4-BE49-F238E27FC236}">
                          <a16:creationId xmlns:a16="http://schemas.microsoft.com/office/drawing/2014/main" id="{3EC34E5B-6BB6-46A4-8250-BF05F50BB1D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317" name="Group 108">
                    <a:extLst>
                      <a:ext uri="{FF2B5EF4-FFF2-40B4-BE49-F238E27FC236}">
                        <a16:creationId xmlns:a16="http://schemas.microsoft.com/office/drawing/2014/main" id="{478C9461-817A-45E4-975F-81E3496BBE8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318" name="Arc 109">
                      <a:extLst>
                        <a:ext uri="{FF2B5EF4-FFF2-40B4-BE49-F238E27FC236}">
                          <a16:creationId xmlns:a16="http://schemas.microsoft.com/office/drawing/2014/main" id="{D4A83236-4040-4444-B4AF-D33B07331D4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19" name="Arc 110">
                      <a:extLst>
                        <a:ext uri="{FF2B5EF4-FFF2-40B4-BE49-F238E27FC236}">
                          <a16:creationId xmlns:a16="http://schemas.microsoft.com/office/drawing/2014/main" id="{924BED7D-A24E-4080-B4A8-1E46CDF90BF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  <p:grpSp>
              <p:nvGrpSpPr>
                <p:cNvPr id="46302" name="Group 111">
                  <a:extLst>
                    <a:ext uri="{FF2B5EF4-FFF2-40B4-BE49-F238E27FC236}">
                      <a16:creationId xmlns:a16="http://schemas.microsoft.com/office/drawing/2014/main" id="{8AE1D569-D848-4308-AAC1-551C8006CA7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955" y="1569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310" name="Group 112">
                    <a:extLst>
                      <a:ext uri="{FF2B5EF4-FFF2-40B4-BE49-F238E27FC236}">
                        <a16:creationId xmlns:a16="http://schemas.microsoft.com/office/drawing/2014/main" id="{70B6E1E6-752B-40DF-988A-B4D70D5BF13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314" name="Arc 113">
                      <a:extLst>
                        <a:ext uri="{FF2B5EF4-FFF2-40B4-BE49-F238E27FC236}">
                          <a16:creationId xmlns:a16="http://schemas.microsoft.com/office/drawing/2014/main" id="{1F7AD47A-EEE5-4F82-A7E5-B455F1B1C4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15" name="Arc 114">
                      <a:extLst>
                        <a:ext uri="{FF2B5EF4-FFF2-40B4-BE49-F238E27FC236}">
                          <a16:creationId xmlns:a16="http://schemas.microsoft.com/office/drawing/2014/main" id="{7A45C19D-6D78-4129-A102-0FB3C2A8EE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311" name="Group 115">
                    <a:extLst>
                      <a:ext uri="{FF2B5EF4-FFF2-40B4-BE49-F238E27FC236}">
                        <a16:creationId xmlns:a16="http://schemas.microsoft.com/office/drawing/2014/main" id="{BAA18FFD-EC29-438F-85DA-E7790821FD0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312" name="Arc 116">
                      <a:extLst>
                        <a:ext uri="{FF2B5EF4-FFF2-40B4-BE49-F238E27FC236}">
                          <a16:creationId xmlns:a16="http://schemas.microsoft.com/office/drawing/2014/main" id="{9AB6E0CC-1A9E-4C46-A319-6CAFC573241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13" name="Arc 117">
                      <a:extLst>
                        <a:ext uri="{FF2B5EF4-FFF2-40B4-BE49-F238E27FC236}">
                          <a16:creationId xmlns:a16="http://schemas.microsoft.com/office/drawing/2014/main" id="{83865194-5D72-4915-B873-2383E37C332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  <p:grpSp>
              <p:nvGrpSpPr>
                <p:cNvPr id="46303" name="Group 118">
                  <a:extLst>
                    <a:ext uri="{FF2B5EF4-FFF2-40B4-BE49-F238E27FC236}">
                      <a16:creationId xmlns:a16="http://schemas.microsoft.com/office/drawing/2014/main" id="{CD1D5D3A-D754-461D-9AB3-DC717700A7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4082" y="1575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304" name="Group 119">
                    <a:extLst>
                      <a:ext uri="{FF2B5EF4-FFF2-40B4-BE49-F238E27FC236}">
                        <a16:creationId xmlns:a16="http://schemas.microsoft.com/office/drawing/2014/main" id="{B29C82A8-1C33-4AAC-B043-F320BA5C673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308" name="Arc 120">
                      <a:extLst>
                        <a:ext uri="{FF2B5EF4-FFF2-40B4-BE49-F238E27FC236}">
                          <a16:creationId xmlns:a16="http://schemas.microsoft.com/office/drawing/2014/main" id="{0A2A3309-4C5E-4CD2-8ED9-F1E5EFA80B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09" name="Arc 121">
                      <a:extLst>
                        <a:ext uri="{FF2B5EF4-FFF2-40B4-BE49-F238E27FC236}">
                          <a16:creationId xmlns:a16="http://schemas.microsoft.com/office/drawing/2014/main" id="{F9956327-AFC8-4D22-963E-BC3DDBAB71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305" name="Group 122">
                    <a:extLst>
                      <a:ext uri="{FF2B5EF4-FFF2-40B4-BE49-F238E27FC236}">
                        <a16:creationId xmlns:a16="http://schemas.microsoft.com/office/drawing/2014/main" id="{9F08141C-4C95-422E-9B98-698DDB81FF9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306" name="Arc 123">
                      <a:extLst>
                        <a:ext uri="{FF2B5EF4-FFF2-40B4-BE49-F238E27FC236}">
                          <a16:creationId xmlns:a16="http://schemas.microsoft.com/office/drawing/2014/main" id="{D22FDDDB-7185-4421-A48D-A3D4B26F4C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07" name="Arc 124">
                      <a:extLst>
                        <a:ext uri="{FF2B5EF4-FFF2-40B4-BE49-F238E27FC236}">
                          <a16:creationId xmlns:a16="http://schemas.microsoft.com/office/drawing/2014/main" id="{A5737C31-285B-4776-AFDC-F1FA89C44CD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</p:grpSp>
          <p:grpSp>
            <p:nvGrpSpPr>
              <p:cNvPr id="46257" name="Group 125">
                <a:extLst>
                  <a:ext uri="{FF2B5EF4-FFF2-40B4-BE49-F238E27FC236}">
                    <a16:creationId xmlns:a16="http://schemas.microsoft.com/office/drawing/2014/main" id="{3EDEBCAB-CBAC-430A-99DA-65861BF6D2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15" y="2587"/>
                <a:ext cx="344" cy="400"/>
                <a:chOff x="3827" y="1563"/>
                <a:chExt cx="380" cy="400"/>
              </a:xfrm>
            </p:grpSpPr>
            <p:grpSp>
              <p:nvGrpSpPr>
                <p:cNvPr id="46280" name="Group 126">
                  <a:extLst>
                    <a:ext uri="{FF2B5EF4-FFF2-40B4-BE49-F238E27FC236}">
                      <a16:creationId xmlns:a16="http://schemas.microsoft.com/office/drawing/2014/main" id="{FF2CE056-EE26-4ABB-BFEB-1AA62FD86A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827" y="1563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295" name="Group 127">
                    <a:extLst>
                      <a:ext uri="{FF2B5EF4-FFF2-40B4-BE49-F238E27FC236}">
                        <a16:creationId xmlns:a16="http://schemas.microsoft.com/office/drawing/2014/main" id="{86F57FD7-4BFF-4E83-A6A4-A94DC2B6B65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99" name="Arc 128">
                      <a:extLst>
                        <a:ext uri="{FF2B5EF4-FFF2-40B4-BE49-F238E27FC236}">
                          <a16:creationId xmlns:a16="http://schemas.microsoft.com/office/drawing/2014/main" id="{163A95F9-E068-4870-B614-79BA6964DAC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300" name="Arc 129">
                      <a:extLst>
                        <a:ext uri="{FF2B5EF4-FFF2-40B4-BE49-F238E27FC236}">
                          <a16:creationId xmlns:a16="http://schemas.microsoft.com/office/drawing/2014/main" id="{7B41623A-63E2-4964-8F89-681305FEECC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296" name="Group 130">
                    <a:extLst>
                      <a:ext uri="{FF2B5EF4-FFF2-40B4-BE49-F238E27FC236}">
                        <a16:creationId xmlns:a16="http://schemas.microsoft.com/office/drawing/2014/main" id="{1B800F73-3A2D-4019-8FE7-B5D90F5483A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97" name="Arc 131">
                      <a:extLst>
                        <a:ext uri="{FF2B5EF4-FFF2-40B4-BE49-F238E27FC236}">
                          <a16:creationId xmlns:a16="http://schemas.microsoft.com/office/drawing/2014/main" id="{2A233BC3-2F1B-4742-B789-39DAEDC99AF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98" name="Arc 132">
                      <a:extLst>
                        <a:ext uri="{FF2B5EF4-FFF2-40B4-BE49-F238E27FC236}">
                          <a16:creationId xmlns:a16="http://schemas.microsoft.com/office/drawing/2014/main" id="{C38B14D4-1C82-4E38-B219-C4E105D9A23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  <p:grpSp>
              <p:nvGrpSpPr>
                <p:cNvPr id="46281" name="Group 133">
                  <a:extLst>
                    <a:ext uri="{FF2B5EF4-FFF2-40B4-BE49-F238E27FC236}">
                      <a16:creationId xmlns:a16="http://schemas.microsoft.com/office/drawing/2014/main" id="{EC7EC270-A077-4A14-8173-18FD29ECF1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955" y="1569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289" name="Group 134">
                    <a:extLst>
                      <a:ext uri="{FF2B5EF4-FFF2-40B4-BE49-F238E27FC236}">
                        <a16:creationId xmlns:a16="http://schemas.microsoft.com/office/drawing/2014/main" id="{D251D5CF-0553-409F-90BC-18736885351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93" name="Arc 135">
                      <a:extLst>
                        <a:ext uri="{FF2B5EF4-FFF2-40B4-BE49-F238E27FC236}">
                          <a16:creationId xmlns:a16="http://schemas.microsoft.com/office/drawing/2014/main" id="{B6D8AE01-89D5-4FA6-A30E-99CABC4F88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94" name="Arc 136">
                      <a:extLst>
                        <a:ext uri="{FF2B5EF4-FFF2-40B4-BE49-F238E27FC236}">
                          <a16:creationId xmlns:a16="http://schemas.microsoft.com/office/drawing/2014/main" id="{F910D96E-269E-4030-851E-EDD9AFEDED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290" name="Group 137">
                    <a:extLst>
                      <a:ext uri="{FF2B5EF4-FFF2-40B4-BE49-F238E27FC236}">
                        <a16:creationId xmlns:a16="http://schemas.microsoft.com/office/drawing/2014/main" id="{513D4CF8-7019-481E-8FB9-0441C38F3C9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91" name="Arc 138">
                      <a:extLst>
                        <a:ext uri="{FF2B5EF4-FFF2-40B4-BE49-F238E27FC236}">
                          <a16:creationId xmlns:a16="http://schemas.microsoft.com/office/drawing/2014/main" id="{4FEE82A5-FD9C-4662-A2F1-3C1D3E8EC52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92" name="Arc 139">
                      <a:extLst>
                        <a:ext uri="{FF2B5EF4-FFF2-40B4-BE49-F238E27FC236}">
                          <a16:creationId xmlns:a16="http://schemas.microsoft.com/office/drawing/2014/main" id="{8F2A8D43-8FDE-47EA-82DB-BDCCD881C9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  <p:grpSp>
              <p:nvGrpSpPr>
                <p:cNvPr id="46282" name="Group 140">
                  <a:extLst>
                    <a:ext uri="{FF2B5EF4-FFF2-40B4-BE49-F238E27FC236}">
                      <a16:creationId xmlns:a16="http://schemas.microsoft.com/office/drawing/2014/main" id="{145865F6-14B8-4624-8FA8-8941B1B4D3E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4082" y="1575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283" name="Group 141">
                    <a:extLst>
                      <a:ext uri="{FF2B5EF4-FFF2-40B4-BE49-F238E27FC236}">
                        <a16:creationId xmlns:a16="http://schemas.microsoft.com/office/drawing/2014/main" id="{D7AA5752-1BCD-4362-B54B-F9F4F527E55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87" name="Arc 142">
                      <a:extLst>
                        <a:ext uri="{FF2B5EF4-FFF2-40B4-BE49-F238E27FC236}">
                          <a16:creationId xmlns:a16="http://schemas.microsoft.com/office/drawing/2014/main" id="{31CC1D78-5660-481F-93E8-C006841E8BD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88" name="Arc 143">
                      <a:extLst>
                        <a:ext uri="{FF2B5EF4-FFF2-40B4-BE49-F238E27FC236}">
                          <a16:creationId xmlns:a16="http://schemas.microsoft.com/office/drawing/2014/main" id="{AFD7E418-3A90-46E8-B158-CD3F4CDBBB7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284" name="Group 144">
                    <a:extLst>
                      <a:ext uri="{FF2B5EF4-FFF2-40B4-BE49-F238E27FC236}">
                        <a16:creationId xmlns:a16="http://schemas.microsoft.com/office/drawing/2014/main" id="{0DBF0ADD-4B0B-47B2-A1E3-4161573DF24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85" name="Arc 145">
                      <a:extLst>
                        <a:ext uri="{FF2B5EF4-FFF2-40B4-BE49-F238E27FC236}">
                          <a16:creationId xmlns:a16="http://schemas.microsoft.com/office/drawing/2014/main" id="{CD2803C7-FCF5-4E75-B750-6003DA82DB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86" name="Arc 146">
                      <a:extLst>
                        <a:ext uri="{FF2B5EF4-FFF2-40B4-BE49-F238E27FC236}">
                          <a16:creationId xmlns:a16="http://schemas.microsoft.com/office/drawing/2014/main" id="{9F75A0C7-2271-44EE-B0E8-A95D9F434EA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</p:grpSp>
          <p:grpSp>
            <p:nvGrpSpPr>
              <p:cNvPr id="46258" name="Group 147">
                <a:extLst>
                  <a:ext uri="{FF2B5EF4-FFF2-40B4-BE49-F238E27FC236}">
                    <a16:creationId xmlns:a16="http://schemas.microsoft.com/office/drawing/2014/main" id="{90566ED7-9A6E-4285-AC91-7F5DB8B7BC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230" y="2591"/>
                <a:ext cx="344" cy="400"/>
                <a:chOff x="3827" y="1563"/>
                <a:chExt cx="380" cy="400"/>
              </a:xfrm>
            </p:grpSpPr>
            <p:grpSp>
              <p:nvGrpSpPr>
                <p:cNvPr id="46259" name="Group 148">
                  <a:extLst>
                    <a:ext uri="{FF2B5EF4-FFF2-40B4-BE49-F238E27FC236}">
                      <a16:creationId xmlns:a16="http://schemas.microsoft.com/office/drawing/2014/main" id="{DDE6CC6E-33B5-4EED-BCFF-E46550BC9D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827" y="1563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274" name="Group 149">
                    <a:extLst>
                      <a:ext uri="{FF2B5EF4-FFF2-40B4-BE49-F238E27FC236}">
                        <a16:creationId xmlns:a16="http://schemas.microsoft.com/office/drawing/2014/main" id="{EF3108F0-1BA0-4B52-953A-D00B311C188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78" name="Arc 150">
                      <a:extLst>
                        <a:ext uri="{FF2B5EF4-FFF2-40B4-BE49-F238E27FC236}">
                          <a16:creationId xmlns:a16="http://schemas.microsoft.com/office/drawing/2014/main" id="{55F1D953-44C5-4F93-A774-5177D24AD3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79" name="Arc 151">
                      <a:extLst>
                        <a:ext uri="{FF2B5EF4-FFF2-40B4-BE49-F238E27FC236}">
                          <a16:creationId xmlns:a16="http://schemas.microsoft.com/office/drawing/2014/main" id="{720F05EC-EC8C-4EFA-8988-0AAD41B00E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275" name="Group 152">
                    <a:extLst>
                      <a:ext uri="{FF2B5EF4-FFF2-40B4-BE49-F238E27FC236}">
                        <a16:creationId xmlns:a16="http://schemas.microsoft.com/office/drawing/2014/main" id="{0794CF49-06DE-479D-876F-B714BEC8201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76" name="Arc 153">
                      <a:extLst>
                        <a:ext uri="{FF2B5EF4-FFF2-40B4-BE49-F238E27FC236}">
                          <a16:creationId xmlns:a16="http://schemas.microsoft.com/office/drawing/2014/main" id="{0A151B4D-F0F6-4515-9C70-88D88C91F5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77" name="Arc 154">
                      <a:extLst>
                        <a:ext uri="{FF2B5EF4-FFF2-40B4-BE49-F238E27FC236}">
                          <a16:creationId xmlns:a16="http://schemas.microsoft.com/office/drawing/2014/main" id="{63E90C05-D0F4-4A95-BCC8-45138BB2B4D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  <p:grpSp>
              <p:nvGrpSpPr>
                <p:cNvPr id="46260" name="Group 155">
                  <a:extLst>
                    <a:ext uri="{FF2B5EF4-FFF2-40B4-BE49-F238E27FC236}">
                      <a16:creationId xmlns:a16="http://schemas.microsoft.com/office/drawing/2014/main" id="{7888DBED-27A6-4CF0-8E7A-AF96DA57AC9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955" y="1569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268" name="Group 156">
                    <a:extLst>
                      <a:ext uri="{FF2B5EF4-FFF2-40B4-BE49-F238E27FC236}">
                        <a16:creationId xmlns:a16="http://schemas.microsoft.com/office/drawing/2014/main" id="{E6DFCE77-996F-4CF1-BFA6-5BED838A5D2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72" name="Arc 157">
                      <a:extLst>
                        <a:ext uri="{FF2B5EF4-FFF2-40B4-BE49-F238E27FC236}">
                          <a16:creationId xmlns:a16="http://schemas.microsoft.com/office/drawing/2014/main" id="{88FD81A5-A180-4CD5-A87D-806A97FCFD2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73" name="Arc 158">
                      <a:extLst>
                        <a:ext uri="{FF2B5EF4-FFF2-40B4-BE49-F238E27FC236}">
                          <a16:creationId xmlns:a16="http://schemas.microsoft.com/office/drawing/2014/main" id="{57BEADBF-5BC9-4AAF-94E8-A148E9E51E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269" name="Group 159">
                    <a:extLst>
                      <a:ext uri="{FF2B5EF4-FFF2-40B4-BE49-F238E27FC236}">
                        <a16:creationId xmlns:a16="http://schemas.microsoft.com/office/drawing/2014/main" id="{0CCA77EF-72D4-4CE6-AE7B-737A005C3AF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70" name="Arc 160">
                      <a:extLst>
                        <a:ext uri="{FF2B5EF4-FFF2-40B4-BE49-F238E27FC236}">
                          <a16:creationId xmlns:a16="http://schemas.microsoft.com/office/drawing/2014/main" id="{30CD4DFA-F242-4417-A066-5BEBE507864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71" name="Arc 161">
                      <a:extLst>
                        <a:ext uri="{FF2B5EF4-FFF2-40B4-BE49-F238E27FC236}">
                          <a16:creationId xmlns:a16="http://schemas.microsoft.com/office/drawing/2014/main" id="{6F58B18A-6AEF-4788-BBEC-34AE4524DA3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  <p:grpSp>
              <p:nvGrpSpPr>
                <p:cNvPr id="46261" name="Group 162">
                  <a:extLst>
                    <a:ext uri="{FF2B5EF4-FFF2-40B4-BE49-F238E27FC236}">
                      <a16:creationId xmlns:a16="http://schemas.microsoft.com/office/drawing/2014/main" id="{C0999CB3-914C-4912-AF10-FF311E6A05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4082" y="1575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262" name="Group 163">
                    <a:extLst>
                      <a:ext uri="{FF2B5EF4-FFF2-40B4-BE49-F238E27FC236}">
                        <a16:creationId xmlns:a16="http://schemas.microsoft.com/office/drawing/2014/main" id="{0C08996A-5FEF-4807-8277-4BD6D79524A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66" name="Arc 164">
                      <a:extLst>
                        <a:ext uri="{FF2B5EF4-FFF2-40B4-BE49-F238E27FC236}">
                          <a16:creationId xmlns:a16="http://schemas.microsoft.com/office/drawing/2014/main" id="{1CF5DEE1-2A2F-4A4E-96B2-8681A2F721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67" name="Arc 165">
                      <a:extLst>
                        <a:ext uri="{FF2B5EF4-FFF2-40B4-BE49-F238E27FC236}">
                          <a16:creationId xmlns:a16="http://schemas.microsoft.com/office/drawing/2014/main" id="{7EB9F638-41B5-4070-A2EB-73CE080CCEB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263" name="Group 166">
                    <a:extLst>
                      <a:ext uri="{FF2B5EF4-FFF2-40B4-BE49-F238E27FC236}">
                        <a16:creationId xmlns:a16="http://schemas.microsoft.com/office/drawing/2014/main" id="{0CB2DA24-450B-4317-BAF3-CFA4DD76366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64" name="Arc 167">
                      <a:extLst>
                        <a:ext uri="{FF2B5EF4-FFF2-40B4-BE49-F238E27FC236}">
                          <a16:creationId xmlns:a16="http://schemas.microsoft.com/office/drawing/2014/main" id="{82A9EED9-C79F-4AE2-BAEC-679CF967483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65" name="Arc 168">
                      <a:extLst>
                        <a:ext uri="{FF2B5EF4-FFF2-40B4-BE49-F238E27FC236}">
                          <a16:creationId xmlns:a16="http://schemas.microsoft.com/office/drawing/2014/main" id="{055AACC3-6BD6-4DB4-BA49-A3F0895DFE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</p:grpSp>
        </p:grpSp>
        <p:sp>
          <p:nvSpPr>
            <p:cNvPr id="46096" name="Line 169">
              <a:extLst>
                <a:ext uri="{FF2B5EF4-FFF2-40B4-BE49-F238E27FC236}">
                  <a16:creationId xmlns:a16="http://schemas.microsoft.com/office/drawing/2014/main" id="{2CB7AAFC-88E0-43D8-8AD4-1B9EE65F9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3" y="3481"/>
              <a:ext cx="139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097" name="Text Box 170">
              <a:extLst>
                <a:ext uri="{FF2B5EF4-FFF2-40B4-BE49-F238E27FC236}">
                  <a16:creationId xmlns:a16="http://schemas.microsoft.com/office/drawing/2014/main" id="{06C12625-5A98-4981-AAE4-4A60395CD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8" y="2970"/>
              <a:ext cx="13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2400">
                  <a:solidFill>
                    <a:srgbClr val="0033CC"/>
                  </a:solidFill>
                  <a:latin typeface="Times New Roman" panose="02020603050405020304" pitchFamily="18" charset="0"/>
                </a:rPr>
                <a:t>1     0      1      1</a:t>
              </a:r>
            </a:p>
          </p:txBody>
        </p:sp>
        <p:grpSp>
          <p:nvGrpSpPr>
            <p:cNvPr id="46098" name="Group 171">
              <a:extLst>
                <a:ext uri="{FF2B5EF4-FFF2-40B4-BE49-F238E27FC236}">
                  <a16:creationId xmlns:a16="http://schemas.microsoft.com/office/drawing/2014/main" id="{E626B072-D3E9-4BE5-8E15-37E05D1A89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3" y="3284"/>
              <a:ext cx="335" cy="400"/>
              <a:chOff x="3827" y="1563"/>
              <a:chExt cx="380" cy="400"/>
            </a:xfrm>
          </p:grpSpPr>
          <p:grpSp>
            <p:nvGrpSpPr>
              <p:cNvPr id="46233" name="Group 172">
                <a:extLst>
                  <a:ext uri="{FF2B5EF4-FFF2-40B4-BE49-F238E27FC236}">
                    <a16:creationId xmlns:a16="http://schemas.microsoft.com/office/drawing/2014/main" id="{70D66C98-0DEA-4C4E-94CF-6C197FDD78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827" y="1563"/>
                <a:ext cx="125" cy="388"/>
                <a:chOff x="3497" y="3155"/>
                <a:chExt cx="320" cy="388"/>
              </a:xfrm>
            </p:grpSpPr>
            <p:grpSp>
              <p:nvGrpSpPr>
                <p:cNvPr id="46248" name="Group 173">
                  <a:extLst>
                    <a:ext uri="{FF2B5EF4-FFF2-40B4-BE49-F238E27FC236}">
                      <a16:creationId xmlns:a16="http://schemas.microsoft.com/office/drawing/2014/main" id="{2708EFA7-27BE-42F7-A0EC-527C98B889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252" name="Arc 174">
                    <a:extLst>
                      <a:ext uri="{FF2B5EF4-FFF2-40B4-BE49-F238E27FC236}">
                        <a16:creationId xmlns:a16="http://schemas.microsoft.com/office/drawing/2014/main" id="{711F4443-0E69-4CEC-996A-8B641F6C52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253" name="Arc 175">
                    <a:extLst>
                      <a:ext uri="{FF2B5EF4-FFF2-40B4-BE49-F238E27FC236}">
                        <a16:creationId xmlns:a16="http://schemas.microsoft.com/office/drawing/2014/main" id="{D00F4395-11E1-4851-8C34-346EB9FD756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249" name="Group 176">
                  <a:extLst>
                    <a:ext uri="{FF2B5EF4-FFF2-40B4-BE49-F238E27FC236}">
                      <a16:creationId xmlns:a16="http://schemas.microsoft.com/office/drawing/2014/main" id="{0741802A-F60F-4FEA-A99C-42F9854965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250" name="Arc 177">
                    <a:extLst>
                      <a:ext uri="{FF2B5EF4-FFF2-40B4-BE49-F238E27FC236}">
                        <a16:creationId xmlns:a16="http://schemas.microsoft.com/office/drawing/2014/main" id="{ADF0F9BE-AB57-4548-8488-D58F4BA67F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251" name="Arc 178">
                    <a:extLst>
                      <a:ext uri="{FF2B5EF4-FFF2-40B4-BE49-F238E27FC236}">
                        <a16:creationId xmlns:a16="http://schemas.microsoft.com/office/drawing/2014/main" id="{7EC3047D-9D30-452F-BFB7-F2490DE590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  <p:grpSp>
            <p:nvGrpSpPr>
              <p:cNvPr id="46234" name="Group 179">
                <a:extLst>
                  <a:ext uri="{FF2B5EF4-FFF2-40B4-BE49-F238E27FC236}">
                    <a16:creationId xmlns:a16="http://schemas.microsoft.com/office/drawing/2014/main" id="{BD7023C2-4F66-4913-B70D-1890EEEB84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955" y="1569"/>
                <a:ext cx="125" cy="388"/>
                <a:chOff x="3497" y="3155"/>
                <a:chExt cx="320" cy="388"/>
              </a:xfrm>
            </p:grpSpPr>
            <p:grpSp>
              <p:nvGrpSpPr>
                <p:cNvPr id="46242" name="Group 180">
                  <a:extLst>
                    <a:ext uri="{FF2B5EF4-FFF2-40B4-BE49-F238E27FC236}">
                      <a16:creationId xmlns:a16="http://schemas.microsoft.com/office/drawing/2014/main" id="{2EBB4ABD-498F-4ED9-8EED-12652E98AF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246" name="Arc 181">
                    <a:extLst>
                      <a:ext uri="{FF2B5EF4-FFF2-40B4-BE49-F238E27FC236}">
                        <a16:creationId xmlns:a16="http://schemas.microsoft.com/office/drawing/2014/main" id="{D1595A3C-8E8A-4908-914E-A935CF8099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247" name="Arc 182">
                    <a:extLst>
                      <a:ext uri="{FF2B5EF4-FFF2-40B4-BE49-F238E27FC236}">
                        <a16:creationId xmlns:a16="http://schemas.microsoft.com/office/drawing/2014/main" id="{4A4597B3-58CA-4835-AE34-FBFAECEAF3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243" name="Group 183">
                  <a:extLst>
                    <a:ext uri="{FF2B5EF4-FFF2-40B4-BE49-F238E27FC236}">
                      <a16:creationId xmlns:a16="http://schemas.microsoft.com/office/drawing/2014/main" id="{345925B0-E2A7-4DFD-9F38-C8F65B0ADD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244" name="Arc 184">
                    <a:extLst>
                      <a:ext uri="{FF2B5EF4-FFF2-40B4-BE49-F238E27FC236}">
                        <a16:creationId xmlns:a16="http://schemas.microsoft.com/office/drawing/2014/main" id="{B10B15BE-6A2F-45DC-97F7-1E55B5AFAF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245" name="Arc 185">
                    <a:extLst>
                      <a:ext uri="{FF2B5EF4-FFF2-40B4-BE49-F238E27FC236}">
                        <a16:creationId xmlns:a16="http://schemas.microsoft.com/office/drawing/2014/main" id="{F299707D-5424-44AC-93C4-5821611A3C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  <p:grpSp>
            <p:nvGrpSpPr>
              <p:cNvPr id="46235" name="Group 186">
                <a:extLst>
                  <a:ext uri="{FF2B5EF4-FFF2-40B4-BE49-F238E27FC236}">
                    <a16:creationId xmlns:a16="http://schemas.microsoft.com/office/drawing/2014/main" id="{E0C08C16-919C-4903-905C-8A4103A843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082" y="1575"/>
                <a:ext cx="125" cy="388"/>
                <a:chOff x="3497" y="3155"/>
                <a:chExt cx="320" cy="388"/>
              </a:xfrm>
            </p:grpSpPr>
            <p:grpSp>
              <p:nvGrpSpPr>
                <p:cNvPr id="46236" name="Group 187">
                  <a:extLst>
                    <a:ext uri="{FF2B5EF4-FFF2-40B4-BE49-F238E27FC236}">
                      <a16:creationId xmlns:a16="http://schemas.microsoft.com/office/drawing/2014/main" id="{27F862AB-080C-42A0-8BCD-CBF05EE920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240" name="Arc 188">
                    <a:extLst>
                      <a:ext uri="{FF2B5EF4-FFF2-40B4-BE49-F238E27FC236}">
                        <a16:creationId xmlns:a16="http://schemas.microsoft.com/office/drawing/2014/main" id="{B1D3BAAD-6A99-488B-BCE1-81E884BE23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241" name="Arc 189">
                    <a:extLst>
                      <a:ext uri="{FF2B5EF4-FFF2-40B4-BE49-F238E27FC236}">
                        <a16:creationId xmlns:a16="http://schemas.microsoft.com/office/drawing/2014/main" id="{9888A42A-7926-4ADA-B302-D747F492FB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237" name="Group 190">
                  <a:extLst>
                    <a:ext uri="{FF2B5EF4-FFF2-40B4-BE49-F238E27FC236}">
                      <a16:creationId xmlns:a16="http://schemas.microsoft.com/office/drawing/2014/main" id="{BDE42AFF-81B3-4C33-B5D2-AC3A6A4C4A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238" name="Arc 191">
                    <a:extLst>
                      <a:ext uri="{FF2B5EF4-FFF2-40B4-BE49-F238E27FC236}">
                        <a16:creationId xmlns:a16="http://schemas.microsoft.com/office/drawing/2014/main" id="{C5D8C309-178C-4CA5-86F1-31F03B3CA0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239" name="Arc 192">
                    <a:extLst>
                      <a:ext uri="{FF2B5EF4-FFF2-40B4-BE49-F238E27FC236}">
                        <a16:creationId xmlns:a16="http://schemas.microsoft.com/office/drawing/2014/main" id="{8B10B122-9A06-4BAE-B47B-66A2301B4D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</p:grpSp>
        <p:grpSp>
          <p:nvGrpSpPr>
            <p:cNvPr id="46099" name="Group 193">
              <a:extLst>
                <a:ext uri="{FF2B5EF4-FFF2-40B4-BE49-F238E27FC236}">
                  <a16:creationId xmlns:a16="http://schemas.microsoft.com/office/drawing/2014/main" id="{06A55040-8970-4A29-9D14-9CE0C46B49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9" y="3289"/>
              <a:ext cx="338" cy="400"/>
              <a:chOff x="3927" y="3606"/>
              <a:chExt cx="347" cy="400"/>
            </a:xfrm>
          </p:grpSpPr>
          <p:grpSp>
            <p:nvGrpSpPr>
              <p:cNvPr id="46197" name="Group 194">
                <a:extLst>
                  <a:ext uri="{FF2B5EF4-FFF2-40B4-BE49-F238E27FC236}">
                    <a16:creationId xmlns:a16="http://schemas.microsoft.com/office/drawing/2014/main" id="{1B6097F7-7C30-42CE-8B77-BFF1000524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27" y="3606"/>
                <a:ext cx="204" cy="400"/>
                <a:chOff x="3827" y="1563"/>
                <a:chExt cx="380" cy="400"/>
              </a:xfrm>
            </p:grpSpPr>
            <p:grpSp>
              <p:nvGrpSpPr>
                <p:cNvPr id="46212" name="Group 195">
                  <a:extLst>
                    <a:ext uri="{FF2B5EF4-FFF2-40B4-BE49-F238E27FC236}">
                      <a16:creationId xmlns:a16="http://schemas.microsoft.com/office/drawing/2014/main" id="{9E9693C5-77B8-41C8-B555-7F21EF218B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827" y="1563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227" name="Group 196">
                    <a:extLst>
                      <a:ext uri="{FF2B5EF4-FFF2-40B4-BE49-F238E27FC236}">
                        <a16:creationId xmlns:a16="http://schemas.microsoft.com/office/drawing/2014/main" id="{05EFBD7B-08BC-4B74-A1A3-AD786043C50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31" name="Arc 197">
                      <a:extLst>
                        <a:ext uri="{FF2B5EF4-FFF2-40B4-BE49-F238E27FC236}">
                          <a16:creationId xmlns:a16="http://schemas.microsoft.com/office/drawing/2014/main" id="{80619615-05F8-4058-9083-2A4E263CB71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32" name="Arc 198">
                      <a:extLst>
                        <a:ext uri="{FF2B5EF4-FFF2-40B4-BE49-F238E27FC236}">
                          <a16:creationId xmlns:a16="http://schemas.microsoft.com/office/drawing/2014/main" id="{FBE458BB-270D-40E0-9EA1-2FE76A4967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228" name="Group 199">
                    <a:extLst>
                      <a:ext uri="{FF2B5EF4-FFF2-40B4-BE49-F238E27FC236}">
                        <a16:creationId xmlns:a16="http://schemas.microsoft.com/office/drawing/2014/main" id="{14D21CD5-1FB1-4F82-A11E-B1D8477C068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29" name="Arc 200">
                      <a:extLst>
                        <a:ext uri="{FF2B5EF4-FFF2-40B4-BE49-F238E27FC236}">
                          <a16:creationId xmlns:a16="http://schemas.microsoft.com/office/drawing/2014/main" id="{B1072F4E-2271-409E-BB6C-C3B12969478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30" name="Arc 201">
                      <a:extLst>
                        <a:ext uri="{FF2B5EF4-FFF2-40B4-BE49-F238E27FC236}">
                          <a16:creationId xmlns:a16="http://schemas.microsoft.com/office/drawing/2014/main" id="{29451490-4BA0-4F32-8AD0-8A94A1E753D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  <p:grpSp>
              <p:nvGrpSpPr>
                <p:cNvPr id="46213" name="Group 202">
                  <a:extLst>
                    <a:ext uri="{FF2B5EF4-FFF2-40B4-BE49-F238E27FC236}">
                      <a16:creationId xmlns:a16="http://schemas.microsoft.com/office/drawing/2014/main" id="{D927690A-2321-448B-AD17-A21A1BF401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955" y="1569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221" name="Group 203">
                    <a:extLst>
                      <a:ext uri="{FF2B5EF4-FFF2-40B4-BE49-F238E27FC236}">
                        <a16:creationId xmlns:a16="http://schemas.microsoft.com/office/drawing/2014/main" id="{52ECBC54-9006-4478-A6FF-C462DDD5DD6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25" name="Arc 204">
                      <a:extLst>
                        <a:ext uri="{FF2B5EF4-FFF2-40B4-BE49-F238E27FC236}">
                          <a16:creationId xmlns:a16="http://schemas.microsoft.com/office/drawing/2014/main" id="{554F6B53-E341-4A77-B990-48D751DC24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26" name="Arc 205">
                      <a:extLst>
                        <a:ext uri="{FF2B5EF4-FFF2-40B4-BE49-F238E27FC236}">
                          <a16:creationId xmlns:a16="http://schemas.microsoft.com/office/drawing/2014/main" id="{A9DDBCF4-2301-4F23-B610-6BA4FCD9CE3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222" name="Group 206">
                    <a:extLst>
                      <a:ext uri="{FF2B5EF4-FFF2-40B4-BE49-F238E27FC236}">
                        <a16:creationId xmlns:a16="http://schemas.microsoft.com/office/drawing/2014/main" id="{7B065B1D-B96F-43E7-8844-38C2DC104DA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23" name="Arc 207">
                      <a:extLst>
                        <a:ext uri="{FF2B5EF4-FFF2-40B4-BE49-F238E27FC236}">
                          <a16:creationId xmlns:a16="http://schemas.microsoft.com/office/drawing/2014/main" id="{9F4316CB-995F-464B-A715-6FE35032EB6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24" name="Arc 208">
                      <a:extLst>
                        <a:ext uri="{FF2B5EF4-FFF2-40B4-BE49-F238E27FC236}">
                          <a16:creationId xmlns:a16="http://schemas.microsoft.com/office/drawing/2014/main" id="{B5D3430D-8C5A-4340-8A4C-A7CD1E1B9F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  <p:grpSp>
              <p:nvGrpSpPr>
                <p:cNvPr id="46214" name="Group 209">
                  <a:extLst>
                    <a:ext uri="{FF2B5EF4-FFF2-40B4-BE49-F238E27FC236}">
                      <a16:creationId xmlns:a16="http://schemas.microsoft.com/office/drawing/2014/main" id="{A046F603-57C3-46B0-9F2F-11BC65AB40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4082" y="1575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215" name="Group 210">
                    <a:extLst>
                      <a:ext uri="{FF2B5EF4-FFF2-40B4-BE49-F238E27FC236}">
                        <a16:creationId xmlns:a16="http://schemas.microsoft.com/office/drawing/2014/main" id="{7F12356C-A62F-4071-A5AA-F4B925D5427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19" name="Arc 211">
                      <a:extLst>
                        <a:ext uri="{FF2B5EF4-FFF2-40B4-BE49-F238E27FC236}">
                          <a16:creationId xmlns:a16="http://schemas.microsoft.com/office/drawing/2014/main" id="{542DC88B-9455-4B40-8F89-CD7C817CDBA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20" name="Arc 212">
                      <a:extLst>
                        <a:ext uri="{FF2B5EF4-FFF2-40B4-BE49-F238E27FC236}">
                          <a16:creationId xmlns:a16="http://schemas.microsoft.com/office/drawing/2014/main" id="{7501BB58-AE52-4A60-9B2E-BBA8A3C3B0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216" name="Group 213">
                    <a:extLst>
                      <a:ext uri="{FF2B5EF4-FFF2-40B4-BE49-F238E27FC236}">
                        <a16:creationId xmlns:a16="http://schemas.microsoft.com/office/drawing/2014/main" id="{A1B18955-9C76-45DD-A0B1-ECEF118A015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217" name="Arc 214">
                      <a:extLst>
                        <a:ext uri="{FF2B5EF4-FFF2-40B4-BE49-F238E27FC236}">
                          <a16:creationId xmlns:a16="http://schemas.microsoft.com/office/drawing/2014/main" id="{8F722D37-4FBF-4E48-BCCE-D6D3B128753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218" name="Arc 215">
                      <a:extLst>
                        <a:ext uri="{FF2B5EF4-FFF2-40B4-BE49-F238E27FC236}">
                          <a16:creationId xmlns:a16="http://schemas.microsoft.com/office/drawing/2014/main" id="{824895BF-6105-456C-87AE-73C2D8A5B49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</p:grpSp>
          <p:grpSp>
            <p:nvGrpSpPr>
              <p:cNvPr id="46198" name="Group 216">
                <a:extLst>
                  <a:ext uri="{FF2B5EF4-FFF2-40B4-BE49-F238E27FC236}">
                    <a16:creationId xmlns:a16="http://schemas.microsoft.com/office/drawing/2014/main" id="{1C6E7733-2F91-4064-8DD4-FCB5CD6678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38" y="3606"/>
                <a:ext cx="67" cy="388"/>
                <a:chOff x="3497" y="3155"/>
                <a:chExt cx="320" cy="388"/>
              </a:xfrm>
            </p:grpSpPr>
            <p:grpSp>
              <p:nvGrpSpPr>
                <p:cNvPr id="46206" name="Group 217">
                  <a:extLst>
                    <a:ext uri="{FF2B5EF4-FFF2-40B4-BE49-F238E27FC236}">
                      <a16:creationId xmlns:a16="http://schemas.microsoft.com/office/drawing/2014/main" id="{7511440A-420B-4BEB-A30B-2CEA0C3B3A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210" name="Arc 218">
                    <a:extLst>
                      <a:ext uri="{FF2B5EF4-FFF2-40B4-BE49-F238E27FC236}">
                        <a16:creationId xmlns:a16="http://schemas.microsoft.com/office/drawing/2014/main" id="{721F5C0A-69C0-4E58-B140-287638E4B44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211" name="Arc 219">
                    <a:extLst>
                      <a:ext uri="{FF2B5EF4-FFF2-40B4-BE49-F238E27FC236}">
                        <a16:creationId xmlns:a16="http://schemas.microsoft.com/office/drawing/2014/main" id="{AA92AEBA-5646-4DF8-9A94-77F23490F9F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207" name="Group 220">
                  <a:extLst>
                    <a:ext uri="{FF2B5EF4-FFF2-40B4-BE49-F238E27FC236}">
                      <a16:creationId xmlns:a16="http://schemas.microsoft.com/office/drawing/2014/main" id="{7750A6EE-6B6A-4C7A-8836-EB874C4B52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208" name="Arc 221">
                    <a:extLst>
                      <a:ext uri="{FF2B5EF4-FFF2-40B4-BE49-F238E27FC236}">
                        <a16:creationId xmlns:a16="http://schemas.microsoft.com/office/drawing/2014/main" id="{A36EBE30-85E1-4835-A33F-AADC238C6F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209" name="Arc 222">
                    <a:extLst>
                      <a:ext uri="{FF2B5EF4-FFF2-40B4-BE49-F238E27FC236}">
                        <a16:creationId xmlns:a16="http://schemas.microsoft.com/office/drawing/2014/main" id="{72E3DCB7-52F6-44C0-8842-D3ED509088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  <p:grpSp>
            <p:nvGrpSpPr>
              <p:cNvPr id="46199" name="Group 223">
                <a:extLst>
                  <a:ext uri="{FF2B5EF4-FFF2-40B4-BE49-F238E27FC236}">
                    <a16:creationId xmlns:a16="http://schemas.microsoft.com/office/drawing/2014/main" id="{7DDC0B48-0828-4370-AA65-BBF7437A25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207" y="3606"/>
                <a:ext cx="67" cy="388"/>
                <a:chOff x="3497" y="3155"/>
                <a:chExt cx="320" cy="388"/>
              </a:xfrm>
            </p:grpSpPr>
            <p:grpSp>
              <p:nvGrpSpPr>
                <p:cNvPr id="46200" name="Group 224">
                  <a:extLst>
                    <a:ext uri="{FF2B5EF4-FFF2-40B4-BE49-F238E27FC236}">
                      <a16:creationId xmlns:a16="http://schemas.microsoft.com/office/drawing/2014/main" id="{CC21DD12-39FA-4471-BAAA-6D5B1F04FD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204" name="Arc 225">
                    <a:extLst>
                      <a:ext uri="{FF2B5EF4-FFF2-40B4-BE49-F238E27FC236}">
                        <a16:creationId xmlns:a16="http://schemas.microsoft.com/office/drawing/2014/main" id="{1560F692-C311-473D-9654-60846413273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205" name="Arc 226">
                    <a:extLst>
                      <a:ext uri="{FF2B5EF4-FFF2-40B4-BE49-F238E27FC236}">
                        <a16:creationId xmlns:a16="http://schemas.microsoft.com/office/drawing/2014/main" id="{A8F463E3-A977-42D0-B660-C4C2581310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201" name="Group 227">
                  <a:extLst>
                    <a:ext uri="{FF2B5EF4-FFF2-40B4-BE49-F238E27FC236}">
                      <a16:creationId xmlns:a16="http://schemas.microsoft.com/office/drawing/2014/main" id="{FDFE8F04-13A3-4D42-9B7C-86D2F498BC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202" name="Arc 228">
                    <a:extLst>
                      <a:ext uri="{FF2B5EF4-FFF2-40B4-BE49-F238E27FC236}">
                        <a16:creationId xmlns:a16="http://schemas.microsoft.com/office/drawing/2014/main" id="{F2CADC26-F964-4826-A898-08E9518B68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203" name="Arc 229">
                    <a:extLst>
                      <a:ext uri="{FF2B5EF4-FFF2-40B4-BE49-F238E27FC236}">
                        <a16:creationId xmlns:a16="http://schemas.microsoft.com/office/drawing/2014/main" id="{D747546A-A736-4A10-A9AD-215AAB0385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</p:grpSp>
        <p:grpSp>
          <p:nvGrpSpPr>
            <p:cNvPr id="46100" name="Group 230">
              <a:extLst>
                <a:ext uri="{FF2B5EF4-FFF2-40B4-BE49-F238E27FC236}">
                  <a16:creationId xmlns:a16="http://schemas.microsoft.com/office/drawing/2014/main" id="{9AD0C7DC-5E69-4D67-B6EC-6DC0247D97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4" y="3290"/>
              <a:ext cx="199" cy="400"/>
              <a:chOff x="3827" y="1563"/>
              <a:chExt cx="380" cy="400"/>
            </a:xfrm>
          </p:grpSpPr>
          <p:grpSp>
            <p:nvGrpSpPr>
              <p:cNvPr id="46176" name="Group 231">
                <a:extLst>
                  <a:ext uri="{FF2B5EF4-FFF2-40B4-BE49-F238E27FC236}">
                    <a16:creationId xmlns:a16="http://schemas.microsoft.com/office/drawing/2014/main" id="{F98F333A-05E6-4894-9A91-89B85C2ABC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827" y="1563"/>
                <a:ext cx="125" cy="388"/>
                <a:chOff x="3497" y="3155"/>
                <a:chExt cx="320" cy="388"/>
              </a:xfrm>
            </p:grpSpPr>
            <p:grpSp>
              <p:nvGrpSpPr>
                <p:cNvPr id="46191" name="Group 232">
                  <a:extLst>
                    <a:ext uri="{FF2B5EF4-FFF2-40B4-BE49-F238E27FC236}">
                      <a16:creationId xmlns:a16="http://schemas.microsoft.com/office/drawing/2014/main" id="{47B61E83-6C8F-43BE-AC0F-F205E2C2B6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195" name="Arc 233">
                    <a:extLst>
                      <a:ext uri="{FF2B5EF4-FFF2-40B4-BE49-F238E27FC236}">
                        <a16:creationId xmlns:a16="http://schemas.microsoft.com/office/drawing/2014/main" id="{DB5CB79E-C1DC-4CCA-856C-2AACBBBCAF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196" name="Arc 234">
                    <a:extLst>
                      <a:ext uri="{FF2B5EF4-FFF2-40B4-BE49-F238E27FC236}">
                        <a16:creationId xmlns:a16="http://schemas.microsoft.com/office/drawing/2014/main" id="{5B1CFA5F-3BF8-44C3-9C1C-819EBAEDB7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192" name="Group 235">
                  <a:extLst>
                    <a:ext uri="{FF2B5EF4-FFF2-40B4-BE49-F238E27FC236}">
                      <a16:creationId xmlns:a16="http://schemas.microsoft.com/office/drawing/2014/main" id="{98D34520-B232-4E63-BF79-714E388BA47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193" name="Arc 236">
                    <a:extLst>
                      <a:ext uri="{FF2B5EF4-FFF2-40B4-BE49-F238E27FC236}">
                        <a16:creationId xmlns:a16="http://schemas.microsoft.com/office/drawing/2014/main" id="{F623390D-3BD5-4221-8D0E-4A504F59A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194" name="Arc 237">
                    <a:extLst>
                      <a:ext uri="{FF2B5EF4-FFF2-40B4-BE49-F238E27FC236}">
                        <a16:creationId xmlns:a16="http://schemas.microsoft.com/office/drawing/2014/main" id="{30DE149E-B22F-46A7-B414-10A44524DC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  <p:grpSp>
            <p:nvGrpSpPr>
              <p:cNvPr id="46177" name="Group 238">
                <a:extLst>
                  <a:ext uri="{FF2B5EF4-FFF2-40B4-BE49-F238E27FC236}">
                    <a16:creationId xmlns:a16="http://schemas.microsoft.com/office/drawing/2014/main" id="{685A9C3B-C83D-4549-9A82-85B3921360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955" y="1569"/>
                <a:ext cx="125" cy="388"/>
                <a:chOff x="3497" y="3155"/>
                <a:chExt cx="320" cy="388"/>
              </a:xfrm>
            </p:grpSpPr>
            <p:grpSp>
              <p:nvGrpSpPr>
                <p:cNvPr id="46185" name="Group 239">
                  <a:extLst>
                    <a:ext uri="{FF2B5EF4-FFF2-40B4-BE49-F238E27FC236}">
                      <a16:creationId xmlns:a16="http://schemas.microsoft.com/office/drawing/2014/main" id="{953BE103-E12B-43FF-B69B-23271363A2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189" name="Arc 240">
                    <a:extLst>
                      <a:ext uri="{FF2B5EF4-FFF2-40B4-BE49-F238E27FC236}">
                        <a16:creationId xmlns:a16="http://schemas.microsoft.com/office/drawing/2014/main" id="{42F6B3C6-CA9D-4FF2-8701-8FED5CE2D9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190" name="Arc 241">
                    <a:extLst>
                      <a:ext uri="{FF2B5EF4-FFF2-40B4-BE49-F238E27FC236}">
                        <a16:creationId xmlns:a16="http://schemas.microsoft.com/office/drawing/2014/main" id="{B42938B4-73E6-486A-AB52-278C6D74BC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186" name="Group 242">
                  <a:extLst>
                    <a:ext uri="{FF2B5EF4-FFF2-40B4-BE49-F238E27FC236}">
                      <a16:creationId xmlns:a16="http://schemas.microsoft.com/office/drawing/2014/main" id="{913AE1BC-4EC6-453C-AB21-862899100FF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187" name="Arc 243">
                    <a:extLst>
                      <a:ext uri="{FF2B5EF4-FFF2-40B4-BE49-F238E27FC236}">
                        <a16:creationId xmlns:a16="http://schemas.microsoft.com/office/drawing/2014/main" id="{2ADA4686-FC47-4C9E-88F1-DC0475A821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188" name="Arc 244">
                    <a:extLst>
                      <a:ext uri="{FF2B5EF4-FFF2-40B4-BE49-F238E27FC236}">
                        <a16:creationId xmlns:a16="http://schemas.microsoft.com/office/drawing/2014/main" id="{38577564-26C4-421E-8D89-B9D7D8FAEC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  <p:grpSp>
            <p:nvGrpSpPr>
              <p:cNvPr id="46178" name="Group 245">
                <a:extLst>
                  <a:ext uri="{FF2B5EF4-FFF2-40B4-BE49-F238E27FC236}">
                    <a16:creationId xmlns:a16="http://schemas.microsoft.com/office/drawing/2014/main" id="{6F3B6F33-9526-4852-A9D4-F52F452C7B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082" y="1575"/>
                <a:ext cx="125" cy="388"/>
                <a:chOff x="3497" y="3155"/>
                <a:chExt cx="320" cy="388"/>
              </a:xfrm>
            </p:grpSpPr>
            <p:grpSp>
              <p:nvGrpSpPr>
                <p:cNvPr id="46179" name="Group 246">
                  <a:extLst>
                    <a:ext uri="{FF2B5EF4-FFF2-40B4-BE49-F238E27FC236}">
                      <a16:creationId xmlns:a16="http://schemas.microsoft.com/office/drawing/2014/main" id="{456904A3-2E83-48DE-B403-149419B629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183" name="Arc 247">
                    <a:extLst>
                      <a:ext uri="{FF2B5EF4-FFF2-40B4-BE49-F238E27FC236}">
                        <a16:creationId xmlns:a16="http://schemas.microsoft.com/office/drawing/2014/main" id="{00CDA2D7-AF2C-4D5F-805D-E9E638401D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184" name="Arc 248">
                    <a:extLst>
                      <a:ext uri="{FF2B5EF4-FFF2-40B4-BE49-F238E27FC236}">
                        <a16:creationId xmlns:a16="http://schemas.microsoft.com/office/drawing/2014/main" id="{1735FD05-1534-4E59-8557-908888CC91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180" name="Group 249">
                  <a:extLst>
                    <a:ext uri="{FF2B5EF4-FFF2-40B4-BE49-F238E27FC236}">
                      <a16:creationId xmlns:a16="http://schemas.microsoft.com/office/drawing/2014/main" id="{32F5DF58-C325-49C5-8315-512E2005AF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181" name="Arc 250">
                    <a:extLst>
                      <a:ext uri="{FF2B5EF4-FFF2-40B4-BE49-F238E27FC236}">
                        <a16:creationId xmlns:a16="http://schemas.microsoft.com/office/drawing/2014/main" id="{37B3BFC8-3D7C-4EEB-A620-8BE592F3AC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182" name="Arc 251">
                    <a:extLst>
                      <a:ext uri="{FF2B5EF4-FFF2-40B4-BE49-F238E27FC236}">
                        <a16:creationId xmlns:a16="http://schemas.microsoft.com/office/drawing/2014/main" id="{268A4CAA-A78B-4C9B-9C0A-F546878067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</p:grpSp>
        <p:grpSp>
          <p:nvGrpSpPr>
            <p:cNvPr id="46101" name="Group 252">
              <a:extLst>
                <a:ext uri="{FF2B5EF4-FFF2-40B4-BE49-F238E27FC236}">
                  <a16:creationId xmlns:a16="http://schemas.microsoft.com/office/drawing/2014/main" id="{31C3D248-1AA7-42F0-8D64-AA810C1F07A5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812" y="3296"/>
              <a:ext cx="65" cy="388"/>
              <a:chOff x="3497" y="3155"/>
              <a:chExt cx="320" cy="388"/>
            </a:xfrm>
          </p:grpSpPr>
          <p:grpSp>
            <p:nvGrpSpPr>
              <p:cNvPr id="46170" name="Group 253">
                <a:extLst>
                  <a:ext uri="{FF2B5EF4-FFF2-40B4-BE49-F238E27FC236}">
                    <a16:creationId xmlns:a16="http://schemas.microsoft.com/office/drawing/2014/main" id="{AB0C0E36-641F-4E76-9C54-C06D6AADDF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97" y="3333"/>
                <a:ext cx="160" cy="210"/>
                <a:chOff x="3497" y="3333"/>
                <a:chExt cx="160" cy="210"/>
              </a:xfrm>
            </p:grpSpPr>
            <p:sp>
              <p:nvSpPr>
                <p:cNvPr id="46174" name="Arc 254">
                  <a:extLst>
                    <a:ext uri="{FF2B5EF4-FFF2-40B4-BE49-F238E27FC236}">
                      <a16:creationId xmlns:a16="http://schemas.microsoft.com/office/drawing/2014/main" id="{A907134C-3FC5-4A66-812C-03C02EF135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575" y="3333"/>
                  <a:ext cx="82" cy="2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l-GR"/>
                </a:p>
              </p:txBody>
            </p:sp>
            <p:sp>
              <p:nvSpPr>
                <p:cNvPr id="46175" name="Arc 255">
                  <a:extLst>
                    <a:ext uri="{FF2B5EF4-FFF2-40B4-BE49-F238E27FC236}">
                      <a16:creationId xmlns:a16="http://schemas.microsoft.com/office/drawing/2014/main" id="{4740FB6D-F485-4EAD-9304-0EBDAF1030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497" y="3333"/>
                  <a:ext cx="82" cy="2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l-GR"/>
                </a:p>
              </p:txBody>
            </p:sp>
          </p:grpSp>
          <p:grpSp>
            <p:nvGrpSpPr>
              <p:cNvPr id="46171" name="Group 256">
                <a:extLst>
                  <a:ext uri="{FF2B5EF4-FFF2-40B4-BE49-F238E27FC236}">
                    <a16:creationId xmlns:a16="http://schemas.microsoft.com/office/drawing/2014/main" id="{76C27C03-C194-4D14-BF52-038252A93E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57" y="3155"/>
                <a:ext cx="160" cy="210"/>
                <a:chOff x="3497" y="3333"/>
                <a:chExt cx="160" cy="210"/>
              </a:xfrm>
            </p:grpSpPr>
            <p:sp>
              <p:nvSpPr>
                <p:cNvPr id="46172" name="Arc 257">
                  <a:extLst>
                    <a:ext uri="{FF2B5EF4-FFF2-40B4-BE49-F238E27FC236}">
                      <a16:creationId xmlns:a16="http://schemas.microsoft.com/office/drawing/2014/main" id="{1D5250B2-4F2F-4BF8-BED1-543644B6A7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575" y="3333"/>
                  <a:ext cx="82" cy="2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l-GR"/>
                </a:p>
              </p:txBody>
            </p:sp>
            <p:sp>
              <p:nvSpPr>
                <p:cNvPr id="46173" name="Arc 258">
                  <a:extLst>
                    <a:ext uri="{FF2B5EF4-FFF2-40B4-BE49-F238E27FC236}">
                      <a16:creationId xmlns:a16="http://schemas.microsoft.com/office/drawing/2014/main" id="{F0296094-283B-485A-94A8-FE3E33678B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497" y="3333"/>
                  <a:ext cx="82" cy="2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l-GR"/>
                </a:p>
              </p:txBody>
            </p:sp>
          </p:grpSp>
        </p:grpSp>
        <p:grpSp>
          <p:nvGrpSpPr>
            <p:cNvPr id="46102" name="Group 259">
              <a:extLst>
                <a:ext uri="{FF2B5EF4-FFF2-40B4-BE49-F238E27FC236}">
                  <a16:creationId xmlns:a16="http://schemas.microsoft.com/office/drawing/2014/main" id="{E4F732CB-9D8B-4902-A230-590ED19338B1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881" y="3296"/>
              <a:ext cx="65" cy="388"/>
              <a:chOff x="3497" y="3155"/>
              <a:chExt cx="320" cy="388"/>
            </a:xfrm>
          </p:grpSpPr>
          <p:grpSp>
            <p:nvGrpSpPr>
              <p:cNvPr id="46164" name="Group 260">
                <a:extLst>
                  <a:ext uri="{FF2B5EF4-FFF2-40B4-BE49-F238E27FC236}">
                    <a16:creationId xmlns:a16="http://schemas.microsoft.com/office/drawing/2014/main" id="{65A68DA4-3704-47F3-AB1F-245EAF3E6D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97" y="3333"/>
                <a:ext cx="160" cy="210"/>
                <a:chOff x="3497" y="3333"/>
                <a:chExt cx="160" cy="210"/>
              </a:xfrm>
            </p:grpSpPr>
            <p:sp>
              <p:nvSpPr>
                <p:cNvPr id="46168" name="Arc 261">
                  <a:extLst>
                    <a:ext uri="{FF2B5EF4-FFF2-40B4-BE49-F238E27FC236}">
                      <a16:creationId xmlns:a16="http://schemas.microsoft.com/office/drawing/2014/main" id="{CBB168C3-110E-433B-9734-F57A4093E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575" y="3333"/>
                  <a:ext cx="82" cy="2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l-GR"/>
                </a:p>
              </p:txBody>
            </p:sp>
            <p:sp>
              <p:nvSpPr>
                <p:cNvPr id="46169" name="Arc 262">
                  <a:extLst>
                    <a:ext uri="{FF2B5EF4-FFF2-40B4-BE49-F238E27FC236}">
                      <a16:creationId xmlns:a16="http://schemas.microsoft.com/office/drawing/2014/main" id="{16104ED4-66F8-47A9-A8B6-4763618A2E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497" y="3333"/>
                  <a:ext cx="82" cy="2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l-GR"/>
                </a:p>
              </p:txBody>
            </p:sp>
          </p:grpSp>
          <p:grpSp>
            <p:nvGrpSpPr>
              <p:cNvPr id="46165" name="Group 263">
                <a:extLst>
                  <a:ext uri="{FF2B5EF4-FFF2-40B4-BE49-F238E27FC236}">
                    <a16:creationId xmlns:a16="http://schemas.microsoft.com/office/drawing/2014/main" id="{190FD012-7608-4C03-A4D1-892E72DD9E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57" y="3155"/>
                <a:ext cx="160" cy="210"/>
                <a:chOff x="3497" y="3333"/>
                <a:chExt cx="160" cy="210"/>
              </a:xfrm>
            </p:grpSpPr>
            <p:sp>
              <p:nvSpPr>
                <p:cNvPr id="46166" name="Arc 264">
                  <a:extLst>
                    <a:ext uri="{FF2B5EF4-FFF2-40B4-BE49-F238E27FC236}">
                      <a16:creationId xmlns:a16="http://schemas.microsoft.com/office/drawing/2014/main" id="{C393D735-96BB-49B6-962D-FC336C253F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575" y="3333"/>
                  <a:ext cx="82" cy="2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l-GR"/>
                </a:p>
              </p:txBody>
            </p:sp>
            <p:sp>
              <p:nvSpPr>
                <p:cNvPr id="46167" name="Arc 265">
                  <a:extLst>
                    <a:ext uri="{FF2B5EF4-FFF2-40B4-BE49-F238E27FC236}">
                      <a16:creationId xmlns:a16="http://schemas.microsoft.com/office/drawing/2014/main" id="{9B092783-CEBF-432C-9FAF-28DB158C1A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497" y="3333"/>
                  <a:ext cx="82" cy="2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l-GR"/>
                </a:p>
              </p:txBody>
            </p:sp>
          </p:grpSp>
        </p:grpSp>
        <p:grpSp>
          <p:nvGrpSpPr>
            <p:cNvPr id="46103" name="Group 266">
              <a:extLst>
                <a:ext uri="{FF2B5EF4-FFF2-40B4-BE49-F238E27FC236}">
                  <a16:creationId xmlns:a16="http://schemas.microsoft.com/office/drawing/2014/main" id="{76B55AC6-9002-4885-9AC4-94F55414A6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9" y="3291"/>
              <a:ext cx="338" cy="400"/>
              <a:chOff x="3927" y="3606"/>
              <a:chExt cx="347" cy="400"/>
            </a:xfrm>
          </p:grpSpPr>
          <p:grpSp>
            <p:nvGrpSpPr>
              <p:cNvPr id="46128" name="Group 267">
                <a:extLst>
                  <a:ext uri="{FF2B5EF4-FFF2-40B4-BE49-F238E27FC236}">
                    <a16:creationId xmlns:a16="http://schemas.microsoft.com/office/drawing/2014/main" id="{2E6DA2F2-4983-4945-99BC-BF994F134E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27" y="3606"/>
                <a:ext cx="204" cy="400"/>
                <a:chOff x="3827" y="1563"/>
                <a:chExt cx="380" cy="400"/>
              </a:xfrm>
            </p:grpSpPr>
            <p:grpSp>
              <p:nvGrpSpPr>
                <p:cNvPr id="46143" name="Group 268">
                  <a:extLst>
                    <a:ext uri="{FF2B5EF4-FFF2-40B4-BE49-F238E27FC236}">
                      <a16:creationId xmlns:a16="http://schemas.microsoft.com/office/drawing/2014/main" id="{E24963DD-E43C-4655-B52D-51725A11A28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827" y="1563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158" name="Group 269">
                    <a:extLst>
                      <a:ext uri="{FF2B5EF4-FFF2-40B4-BE49-F238E27FC236}">
                        <a16:creationId xmlns:a16="http://schemas.microsoft.com/office/drawing/2014/main" id="{38D22412-66EC-4885-9051-0433268D7CD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162" name="Arc 270">
                      <a:extLst>
                        <a:ext uri="{FF2B5EF4-FFF2-40B4-BE49-F238E27FC236}">
                          <a16:creationId xmlns:a16="http://schemas.microsoft.com/office/drawing/2014/main" id="{D4EA6E25-22A6-46D9-A54E-1E57C29DDB6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163" name="Arc 271">
                      <a:extLst>
                        <a:ext uri="{FF2B5EF4-FFF2-40B4-BE49-F238E27FC236}">
                          <a16:creationId xmlns:a16="http://schemas.microsoft.com/office/drawing/2014/main" id="{A37DC501-9BB0-4762-912E-9702BEADF5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159" name="Group 272">
                    <a:extLst>
                      <a:ext uri="{FF2B5EF4-FFF2-40B4-BE49-F238E27FC236}">
                        <a16:creationId xmlns:a16="http://schemas.microsoft.com/office/drawing/2014/main" id="{0191DA67-CF52-4A66-813F-D4ADCA52F26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160" name="Arc 273">
                      <a:extLst>
                        <a:ext uri="{FF2B5EF4-FFF2-40B4-BE49-F238E27FC236}">
                          <a16:creationId xmlns:a16="http://schemas.microsoft.com/office/drawing/2014/main" id="{2C080AB3-6771-4782-8132-3B1441B88C1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161" name="Arc 274">
                      <a:extLst>
                        <a:ext uri="{FF2B5EF4-FFF2-40B4-BE49-F238E27FC236}">
                          <a16:creationId xmlns:a16="http://schemas.microsoft.com/office/drawing/2014/main" id="{EF4E22A0-3DC7-4AEE-A432-B4F18D85ED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  <p:grpSp>
              <p:nvGrpSpPr>
                <p:cNvPr id="46144" name="Group 275">
                  <a:extLst>
                    <a:ext uri="{FF2B5EF4-FFF2-40B4-BE49-F238E27FC236}">
                      <a16:creationId xmlns:a16="http://schemas.microsoft.com/office/drawing/2014/main" id="{80C5D8F7-7BBB-4A89-AA3D-C55C19025D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955" y="1569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152" name="Group 276">
                    <a:extLst>
                      <a:ext uri="{FF2B5EF4-FFF2-40B4-BE49-F238E27FC236}">
                        <a16:creationId xmlns:a16="http://schemas.microsoft.com/office/drawing/2014/main" id="{EB8CFECA-B432-4F53-A58D-70D9E70EFFB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156" name="Arc 277">
                      <a:extLst>
                        <a:ext uri="{FF2B5EF4-FFF2-40B4-BE49-F238E27FC236}">
                          <a16:creationId xmlns:a16="http://schemas.microsoft.com/office/drawing/2014/main" id="{AB216CF1-C51B-43BC-9EE0-41D32667AC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157" name="Arc 278">
                      <a:extLst>
                        <a:ext uri="{FF2B5EF4-FFF2-40B4-BE49-F238E27FC236}">
                          <a16:creationId xmlns:a16="http://schemas.microsoft.com/office/drawing/2014/main" id="{50C8296C-CE5A-44BA-9B0A-9BC9225ACD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153" name="Group 279">
                    <a:extLst>
                      <a:ext uri="{FF2B5EF4-FFF2-40B4-BE49-F238E27FC236}">
                        <a16:creationId xmlns:a16="http://schemas.microsoft.com/office/drawing/2014/main" id="{2F00FC71-9F67-42AD-B497-5507575C018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154" name="Arc 280">
                      <a:extLst>
                        <a:ext uri="{FF2B5EF4-FFF2-40B4-BE49-F238E27FC236}">
                          <a16:creationId xmlns:a16="http://schemas.microsoft.com/office/drawing/2014/main" id="{A19C905D-AB41-4540-B804-08A74BA179E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155" name="Arc 281">
                      <a:extLst>
                        <a:ext uri="{FF2B5EF4-FFF2-40B4-BE49-F238E27FC236}">
                          <a16:creationId xmlns:a16="http://schemas.microsoft.com/office/drawing/2014/main" id="{4787E8B4-190E-41A8-B5E9-06ECF366B26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  <p:grpSp>
              <p:nvGrpSpPr>
                <p:cNvPr id="46145" name="Group 282">
                  <a:extLst>
                    <a:ext uri="{FF2B5EF4-FFF2-40B4-BE49-F238E27FC236}">
                      <a16:creationId xmlns:a16="http://schemas.microsoft.com/office/drawing/2014/main" id="{C65BC578-68C3-41E3-AFD2-DA30E46413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4082" y="1575"/>
                  <a:ext cx="125" cy="388"/>
                  <a:chOff x="3497" y="3155"/>
                  <a:chExt cx="320" cy="388"/>
                </a:xfrm>
              </p:grpSpPr>
              <p:grpSp>
                <p:nvGrpSpPr>
                  <p:cNvPr id="46146" name="Group 283">
                    <a:extLst>
                      <a:ext uri="{FF2B5EF4-FFF2-40B4-BE49-F238E27FC236}">
                        <a16:creationId xmlns:a16="http://schemas.microsoft.com/office/drawing/2014/main" id="{1020F90A-1158-43E1-9891-FBF9B284E33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97" y="3333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150" name="Arc 284">
                      <a:extLst>
                        <a:ext uri="{FF2B5EF4-FFF2-40B4-BE49-F238E27FC236}">
                          <a16:creationId xmlns:a16="http://schemas.microsoft.com/office/drawing/2014/main" id="{24125B8A-1784-4242-9F95-39D0E4AECA9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151" name="Arc 285">
                      <a:extLst>
                        <a:ext uri="{FF2B5EF4-FFF2-40B4-BE49-F238E27FC236}">
                          <a16:creationId xmlns:a16="http://schemas.microsoft.com/office/drawing/2014/main" id="{1E02D339-1FEC-45BE-AC0C-63282C0E59C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  <p:grpSp>
                <p:nvGrpSpPr>
                  <p:cNvPr id="46147" name="Group 286">
                    <a:extLst>
                      <a:ext uri="{FF2B5EF4-FFF2-40B4-BE49-F238E27FC236}">
                        <a16:creationId xmlns:a16="http://schemas.microsoft.com/office/drawing/2014/main" id="{050DFFE1-70D1-4943-8CEF-3982FFCBCD6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57" y="3155"/>
                    <a:ext cx="160" cy="210"/>
                    <a:chOff x="3497" y="3333"/>
                    <a:chExt cx="160" cy="210"/>
                  </a:xfrm>
                </p:grpSpPr>
                <p:sp>
                  <p:nvSpPr>
                    <p:cNvPr id="46148" name="Arc 287">
                      <a:extLst>
                        <a:ext uri="{FF2B5EF4-FFF2-40B4-BE49-F238E27FC236}">
                          <a16:creationId xmlns:a16="http://schemas.microsoft.com/office/drawing/2014/main" id="{5BCA1B0F-A9FB-48A2-B806-5A8B82538B1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575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  <p:sp>
                  <p:nvSpPr>
                    <p:cNvPr id="46149" name="Arc 288">
                      <a:extLst>
                        <a:ext uri="{FF2B5EF4-FFF2-40B4-BE49-F238E27FC236}">
                          <a16:creationId xmlns:a16="http://schemas.microsoft.com/office/drawing/2014/main" id="{3BA8040F-AE7A-473C-A89E-D406039D6FA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 flipV="1">
                      <a:off x="3497" y="3333"/>
                      <a:ext cx="82" cy="2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l-GR"/>
                    </a:p>
                  </p:txBody>
                </p:sp>
              </p:grpSp>
            </p:grpSp>
          </p:grpSp>
          <p:grpSp>
            <p:nvGrpSpPr>
              <p:cNvPr id="46129" name="Group 289">
                <a:extLst>
                  <a:ext uri="{FF2B5EF4-FFF2-40B4-BE49-F238E27FC236}">
                    <a16:creationId xmlns:a16="http://schemas.microsoft.com/office/drawing/2014/main" id="{7DF4DE52-7D16-4AAB-80C4-86D15A78EE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38" y="3606"/>
                <a:ext cx="67" cy="388"/>
                <a:chOff x="3497" y="3155"/>
                <a:chExt cx="320" cy="388"/>
              </a:xfrm>
            </p:grpSpPr>
            <p:grpSp>
              <p:nvGrpSpPr>
                <p:cNvPr id="46137" name="Group 290">
                  <a:extLst>
                    <a:ext uri="{FF2B5EF4-FFF2-40B4-BE49-F238E27FC236}">
                      <a16:creationId xmlns:a16="http://schemas.microsoft.com/office/drawing/2014/main" id="{147EE29A-C49C-4F9E-B714-2A5E05FFA8F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141" name="Arc 291">
                    <a:extLst>
                      <a:ext uri="{FF2B5EF4-FFF2-40B4-BE49-F238E27FC236}">
                        <a16:creationId xmlns:a16="http://schemas.microsoft.com/office/drawing/2014/main" id="{4BEF1BC4-9434-4B33-8A9D-AEDE7D100E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142" name="Arc 292">
                    <a:extLst>
                      <a:ext uri="{FF2B5EF4-FFF2-40B4-BE49-F238E27FC236}">
                        <a16:creationId xmlns:a16="http://schemas.microsoft.com/office/drawing/2014/main" id="{EC317502-921E-4488-B428-D150DD5A2CF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138" name="Group 293">
                  <a:extLst>
                    <a:ext uri="{FF2B5EF4-FFF2-40B4-BE49-F238E27FC236}">
                      <a16:creationId xmlns:a16="http://schemas.microsoft.com/office/drawing/2014/main" id="{75954D5E-C4A3-4964-A731-32B99B0671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139" name="Arc 294">
                    <a:extLst>
                      <a:ext uri="{FF2B5EF4-FFF2-40B4-BE49-F238E27FC236}">
                        <a16:creationId xmlns:a16="http://schemas.microsoft.com/office/drawing/2014/main" id="{02D3C685-BB35-4BAF-AB03-EF705725E4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140" name="Arc 295">
                    <a:extLst>
                      <a:ext uri="{FF2B5EF4-FFF2-40B4-BE49-F238E27FC236}">
                        <a16:creationId xmlns:a16="http://schemas.microsoft.com/office/drawing/2014/main" id="{34822B2E-58CA-4C15-8566-6AD6A6ED6B1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  <p:grpSp>
            <p:nvGrpSpPr>
              <p:cNvPr id="46130" name="Group 296">
                <a:extLst>
                  <a:ext uri="{FF2B5EF4-FFF2-40B4-BE49-F238E27FC236}">
                    <a16:creationId xmlns:a16="http://schemas.microsoft.com/office/drawing/2014/main" id="{8650CE9C-09BE-4E4C-86D1-CF2A465FAF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207" y="3606"/>
                <a:ext cx="67" cy="388"/>
                <a:chOff x="3497" y="3155"/>
                <a:chExt cx="320" cy="388"/>
              </a:xfrm>
            </p:grpSpPr>
            <p:grpSp>
              <p:nvGrpSpPr>
                <p:cNvPr id="46131" name="Group 297">
                  <a:extLst>
                    <a:ext uri="{FF2B5EF4-FFF2-40B4-BE49-F238E27FC236}">
                      <a16:creationId xmlns:a16="http://schemas.microsoft.com/office/drawing/2014/main" id="{4F28CE6D-F01B-427C-ADB4-12BD0723B6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7" y="3333"/>
                  <a:ext cx="160" cy="210"/>
                  <a:chOff x="3497" y="3333"/>
                  <a:chExt cx="160" cy="210"/>
                </a:xfrm>
              </p:grpSpPr>
              <p:sp>
                <p:nvSpPr>
                  <p:cNvPr id="46135" name="Arc 298">
                    <a:extLst>
                      <a:ext uri="{FF2B5EF4-FFF2-40B4-BE49-F238E27FC236}">
                        <a16:creationId xmlns:a16="http://schemas.microsoft.com/office/drawing/2014/main" id="{62C155F4-12D3-4204-BDDD-8919828C62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136" name="Arc 299">
                    <a:extLst>
                      <a:ext uri="{FF2B5EF4-FFF2-40B4-BE49-F238E27FC236}">
                        <a16:creationId xmlns:a16="http://schemas.microsoft.com/office/drawing/2014/main" id="{13D2DD91-5154-432E-9480-439997C05E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  <p:grpSp>
              <p:nvGrpSpPr>
                <p:cNvPr id="46132" name="Group 300">
                  <a:extLst>
                    <a:ext uri="{FF2B5EF4-FFF2-40B4-BE49-F238E27FC236}">
                      <a16:creationId xmlns:a16="http://schemas.microsoft.com/office/drawing/2014/main" id="{000D562C-9F53-42BC-A5E7-96531C2921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57" y="3155"/>
                  <a:ext cx="160" cy="210"/>
                  <a:chOff x="3497" y="3333"/>
                  <a:chExt cx="160" cy="210"/>
                </a:xfrm>
              </p:grpSpPr>
              <p:sp>
                <p:nvSpPr>
                  <p:cNvPr id="46133" name="Arc 301">
                    <a:extLst>
                      <a:ext uri="{FF2B5EF4-FFF2-40B4-BE49-F238E27FC236}">
                        <a16:creationId xmlns:a16="http://schemas.microsoft.com/office/drawing/2014/main" id="{3B7142FD-ED67-4FB9-A3D2-8105FE7010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575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  <p:sp>
                <p:nvSpPr>
                  <p:cNvPr id="46134" name="Arc 302">
                    <a:extLst>
                      <a:ext uri="{FF2B5EF4-FFF2-40B4-BE49-F238E27FC236}">
                        <a16:creationId xmlns:a16="http://schemas.microsoft.com/office/drawing/2014/main" id="{9246414F-15FC-4C0A-8969-1B1694C5EC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497" y="3333"/>
                    <a:ext cx="82" cy="2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l-GR"/>
                  </a:p>
                </p:txBody>
              </p:sp>
            </p:grpSp>
          </p:grpSp>
        </p:grpSp>
        <p:sp>
          <p:nvSpPr>
            <p:cNvPr id="46104" name="Text Box 303">
              <a:extLst>
                <a:ext uri="{FF2B5EF4-FFF2-40B4-BE49-F238E27FC236}">
                  <a16:creationId xmlns:a16="http://schemas.microsoft.com/office/drawing/2014/main" id="{551BAB9F-E3C8-4F08-915C-84ACFD288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9" y="1686"/>
              <a:ext cx="10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6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AM Modulation</a:t>
              </a:r>
            </a:p>
          </p:txBody>
        </p:sp>
        <p:sp>
          <p:nvSpPr>
            <p:cNvPr id="46105" name="Text Box 304">
              <a:extLst>
                <a:ext uri="{FF2B5EF4-FFF2-40B4-BE49-F238E27FC236}">
                  <a16:creationId xmlns:a16="http://schemas.microsoft.com/office/drawing/2014/main" id="{347B99EF-B667-493B-840B-DD589C6C5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9" y="2732"/>
              <a:ext cx="9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600" b="1">
                  <a:solidFill>
                    <a:srgbClr val="CC0000"/>
                  </a:solidFill>
                  <a:latin typeface="Times New Roman" panose="02020603050405020304" pitchFamily="18" charset="0"/>
                </a:rPr>
                <a:t>PM Modulation</a:t>
              </a:r>
            </a:p>
          </p:txBody>
        </p:sp>
        <p:sp>
          <p:nvSpPr>
            <p:cNvPr id="46106" name="Text Box 305">
              <a:extLst>
                <a:ext uri="{FF2B5EF4-FFF2-40B4-BE49-F238E27FC236}">
                  <a16:creationId xmlns:a16="http://schemas.microsoft.com/office/drawing/2014/main" id="{7119375E-7919-4A27-8DB9-22BDD591B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9" y="3724"/>
              <a:ext cx="9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600" b="1">
                  <a:solidFill>
                    <a:srgbClr val="CC0000"/>
                  </a:solidFill>
                  <a:latin typeface="Times New Roman" panose="02020603050405020304" pitchFamily="18" charset="0"/>
                </a:rPr>
                <a:t>FM Modulation</a:t>
              </a:r>
            </a:p>
          </p:txBody>
        </p:sp>
        <p:sp>
          <p:nvSpPr>
            <p:cNvPr id="46107" name="Line 306">
              <a:extLst>
                <a:ext uri="{FF2B5EF4-FFF2-40B4-BE49-F238E27FC236}">
                  <a16:creationId xmlns:a16="http://schemas.microsoft.com/office/drawing/2014/main" id="{9BA2E834-0A91-4642-A412-8F7BB33DD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3" y="1274"/>
              <a:ext cx="0" cy="20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08" name="Line 307">
              <a:extLst>
                <a:ext uri="{FF2B5EF4-FFF2-40B4-BE49-F238E27FC236}">
                  <a16:creationId xmlns:a16="http://schemas.microsoft.com/office/drawing/2014/main" id="{418835A8-3349-460B-97CA-90D756384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287"/>
              <a:ext cx="0" cy="20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09" name="Line 308">
              <a:extLst>
                <a:ext uri="{FF2B5EF4-FFF2-40B4-BE49-F238E27FC236}">
                  <a16:creationId xmlns:a16="http://schemas.microsoft.com/office/drawing/2014/main" id="{1529D96F-2BE8-4473-8113-741240F96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1" y="1274"/>
              <a:ext cx="366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10" name="Line 309">
              <a:extLst>
                <a:ext uri="{FF2B5EF4-FFF2-40B4-BE49-F238E27FC236}">
                  <a16:creationId xmlns:a16="http://schemas.microsoft.com/office/drawing/2014/main" id="{5FC4F798-4EE5-4E02-A208-06D93819A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479"/>
              <a:ext cx="366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11" name="Line 310">
              <a:extLst>
                <a:ext uri="{FF2B5EF4-FFF2-40B4-BE49-F238E27FC236}">
                  <a16:creationId xmlns:a16="http://schemas.microsoft.com/office/drawing/2014/main" id="{889FD451-E840-402F-B629-0F0FE69DF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9" y="1278"/>
              <a:ext cx="0" cy="20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12" name="Line 311">
              <a:extLst>
                <a:ext uri="{FF2B5EF4-FFF2-40B4-BE49-F238E27FC236}">
                  <a16:creationId xmlns:a16="http://schemas.microsoft.com/office/drawing/2014/main" id="{BD91DB4A-91EA-4DBB-9186-E9649F19E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9" y="1282"/>
              <a:ext cx="0" cy="20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13" name="Line 312">
              <a:extLst>
                <a:ext uri="{FF2B5EF4-FFF2-40B4-BE49-F238E27FC236}">
                  <a16:creationId xmlns:a16="http://schemas.microsoft.com/office/drawing/2014/main" id="{58CE2533-2400-4385-BE64-81132D39D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8" y="1278"/>
              <a:ext cx="366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14" name="Line 313">
              <a:extLst>
                <a:ext uri="{FF2B5EF4-FFF2-40B4-BE49-F238E27FC236}">
                  <a16:creationId xmlns:a16="http://schemas.microsoft.com/office/drawing/2014/main" id="{D02EC16D-B4AF-41B2-A9DB-C6DD31A82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1" y="1273"/>
              <a:ext cx="366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15" name="Text Box 314">
              <a:extLst>
                <a:ext uri="{FF2B5EF4-FFF2-40B4-BE49-F238E27FC236}">
                  <a16:creationId xmlns:a16="http://schemas.microsoft.com/office/drawing/2014/main" id="{E51518AA-5000-42FC-8EC9-6E63D69BA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3" y="1161"/>
              <a:ext cx="3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800" b="1" i="1">
                  <a:solidFill>
                    <a:srgbClr val="CC0000"/>
                  </a:solidFill>
                  <a:latin typeface="Times New Roman" panose="02020603050405020304" pitchFamily="18" charset="0"/>
                </a:rPr>
                <a:t>m(t)</a:t>
              </a:r>
            </a:p>
          </p:txBody>
        </p:sp>
        <p:sp>
          <p:nvSpPr>
            <p:cNvPr id="46116" name="Line 315">
              <a:extLst>
                <a:ext uri="{FF2B5EF4-FFF2-40B4-BE49-F238E27FC236}">
                  <a16:creationId xmlns:a16="http://schemas.microsoft.com/office/drawing/2014/main" id="{8903ECC8-09BB-4FC7-BBF8-96EA4DAB8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4" y="2320"/>
              <a:ext cx="0" cy="20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17" name="Line 316">
              <a:extLst>
                <a:ext uri="{FF2B5EF4-FFF2-40B4-BE49-F238E27FC236}">
                  <a16:creationId xmlns:a16="http://schemas.microsoft.com/office/drawing/2014/main" id="{6298D5B1-76E1-4666-95E4-C51A2B0C06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4" y="2333"/>
              <a:ext cx="0" cy="20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18" name="Line 317">
              <a:extLst>
                <a:ext uri="{FF2B5EF4-FFF2-40B4-BE49-F238E27FC236}">
                  <a16:creationId xmlns:a16="http://schemas.microsoft.com/office/drawing/2014/main" id="{284DD5C1-5EDC-4FFC-87E2-D3AB102F0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2320"/>
              <a:ext cx="366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19" name="Line 318">
              <a:extLst>
                <a:ext uri="{FF2B5EF4-FFF2-40B4-BE49-F238E27FC236}">
                  <a16:creationId xmlns:a16="http://schemas.microsoft.com/office/drawing/2014/main" id="{9B54B7E8-93E0-47D1-A3D2-05A86B2901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14" y="2516"/>
              <a:ext cx="0" cy="228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20" name="Line 319">
              <a:extLst>
                <a:ext uri="{FF2B5EF4-FFF2-40B4-BE49-F238E27FC236}">
                  <a16:creationId xmlns:a16="http://schemas.microsoft.com/office/drawing/2014/main" id="{A448300B-CDC1-4D32-B504-0C6732971D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75" y="2502"/>
              <a:ext cx="0" cy="21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21" name="Line 320">
              <a:extLst>
                <a:ext uri="{FF2B5EF4-FFF2-40B4-BE49-F238E27FC236}">
                  <a16:creationId xmlns:a16="http://schemas.microsoft.com/office/drawing/2014/main" id="{0762A261-3EDC-4601-BE71-C62947689D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2" y="2727"/>
              <a:ext cx="366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22" name="Line 321">
              <a:extLst>
                <a:ext uri="{FF2B5EF4-FFF2-40B4-BE49-F238E27FC236}">
                  <a16:creationId xmlns:a16="http://schemas.microsoft.com/office/drawing/2014/main" id="{08C152F9-E264-458E-B495-952935990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0" y="2306"/>
              <a:ext cx="0" cy="20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23" name="Line 322">
              <a:extLst>
                <a:ext uri="{FF2B5EF4-FFF2-40B4-BE49-F238E27FC236}">
                  <a16:creationId xmlns:a16="http://schemas.microsoft.com/office/drawing/2014/main" id="{7FF67889-725E-4E5B-8C6D-3D714273DE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0" y="2310"/>
              <a:ext cx="0" cy="20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24" name="Line 323">
              <a:extLst>
                <a:ext uri="{FF2B5EF4-FFF2-40B4-BE49-F238E27FC236}">
                  <a16:creationId xmlns:a16="http://schemas.microsoft.com/office/drawing/2014/main" id="{3CE51F4D-B4D8-440F-81D9-EDC8B7062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9" y="2306"/>
              <a:ext cx="366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25" name="Line 324">
              <a:extLst>
                <a:ext uri="{FF2B5EF4-FFF2-40B4-BE49-F238E27FC236}">
                  <a16:creationId xmlns:a16="http://schemas.microsoft.com/office/drawing/2014/main" id="{1BB9D262-9C6D-4A75-B314-EE6354751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2" y="2310"/>
              <a:ext cx="366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46126" name="Text Box 325">
              <a:extLst>
                <a:ext uri="{FF2B5EF4-FFF2-40B4-BE49-F238E27FC236}">
                  <a16:creationId xmlns:a16="http://schemas.microsoft.com/office/drawing/2014/main" id="{9F6B08B5-56A5-41F5-95FA-6F84CCDE0C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4" y="2189"/>
              <a:ext cx="3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800" b="1" i="1">
                  <a:solidFill>
                    <a:srgbClr val="CC0000"/>
                  </a:solidFill>
                  <a:latin typeface="Times New Roman" panose="02020603050405020304" pitchFamily="18" charset="0"/>
                </a:rPr>
                <a:t>m(t)</a:t>
              </a:r>
            </a:p>
          </p:txBody>
        </p:sp>
        <p:sp>
          <p:nvSpPr>
            <p:cNvPr id="46127" name="Text Box 326">
              <a:extLst>
                <a:ext uri="{FF2B5EF4-FFF2-40B4-BE49-F238E27FC236}">
                  <a16:creationId xmlns:a16="http://schemas.microsoft.com/office/drawing/2014/main" id="{DB4D2FA9-B81C-4CDD-9482-B784437984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3177"/>
              <a:ext cx="3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l-GR" sz="1800" b="1" i="1">
                  <a:solidFill>
                    <a:srgbClr val="CC0000"/>
                  </a:solidFill>
                  <a:latin typeface="Times New Roman" panose="02020603050405020304" pitchFamily="18" charset="0"/>
                </a:rPr>
                <a:t>m(t)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>
            <a:extLst>
              <a:ext uri="{FF2B5EF4-FFF2-40B4-BE49-F238E27FC236}">
                <a16:creationId xmlns:a16="http://schemas.microsoft.com/office/drawing/2014/main" id="{C14FD6E2-B9EF-4C9D-9F76-8671B44F68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11012" name="Rectangle 36">
            <a:extLst>
              <a:ext uri="{FF2B5EF4-FFF2-40B4-BE49-F238E27FC236}">
                <a16:creationId xmlns:a16="http://schemas.microsoft.com/office/drawing/2014/main" id="{87F07317-E8E8-4D8A-983E-8E0ED1E95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2400" dirty="0"/>
              <a:t>Ψηφιακό Τηλεπικοινωνιακό Σύστημα: Βασική Δομή</a:t>
            </a:r>
            <a:endParaRPr lang="en-GB" sz="2400" dirty="0"/>
          </a:p>
        </p:txBody>
      </p:sp>
      <p:pic>
        <p:nvPicPr>
          <p:cNvPr id="48132" name="Picture 41">
            <a:extLst>
              <a:ext uri="{FF2B5EF4-FFF2-40B4-BE49-F238E27FC236}">
                <a16:creationId xmlns:a16="http://schemas.microsoft.com/office/drawing/2014/main" id="{CD947CA2-D30E-400B-AF40-C42C1C2E7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593850"/>
            <a:ext cx="8950325" cy="426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TextBox 40">
            <a:extLst>
              <a:ext uri="{FF2B5EF4-FFF2-40B4-BE49-F238E27FC236}">
                <a16:creationId xmlns:a16="http://schemas.microsoft.com/office/drawing/2014/main" id="{FE4ED061-84A5-4944-92E1-FB470DBD9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981075"/>
            <a:ext cx="172878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Μ-αδικά σύμβολα</a:t>
            </a:r>
            <a:endParaRPr lang="en-US" altLang="el-GR" sz="120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ή αναλογικό σήμα</a:t>
            </a:r>
          </a:p>
        </p:txBody>
      </p:sp>
      <p:sp>
        <p:nvSpPr>
          <p:cNvPr id="48134" name="TextBox 41">
            <a:extLst>
              <a:ext uri="{FF2B5EF4-FFF2-40B4-BE49-F238E27FC236}">
                <a16:creationId xmlns:a16="http://schemas.microsoft.com/office/drawing/2014/main" id="{E942FAC3-0F98-4983-AEC6-6AF8DCB0B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981075"/>
            <a:ext cx="792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Δυαδικά σύμβολα</a:t>
            </a:r>
          </a:p>
        </p:txBody>
      </p:sp>
      <p:sp>
        <p:nvSpPr>
          <p:cNvPr id="48135" name="TextBox 42">
            <a:extLst>
              <a:ext uri="{FF2B5EF4-FFF2-40B4-BE49-F238E27FC236}">
                <a16:creationId xmlns:a16="http://schemas.microsoft.com/office/drawing/2014/main" id="{D278AE80-E55A-45B3-B11F-175018F14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1022350"/>
            <a:ext cx="792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Δυαδικά σύμβολα</a:t>
            </a:r>
          </a:p>
        </p:txBody>
      </p:sp>
      <p:sp>
        <p:nvSpPr>
          <p:cNvPr id="48136" name="TextBox 43">
            <a:extLst>
              <a:ext uri="{FF2B5EF4-FFF2-40B4-BE49-F238E27FC236}">
                <a16:creationId xmlns:a16="http://schemas.microsoft.com/office/drawing/2014/main" id="{779BCDD6-CE1C-49B4-8C89-74F06AFA6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1022350"/>
            <a:ext cx="1152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Αναλογικά σήματα</a:t>
            </a:r>
          </a:p>
        </p:txBody>
      </p:sp>
      <p:sp>
        <p:nvSpPr>
          <p:cNvPr id="48137" name="TextBox 44">
            <a:extLst>
              <a:ext uri="{FF2B5EF4-FFF2-40B4-BE49-F238E27FC236}">
                <a16:creationId xmlns:a16="http://schemas.microsoft.com/office/drawing/2014/main" id="{AFECF9B0-B7C6-45DB-8FC2-D1DA5EFF5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4622800"/>
            <a:ext cx="1152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Αναλογικά σήματα</a:t>
            </a:r>
          </a:p>
        </p:txBody>
      </p:sp>
      <p:cxnSp>
        <p:nvCxnSpPr>
          <p:cNvPr id="48138" name="Straight Arrow Connector 46">
            <a:extLst>
              <a:ext uri="{FF2B5EF4-FFF2-40B4-BE49-F238E27FC236}">
                <a16:creationId xmlns:a16="http://schemas.microsoft.com/office/drawing/2014/main" id="{88A8220D-D82C-4231-8B40-DC1FB6192A2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35150" y="148431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39" name="Straight Arrow Connector 48">
            <a:extLst>
              <a:ext uri="{FF2B5EF4-FFF2-40B4-BE49-F238E27FC236}">
                <a16:creationId xmlns:a16="http://schemas.microsoft.com/office/drawing/2014/main" id="{0C19AB4E-105D-4754-AA4C-17CCD56C931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851275" y="148431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0" name="Straight Arrow Connector 49">
            <a:extLst>
              <a:ext uri="{FF2B5EF4-FFF2-40B4-BE49-F238E27FC236}">
                <a16:creationId xmlns:a16="http://schemas.microsoft.com/office/drawing/2014/main" id="{D7332ADB-B199-44B9-AA15-ED8B550A19A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67400" y="148431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1" name="Straight Arrow Connector 50">
            <a:extLst>
              <a:ext uri="{FF2B5EF4-FFF2-40B4-BE49-F238E27FC236}">
                <a16:creationId xmlns:a16="http://schemas.microsoft.com/office/drawing/2014/main" id="{E838F640-5709-446B-A8F5-9914CD202C4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027988" y="148431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2" name="Straight Arrow Connector 51">
            <a:extLst>
              <a:ext uri="{FF2B5EF4-FFF2-40B4-BE49-F238E27FC236}">
                <a16:creationId xmlns:a16="http://schemas.microsoft.com/office/drawing/2014/main" id="{C69269CB-FAA2-431E-A32A-11319415B48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243888" y="4221163"/>
            <a:ext cx="504825" cy="287337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43" name="TextBox 42">
            <a:extLst>
              <a:ext uri="{FF2B5EF4-FFF2-40B4-BE49-F238E27FC236}">
                <a16:creationId xmlns:a16="http://schemas.microsoft.com/office/drawing/2014/main" id="{4EA05184-65C5-4F30-874C-EAAF1CAC0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75100"/>
            <a:ext cx="7921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Δυαδικά σύμβολα</a:t>
            </a:r>
          </a:p>
        </p:txBody>
      </p:sp>
      <p:cxnSp>
        <p:nvCxnSpPr>
          <p:cNvPr id="48144" name="Straight Arrow Connector 49">
            <a:extLst>
              <a:ext uri="{FF2B5EF4-FFF2-40B4-BE49-F238E27FC236}">
                <a16:creationId xmlns:a16="http://schemas.microsoft.com/office/drawing/2014/main" id="{A43F7576-BB01-4506-9D09-0FF2CA19A02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27763" y="443706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45" name="TextBox 42">
            <a:extLst>
              <a:ext uri="{FF2B5EF4-FFF2-40B4-BE49-F238E27FC236}">
                <a16:creationId xmlns:a16="http://schemas.microsoft.com/office/drawing/2014/main" id="{9C3526AC-BCF2-4FFD-B5BF-55916E476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75100"/>
            <a:ext cx="792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Δυαδικά σύμβολα</a:t>
            </a:r>
          </a:p>
        </p:txBody>
      </p:sp>
      <p:cxnSp>
        <p:nvCxnSpPr>
          <p:cNvPr id="48146" name="Straight Arrow Connector 49">
            <a:extLst>
              <a:ext uri="{FF2B5EF4-FFF2-40B4-BE49-F238E27FC236}">
                <a16:creationId xmlns:a16="http://schemas.microsoft.com/office/drawing/2014/main" id="{BD0D7EE8-FBA2-4A1E-A06C-6E2DEC69B16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40200" y="443706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47" name="TextBox 40">
            <a:extLst>
              <a:ext uri="{FF2B5EF4-FFF2-40B4-BE49-F238E27FC236}">
                <a16:creationId xmlns:a16="http://schemas.microsoft.com/office/drawing/2014/main" id="{F894506A-1B28-43F6-87CE-8AA874C9D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933825"/>
            <a:ext cx="172878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Μ-αδικά σύμβολα</a:t>
            </a:r>
            <a:endParaRPr lang="en-US" altLang="el-GR" sz="120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ή αναλογικό σήμα</a:t>
            </a:r>
          </a:p>
        </p:txBody>
      </p:sp>
      <p:cxnSp>
        <p:nvCxnSpPr>
          <p:cNvPr id="48148" name="Straight Arrow Connector 46">
            <a:extLst>
              <a:ext uri="{FF2B5EF4-FFF2-40B4-BE49-F238E27FC236}">
                <a16:creationId xmlns:a16="http://schemas.microsoft.com/office/drawing/2014/main" id="{54F71F19-BD8D-4F70-B1FB-6F8C62CE155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35150" y="4437063"/>
            <a:ext cx="288925" cy="5762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49" name="TextBox 42">
            <a:extLst>
              <a:ext uri="{FF2B5EF4-FFF2-40B4-BE49-F238E27FC236}">
                <a16:creationId xmlns:a16="http://schemas.microsoft.com/office/drawing/2014/main" id="{6E7D34C0-7AA9-46A0-9EA0-69237BC53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836613"/>
            <a:ext cx="1439862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Εσωτερικά: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Δυαδικά  σε       Μ’-αδικά </a:t>
            </a:r>
          </a:p>
        </p:txBody>
      </p:sp>
      <p:cxnSp>
        <p:nvCxnSpPr>
          <p:cNvPr id="48150" name="Straight Arrow Connector 50">
            <a:extLst>
              <a:ext uri="{FF2B5EF4-FFF2-40B4-BE49-F238E27FC236}">
                <a16:creationId xmlns:a16="http://schemas.microsoft.com/office/drawing/2014/main" id="{CC93AF5D-5FE3-4D98-BBAF-570A7D4C929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235825" y="1484313"/>
            <a:ext cx="1588" cy="3603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51" name="TextBox 42">
            <a:extLst>
              <a:ext uri="{FF2B5EF4-FFF2-40B4-BE49-F238E27FC236}">
                <a16:creationId xmlns:a16="http://schemas.microsoft.com/office/drawing/2014/main" id="{19FE50EF-0D4D-4F39-93B5-C19495415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5805488"/>
            <a:ext cx="1439863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Εσωτερικά: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200">
                <a:solidFill>
                  <a:srgbClr val="FF0000"/>
                </a:solidFill>
                <a:latin typeface="Tahoma" panose="020B0604030504040204" pitchFamily="34" charset="0"/>
              </a:rPr>
              <a:t>Μ’-αδικά  σε δυαδικά</a:t>
            </a:r>
          </a:p>
        </p:txBody>
      </p:sp>
      <p:cxnSp>
        <p:nvCxnSpPr>
          <p:cNvPr id="48152" name="Straight Arrow Connector 50">
            <a:extLst>
              <a:ext uri="{FF2B5EF4-FFF2-40B4-BE49-F238E27FC236}">
                <a16:creationId xmlns:a16="http://schemas.microsoft.com/office/drawing/2014/main" id="{736FC313-8AA8-4391-87CC-506EC8FA4E4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235825" y="5516563"/>
            <a:ext cx="0" cy="36036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>
            <a:extLst>
              <a:ext uri="{FF2B5EF4-FFF2-40B4-BE49-F238E27FC236}">
                <a16:creationId xmlns:a16="http://schemas.microsoft.com/office/drawing/2014/main" id="{5A2FD3EB-36EB-4FD3-B950-611987638C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11012" name="Rectangle 36">
            <a:extLst>
              <a:ext uri="{FF2B5EF4-FFF2-40B4-BE49-F238E27FC236}">
                <a16:creationId xmlns:a16="http://schemas.microsoft.com/office/drawing/2014/main" id="{993A6FE3-9243-438E-96A4-8038B3F67C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0"/>
            <a:ext cx="8893175" cy="762000"/>
          </a:xfrm>
        </p:spPr>
        <p:txBody>
          <a:bodyPr/>
          <a:lstStyle/>
          <a:p>
            <a:pPr eaLnBrk="1" hangingPunct="1">
              <a:defRPr/>
            </a:pPr>
            <a:r>
              <a:rPr lang="el-GR" sz="2400" dirty="0"/>
              <a:t>Ψηφιακό Τηλεπικοινωνιακό Σύστημα: Κάπως πιο πλήρες</a:t>
            </a:r>
            <a:endParaRPr lang="en-GB" sz="2400" dirty="0"/>
          </a:p>
        </p:txBody>
      </p:sp>
      <p:sp>
        <p:nvSpPr>
          <p:cNvPr id="50180" name="AutoShape 45">
            <a:extLst>
              <a:ext uri="{FF2B5EF4-FFF2-40B4-BE49-F238E27FC236}">
                <a16:creationId xmlns:a16="http://schemas.microsoft.com/office/drawing/2014/main" id="{C128F7E1-FBE7-4B9B-8AF9-06860F84F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150938"/>
            <a:ext cx="2209800" cy="7239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0181" name="Text Box 46">
            <a:extLst>
              <a:ext uri="{FF2B5EF4-FFF2-40B4-BE49-F238E27FC236}">
                <a16:creationId xmlns:a16="http://schemas.microsoft.com/office/drawing/2014/main" id="{EF5E1615-2BB6-4066-BBAA-5BE0464AE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143000"/>
            <a:ext cx="243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ahoma" panose="020B0604030504040204" pitchFamily="34" charset="0"/>
              </a:rPr>
              <a:t>ΚΩΔΙΚΟΠΟΙΗΤΗΣ ΠΗΓΗΣ</a:t>
            </a:r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50182" name="AutoShape 49">
            <a:extLst>
              <a:ext uri="{FF2B5EF4-FFF2-40B4-BE49-F238E27FC236}">
                <a16:creationId xmlns:a16="http://schemas.microsoft.com/office/drawing/2014/main" id="{D42C3236-ACF5-40CE-97C9-C59F5FCB0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150938"/>
            <a:ext cx="2209800" cy="7239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0183" name="Text Box 50">
            <a:extLst>
              <a:ext uri="{FF2B5EF4-FFF2-40B4-BE49-F238E27FC236}">
                <a16:creationId xmlns:a16="http://schemas.microsoft.com/office/drawing/2014/main" id="{634993E2-F413-4849-8329-20721A06F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143000"/>
            <a:ext cx="243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ahoma" panose="020B0604030504040204" pitchFamily="34" charset="0"/>
              </a:rPr>
              <a:t>ΚΩΔΙΚΟΠΟΙΗΤΗΣ ΚΑΝΑΛΙΟΥ</a:t>
            </a:r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50184" name="AutoShape 54">
            <a:extLst>
              <a:ext uri="{FF2B5EF4-FFF2-40B4-BE49-F238E27FC236}">
                <a16:creationId xmlns:a16="http://schemas.microsoft.com/office/drawing/2014/main" id="{1D05AE8F-934D-445D-8849-E7369F772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1150938"/>
            <a:ext cx="1371600" cy="7239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0185" name="Text Box 55">
            <a:extLst>
              <a:ext uri="{FF2B5EF4-FFF2-40B4-BE49-F238E27FC236}">
                <a16:creationId xmlns:a16="http://schemas.microsoft.com/office/drawing/2014/main" id="{EFCD0A7C-A235-4EDD-BA94-82AFF7CFA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143000"/>
            <a:ext cx="1905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ahoma" panose="020B0604030504040204" pitchFamily="34" charset="0"/>
              </a:rPr>
              <a:t>   ΦΙΛΤΡΟ ΠΟΜΠΟΥ</a:t>
            </a:r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50186" name="AutoShape 56">
            <a:extLst>
              <a:ext uri="{FF2B5EF4-FFF2-40B4-BE49-F238E27FC236}">
                <a16:creationId xmlns:a16="http://schemas.microsoft.com/office/drawing/2014/main" id="{2941E92D-2D21-4491-ADB8-1BE87A805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1371600" cy="7239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0187" name="Text Box 57">
            <a:extLst>
              <a:ext uri="{FF2B5EF4-FFF2-40B4-BE49-F238E27FC236}">
                <a16:creationId xmlns:a16="http://schemas.microsoft.com/office/drawing/2014/main" id="{4BF29299-9187-4DD6-8CB4-1739029DC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4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ahoma" panose="020B0604030504040204" pitchFamily="34" charset="0"/>
              </a:rPr>
              <a:t>ΠΗΓΗ</a:t>
            </a:r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50188" name="AutoShape 59">
            <a:extLst>
              <a:ext uri="{FF2B5EF4-FFF2-40B4-BE49-F238E27FC236}">
                <a16:creationId xmlns:a16="http://schemas.microsoft.com/office/drawing/2014/main" id="{BA032B65-99DE-416D-BD59-857572937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468563"/>
            <a:ext cx="1981200" cy="7239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0189" name="Text Box 60">
            <a:extLst>
              <a:ext uri="{FF2B5EF4-FFF2-40B4-BE49-F238E27FC236}">
                <a16:creationId xmlns:a16="http://schemas.microsoft.com/office/drawing/2014/main" id="{5ED81885-B07F-48F6-A775-E1518E46F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598738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ahoma" panose="020B0604030504040204" pitchFamily="34" charset="0"/>
              </a:rPr>
              <a:t>ΔΙΑΜΟΡΦΩΤΗΣ</a:t>
            </a:r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50190" name="AutoShape 62">
            <a:extLst>
              <a:ext uri="{FF2B5EF4-FFF2-40B4-BE49-F238E27FC236}">
                <a16:creationId xmlns:a16="http://schemas.microsoft.com/office/drawing/2014/main" id="{753A6ABC-927C-4BBA-A28E-C19CE39AF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468563"/>
            <a:ext cx="1371600" cy="723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0191" name="Text Box 63">
            <a:extLst>
              <a:ext uri="{FF2B5EF4-FFF2-40B4-BE49-F238E27FC236}">
                <a16:creationId xmlns:a16="http://schemas.microsoft.com/office/drawing/2014/main" id="{3B17D867-6693-4B89-828C-B316AB3FF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6209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>
                <a:solidFill>
                  <a:schemeClr val="bg1"/>
                </a:solidFill>
                <a:latin typeface="Tahoma" panose="020B0604030504040204" pitchFamily="34" charset="0"/>
              </a:rPr>
              <a:t>ΚΑΝΑΛΙ</a:t>
            </a:r>
            <a:endParaRPr lang="en-GB" altLang="el-GR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50192" name="AutoShape 65">
            <a:extLst>
              <a:ext uri="{FF2B5EF4-FFF2-40B4-BE49-F238E27FC236}">
                <a16:creationId xmlns:a16="http://schemas.microsoft.com/office/drawing/2014/main" id="{B8547394-261E-42AE-BFD4-72E8D5D30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468563"/>
            <a:ext cx="2438400" cy="7239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0193" name="Text Box 66">
            <a:extLst>
              <a:ext uri="{FF2B5EF4-FFF2-40B4-BE49-F238E27FC236}">
                <a16:creationId xmlns:a16="http://schemas.microsoft.com/office/drawing/2014/main" id="{4C4A7BB8-02D0-4414-A350-E8A070FAF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98738"/>
            <a:ext cx="2438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ahoma" panose="020B0604030504040204" pitchFamily="34" charset="0"/>
              </a:rPr>
              <a:t>ΑΠΟΔΙΑΜΟΡΦΩΤΗΣ</a:t>
            </a:r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50194" name="AutoShape 67">
            <a:extLst>
              <a:ext uri="{FF2B5EF4-FFF2-40B4-BE49-F238E27FC236}">
                <a16:creationId xmlns:a16="http://schemas.microsoft.com/office/drawing/2014/main" id="{0AAEF7AD-CC77-4398-92F7-227E2C033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862388"/>
            <a:ext cx="1371600" cy="7239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0195" name="Text Box 68">
            <a:extLst>
              <a:ext uri="{FF2B5EF4-FFF2-40B4-BE49-F238E27FC236}">
                <a16:creationId xmlns:a16="http://schemas.microsoft.com/office/drawing/2014/main" id="{A4250263-251A-4BEF-8DA7-039A9143A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854450"/>
            <a:ext cx="1905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ahoma" panose="020B0604030504040204" pitchFamily="34" charset="0"/>
              </a:rPr>
              <a:t>   ΦΙΛΤΡΟ ΔΕΚΤΗ</a:t>
            </a:r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50196" name="AutoShape 69">
            <a:extLst>
              <a:ext uri="{FF2B5EF4-FFF2-40B4-BE49-F238E27FC236}">
                <a16:creationId xmlns:a16="http://schemas.microsoft.com/office/drawing/2014/main" id="{D903FA38-0365-4B4C-B09A-1559B5B85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859213"/>
            <a:ext cx="2362200" cy="7239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ahoma" panose="020B0604030504040204" pitchFamily="34" charset="0"/>
              </a:rPr>
              <a:t>ΙΣΟΣΤΑΘΜΙΣΤΗΣ</a:t>
            </a:r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50197" name="AutoShape 71">
            <a:extLst>
              <a:ext uri="{FF2B5EF4-FFF2-40B4-BE49-F238E27FC236}">
                <a16:creationId xmlns:a16="http://schemas.microsoft.com/office/drawing/2014/main" id="{C683F2B1-8A18-4D98-9E8F-2873E4812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859213"/>
            <a:ext cx="2133600" cy="7239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sz="1800">
                <a:latin typeface="Tahoma" panose="020B0604030504040204" pitchFamily="34" charset="0"/>
              </a:rPr>
              <a:t>ΛΗΨΗ ΑΠΟΦΑΣΕΩΝ</a:t>
            </a:r>
            <a:endParaRPr lang="en-GB" altLang="el-GR" sz="1800">
              <a:latin typeface="Tahoma" panose="020B0604030504040204" pitchFamily="34" charset="0"/>
            </a:endParaRPr>
          </a:p>
        </p:txBody>
      </p:sp>
      <p:sp>
        <p:nvSpPr>
          <p:cNvPr id="50198" name="AutoShape 74">
            <a:extLst>
              <a:ext uri="{FF2B5EF4-FFF2-40B4-BE49-F238E27FC236}">
                <a16:creationId xmlns:a16="http://schemas.microsoft.com/office/drawing/2014/main" id="{2468219E-3093-460A-AAE8-2ED259246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287963"/>
            <a:ext cx="2590800" cy="7239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0199" name="Text Box 75">
            <a:extLst>
              <a:ext uri="{FF2B5EF4-FFF2-40B4-BE49-F238E27FC236}">
                <a16:creationId xmlns:a16="http://schemas.microsoft.com/office/drawing/2014/main" id="{F25D5AA6-3C01-46F6-BB85-D0C5E4127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287963"/>
            <a:ext cx="2743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ahoma" panose="020B0604030504040204" pitchFamily="34" charset="0"/>
              </a:rPr>
              <a:t>ΑΠΟΚΩΔΙΚΟΠΟΙΗΤΗΣ ΠΗΓΗΣ</a:t>
            </a:r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50200" name="AutoShape 77">
            <a:extLst>
              <a:ext uri="{FF2B5EF4-FFF2-40B4-BE49-F238E27FC236}">
                <a16:creationId xmlns:a16="http://schemas.microsoft.com/office/drawing/2014/main" id="{CD5D721E-D4C7-4E82-9D1E-99FF2EAFB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338" y="5265738"/>
            <a:ext cx="2693987" cy="7239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0201" name="Text Box 78">
            <a:extLst>
              <a:ext uri="{FF2B5EF4-FFF2-40B4-BE49-F238E27FC236}">
                <a16:creationId xmlns:a16="http://schemas.microsoft.com/office/drawing/2014/main" id="{8405CC92-D1B5-4AE8-B9BE-01550A94C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257800"/>
            <a:ext cx="297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ahoma" panose="020B0604030504040204" pitchFamily="34" charset="0"/>
              </a:rPr>
              <a:t>ΑΠΟΚΩΔΙΚΟΠΟΙΗΤΗΣ ΚΑΝΑΛΙΟΥ</a:t>
            </a:r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50202" name="AutoShape 79">
            <a:extLst>
              <a:ext uri="{FF2B5EF4-FFF2-40B4-BE49-F238E27FC236}">
                <a16:creationId xmlns:a16="http://schemas.microsoft.com/office/drawing/2014/main" id="{1EE87564-21B7-46CD-9D49-0FEFD2355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295900"/>
            <a:ext cx="1905000" cy="7239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0203" name="Text Box 80">
            <a:extLst>
              <a:ext uri="{FF2B5EF4-FFF2-40B4-BE49-F238E27FC236}">
                <a16:creationId xmlns:a16="http://schemas.microsoft.com/office/drawing/2014/main" id="{DD0BF249-9946-4633-870F-9EB14DB74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95900"/>
            <a:ext cx="1905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ahoma" panose="020B0604030504040204" pitchFamily="34" charset="0"/>
              </a:rPr>
              <a:t>ΜΕΤΑΤΡΟΠΕΑΣ ΕΞΟΔΟΥ</a:t>
            </a:r>
            <a:endParaRPr lang="en-GB" altLang="el-GR">
              <a:latin typeface="Tahoma" panose="020B0604030504040204" pitchFamily="34" charset="0"/>
            </a:endParaRPr>
          </a:p>
        </p:txBody>
      </p:sp>
      <p:sp>
        <p:nvSpPr>
          <p:cNvPr id="50204" name="Line 90">
            <a:extLst>
              <a:ext uri="{FF2B5EF4-FFF2-40B4-BE49-F238E27FC236}">
                <a16:creationId xmlns:a16="http://schemas.microsoft.com/office/drawing/2014/main" id="{8AAD5C20-3B50-40AA-B48B-A0D5335A9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524000"/>
            <a:ext cx="381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205" name="Line 91">
            <a:extLst>
              <a:ext uri="{FF2B5EF4-FFF2-40B4-BE49-F238E27FC236}">
                <a16:creationId xmlns:a16="http://schemas.microsoft.com/office/drawing/2014/main" id="{AC22384A-C396-48BE-A79D-2A03FA02E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3" y="1524000"/>
            <a:ext cx="381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206" name="Line 92">
            <a:extLst>
              <a:ext uri="{FF2B5EF4-FFF2-40B4-BE49-F238E27FC236}">
                <a16:creationId xmlns:a16="http://schemas.microsoft.com/office/drawing/2014/main" id="{F68471A7-C272-4ED1-841E-C04C1E4808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524000"/>
            <a:ext cx="4572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207" name="Line 93">
            <a:extLst>
              <a:ext uri="{FF2B5EF4-FFF2-40B4-BE49-F238E27FC236}">
                <a16:creationId xmlns:a16="http://schemas.microsoft.com/office/drawing/2014/main" id="{5F824C7F-028D-4A0B-904C-6A4A72CE4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905000"/>
            <a:ext cx="0" cy="6096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208" name="Line 94">
            <a:extLst>
              <a:ext uri="{FF2B5EF4-FFF2-40B4-BE49-F238E27FC236}">
                <a16:creationId xmlns:a16="http://schemas.microsoft.com/office/drawing/2014/main" id="{3B9AF968-C4A4-4500-A3EA-4FAD444182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2819400"/>
            <a:ext cx="1371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209" name="Line 96">
            <a:extLst>
              <a:ext uri="{FF2B5EF4-FFF2-40B4-BE49-F238E27FC236}">
                <a16:creationId xmlns:a16="http://schemas.microsoft.com/office/drawing/2014/main" id="{EAFEEC67-2968-47A3-936F-539DAB43D1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2819400"/>
            <a:ext cx="12192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210" name="Line 98">
            <a:extLst>
              <a:ext uri="{FF2B5EF4-FFF2-40B4-BE49-F238E27FC236}">
                <a16:creationId xmlns:a16="http://schemas.microsoft.com/office/drawing/2014/main" id="{58DEE759-E47F-4662-9CBB-A709FFF65B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213100"/>
            <a:ext cx="0" cy="6096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211" name="Line 99">
            <a:extLst>
              <a:ext uri="{FF2B5EF4-FFF2-40B4-BE49-F238E27FC236}">
                <a16:creationId xmlns:a16="http://schemas.microsoft.com/office/drawing/2014/main" id="{DC2AA05A-CE5B-4B67-8473-26588FD95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191000"/>
            <a:ext cx="1295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212" name="Line 100">
            <a:extLst>
              <a:ext uri="{FF2B5EF4-FFF2-40B4-BE49-F238E27FC236}">
                <a16:creationId xmlns:a16="http://schemas.microsoft.com/office/drawing/2014/main" id="{A8730168-370D-404A-92DE-F4119D525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191000"/>
            <a:ext cx="12192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213" name="Line 101">
            <a:extLst>
              <a:ext uri="{FF2B5EF4-FFF2-40B4-BE49-F238E27FC236}">
                <a16:creationId xmlns:a16="http://schemas.microsoft.com/office/drawing/2014/main" id="{36D33841-13FB-4E13-BF01-E9FC5D0B8F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4648200"/>
            <a:ext cx="0" cy="6096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214" name="Line 102">
            <a:extLst>
              <a:ext uri="{FF2B5EF4-FFF2-40B4-BE49-F238E27FC236}">
                <a16:creationId xmlns:a16="http://schemas.microsoft.com/office/drawing/2014/main" id="{42AE928D-7FF5-4F83-8827-7946B49BFB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5638800"/>
            <a:ext cx="60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50215" name="Line 103">
            <a:extLst>
              <a:ext uri="{FF2B5EF4-FFF2-40B4-BE49-F238E27FC236}">
                <a16:creationId xmlns:a16="http://schemas.microsoft.com/office/drawing/2014/main" id="{4805419E-20E5-43D9-8E0F-66F3B2081A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2200" y="5638800"/>
            <a:ext cx="533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E499728E-B277-4CC7-AA5B-F26261BF69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18149" name="Rectangle 5">
            <a:extLst>
              <a:ext uri="{FF2B5EF4-FFF2-40B4-BE49-F238E27FC236}">
                <a16:creationId xmlns:a16="http://schemas.microsoft.com/office/drawing/2014/main" id="{84F0632D-8FD0-4B1E-8594-46BB611B64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2800" dirty="0"/>
              <a:t>Διαχείριση Παρεμβολών - </a:t>
            </a:r>
            <a:r>
              <a:rPr lang="el-GR" sz="2800" dirty="0" err="1"/>
              <a:t>Ισοσταθμιστής</a:t>
            </a:r>
            <a:endParaRPr lang="en-GB" sz="2800" dirty="0"/>
          </a:p>
        </p:txBody>
      </p:sp>
      <p:sp>
        <p:nvSpPr>
          <p:cNvPr id="518150" name="Rectangle 6">
            <a:extLst>
              <a:ext uri="{FF2B5EF4-FFF2-40B4-BE49-F238E27FC236}">
                <a16:creationId xmlns:a16="http://schemas.microsoft.com/office/drawing/2014/main" id="{D0920D0F-4DDD-414A-8D16-6644116E1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Είναι ένα (ψηφιακό) φίλτρο που έχει σκοπό να αναιρέσει τις δυσμενείς συνέπειες του μη ιδανικού καναλιού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Μη ιδανικό κανάλι </a:t>
            </a:r>
            <a:r>
              <a:rPr lang="el-GR" dirty="0">
                <a:sym typeface="Euclid Symbol" pitchFamily="18" charset="2"/>
              </a:rPr>
              <a:t> </a:t>
            </a:r>
            <a:r>
              <a:rPr lang="el-GR" dirty="0" err="1">
                <a:solidFill>
                  <a:srgbClr val="0033CC"/>
                </a:solidFill>
              </a:rPr>
              <a:t>Διασυμβολική</a:t>
            </a:r>
            <a:r>
              <a:rPr lang="el-GR" dirty="0">
                <a:solidFill>
                  <a:srgbClr val="0033CC"/>
                </a:solidFill>
              </a:rPr>
              <a:t> παρεμβολή</a:t>
            </a:r>
            <a:r>
              <a:rPr lang="el-GR" dirty="0"/>
              <a:t>                   συχνά το σημαντικότερο πρόβλημα κατά τη μετάδοση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Εάν η αναίρεση επιτευχθεί τότε το όλο σύστημα ισοδυναμεί με μετάδοση μέσω ιδανικού καναλιού 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Οι συντελεστές του ψηφιακού φίλτρου υπολογίζονται με τη βοήθεια προχωρημένων αλγορίθμων επεξεργασίας σήματος και μάθησης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Ορολογία:  Ισοστάθμιση </a:t>
            </a:r>
            <a:r>
              <a:rPr lang="el-GR" dirty="0">
                <a:sym typeface="Euclid Symbol" pitchFamily="18" charset="2"/>
              </a:rPr>
              <a:t> Εξίσωση  Εξισορρόπηση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    </a:t>
            </a:r>
            <a:r>
              <a:rPr lang="el-GR" dirty="0"/>
              <a:t>                (</a:t>
            </a:r>
            <a:r>
              <a:rPr lang="en-US" dirty="0"/>
              <a:t>equalization)</a:t>
            </a:r>
            <a:endParaRPr lang="el-GR" dirty="0"/>
          </a:p>
          <a:p>
            <a:pPr eaLnBrk="1" hangingPunct="1">
              <a:defRPr/>
            </a:pPr>
            <a:endParaRPr lang="el-G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3">
            <a:extLst>
              <a:ext uri="{FF2B5EF4-FFF2-40B4-BE49-F238E27FC236}">
                <a16:creationId xmlns:a16="http://schemas.microsoft.com/office/drawing/2014/main" id="{48E049D0-E0AC-438D-B883-E655827FC6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20237" name="Rectangle 45">
            <a:extLst>
              <a:ext uri="{FF2B5EF4-FFF2-40B4-BE49-F238E27FC236}">
                <a16:creationId xmlns:a16="http://schemas.microsoft.com/office/drawing/2014/main" id="{5DEB16AA-F8F2-47E8-8744-D9E1BA1D7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Άλλα υποσυστήματα ενός Ψ.Τ.Σ.</a:t>
            </a:r>
            <a:endParaRPr lang="en-GB" sz="3200" dirty="0"/>
          </a:p>
        </p:txBody>
      </p:sp>
      <p:sp>
        <p:nvSpPr>
          <p:cNvPr id="520238" name="Rectangle 46">
            <a:extLst>
              <a:ext uri="{FF2B5EF4-FFF2-40B4-BE49-F238E27FC236}">
                <a16:creationId xmlns:a16="http://schemas.microsoft.com/office/drawing/2014/main" id="{BD74C634-8E5F-48FC-857D-390F63935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1385888"/>
            <a:ext cx="8305800" cy="5715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spcAft>
                <a:spcPts val="1200"/>
              </a:spcAft>
              <a:defRPr/>
            </a:pPr>
            <a:r>
              <a:rPr lang="el-GR" sz="2400" dirty="0"/>
              <a:t>Σε μια πληρέστερη εκδοχή του ΨΤ συστήματος υπάρχουν κι άλλα υποσυστήματα όπως π.χ.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l-GR" sz="2400" dirty="0">
                <a:solidFill>
                  <a:srgbClr val="0070C0"/>
                </a:solidFill>
              </a:rPr>
              <a:t>κύκλωμα ανάκτησης συχνότητας και φάσης φέροντος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l-GR" sz="2400" dirty="0">
                <a:solidFill>
                  <a:srgbClr val="0070C0"/>
                </a:solidFill>
              </a:rPr>
              <a:t>υποσύστημα συγχρονισμού συμβόλων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l-GR" sz="2400" dirty="0">
                <a:solidFill>
                  <a:srgbClr val="0070C0"/>
                </a:solidFill>
              </a:rPr>
              <a:t>μετατροπή αστερισμού συμβόλων (δυαδική ακολουθία σε Μιαδική και αντίστροφα)</a:t>
            </a:r>
          </a:p>
          <a:p>
            <a:pPr eaLnBrk="1" hangingPunct="1">
              <a:defRPr/>
            </a:pPr>
            <a:endParaRPr lang="el-GR" sz="24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>
            <a:extLst>
              <a:ext uri="{FF2B5EF4-FFF2-40B4-BE49-F238E27FC236}">
                <a16:creationId xmlns:a16="http://schemas.microsoft.com/office/drawing/2014/main" id="{0621775F-B7F2-4846-A6A0-3E9FD77F3A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913D6CBF-AA50-43BB-AFA8-5FDCC0470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Κανάλι</a:t>
            </a:r>
            <a:endParaRPr lang="en-GB" sz="3200" dirty="0"/>
          </a:p>
        </p:txBody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D9BC406C-50CC-49D5-8E12-BBBAE5B05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4350" y="836613"/>
            <a:ext cx="8305800" cy="5715000"/>
          </a:xfrm>
        </p:spPr>
        <p:txBody>
          <a:bodyPr/>
          <a:lstStyle/>
          <a:p>
            <a:pPr eaLnBrk="1" hangingPunct="1">
              <a:spcAft>
                <a:spcPts val="1800"/>
              </a:spcAft>
              <a:defRPr/>
            </a:pPr>
            <a:r>
              <a:rPr lang="el-GR" dirty="0"/>
              <a:t>Το κανάλι παρέχει τη σύνδεση μεταξύ πομπού και δέκτη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Προβλήματα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l-GR" dirty="0">
                <a:solidFill>
                  <a:srgbClr val="FF0000"/>
                </a:solidFill>
              </a:rPr>
              <a:t>Περιορισμένο εύρος ζώνης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l-GR" dirty="0"/>
              <a:t>Εξασθένηση και παραμόρφωση:</a:t>
            </a:r>
          </a:p>
          <a:p>
            <a:pPr lvl="2" eaLnBrk="1" hangingPunct="1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l-GR" dirty="0">
                <a:solidFill>
                  <a:srgbClr val="FF0000"/>
                </a:solidFill>
              </a:rPr>
              <a:t>παραμόρφωση πλάτους</a:t>
            </a:r>
          </a:p>
          <a:p>
            <a:pPr lvl="2" eaLnBrk="1" hangingPunct="1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l-GR" dirty="0">
                <a:solidFill>
                  <a:srgbClr val="FF0000"/>
                </a:solidFill>
              </a:rPr>
              <a:t>παραμόρφωση φάσης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l-GR" dirty="0"/>
              <a:t>Εισάγονται θόρυβοι, όπως:</a:t>
            </a:r>
          </a:p>
          <a:p>
            <a:pPr lvl="2" eaLnBrk="1" hangingPunct="1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l-GR" dirty="0">
                <a:solidFill>
                  <a:srgbClr val="FF0000"/>
                </a:solidFill>
              </a:rPr>
              <a:t>θερμικός </a:t>
            </a:r>
            <a:r>
              <a:rPr lang="en-US" dirty="0">
                <a:solidFill>
                  <a:srgbClr val="FF0000"/>
                </a:solidFill>
              </a:rPr>
              <a:t>AWGN </a:t>
            </a:r>
            <a:r>
              <a:rPr lang="el-GR" dirty="0"/>
              <a:t>(</a:t>
            </a:r>
            <a:r>
              <a:rPr lang="en-US" dirty="0"/>
              <a:t>Additive White Gaussian Noise)</a:t>
            </a:r>
          </a:p>
          <a:p>
            <a:pPr lvl="2" eaLnBrk="1" hangingPunct="1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l-GR" dirty="0"/>
              <a:t>κρουστικός θόρυβος</a:t>
            </a:r>
            <a:endParaRPr lang="en-US" dirty="0"/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l-GR" dirty="0">
                <a:solidFill>
                  <a:srgbClr val="FF0000"/>
                </a:solidFill>
              </a:rPr>
              <a:t>Παρεμβολές</a:t>
            </a:r>
            <a:r>
              <a:rPr lang="el-GR" dirty="0"/>
              <a:t> (από την ακύρωση … στη διαχείριση)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l-GR" dirty="0" err="1"/>
              <a:t>Πολύδρομη</a:t>
            </a:r>
            <a:r>
              <a:rPr lang="el-GR" dirty="0"/>
              <a:t> μετάδοση – </a:t>
            </a:r>
            <a:r>
              <a:rPr lang="el-GR" dirty="0">
                <a:solidFill>
                  <a:srgbClr val="FF0000"/>
                </a:solidFill>
              </a:rPr>
              <a:t>διαλείψεις</a:t>
            </a:r>
            <a:r>
              <a:rPr lang="el-GR" dirty="0"/>
              <a:t> (ασύρματο κανάλι)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l-GR" dirty="0">
                <a:solidFill>
                  <a:srgbClr val="FF0000"/>
                </a:solidFill>
              </a:rPr>
              <a:t>Χρονική μεταβολή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3">
            <a:extLst>
              <a:ext uri="{FF2B5EF4-FFF2-40B4-BE49-F238E27FC236}">
                <a16:creationId xmlns:a16="http://schemas.microsoft.com/office/drawing/2014/main" id="{579AEA95-A380-4C60-B7F1-FB98263A57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19173" name="Rectangle 5">
            <a:extLst>
              <a:ext uri="{FF2B5EF4-FFF2-40B4-BE49-F238E27FC236}">
                <a16:creationId xmlns:a16="http://schemas.microsoft.com/office/drawing/2014/main" id="{EF84F0C4-F79D-453D-B39A-2C31F9B35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Βασικοί Τύποι Καναλιών (1/2)</a:t>
            </a:r>
            <a:endParaRPr lang="en-GB"/>
          </a:p>
        </p:txBody>
      </p:sp>
      <p:sp>
        <p:nvSpPr>
          <p:cNvPr id="519174" name="Rectangle 6">
            <a:extLst>
              <a:ext uri="{FF2B5EF4-FFF2-40B4-BE49-F238E27FC236}">
                <a16:creationId xmlns:a16="http://schemas.microsoft.com/office/drawing/2014/main" id="{ECBC3F7A-7CC0-4297-974C-5079738CB0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765175"/>
            <a:ext cx="83058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l-GR" dirty="0">
                <a:solidFill>
                  <a:srgbClr val="0033CC"/>
                </a:solidFill>
              </a:rPr>
              <a:t>Ενσύρματα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l-GR" dirty="0"/>
              <a:t>Συνεστραμμένο ζεύγος χαλκού (</a:t>
            </a:r>
            <a:r>
              <a:rPr lang="en-US" dirty="0"/>
              <a:t>twisted-pair</a:t>
            </a:r>
            <a:r>
              <a:rPr lang="el-GR" dirty="0"/>
              <a:t>)</a:t>
            </a:r>
            <a:endParaRPr lang="en-US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/>
              <a:t>    </a:t>
            </a:r>
            <a:r>
              <a:rPr lang="el-GR" dirty="0"/>
              <a:t>   &gt; εύρος ζώνης </a:t>
            </a:r>
            <a:r>
              <a:rPr lang="en-US" dirty="0"/>
              <a:t>O(10</a:t>
            </a:r>
            <a:r>
              <a:rPr lang="el-GR" baseline="30000" dirty="0"/>
              <a:t>2</a:t>
            </a:r>
            <a:r>
              <a:rPr lang="en-US" dirty="0"/>
              <a:t>) </a:t>
            </a:r>
            <a:r>
              <a:rPr lang="el-GR" dirty="0"/>
              <a:t>Κ</a:t>
            </a:r>
            <a:r>
              <a:rPr lang="en-US" dirty="0"/>
              <a:t>Hz</a:t>
            </a:r>
            <a:r>
              <a:rPr lang="el-GR" dirty="0"/>
              <a:t> 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l-GR" i="1" dirty="0"/>
              <a:t>       &gt; «δια</a:t>
            </a:r>
            <a:r>
              <a:rPr lang="en-US" i="1" dirty="0"/>
              <a:t>-</a:t>
            </a:r>
            <a:r>
              <a:rPr lang="el-GR" i="1" dirty="0"/>
              <a:t>φωνία» (</a:t>
            </a:r>
            <a:r>
              <a:rPr lang="en-US" dirty="0"/>
              <a:t>crosstalk</a:t>
            </a:r>
            <a:r>
              <a:rPr lang="el-GR" dirty="0"/>
              <a:t>)</a:t>
            </a:r>
            <a:endParaRPr lang="en-US" dirty="0"/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l-GR" dirty="0"/>
              <a:t>Ομοαξονικό </a:t>
            </a:r>
            <a:r>
              <a:rPr lang="en-US" dirty="0"/>
              <a:t>(coaxial cable)</a:t>
            </a:r>
            <a:endParaRPr lang="el-GR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l-GR" dirty="0"/>
              <a:t>        &gt; εύρος ζώνης </a:t>
            </a:r>
            <a:r>
              <a:rPr lang="en-US" dirty="0"/>
              <a:t>O(10</a:t>
            </a:r>
            <a:r>
              <a:rPr lang="el-GR" baseline="30000" dirty="0"/>
              <a:t>2</a:t>
            </a:r>
            <a:r>
              <a:rPr lang="en-US" dirty="0"/>
              <a:t>)</a:t>
            </a:r>
            <a:r>
              <a:rPr lang="el-GR" dirty="0"/>
              <a:t>Μ</a:t>
            </a:r>
            <a:r>
              <a:rPr lang="en-US" dirty="0"/>
              <a:t>Hz</a:t>
            </a:r>
            <a:endParaRPr lang="el-GR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l-GR" i="1" dirty="0"/>
              <a:t>        &gt; </a:t>
            </a:r>
            <a:r>
              <a:rPr lang="el-GR" dirty="0"/>
              <a:t>δεν έχει </a:t>
            </a:r>
            <a:r>
              <a:rPr lang="en-US" dirty="0"/>
              <a:t>crosstalk</a:t>
            </a:r>
            <a:r>
              <a:rPr lang="el-GR" i="1" dirty="0"/>
              <a:t> 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l-GR" i="1" dirty="0"/>
              <a:t>        &gt; </a:t>
            </a:r>
            <a:r>
              <a:rPr lang="el-GR" dirty="0"/>
              <a:t>ανάγκη για </a:t>
            </a:r>
            <a:r>
              <a:rPr lang="en-US" dirty="0"/>
              <a:t>repeaters</a:t>
            </a:r>
            <a:endParaRPr lang="el-GR" dirty="0"/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Κυματοδηγοί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l-GR" dirty="0">
                <a:solidFill>
                  <a:srgbClr val="0033CC"/>
                </a:solidFill>
              </a:rPr>
              <a:t>    </a:t>
            </a:r>
            <a:r>
              <a:rPr lang="el-GR" dirty="0"/>
              <a:t>- καθοδηγούμενη διάδοση 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    ηλεκτρομαγνητικού κύματος</a:t>
            </a:r>
            <a:endParaRPr lang="en-US" dirty="0"/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Οπτικές Ίνες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l-GR" dirty="0">
                <a:solidFill>
                  <a:srgbClr val="0033CC"/>
                </a:solidFill>
              </a:rPr>
              <a:t>    </a:t>
            </a:r>
            <a:r>
              <a:rPr lang="el-GR" dirty="0"/>
              <a:t>- οπτικός κυματοδηγός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l-GR" dirty="0"/>
              <a:t>    - βελτίωση απόσβεσης από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l-GR" dirty="0"/>
              <a:t>      1000 </a:t>
            </a:r>
            <a:r>
              <a:rPr lang="en-US" dirty="0"/>
              <a:t>dB/Km </a:t>
            </a:r>
            <a:r>
              <a:rPr lang="el-GR" dirty="0"/>
              <a:t>σε</a:t>
            </a:r>
            <a:r>
              <a:rPr lang="en-US" dirty="0"/>
              <a:t> O(0.1)dB/Km </a:t>
            </a:r>
            <a:endParaRPr lang="el-GR" dirty="0"/>
          </a:p>
        </p:txBody>
      </p:sp>
      <p:pic>
        <p:nvPicPr>
          <p:cNvPr id="58373" name="Picture 8">
            <a:extLst>
              <a:ext uri="{FF2B5EF4-FFF2-40B4-BE49-F238E27FC236}">
                <a16:creationId xmlns:a16="http://schemas.microsoft.com/office/drawing/2014/main" id="{271F60A4-4C8C-4F3F-8ECE-E2342AB25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981075"/>
            <a:ext cx="1592262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4" name="AutoShape 10">
            <a:extLst>
              <a:ext uri="{FF2B5EF4-FFF2-40B4-BE49-F238E27FC236}">
                <a16:creationId xmlns:a16="http://schemas.microsoft.com/office/drawing/2014/main" id="{B67C2DFF-4B56-4FE0-BBA6-ED9992128B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5338" y="-152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8375" name="AutoShape 12">
            <a:extLst>
              <a:ext uri="{FF2B5EF4-FFF2-40B4-BE49-F238E27FC236}">
                <a16:creationId xmlns:a16="http://schemas.microsoft.com/office/drawing/2014/main" id="{CD5E043E-7B99-4C05-852B-EE7FC435B2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5338" y="-152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sp>
        <p:nvSpPr>
          <p:cNvPr id="58376" name="AutoShape 14">
            <a:extLst>
              <a:ext uri="{FF2B5EF4-FFF2-40B4-BE49-F238E27FC236}">
                <a16:creationId xmlns:a16="http://schemas.microsoft.com/office/drawing/2014/main" id="{2136FFF7-E51A-4021-BA05-31D9160FEA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5338" y="-152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l-GR" altLang="el-GR">
              <a:latin typeface="Tahoma" panose="020B0604030504040204" pitchFamily="34" charset="0"/>
            </a:endParaRPr>
          </a:p>
        </p:txBody>
      </p:sp>
      <p:pic>
        <p:nvPicPr>
          <p:cNvPr id="58377" name="Picture 16">
            <a:extLst>
              <a:ext uri="{FF2B5EF4-FFF2-40B4-BE49-F238E27FC236}">
                <a16:creationId xmlns:a16="http://schemas.microsoft.com/office/drawing/2014/main" id="{DFF5D032-DD42-4897-9543-4E7D30976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2133600"/>
            <a:ext cx="22860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8" name="Picture 12">
            <a:extLst>
              <a:ext uri="{FF2B5EF4-FFF2-40B4-BE49-F238E27FC236}">
                <a16:creationId xmlns:a16="http://schemas.microsoft.com/office/drawing/2014/main" id="{8662FEBD-FC62-4847-A1FA-3A67F60A10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3716338"/>
            <a:ext cx="2776537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9" name="Picture 18">
            <a:extLst>
              <a:ext uri="{FF2B5EF4-FFF2-40B4-BE49-F238E27FC236}">
                <a16:creationId xmlns:a16="http://schemas.microsoft.com/office/drawing/2014/main" id="{ACA61EC5-DFC4-4AE1-8DF6-C3CDD691C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288" y="5051425"/>
            <a:ext cx="1914525" cy="140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3">
            <a:extLst>
              <a:ext uri="{FF2B5EF4-FFF2-40B4-BE49-F238E27FC236}">
                <a16:creationId xmlns:a16="http://schemas.microsoft.com/office/drawing/2014/main" id="{0E8DFE06-1128-4EF6-BFBC-49ED9CF781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24290" name="Rectangle 2">
            <a:extLst>
              <a:ext uri="{FF2B5EF4-FFF2-40B4-BE49-F238E27FC236}">
                <a16:creationId xmlns:a16="http://schemas.microsoft.com/office/drawing/2014/main" id="{41C30FA6-ECA1-4521-B4E7-69C4F6FB7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Ενσύρματα Κανάλια</a:t>
            </a:r>
            <a:endParaRPr lang="en-GB"/>
          </a:p>
        </p:txBody>
      </p:sp>
      <p:pic>
        <p:nvPicPr>
          <p:cNvPr id="60420" name="Picture 4" descr="fig1_3">
            <a:extLst>
              <a:ext uri="{FF2B5EF4-FFF2-40B4-BE49-F238E27FC236}">
                <a16:creationId xmlns:a16="http://schemas.microsoft.com/office/drawing/2014/main" id="{690F6C73-B66A-4022-82D4-4CB3ACEE3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225" y="838200"/>
            <a:ext cx="3001963" cy="551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3">
            <a:extLst>
              <a:ext uri="{FF2B5EF4-FFF2-40B4-BE49-F238E27FC236}">
                <a16:creationId xmlns:a16="http://schemas.microsoft.com/office/drawing/2014/main" id="{ED46B184-CC42-418C-ABCB-C5B9797E82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40674" name="Rectangle 2">
            <a:extLst>
              <a:ext uri="{FF2B5EF4-FFF2-40B4-BE49-F238E27FC236}">
                <a16:creationId xmlns:a16="http://schemas.microsoft.com/office/drawing/2014/main" id="{7E7BDF45-79C0-4916-A734-4FE38CCEE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Βασικοί Τύποι Καναλιών (2/2)</a:t>
            </a:r>
            <a:endParaRPr lang="en-GB"/>
          </a:p>
        </p:txBody>
      </p:sp>
      <p:sp>
        <p:nvSpPr>
          <p:cNvPr id="540675" name="Rectangle 3">
            <a:extLst>
              <a:ext uri="{FF2B5EF4-FFF2-40B4-BE49-F238E27FC236}">
                <a16:creationId xmlns:a16="http://schemas.microsoft.com/office/drawing/2014/main" id="{86289D93-A2F0-4FE8-865A-B86556DAA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36613"/>
            <a:ext cx="9036050" cy="5715000"/>
          </a:xfrm>
        </p:spPr>
        <p:txBody>
          <a:bodyPr/>
          <a:lstStyle/>
          <a:p>
            <a:pPr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Ασύρματα</a:t>
            </a:r>
          </a:p>
          <a:p>
            <a:pPr lvl="1" eaLnBrk="1" hangingPunct="1">
              <a:defRPr/>
            </a:pPr>
            <a:r>
              <a:rPr lang="en-US" dirty="0"/>
              <a:t>VLF [f=O(1KHz)]… VHF [f=O(100MHz)</a:t>
            </a:r>
            <a:r>
              <a:rPr lang="el-GR" dirty="0"/>
              <a:t>]</a:t>
            </a:r>
            <a:endParaRPr lang="en-US" dirty="0"/>
          </a:p>
          <a:p>
            <a:pPr lvl="1" eaLnBrk="1" hangingPunct="1">
              <a:defRPr/>
            </a:pPr>
            <a:r>
              <a:rPr lang="el-GR" dirty="0"/>
              <a:t>Μικροκυματικά </a:t>
            </a:r>
          </a:p>
          <a:p>
            <a:pPr lvl="2" eaLnBrk="1" hangingPunct="1">
              <a:defRPr/>
            </a:pPr>
            <a:r>
              <a:rPr lang="en-US" dirty="0"/>
              <a:t>UHF  (300MHz – 3GHz)</a:t>
            </a:r>
            <a:endParaRPr lang="el-GR" dirty="0"/>
          </a:p>
          <a:p>
            <a:pPr lvl="2" eaLnBrk="1" hangingPunct="1">
              <a:defRPr/>
            </a:pPr>
            <a:r>
              <a:rPr lang="en-US" dirty="0"/>
              <a:t>SHF  (3GHz – 30GHz)</a:t>
            </a:r>
          </a:p>
          <a:p>
            <a:pPr lvl="1" eaLnBrk="1" hangingPunct="1">
              <a:spcAft>
                <a:spcPct val="40000"/>
              </a:spcAft>
              <a:defRPr/>
            </a:pPr>
            <a:r>
              <a:rPr lang="en-US" dirty="0"/>
              <a:t>millimeter waves </a:t>
            </a:r>
            <a:r>
              <a:rPr lang="el-GR" dirty="0"/>
              <a:t>ή </a:t>
            </a:r>
            <a:r>
              <a:rPr lang="en-US" dirty="0"/>
              <a:t>EHF </a:t>
            </a:r>
            <a:r>
              <a:rPr lang="el-GR" dirty="0"/>
              <a:t>(30</a:t>
            </a:r>
            <a:r>
              <a:rPr lang="en-US" dirty="0"/>
              <a:t>GHZ – 300GHz)</a:t>
            </a:r>
          </a:p>
          <a:p>
            <a:pPr lvl="1" eaLnBrk="1" hangingPunct="1">
              <a:spcAft>
                <a:spcPct val="40000"/>
              </a:spcAft>
              <a:defRPr/>
            </a:pPr>
            <a:r>
              <a:rPr lang="el-GR" dirty="0"/>
              <a:t>Υπέρυθρα, ορατού </a:t>
            </a:r>
            <a:r>
              <a:rPr lang="el-GR" i="1" dirty="0"/>
              <a:t>φωτός</a:t>
            </a:r>
            <a:r>
              <a:rPr lang="en-US" i="1" dirty="0"/>
              <a:t>  [f=O(10</a:t>
            </a:r>
            <a:r>
              <a:rPr lang="el-GR" i="1" baseline="30000" dirty="0"/>
              <a:t>15</a:t>
            </a:r>
            <a:r>
              <a:rPr lang="en-US" i="1" dirty="0"/>
              <a:t>) Hz]  (</a:t>
            </a:r>
            <a:r>
              <a:rPr lang="en-US" b="0" i="0" dirty="0"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Optical wireless com</a:t>
            </a:r>
            <a:r>
              <a:rPr lang="en-US" i="1" dirty="0"/>
              <a:t>)</a:t>
            </a:r>
          </a:p>
          <a:p>
            <a:pPr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Υποβρύχια ακουστικά κανάλια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>
                <a:solidFill>
                  <a:srgbClr val="0033CC"/>
                </a:solidFill>
              </a:rPr>
              <a:t>     </a:t>
            </a:r>
            <a:r>
              <a:rPr lang="el-GR" dirty="0"/>
              <a:t>- </a:t>
            </a:r>
            <a:r>
              <a:rPr lang="en-US" dirty="0"/>
              <a:t>skin depth</a:t>
            </a:r>
            <a:r>
              <a:rPr lang="el-GR" dirty="0"/>
              <a:t> δ </a:t>
            </a:r>
            <a:r>
              <a:rPr lang="en-US" dirty="0"/>
              <a:t>= </a:t>
            </a:r>
            <a:r>
              <a:rPr lang="el-GR" dirty="0"/>
              <a:t>απόσταση με απόσβεση ΗΜ κύματος κατά </a:t>
            </a:r>
            <a:r>
              <a:rPr lang="en-US" dirty="0"/>
              <a:t>1/e</a:t>
            </a:r>
            <a:endParaRPr lang="el-GR" dirty="0"/>
          </a:p>
          <a:p>
            <a:pPr eaLnBrk="1" hangingPunct="1">
              <a:spcAft>
                <a:spcPct val="400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  - δ = 250/</a:t>
            </a:r>
            <a:r>
              <a:rPr lang="en-US" dirty="0" err="1"/>
              <a:t>sqrt</a:t>
            </a:r>
            <a:r>
              <a:rPr lang="en-US" dirty="0"/>
              <a:t>(f)</a:t>
            </a:r>
            <a:r>
              <a:rPr lang="el-GR" dirty="0"/>
              <a:t> (π.χ., για σήμα 1</a:t>
            </a:r>
            <a:r>
              <a:rPr lang="en-US" dirty="0"/>
              <a:t>GHz</a:t>
            </a:r>
            <a:r>
              <a:rPr lang="el-GR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l-GR" dirty="0">
                <a:sym typeface="Mathematica1Mono" pitchFamily="18" charset="2"/>
              </a:rPr>
              <a:t> δ = ~8</a:t>
            </a:r>
            <a:r>
              <a:rPr lang="en-US" dirty="0">
                <a:sym typeface="Mathematica1Mono" pitchFamily="18" charset="2"/>
              </a:rPr>
              <a:t>mm)</a:t>
            </a:r>
            <a:r>
              <a:rPr lang="en-US" dirty="0">
                <a:solidFill>
                  <a:srgbClr val="0033CC"/>
                </a:solidFill>
                <a:sym typeface="Mathematica1Mono" pitchFamily="18" charset="2"/>
              </a:rPr>
              <a:t> </a:t>
            </a:r>
            <a:endParaRPr lang="en-US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r>
              <a:rPr lang="el-GR" dirty="0">
                <a:solidFill>
                  <a:srgbClr val="0033CC"/>
                </a:solidFill>
              </a:rPr>
              <a:t>Κανάλια αποθήκευσης</a:t>
            </a:r>
          </a:p>
          <a:p>
            <a:pPr lvl="1" eaLnBrk="1" hangingPunct="1">
              <a:defRPr/>
            </a:pPr>
            <a:r>
              <a:rPr lang="en-US" dirty="0"/>
              <a:t>M</a:t>
            </a:r>
            <a:r>
              <a:rPr lang="el-GR" dirty="0" err="1"/>
              <a:t>αγνητικά</a:t>
            </a:r>
            <a:r>
              <a:rPr lang="el-GR" dirty="0"/>
              <a:t> μέσα </a:t>
            </a:r>
            <a:r>
              <a:rPr lang="en-US" dirty="0"/>
              <a:t>/ </a:t>
            </a:r>
            <a:r>
              <a:rPr lang="el-GR" dirty="0"/>
              <a:t>Οπτικά μέσα</a:t>
            </a:r>
            <a:r>
              <a:rPr lang="en-US" dirty="0"/>
              <a:t> / SSD</a:t>
            </a:r>
          </a:p>
          <a:p>
            <a:pPr lvl="1" eaLnBrk="1" hangingPunct="1">
              <a:defRPr/>
            </a:pPr>
            <a:r>
              <a:rPr lang="el-GR" dirty="0"/>
              <a:t>Νέου τύπου μνήμες  (π.χ. θερμικές)</a:t>
            </a:r>
          </a:p>
          <a:p>
            <a:pPr eaLnBrk="1" hangingPunct="1">
              <a:spcBef>
                <a:spcPct val="40000"/>
              </a:spcBef>
              <a:defRPr/>
            </a:pPr>
            <a:r>
              <a:rPr lang="el-GR" dirty="0">
                <a:solidFill>
                  <a:srgbClr val="0033CC"/>
                </a:solidFill>
              </a:rPr>
              <a:t>Άλλα κανάλια</a:t>
            </a:r>
            <a:r>
              <a:rPr lang="el-GR" dirty="0"/>
              <a:t>: </a:t>
            </a:r>
            <a:r>
              <a:rPr lang="en-US" dirty="0"/>
              <a:t>power lines, deep space</a:t>
            </a:r>
            <a:r>
              <a:rPr lang="el-GR" dirty="0"/>
              <a:t>,</a:t>
            </a:r>
            <a:r>
              <a:rPr lang="en-US" dirty="0"/>
              <a:t> </a:t>
            </a:r>
            <a:r>
              <a:rPr lang="el-GR" dirty="0"/>
              <a:t>κλπ.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3">
            <a:extLst>
              <a:ext uri="{FF2B5EF4-FFF2-40B4-BE49-F238E27FC236}">
                <a16:creationId xmlns:a16="http://schemas.microsoft.com/office/drawing/2014/main" id="{ED46B184-CC42-418C-ABCB-C5B9797E82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40674" name="Rectangle 2">
            <a:extLst>
              <a:ext uri="{FF2B5EF4-FFF2-40B4-BE49-F238E27FC236}">
                <a16:creationId xmlns:a16="http://schemas.microsoft.com/office/drawing/2014/main" id="{7E7BDF45-79C0-4916-A734-4FE38CCEE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Ηλεκτρομαγνητικό Φάσμα</a:t>
            </a:r>
            <a:r>
              <a:rPr lang="en-US" dirty="0"/>
              <a:t> </a:t>
            </a:r>
            <a:endParaRPr lang="en-GB" dirty="0"/>
          </a:p>
        </p:txBody>
      </p:sp>
      <p:pic>
        <p:nvPicPr>
          <p:cNvPr id="96258" name="Picture 2" descr="Image result for electromagnetic spectrum">
            <a:extLst>
              <a:ext uri="{FF2B5EF4-FFF2-40B4-BE49-F238E27FC236}">
                <a16:creationId xmlns:a16="http://schemas.microsoft.com/office/drawing/2014/main" id="{52126061-8AC8-4DD8-86E2-43EEB92657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8" y="1400873"/>
            <a:ext cx="8305800" cy="444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053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3">
            <a:extLst>
              <a:ext uri="{FF2B5EF4-FFF2-40B4-BE49-F238E27FC236}">
                <a16:creationId xmlns:a16="http://schemas.microsoft.com/office/drawing/2014/main" id="{ED46B184-CC42-418C-ABCB-C5B9797E82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40674" name="Rectangle 2">
            <a:extLst>
              <a:ext uri="{FF2B5EF4-FFF2-40B4-BE49-F238E27FC236}">
                <a16:creationId xmlns:a16="http://schemas.microsoft.com/office/drawing/2014/main" id="{7E7BDF45-79C0-4916-A734-4FE38CCEE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Ηλεκτρομαγνητικό Φάσμα</a:t>
            </a:r>
            <a:r>
              <a:rPr lang="en-US" dirty="0"/>
              <a:t> </a:t>
            </a:r>
            <a:endParaRPr lang="en-GB" dirty="0"/>
          </a:p>
        </p:txBody>
      </p:sp>
      <p:pic>
        <p:nvPicPr>
          <p:cNvPr id="97282" name="Picture 2">
            <a:extLst>
              <a:ext uri="{FF2B5EF4-FFF2-40B4-BE49-F238E27FC236}">
                <a16:creationId xmlns:a16="http://schemas.microsoft.com/office/drawing/2014/main" id="{9B9D264D-F40C-44BF-918C-BCA92F7819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00" y="1350441"/>
            <a:ext cx="8424600" cy="415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5472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3">
            <a:extLst>
              <a:ext uri="{FF2B5EF4-FFF2-40B4-BE49-F238E27FC236}">
                <a16:creationId xmlns:a16="http://schemas.microsoft.com/office/drawing/2014/main" id="{ED46B184-CC42-418C-ABCB-C5B9797E82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40674" name="Rectangle 2">
            <a:extLst>
              <a:ext uri="{FF2B5EF4-FFF2-40B4-BE49-F238E27FC236}">
                <a16:creationId xmlns:a16="http://schemas.microsoft.com/office/drawing/2014/main" id="{7E7BDF45-79C0-4916-A734-4FE38CCEE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Ηλεκτρομαγνητικό Φάσμα</a:t>
            </a:r>
            <a:r>
              <a:rPr lang="en-US" dirty="0"/>
              <a:t> </a:t>
            </a:r>
            <a:endParaRPr lang="en-GB" dirty="0"/>
          </a:p>
        </p:txBody>
      </p:sp>
      <p:pic>
        <p:nvPicPr>
          <p:cNvPr id="99336" name="Picture 8" descr="Image result for rf spectrum bands">
            <a:extLst>
              <a:ext uri="{FF2B5EF4-FFF2-40B4-BE49-F238E27FC236}">
                <a16:creationId xmlns:a16="http://schemas.microsoft.com/office/drawing/2014/main" id="{8B2978D7-8265-40C0-A87E-36E315D53D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052736"/>
            <a:ext cx="7416824" cy="505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0298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3">
            <a:extLst>
              <a:ext uri="{FF2B5EF4-FFF2-40B4-BE49-F238E27FC236}">
                <a16:creationId xmlns:a16="http://schemas.microsoft.com/office/drawing/2014/main" id="{ED46B184-CC42-418C-ABCB-C5B9797E82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40674" name="Rectangle 2">
            <a:extLst>
              <a:ext uri="{FF2B5EF4-FFF2-40B4-BE49-F238E27FC236}">
                <a16:creationId xmlns:a16="http://schemas.microsoft.com/office/drawing/2014/main" id="{7E7BDF45-79C0-4916-A734-4FE38CCEE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Ηλεκτρομαγνητικό Φάσμα</a:t>
            </a:r>
            <a:r>
              <a:rPr lang="en-US" dirty="0"/>
              <a:t> 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CF7715-8C57-2B1A-C966-15010906C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38" y="1026482"/>
            <a:ext cx="8305800" cy="5192386"/>
          </a:xfrm>
        </p:spPr>
      </p:pic>
    </p:spTree>
    <p:extLst>
      <p:ext uri="{BB962C8B-B14F-4D97-AF65-F5344CB8AC3E}">
        <p14:creationId xmlns:p14="http://schemas.microsoft.com/office/powerpoint/2010/main" val="2463745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3">
            <a:extLst>
              <a:ext uri="{FF2B5EF4-FFF2-40B4-BE49-F238E27FC236}">
                <a16:creationId xmlns:a16="http://schemas.microsoft.com/office/drawing/2014/main" id="{ED46B184-CC42-418C-ABCB-C5B9797E82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40674" name="Rectangle 2">
            <a:extLst>
              <a:ext uri="{FF2B5EF4-FFF2-40B4-BE49-F238E27FC236}">
                <a16:creationId xmlns:a16="http://schemas.microsoft.com/office/drawing/2014/main" id="{7E7BDF45-79C0-4916-A734-4FE38CCEE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Ανάθεση συχνοτήτων</a:t>
            </a: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C56B8DA-522F-6618-1D8C-D575D5B12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6613"/>
            <a:ext cx="9036050" cy="5715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kern="0" dirty="0">
                <a:solidFill>
                  <a:srgbClr val="0033CC"/>
                </a:solidFill>
              </a:rPr>
              <a:t>VLF (3-30kHz)</a:t>
            </a:r>
            <a:endParaRPr lang="el-GR" kern="0" dirty="0">
              <a:solidFill>
                <a:srgbClr val="0033CC"/>
              </a:solidFill>
            </a:endParaRPr>
          </a:p>
          <a:p>
            <a:pPr lvl="1" eaLnBrk="1" hangingPunct="1">
              <a:defRPr/>
            </a:pPr>
            <a:r>
              <a:rPr lang="el-GR" kern="0" dirty="0"/>
              <a:t>Υποβρύχιες επικοινωνίες</a:t>
            </a:r>
            <a:endParaRPr lang="en-US" i="1" kern="0" dirty="0"/>
          </a:p>
          <a:p>
            <a:pPr eaLnBrk="1" hangingPunct="1">
              <a:defRPr/>
            </a:pPr>
            <a:r>
              <a:rPr lang="en-US" kern="0" dirty="0">
                <a:solidFill>
                  <a:srgbClr val="0033CC"/>
                </a:solidFill>
              </a:rPr>
              <a:t>LF (30-300kHz)</a:t>
            </a:r>
            <a:endParaRPr lang="el-GR" kern="0" dirty="0">
              <a:solidFill>
                <a:srgbClr val="00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kern="0" dirty="0">
                <a:solidFill>
                  <a:srgbClr val="0033CC"/>
                </a:solidFill>
              </a:rPr>
              <a:t>     </a:t>
            </a:r>
            <a:r>
              <a:rPr lang="el-GR" kern="0" dirty="0"/>
              <a:t>- Ναυτιλιακή πλοήγηση, </a:t>
            </a:r>
            <a:r>
              <a:rPr lang="en-US" kern="0" dirty="0"/>
              <a:t>AM </a:t>
            </a:r>
            <a:r>
              <a:rPr lang="el-GR" kern="0" dirty="0"/>
              <a:t>ραδιοφωνία στην Ευρώπη</a:t>
            </a:r>
            <a:endParaRPr lang="en-US" kern="0" dirty="0">
              <a:solidFill>
                <a:srgbClr val="0033CC"/>
              </a:solidFill>
            </a:endParaRPr>
          </a:p>
          <a:p>
            <a:pPr eaLnBrk="1" hangingPunct="1">
              <a:defRPr/>
            </a:pPr>
            <a:r>
              <a:rPr lang="en-US" kern="0" dirty="0">
                <a:solidFill>
                  <a:srgbClr val="0033CC"/>
                </a:solidFill>
              </a:rPr>
              <a:t>MF (30-300 kHz)</a:t>
            </a:r>
            <a:endParaRPr lang="el-GR" kern="0" dirty="0">
              <a:solidFill>
                <a:srgbClr val="0033CC"/>
              </a:solidFill>
            </a:endParaRPr>
          </a:p>
          <a:p>
            <a:pPr lvl="1" eaLnBrk="1" hangingPunct="1">
              <a:defRPr/>
            </a:pPr>
            <a:r>
              <a:rPr lang="en-US" kern="0" dirty="0"/>
              <a:t>A</a:t>
            </a:r>
            <a:r>
              <a:rPr lang="el-GR" kern="0" dirty="0" err="1"/>
              <a:t>εροναυτιλιακή</a:t>
            </a:r>
            <a:r>
              <a:rPr lang="el-GR" kern="0" dirty="0"/>
              <a:t> πλοήγηση, ΑΜ </a:t>
            </a:r>
            <a:r>
              <a:rPr lang="el-GR" kern="0" dirty="0" err="1"/>
              <a:t>μεταδόση</a:t>
            </a:r>
            <a:r>
              <a:rPr lang="el-GR" kern="0" dirty="0"/>
              <a:t> </a:t>
            </a:r>
            <a:endParaRPr lang="en-US" kern="0" dirty="0"/>
          </a:p>
          <a:p>
            <a:pPr eaLnBrk="1" hangingPunct="1">
              <a:spcBef>
                <a:spcPct val="40000"/>
              </a:spcBef>
              <a:defRPr/>
            </a:pPr>
            <a:r>
              <a:rPr lang="en-US" kern="0" dirty="0">
                <a:solidFill>
                  <a:srgbClr val="0033CC"/>
                </a:solidFill>
              </a:rPr>
              <a:t>HF (3-30</a:t>
            </a:r>
            <a:r>
              <a:rPr lang="el-GR" kern="0" dirty="0">
                <a:solidFill>
                  <a:srgbClr val="0033CC"/>
                </a:solidFill>
              </a:rPr>
              <a:t> </a:t>
            </a:r>
            <a:r>
              <a:rPr lang="en-US" kern="0" dirty="0">
                <a:solidFill>
                  <a:srgbClr val="0033CC"/>
                </a:solidFill>
              </a:rPr>
              <a:t>MHz)</a:t>
            </a:r>
            <a:r>
              <a:rPr lang="el-GR" kern="0" dirty="0"/>
              <a:t> </a:t>
            </a:r>
            <a:endParaRPr lang="en-US" kern="0" dirty="0"/>
          </a:p>
          <a:p>
            <a:pPr lvl="1" eaLnBrk="1" hangingPunct="1">
              <a:defRPr/>
            </a:pPr>
            <a:r>
              <a:rPr lang="el-GR" kern="0" dirty="0"/>
              <a:t>Πειραματική ραδιοφωνία, ναυτιλία, στρατός, διηπειρωτική επικοινωνία</a:t>
            </a:r>
            <a:endParaRPr lang="en-US" kern="0" dirty="0"/>
          </a:p>
          <a:p>
            <a:pPr eaLnBrk="1" hangingPunct="1">
              <a:spcBef>
                <a:spcPct val="40000"/>
              </a:spcBef>
              <a:defRPr/>
            </a:pPr>
            <a:r>
              <a:rPr lang="en-US" kern="0" dirty="0">
                <a:solidFill>
                  <a:srgbClr val="0033CC"/>
                </a:solidFill>
              </a:rPr>
              <a:t>VHF (30-300</a:t>
            </a:r>
            <a:r>
              <a:rPr lang="el-GR" kern="0" dirty="0">
                <a:solidFill>
                  <a:srgbClr val="0033CC"/>
                </a:solidFill>
              </a:rPr>
              <a:t> </a:t>
            </a:r>
            <a:r>
              <a:rPr lang="en-US" kern="0" dirty="0">
                <a:solidFill>
                  <a:srgbClr val="0033CC"/>
                </a:solidFill>
              </a:rPr>
              <a:t>MHz)</a:t>
            </a:r>
            <a:r>
              <a:rPr lang="el-GR" kern="0" dirty="0"/>
              <a:t> </a:t>
            </a:r>
            <a:endParaRPr lang="en-US" kern="0" dirty="0"/>
          </a:p>
          <a:p>
            <a:pPr lvl="1" eaLnBrk="1" hangingPunct="1">
              <a:defRPr/>
            </a:pPr>
            <a:r>
              <a:rPr lang="el-GR" kern="0" dirty="0"/>
              <a:t>Τηλεόραση, </a:t>
            </a:r>
            <a:r>
              <a:rPr lang="en-US" kern="0" dirty="0"/>
              <a:t>FM </a:t>
            </a:r>
            <a:r>
              <a:rPr lang="el-GR" kern="0" dirty="0"/>
              <a:t>ραδιοφωνία, έλεγχος εναέριας κυκλοφορίας</a:t>
            </a:r>
            <a:endParaRPr lang="en-US" kern="0" dirty="0"/>
          </a:p>
          <a:p>
            <a:pPr eaLnBrk="1" hangingPunct="1">
              <a:spcBef>
                <a:spcPct val="40000"/>
              </a:spcBef>
              <a:defRPr/>
            </a:pPr>
            <a:r>
              <a:rPr lang="en-US" kern="0" dirty="0">
                <a:solidFill>
                  <a:srgbClr val="0033CC"/>
                </a:solidFill>
              </a:rPr>
              <a:t>UHF (300-3000</a:t>
            </a:r>
            <a:r>
              <a:rPr lang="el-GR" kern="0" dirty="0">
                <a:solidFill>
                  <a:srgbClr val="0033CC"/>
                </a:solidFill>
              </a:rPr>
              <a:t> </a:t>
            </a:r>
            <a:r>
              <a:rPr lang="en-US" kern="0" dirty="0">
                <a:solidFill>
                  <a:srgbClr val="0033CC"/>
                </a:solidFill>
              </a:rPr>
              <a:t>MHz)</a:t>
            </a:r>
            <a:r>
              <a:rPr lang="el-GR" kern="0" dirty="0"/>
              <a:t> </a:t>
            </a:r>
            <a:endParaRPr lang="en-US" kern="0" dirty="0"/>
          </a:p>
          <a:p>
            <a:pPr lvl="1" eaLnBrk="1" hangingPunct="1">
              <a:defRPr/>
            </a:pPr>
            <a:r>
              <a:rPr lang="el-GR" kern="0" dirty="0" err="1"/>
              <a:t>Κυψελωτές</a:t>
            </a:r>
            <a:r>
              <a:rPr lang="el-GR" kern="0" dirty="0"/>
              <a:t> και κρατικές επικοινωνίες</a:t>
            </a:r>
          </a:p>
          <a:p>
            <a:pPr eaLnBrk="1" hangingPunct="1">
              <a:spcBef>
                <a:spcPct val="40000"/>
              </a:spcBef>
              <a:defRPr/>
            </a:pPr>
            <a:r>
              <a:rPr lang="en-US" kern="0" dirty="0">
                <a:solidFill>
                  <a:srgbClr val="0033CC"/>
                </a:solidFill>
              </a:rPr>
              <a:t>SHF &amp; EHF(3-30</a:t>
            </a:r>
            <a:r>
              <a:rPr lang="el-GR" kern="0" dirty="0">
                <a:solidFill>
                  <a:srgbClr val="0033CC"/>
                </a:solidFill>
              </a:rPr>
              <a:t> </a:t>
            </a:r>
            <a:r>
              <a:rPr lang="en-US" kern="0" dirty="0">
                <a:solidFill>
                  <a:srgbClr val="0033CC"/>
                </a:solidFill>
              </a:rPr>
              <a:t>GHz &amp; 30-300GHz)</a:t>
            </a:r>
            <a:r>
              <a:rPr lang="el-GR" kern="0" dirty="0"/>
              <a:t> </a:t>
            </a:r>
            <a:endParaRPr lang="en-US" kern="0" dirty="0"/>
          </a:p>
          <a:p>
            <a:pPr lvl="1" eaLnBrk="1" hangingPunct="1">
              <a:defRPr/>
            </a:pPr>
            <a:r>
              <a:rPr lang="el-GR" kern="0" dirty="0"/>
              <a:t>Ραντάρ, δορυφορικές επικοινωνίες, </a:t>
            </a:r>
            <a:r>
              <a:rPr lang="en-US" kern="0" dirty="0"/>
              <a:t>Wi-Fi, </a:t>
            </a:r>
            <a:r>
              <a:rPr lang="el-GR" kern="0" dirty="0" err="1"/>
              <a:t>μικροκυματικές</a:t>
            </a:r>
            <a:r>
              <a:rPr lang="el-GR" kern="0" dirty="0"/>
              <a:t>, </a:t>
            </a:r>
            <a:r>
              <a:rPr lang="en-US" kern="0" dirty="0"/>
              <a:t>5G</a:t>
            </a:r>
          </a:p>
          <a:p>
            <a:pPr lvl="1" eaLnBrk="1" hangingPunct="1">
              <a:defRPr/>
            </a:pPr>
            <a:endParaRPr lang="en-US" kern="0" dirty="0"/>
          </a:p>
          <a:p>
            <a:pPr lvl="1" eaLnBrk="1" hangingPunct="1">
              <a:defRPr/>
            </a:pPr>
            <a:endParaRPr lang="en-US" kern="0" dirty="0"/>
          </a:p>
          <a:p>
            <a:pPr marL="0" indent="0" eaLnBrk="1" hangingPunct="1">
              <a:spcBef>
                <a:spcPct val="40000"/>
              </a:spcBef>
              <a:buNone/>
              <a:defRPr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8247529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Συχνότητες για Ασύρματα Κανάλια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5" name="Picture 6" descr="fig1_4">
            <a:extLst>
              <a:ext uri="{FF2B5EF4-FFF2-40B4-BE49-F238E27FC236}">
                <a16:creationId xmlns:a16="http://schemas.microsoft.com/office/drawing/2014/main" id="{ADFEB005-1A78-4DF4-92C6-C40353454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288" y="901763"/>
            <a:ext cx="4897024" cy="5472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>
            <a:extLst>
              <a:ext uri="{FF2B5EF4-FFF2-40B4-BE49-F238E27FC236}">
                <a16:creationId xmlns:a16="http://schemas.microsoft.com/office/drawing/2014/main" id="{E48FF5DA-8947-4CD9-A80F-30822BF18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" y="1766888"/>
            <a:ext cx="3168650" cy="400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dirty="0" err="1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Friis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free space equation</a:t>
            </a:r>
            <a:endParaRPr lang="en-US" dirty="0">
              <a:solidFill>
                <a:srgbClr val="0070C0"/>
              </a:solidFill>
              <a:latin typeface="Times New Roman" pitchFamily="18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0C9EA3C-41BB-4EA3-9629-AD3209867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21113"/>
            <a:ext cx="2678113" cy="29238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defRPr/>
            </a:pPr>
            <a:r>
              <a:rPr lang="el-GR" sz="16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Υποθέτουμε:</a:t>
            </a:r>
          </a:p>
          <a:p>
            <a:pPr marL="342900" indent="-342900">
              <a:spcBef>
                <a:spcPct val="50000"/>
              </a:spcBef>
              <a:buClr>
                <a:schemeClr val="tx2"/>
              </a:buClr>
              <a:buSzPct val="75000"/>
              <a:buFontTx/>
              <a:buChar char="-"/>
              <a:defRPr/>
            </a:pPr>
            <a:r>
              <a:rPr 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 &gt;&gt; </a:t>
            </a:r>
            <a:r>
              <a:rPr lang="el-GR" sz="16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λ</a:t>
            </a:r>
            <a:r>
              <a:rPr 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(far field)</a:t>
            </a:r>
            <a:endParaRPr lang="el-GR" sz="1600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>
              <a:spcBef>
                <a:spcPct val="50000"/>
              </a:spcBef>
              <a:buClr>
                <a:schemeClr val="tx2"/>
              </a:buClr>
              <a:buSzPct val="75000"/>
              <a:buFontTx/>
              <a:buChar char="-"/>
              <a:defRPr/>
            </a:pPr>
            <a:r>
              <a:rPr 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Free space</a:t>
            </a:r>
          </a:p>
          <a:p>
            <a:pPr marL="342900" indent="-342900">
              <a:spcBef>
                <a:spcPct val="50000"/>
              </a:spcBef>
              <a:buClr>
                <a:schemeClr val="tx2"/>
              </a:buClr>
              <a:buSzPct val="75000"/>
              <a:buFontTx/>
              <a:buChar char="-"/>
              <a:defRPr/>
            </a:pPr>
            <a:r>
              <a:rPr lang="el-GR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Κεραίες </a:t>
            </a:r>
            <a:r>
              <a:rPr 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TX </a:t>
            </a:r>
            <a:r>
              <a:rPr lang="el-GR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και </a:t>
            </a:r>
            <a:r>
              <a:rPr 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RX</a:t>
            </a:r>
            <a:r>
              <a:rPr lang="el-GR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με ίδια πόλωση</a:t>
            </a:r>
            <a:endParaRPr lang="en-US" sz="16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marL="342900" indent="-342900">
              <a:spcBef>
                <a:spcPct val="50000"/>
              </a:spcBef>
              <a:buClr>
                <a:schemeClr val="tx2"/>
              </a:buClr>
              <a:buSzPct val="75000"/>
              <a:buFontTx/>
              <a:buChar char="-"/>
              <a:defRPr/>
            </a:pPr>
            <a:r>
              <a:rPr 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G</a:t>
            </a:r>
            <a:r>
              <a:rPr lang="en-US" sz="1600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t , </a:t>
            </a:r>
            <a:r>
              <a:rPr 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G</a:t>
            </a:r>
            <a:r>
              <a:rPr lang="en-US" sz="1600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r   </a:t>
            </a:r>
            <a:r>
              <a:rPr 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:  </a:t>
            </a:r>
            <a:r>
              <a:rPr lang="el-GR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Εξαρτώνται από λ και Α (επιφάνεια κεραίας)</a:t>
            </a:r>
            <a:endParaRPr lang="en-US" sz="16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marL="342900" indent="-342900">
              <a:spcBef>
                <a:spcPct val="50000"/>
              </a:spcBef>
              <a:buClr>
                <a:schemeClr val="tx2"/>
              </a:buClr>
              <a:buSzPct val="75000"/>
              <a:buFontTx/>
              <a:buChar char="-"/>
              <a:defRPr/>
            </a:pPr>
            <a:endParaRPr lang="en-US" sz="16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5403" y="2647353"/>
                <a:ext cx="2061077" cy="6610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l-GR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03" y="2647353"/>
                <a:ext cx="2061077" cy="6610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1079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3987F7C2-DF7E-4E88-B565-9DFFC99191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29410" name="Rectangle 2">
            <a:extLst>
              <a:ext uri="{FF2B5EF4-FFF2-40B4-BE49-F238E27FC236}">
                <a16:creationId xmlns:a16="http://schemas.microsoft.com/office/drawing/2014/main" id="{BFE43EB7-335D-4448-9A4A-10FBC4E56C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Τρόποι Διάδοσης</a:t>
            </a:r>
            <a:r>
              <a:rPr lang="en-US"/>
              <a:t>  (1/</a:t>
            </a:r>
            <a:r>
              <a:rPr lang="el-GR"/>
              <a:t>4</a:t>
            </a:r>
            <a:r>
              <a:rPr lang="en-US"/>
              <a:t>)</a:t>
            </a:r>
            <a:endParaRPr lang="en-GB"/>
          </a:p>
        </p:txBody>
      </p:sp>
      <p:sp>
        <p:nvSpPr>
          <p:cNvPr id="529411" name="Rectangle 3">
            <a:extLst>
              <a:ext uri="{FF2B5EF4-FFF2-40B4-BE49-F238E27FC236}">
                <a16:creationId xmlns:a16="http://schemas.microsoft.com/office/drawing/2014/main" id="{8DC8C79E-C901-4E0A-9371-D4E5BD714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785813"/>
            <a:ext cx="8640763" cy="5543550"/>
          </a:xfrm>
        </p:spPr>
        <p:txBody>
          <a:bodyPr/>
          <a:lstStyle/>
          <a:p>
            <a:pPr eaLnBrk="1" hangingPunct="1">
              <a:defRPr/>
            </a:pPr>
            <a:r>
              <a:rPr lang="el-GR" u="sng" dirty="0" err="1"/>
              <a:t>Κυματοδήγηση</a:t>
            </a:r>
            <a:r>
              <a:rPr lang="el-GR" dirty="0"/>
              <a:t> μεταξύ εδάφους – ιονόσφαιρας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-  </a:t>
            </a:r>
            <a:r>
              <a:rPr lang="en-US" dirty="0">
                <a:solidFill>
                  <a:srgbClr val="0033CC"/>
                </a:solidFill>
              </a:rPr>
              <a:t>3KHz – 30KHz</a:t>
            </a:r>
            <a:r>
              <a:rPr lang="el-GR" dirty="0">
                <a:solidFill>
                  <a:srgbClr val="0033CC"/>
                </a:solidFill>
              </a:rPr>
              <a:t> </a:t>
            </a:r>
            <a:r>
              <a:rPr lang="el-GR" dirty="0"/>
              <a:t>(μήκος κύματος ~ Ο(10</a:t>
            </a:r>
            <a:r>
              <a:rPr lang="en-US" dirty="0"/>
              <a:t>Km)</a:t>
            </a:r>
            <a:r>
              <a:rPr lang="el-GR" dirty="0"/>
              <a:t> 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-  διάδοση σε πολύ μεγάλες αποστάσεις</a:t>
            </a:r>
            <a:r>
              <a:rPr lang="en-US" dirty="0"/>
              <a:t> (</a:t>
            </a:r>
            <a:r>
              <a:rPr lang="el-GR" dirty="0"/>
              <a:t>γύρω από τη Γη!)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</a:t>
            </a:r>
            <a:r>
              <a:rPr lang="en-US" dirty="0"/>
              <a:t>-  </a:t>
            </a:r>
            <a:r>
              <a:rPr lang="el-GR" dirty="0"/>
              <a:t>πολύ χαμηλές ταχύτητες μετάδοσης πληροφορίας</a:t>
            </a:r>
          </a:p>
          <a:p>
            <a:pPr eaLnBrk="1" hangingPunct="1"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 -  απαιτούνται τεράστιες κεραίες (γενικά, η κεραία πρέπει να έχει διαστάσεις τουλάχιστον το 1/10 του λ</a:t>
            </a:r>
            <a:r>
              <a:rPr lang="en-US" dirty="0"/>
              <a:t>)</a:t>
            </a:r>
            <a:endParaRPr lang="el-GR" dirty="0"/>
          </a:p>
          <a:p>
            <a:pPr eaLnBrk="1" hangingPunct="1">
              <a:defRPr/>
            </a:pPr>
            <a:r>
              <a:rPr lang="el-GR" u="sng" dirty="0"/>
              <a:t>Εδαφικό κύμα </a:t>
            </a:r>
            <a:r>
              <a:rPr lang="el-GR" dirty="0"/>
              <a:t>(</a:t>
            </a:r>
            <a:r>
              <a:rPr lang="en-US" dirty="0"/>
              <a:t>Ground wave, Surface wave</a:t>
            </a:r>
            <a:r>
              <a:rPr lang="el-GR" dirty="0"/>
              <a:t>) (</a:t>
            </a:r>
            <a:r>
              <a:rPr lang="en-US" dirty="0"/>
              <a:t>AM radio)</a:t>
            </a: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-  Όσο μεγαλύτερη η αγωγιμότητα του εδάφους τόσο μεγαλύτερη απόσταση διανύει 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-  </a:t>
            </a:r>
            <a:r>
              <a:rPr lang="en-US" dirty="0">
                <a:solidFill>
                  <a:srgbClr val="0033CC"/>
                </a:solidFill>
              </a:rPr>
              <a:t>30KHz – </a:t>
            </a:r>
            <a:r>
              <a:rPr lang="el-GR" dirty="0">
                <a:solidFill>
                  <a:srgbClr val="0033CC"/>
                </a:solidFill>
              </a:rPr>
              <a:t>3Μ</a:t>
            </a:r>
            <a:r>
              <a:rPr lang="en-US" dirty="0">
                <a:solidFill>
                  <a:srgbClr val="0033CC"/>
                </a:solidFill>
              </a:rPr>
              <a:t>Hz</a:t>
            </a:r>
            <a:r>
              <a:rPr lang="el-GR" dirty="0">
                <a:solidFill>
                  <a:srgbClr val="0033CC"/>
                </a:solidFill>
              </a:rPr>
              <a:t> </a:t>
            </a:r>
            <a:r>
              <a:rPr lang="el-GR" dirty="0"/>
              <a:t>(μήκος κύματος ~ Ο(100</a:t>
            </a:r>
            <a:r>
              <a:rPr lang="en-US" dirty="0"/>
              <a:t>m) )</a:t>
            </a:r>
            <a:endParaRPr lang="el-GR" dirty="0"/>
          </a:p>
          <a:p>
            <a:pPr eaLnBrk="1" hangingPunct="1">
              <a:spcAft>
                <a:spcPct val="300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 -  Απόσταση ~ 100</a:t>
            </a:r>
            <a:r>
              <a:rPr lang="en-US" dirty="0"/>
              <a:t>-200 Km</a:t>
            </a:r>
            <a:endParaRPr lang="el-GR" dirty="0"/>
          </a:p>
          <a:p>
            <a:pPr eaLnBrk="1" hangingPunct="1">
              <a:defRPr/>
            </a:pPr>
            <a:r>
              <a:rPr lang="el-GR" u="sng" dirty="0"/>
              <a:t>Κύμα χώρου  </a:t>
            </a:r>
            <a:r>
              <a:rPr lang="el-GR" dirty="0"/>
              <a:t>(</a:t>
            </a:r>
            <a:r>
              <a:rPr lang="en-US" dirty="0"/>
              <a:t>Sky wave</a:t>
            </a:r>
            <a:r>
              <a:rPr lang="el-GR" dirty="0"/>
              <a:t>)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    </a:t>
            </a:r>
            <a:r>
              <a:rPr lang="el-GR" dirty="0"/>
              <a:t>-  Διάδοση με ανάκλαση στην ιονόσφαιρα (σε ύψος 50-500Κ</a:t>
            </a:r>
            <a:r>
              <a:rPr lang="en-US" dirty="0"/>
              <a:t>m)</a:t>
            </a: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   </a:t>
            </a:r>
            <a:r>
              <a:rPr lang="el-GR" dirty="0"/>
              <a:t> -  </a:t>
            </a:r>
            <a:r>
              <a:rPr lang="el-GR" dirty="0">
                <a:solidFill>
                  <a:srgbClr val="0033CC"/>
                </a:solidFill>
              </a:rPr>
              <a:t>3Μ</a:t>
            </a:r>
            <a:r>
              <a:rPr lang="en-US" dirty="0">
                <a:solidFill>
                  <a:srgbClr val="0033CC"/>
                </a:solidFill>
              </a:rPr>
              <a:t>Hz – </a:t>
            </a:r>
            <a:r>
              <a:rPr lang="el-GR" dirty="0">
                <a:solidFill>
                  <a:srgbClr val="0033CC"/>
                </a:solidFill>
              </a:rPr>
              <a:t>3</a:t>
            </a:r>
            <a:r>
              <a:rPr lang="en-US" dirty="0">
                <a:solidFill>
                  <a:srgbClr val="0033CC"/>
                </a:solidFill>
              </a:rPr>
              <a:t>0</a:t>
            </a:r>
            <a:r>
              <a:rPr lang="el-GR" dirty="0">
                <a:solidFill>
                  <a:srgbClr val="0033CC"/>
                </a:solidFill>
              </a:rPr>
              <a:t>Μ</a:t>
            </a:r>
            <a:r>
              <a:rPr lang="en-US" dirty="0">
                <a:solidFill>
                  <a:srgbClr val="0033CC"/>
                </a:solidFill>
              </a:rPr>
              <a:t>Hz </a:t>
            </a:r>
            <a:r>
              <a:rPr lang="el-GR" dirty="0"/>
              <a:t>(μήκος κύματος ~ Ο(10</a:t>
            </a:r>
            <a:r>
              <a:rPr lang="en-US" dirty="0"/>
              <a:t>m) )</a:t>
            </a: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-  Απόσταση έως 500 </a:t>
            </a:r>
            <a:r>
              <a:rPr lang="en-US" dirty="0"/>
              <a:t>Km</a:t>
            </a:r>
            <a:r>
              <a:rPr lang="el-GR" dirty="0"/>
              <a:t>  (καλύτερες συνθήκες τη νύχτα)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3">
            <a:extLst>
              <a:ext uri="{FF2B5EF4-FFF2-40B4-BE49-F238E27FC236}">
                <a16:creationId xmlns:a16="http://schemas.microsoft.com/office/drawing/2014/main" id="{52767C8F-E178-4FBF-A646-9E825AE2AC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41698" name="Rectangle 2">
            <a:extLst>
              <a:ext uri="{FF2B5EF4-FFF2-40B4-BE49-F238E27FC236}">
                <a16:creationId xmlns:a16="http://schemas.microsoft.com/office/drawing/2014/main" id="{E9B5ED6E-FAB9-4030-9880-6C2D2A945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Τρόποι Διάδοσης</a:t>
            </a:r>
            <a:r>
              <a:rPr lang="en-US" dirty="0"/>
              <a:t> (2/</a:t>
            </a:r>
            <a:r>
              <a:rPr lang="el-GR" dirty="0"/>
              <a:t>4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541699" name="Rectangle 3">
            <a:extLst>
              <a:ext uri="{FF2B5EF4-FFF2-40B4-BE49-F238E27FC236}">
                <a16:creationId xmlns:a16="http://schemas.microsoft.com/office/drawing/2014/main" id="{3CE3C30A-1A4C-42AF-A3EF-8185F9BD6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936625"/>
            <a:ext cx="3306762" cy="5543550"/>
          </a:xfrm>
        </p:spPr>
        <p:txBody>
          <a:bodyPr/>
          <a:lstStyle/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Διάδοση εδαφικού κύματος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 err="1"/>
              <a:t>Κυματοδήγηση</a:t>
            </a:r>
            <a:endParaRPr lang="el-GR" dirty="0"/>
          </a:p>
          <a:p>
            <a:pPr marL="0" indent="0" eaLnBrk="1" hangingPunct="1">
              <a:buNone/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GB" dirty="0"/>
          </a:p>
        </p:txBody>
      </p:sp>
      <p:pic>
        <p:nvPicPr>
          <p:cNvPr id="68613" name="Picture 4" descr="fig1_5">
            <a:extLst>
              <a:ext uri="{FF2B5EF4-FFF2-40B4-BE49-F238E27FC236}">
                <a16:creationId xmlns:a16="http://schemas.microsoft.com/office/drawing/2014/main" id="{9A0AAFA8-FAB8-44D7-8CF0-CA9DA69EA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936625"/>
            <a:ext cx="45466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Picture 5" descr="fig1_6">
            <a:extLst>
              <a:ext uri="{FF2B5EF4-FFF2-40B4-BE49-F238E27FC236}">
                <a16:creationId xmlns:a16="http://schemas.microsoft.com/office/drawing/2014/main" id="{480327FC-75AC-4765-B170-E834B525C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417491"/>
            <a:ext cx="5724525" cy="275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3">
            <a:extLst>
              <a:ext uri="{FF2B5EF4-FFF2-40B4-BE49-F238E27FC236}">
                <a16:creationId xmlns:a16="http://schemas.microsoft.com/office/drawing/2014/main" id="{6844E063-EE8F-4025-A182-60DBE9C8B2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42722" name="Rectangle 2">
            <a:extLst>
              <a:ext uri="{FF2B5EF4-FFF2-40B4-BE49-F238E27FC236}">
                <a16:creationId xmlns:a16="http://schemas.microsoft.com/office/drawing/2014/main" id="{1CEA8664-F551-48E7-8BC7-76AA8CB9A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Τρόποι Διάδοσης</a:t>
            </a:r>
            <a:r>
              <a:rPr lang="en-US" dirty="0"/>
              <a:t> (3/</a:t>
            </a:r>
            <a:r>
              <a:rPr lang="el-GR" dirty="0"/>
              <a:t>4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542723" name="Rectangle 3">
            <a:extLst>
              <a:ext uri="{FF2B5EF4-FFF2-40B4-BE49-F238E27FC236}">
                <a16:creationId xmlns:a16="http://schemas.microsoft.com/office/drawing/2014/main" id="{0F49D751-78AB-47F9-A92B-8C1B62348F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908050"/>
            <a:ext cx="8640763" cy="55435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l-GR" u="sng" dirty="0"/>
              <a:t>Τροποσφαιρική διάδοση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 -  σκέδαση</a:t>
            </a:r>
            <a:r>
              <a:rPr lang="en-US" dirty="0"/>
              <a:t> (scattering) </a:t>
            </a:r>
            <a:r>
              <a:rPr lang="el-GR" dirty="0"/>
              <a:t>στις μεγάλες συγκεντρώσεις σωματιδίων της τροπόσφαιρας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 -  </a:t>
            </a:r>
            <a:r>
              <a:rPr lang="el-GR" dirty="0">
                <a:solidFill>
                  <a:srgbClr val="0033CC"/>
                </a:solidFill>
              </a:rPr>
              <a:t>30Μ</a:t>
            </a:r>
            <a:r>
              <a:rPr lang="en-US" dirty="0">
                <a:solidFill>
                  <a:srgbClr val="0033CC"/>
                </a:solidFill>
              </a:rPr>
              <a:t>Hz – 300</a:t>
            </a:r>
            <a:r>
              <a:rPr lang="el-GR" dirty="0">
                <a:solidFill>
                  <a:srgbClr val="0033CC"/>
                </a:solidFill>
              </a:rPr>
              <a:t>Μ</a:t>
            </a:r>
            <a:r>
              <a:rPr lang="en-US" dirty="0">
                <a:solidFill>
                  <a:srgbClr val="0033CC"/>
                </a:solidFill>
              </a:rPr>
              <a:t>Hz </a:t>
            </a:r>
            <a:r>
              <a:rPr lang="el-GR" dirty="0"/>
              <a:t>(μήκος κύματος ~ Ο(1</a:t>
            </a:r>
            <a:r>
              <a:rPr lang="en-US" dirty="0"/>
              <a:t>m) )</a:t>
            </a:r>
            <a:endParaRPr lang="el-GR" dirty="0"/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l-GR" u="sng" dirty="0"/>
              <a:t>Διάδοση οπτικής επαφής </a:t>
            </a:r>
            <a:r>
              <a:rPr lang="el-GR" dirty="0"/>
              <a:t>(</a:t>
            </a:r>
            <a:r>
              <a:rPr lang="en-US" dirty="0"/>
              <a:t>Line-of-Sight, LOS)</a:t>
            </a:r>
            <a:r>
              <a:rPr lang="el-GR" dirty="0"/>
              <a:t>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 -  Ο κύριος τρόπος διάδοσης στη μικροκυματική περιοχή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 -  Η κάλυψη περιορίζεται (πλην των εμποδίων) και από την καμπυλότητα της Γής. 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 -  Ακτίνα κάλυψης:  </a:t>
            </a:r>
            <a:r>
              <a:rPr lang="en-US" dirty="0"/>
              <a:t>d(Km)=5 sqrt(h(m)),  h(m): </a:t>
            </a:r>
            <a:r>
              <a:rPr lang="el-GR" altLang="el-GR" dirty="0"/>
              <a:t>ύψος κεραίας  σε μέτρα</a:t>
            </a:r>
            <a:endParaRPr lang="en-US" dirty="0"/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    </a:t>
            </a:r>
            <a:endParaRPr lang="el-GR" dirty="0"/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l-GR" dirty="0"/>
              <a:t>Διάδοση μέσω μετεωριτών (</a:t>
            </a:r>
            <a:r>
              <a:rPr lang="en-US" dirty="0"/>
              <a:t>Meteor burst communications</a:t>
            </a:r>
            <a:r>
              <a:rPr lang="el-GR" dirty="0"/>
              <a:t>)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    </a:t>
            </a:r>
            <a:r>
              <a:rPr lang="el-GR" dirty="0"/>
              <a:t>-  </a:t>
            </a:r>
            <a:r>
              <a:rPr lang="en-US" dirty="0"/>
              <a:t>H </a:t>
            </a:r>
            <a:r>
              <a:rPr lang="el-GR" dirty="0"/>
              <a:t>διάδοση επιτυγχάνεται με ανάκλαση σε περιοχές που ιονίζονται λόγω διέλευσης μετεωριτών (σε ύψος 80-120</a:t>
            </a:r>
            <a:r>
              <a:rPr lang="en-US" dirty="0"/>
              <a:t>Km</a:t>
            </a:r>
            <a:r>
              <a:rPr lang="el-GR" dirty="0"/>
              <a:t>) 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l-GR" dirty="0"/>
              <a:t>    -  20Μ</a:t>
            </a:r>
            <a:r>
              <a:rPr lang="en-US" dirty="0"/>
              <a:t>Hz – </a:t>
            </a:r>
            <a:r>
              <a:rPr lang="el-GR" dirty="0"/>
              <a:t>5</a:t>
            </a:r>
            <a:r>
              <a:rPr lang="en-US" dirty="0"/>
              <a:t>00</a:t>
            </a:r>
            <a:r>
              <a:rPr lang="el-GR" dirty="0"/>
              <a:t>Μ</a:t>
            </a:r>
            <a:r>
              <a:rPr lang="en-US" dirty="0"/>
              <a:t>Hz</a:t>
            </a:r>
            <a:r>
              <a:rPr lang="el-GR" dirty="0"/>
              <a:t>  (</a:t>
            </a:r>
            <a:r>
              <a:rPr lang="en-US" dirty="0"/>
              <a:t>data sent in bursts)</a:t>
            </a:r>
            <a:endParaRPr lang="el-GR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l-GR" dirty="0"/>
              <a:t>    -  τηλεμετρικές εφαρμογές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lnSpc>
                <a:spcPct val="90000"/>
              </a:lnSpc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3">
            <a:extLst>
              <a:ext uri="{FF2B5EF4-FFF2-40B4-BE49-F238E27FC236}">
                <a16:creationId xmlns:a16="http://schemas.microsoft.com/office/drawing/2014/main" id="{7E76E44C-3B2A-40E2-A5D5-4379878B1D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44770" name="Rectangle 2">
            <a:extLst>
              <a:ext uri="{FF2B5EF4-FFF2-40B4-BE49-F238E27FC236}">
                <a16:creationId xmlns:a16="http://schemas.microsoft.com/office/drawing/2014/main" id="{FA7C60DD-2106-4E96-9512-212CD9496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Τρόποι Διάδοσης</a:t>
            </a:r>
            <a:r>
              <a:rPr lang="en-US" dirty="0"/>
              <a:t> (4/</a:t>
            </a:r>
            <a:r>
              <a:rPr lang="el-GR" dirty="0"/>
              <a:t>4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544771" name="Rectangle 3">
            <a:extLst>
              <a:ext uri="{FF2B5EF4-FFF2-40B4-BE49-F238E27FC236}">
                <a16:creationId xmlns:a16="http://schemas.microsoft.com/office/drawing/2014/main" id="{C18B0ADA-682E-4E0D-A66D-63C87CD18C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908050"/>
            <a:ext cx="8496300" cy="5543550"/>
          </a:xfrm>
        </p:spPr>
        <p:txBody>
          <a:bodyPr/>
          <a:lstStyle/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sz="2400" dirty="0">
                <a:solidFill>
                  <a:srgbClr val="0033CC"/>
                </a:solidFill>
              </a:rPr>
              <a:t>Η ιδιαίτερη περίπτωση των κινητών επικοινωνιών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Μηχανισμοί διάδοσης: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   &gt; </a:t>
            </a:r>
            <a:r>
              <a:rPr lang="en-US" dirty="0"/>
              <a:t>LOS</a:t>
            </a:r>
            <a:r>
              <a:rPr lang="el-GR" dirty="0"/>
              <a:t>  (</a:t>
            </a:r>
            <a:r>
              <a:rPr lang="en-US" dirty="0"/>
              <a:t>Line-of-Sight)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   &gt; Ανάκλαση</a:t>
            </a:r>
            <a:r>
              <a:rPr lang="en-US" dirty="0"/>
              <a:t> (reflection)</a:t>
            </a: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   &gt; Περίθλαση</a:t>
            </a:r>
            <a:r>
              <a:rPr lang="en-US" dirty="0"/>
              <a:t>  (diffraction) </a:t>
            </a: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   &gt; Σκέδαση</a:t>
            </a:r>
            <a:r>
              <a:rPr lang="en-US" dirty="0"/>
              <a:t>  (scattering)</a:t>
            </a: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defRPr/>
            </a:pPr>
            <a:r>
              <a:rPr lang="el-GR" dirty="0"/>
              <a:t>Φαινόμενα μεγάλης και μικρής κλίμακας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l-GR" dirty="0"/>
              <a:t>   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defRPr/>
            </a:pPr>
            <a:endParaRPr lang="en-GB" dirty="0"/>
          </a:p>
        </p:txBody>
      </p:sp>
      <p:pic>
        <p:nvPicPr>
          <p:cNvPr id="72709" name="Picture 1029">
            <a:extLst>
              <a:ext uri="{FF2B5EF4-FFF2-40B4-BE49-F238E27FC236}">
                <a16:creationId xmlns:a16="http://schemas.microsoft.com/office/drawing/2014/main" id="{BD7FBE14-1FE1-4009-80F8-627FC5766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66950"/>
            <a:ext cx="4500563" cy="303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3">
            <a:extLst>
              <a:ext uri="{FF2B5EF4-FFF2-40B4-BE49-F238E27FC236}">
                <a16:creationId xmlns:a16="http://schemas.microsoft.com/office/drawing/2014/main" id="{54CD9C86-747A-4756-AD69-D4B5598229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30434" name="Rectangle 2">
            <a:extLst>
              <a:ext uri="{FF2B5EF4-FFF2-40B4-BE49-F238E27FC236}">
                <a16:creationId xmlns:a16="http://schemas.microsoft.com/office/drawing/2014/main" id="{9B05E72D-224B-4C72-97B8-5754CD78A9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Παράγοντες υποβάθμισης </a:t>
            </a:r>
            <a:endParaRPr lang="en-GB"/>
          </a:p>
        </p:txBody>
      </p:sp>
      <p:sp>
        <p:nvSpPr>
          <p:cNvPr id="530437" name="Rectangle 5">
            <a:extLst>
              <a:ext uri="{FF2B5EF4-FFF2-40B4-BE49-F238E27FC236}">
                <a16:creationId xmlns:a16="http://schemas.microsoft.com/office/drawing/2014/main" id="{E6AA6DA1-37D3-4008-A43D-5EE5966A3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36613"/>
            <a:ext cx="8064500" cy="55705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endParaRPr lang="el-GR" sz="2400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l-GR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Στην ασύρματη διάδοση: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lang="el-GR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Θερμικός θόρυβος στα ηλεκτρονικά συστήματα του δέκτη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endParaRPr lang="el-GR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Άλλα είδη θορύβων, π.χ. «κοσμικός θόρυβος»  (ήλιος,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quasars</a:t>
            </a: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,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pulsars</a:t>
            </a: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,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Big Bang noise,</a:t>
            </a: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κλπ)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endParaRPr lang="el-GR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Ατμοσφαιρικές συνθήκες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Πολυδρομική διάδοση (τοπογραφία)</a:t>
            </a:r>
          </a:p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el-GR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Παρεμβολές από άλλες πηγές (χρήστες)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lang="el-GR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3">
            <a:extLst>
              <a:ext uri="{FF2B5EF4-FFF2-40B4-BE49-F238E27FC236}">
                <a16:creationId xmlns:a16="http://schemas.microsoft.com/office/drawing/2014/main" id="{B885A3DC-1340-4581-9658-206DDBB829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43746" name="Rectangle 2">
            <a:extLst>
              <a:ext uri="{FF2B5EF4-FFF2-40B4-BE49-F238E27FC236}">
                <a16:creationId xmlns:a16="http://schemas.microsoft.com/office/drawing/2014/main" id="{2D3FBD7B-003A-4B91-AE94-4A38376D0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Εξασθένηση λόγω Βροχόπτωσης</a:t>
            </a:r>
            <a:endParaRPr lang="en-GB"/>
          </a:p>
        </p:txBody>
      </p:sp>
      <p:pic>
        <p:nvPicPr>
          <p:cNvPr id="76804" name="Picture 3" descr="fig1_7">
            <a:extLst>
              <a:ext uri="{FF2B5EF4-FFF2-40B4-BE49-F238E27FC236}">
                <a16:creationId xmlns:a16="http://schemas.microsoft.com/office/drawing/2014/main" id="{75F39EE3-A76F-433F-86F6-2AD2E276C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788" y="838200"/>
            <a:ext cx="4138612" cy="561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3">
            <a:extLst>
              <a:ext uri="{FF2B5EF4-FFF2-40B4-BE49-F238E27FC236}">
                <a16:creationId xmlns:a16="http://schemas.microsoft.com/office/drawing/2014/main" id="{4E65E7F3-FF8A-4F72-BC3B-22FB9E552D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30434" name="Rectangle 2">
            <a:extLst>
              <a:ext uri="{FF2B5EF4-FFF2-40B4-BE49-F238E27FC236}">
                <a16:creationId xmlns:a16="http://schemas.microsoft.com/office/drawing/2014/main" id="{9DB8C50E-6CF0-4EEB-8D04-6C0CFEBD6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200" dirty="0"/>
              <a:t>Τρέχουσες και μελλοντικές εξελίξεις</a:t>
            </a:r>
            <a:endParaRPr lang="en-GB" sz="3200" dirty="0"/>
          </a:p>
        </p:txBody>
      </p:sp>
      <p:sp>
        <p:nvSpPr>
          <p:cNvPr id="530437" name="Rectangle 5">
            <a:extLst>
              <a:ext uri="{FF2B5EF4-FFF2-40B4-BE49-F238E27FC236}">
                <a16:creationId xmlns:a16="http://schemas.microsoft.com/office/drawing/2014/main" id="{8AAA13B9-9062-4789-A70C-8E83FF2A7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36613"/>
            <a:ext cx="8064500" cy="674030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endParaRPr lang="el-GR" sz="2400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lang="el-GR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/>
            </a:pPr>
            <a:r>
              <a:rPr lang="el-GR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Από τις </a:t>
            </a:r>
            <a:r>
              <a:rPr lang="el-GR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Μικροκυματικές</a:t>
            </a:r>
            <a:r>
              <a:rPr lang="el-GR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Επικοινωνίες …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/>
            </a:pPr>
            <a:endParaRPr lang="el-GR" sz="2400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/>
            </a:pPr>
            <a:r>
              <a:rPr lang="el-GR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… στις επικοινωνίες </a:t>
            </a:r>
            <a:r>
              <a:rPr lang="en-US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mmWave</a:t>
            </a: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(30GHz – 300GHz)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/>
            </a:pP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/>
            </a:pPr>
            <a:r>
              <a:rPr lang="el-GR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αλλά και σε επικοινωνίες στο μικρόκοσμο (μοριακές επικοινωνίες)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/>
            </a:pP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/>
            </a:pPr>
            <a:r>
              <a:rPr lang="el-G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Ετερογενή ασύρματα γνωσιακά δίκτυα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 for COM  &amp;  COM for ML</a:t>
            </a:r>
            <a:endParaRPr lang="el-G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/>
            </a:pP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endParaRPr lang="el-GR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endParaRPr lang="el-GR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3">
            <a:extLst>
              <a:ext uri="{FF2B5EF4-FFF2-40B4-BE49-F238E27FC236}">
                <a16:creationId xmlns:a16="http://schemas.microsoft.com/office/drawing/2014/main" id="{281FAC52-29C9-43CA-BA90-E16E544AA6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31458" name="Rectangle 2">
            <a:extLst>
              <a:ext uri="{FF2B5EF4-FFF2-40B4-BE49-F238E27FC236}">
                <a16:creationId xmlns:a16="http://schemas.microsoft.com/office/drawing/2014/main" id="{737D01DC-2014-48A8-ABC5-B6A843D363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Μαθηματικά Μοντέλα Καναλιών</a:t>
            </a:r>
            <a:endParaRPr lang="en-GB"/>
          </a:p>
        </p:txBody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AC930E47-6BED-4BDE-8F99-36C19ACE3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82352"/>
            <a:ext cx="83058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el-GR" dirty="0"/>
              <a:t>Όπως είδαμε οι τρόποι επικοινωνίας και τα μέσα μετάδοσης ποικίλουν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el-GR" dirty="0"/>
              <a:t>Ανεξάρτητα από το μέσο μετάδοσης, τα περισσότερα κανάλια εμφανίζουν κοινά χαρακτηριστικά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el-GR" dirty="0"/>
              <a:t>Περιγράφονται από κάποια </a:t>
            </a:r>
            <a:r>
              <a:rPr lang="el-GR" dirty="0">
                <a:solidFill>
                  <a:srgbClr val="0033CC"/>
                </a:solidFill>
              </a:rPr>
              <a:t>βασικά μαθηματικά μοντέλα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Πώς προέκυψαν</a:t>
            </a:r>
            <a:r>
              <a:rPr lang="el-GR" dirty="0"/>
              <a:t> τα μαθηματικά μοντέλα;</a:t>
            </a:r>
          </a:p>
          <a:p>
            <a:pPr lvl="1"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el-GR" dirty="0"/>
              <a:t>παρατηρώντας το φυσικό μέσο διάδοσης</a:t>
            </a:r>
          </a:p>
          <a:p>
            <a:pPr lvl="1"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el-GR" dirty="0"/>
              <a:t>κάνοντας συστηματικές μετρήσεις σε αυτό (</a:t>
            </a:r>
            <a:r>
              <a:rPr lang="en-US" dirty="0"/>
              <a:t>data driven !)</a:t>
            </a:r>
            <a:endParaRPr lang="el-GR" dirty="0"/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el-GR" dirty="0"/>
              <a:t>Με βάση το μαθηματικό μοντέλο του καναλιού, σχεδιάζονται και τα επιμέρους στοιχεία του συστήματος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  <a:defRPr/>
            </a:pPr>
            <a:r>
              <a:rPr lang="el-GR" dirty="0"/>
              <a:t>Βασικά Μαθηματικά Μοντέλα:</a:t>
            </a:r>
          </a:p>
          <a:p>
            <a:pPr lvl="1"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el-GR" dirty="0"/>
              <a:t>κανάλι προσθετικού θορύβου</a:t>
            </a:r>
          </a:p>
          <a:p>
            <a:pPr lvl="1"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el-GR" dirty="0"/>
              <a:t>κανάλι γραμμικού φίλτρου</a:t>
            </a:r>
          </a:p>
          <a:p>
            <a:pPr lvl="1"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el-GR" dirty="0"/>
              <a:t>κανάλι χρονικά μεταβαλλόμενου γραμμικού φίλτρου</a:t>
            </a:r>
          </a:p>
          <a:p>
            <a:pPr lvl="1"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el-GR" dirty="0"/>
              <a:t>παραμετρικό μοντέλο</a:t>
            </a:r>
            <a:endParaRPr lang="en-US" dirty="0"/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el-GR" dirty="0"/>
              <a:t>Ιδιαίτερα δύσκολα είναι τα μη γραμμικά κανάλια</a:t>
            </a:r>
            <a:endParaRPr lang="en-US" dirty="0"/>
          </a:p>
          <a:p>
            <a:pPr lvl="1" eaLnBrk="1" hangingPunct="1">
              <a:lnSpc>
                <a:spcPct val="90000"/>
              </a:lnSpc>
              <a:spcAft>
                <a:spcPts val="300"/>
              </a:spcAft>
              <a:buFontTx/>
              <a:buNone/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oter Placeholder 3">
            <a:extLst>
              <a:ext uri="{FF2B5EF4-FFF2-40B4-BE49-F238E27FC236}">
                <a16:creationId xmlns:a16="http://schemas.microsoft.com/office/drawing/2014/main" id="{6FE7AADC-76EE-457E-AF5F-97AF414A5C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32482" name="Rectangle 2">
            <a:extLst>
              <a:ext uri="{FF2B5EF4-FFF2-40B4-BE49-F238E27FC236}">
                <a16:creationId xmlns:a16="http://schemas.microsoft.com/office/drawing/2014/main" id="{80BEE2E1-57A7-44FD-99D6-B07D4B5526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Κανάλι Προσθετικού Θορύβου</a:t>
            </a:r>
            <a:endParaRPr lang="en-GB"/>
          </a:p>
        </p:txBody>
      </p:sp>
      <p:sp>
        <p:nvSpPr>
          <p:cNvPr id="532483" name="Rectangle 3">
            <a:extLst>
              <a:ext uri="{FF2B5EF4-FFF2-40B4-BE49-F238E27FC236}">
                <a16:creationId xmlns:a16="http://schemas.microsoft.com/office/drawing/2014/main" id="{8EB15890-E579-4323-9942-E0952D09F6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3298825"/>
            <a:ext cx="8537575" cy="31813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el-GR" dirty="0"/>
              <a:t>Το απλούστερο και πιο γενικό μοντέλο καναλιού</a:t>
            </a:r>
            <a:endParaRPr lang="en-US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lnSpc>
                <a:spcPct val="150000"/>
              </a:lnSpc>
              <a:defRPr/>
            </a:pPr>
            <a:r>
              <a:rPr lang="el-GR" dirty="0"/>
              <a:t>Το εκπεμπόμενο σήμα υποβαθμίζεται μόνο από :        </a:t>
            </a:r>
            <a:r>
              <a:rPr lang="el-GR" dirty="0">
                <a:solidFill>
                  <a:srgbClr val="0033CC"/>
                </a:solidFill>
              </a:rPr>
              <a:t>προσθετικό λευκό θόρυβο με κατανομή </a:t>
            </a:r>
            <a:r>
              <a:rPr lang="en-US" dirty="0">
                <a:solidFill>
                  <a:srgbClr val="0033CC"/>
                </a:solidFill>
              </a:rPr>
              <a:t>Gauss </a:t>
            </a:r>
            <a:r>
              <a:rPr lang="el-GR" dirty="0">
                <a:solidFill>
                  <a:srgbClr val="0033CC"/>
                </a:solidFill>
              </a:rPr>
              <a:t>                                    </a:t>
            </a:r>
            <a:r>
              <a:rPr lang="en-US" dirty="0">
                <a:solidFill>
                  <a:srgbClr val="0033CC"/>
                </a:solidFill>
              </a:rPr>
              <a:t>(Additive White Gaussian Noise</a:t>
            </a:r>
            <a:r>
              <a:rPr lang="el-GR" dirty="0">
                <a:solidFill>
                  <a:srgbClr val="0033CC"/>
                </a:solidFill>
              </a:rPr>
              <a:t>,  </a:t>
            </a:r>
            <a:r>
              <a:rPr lang="en-US" dirty="0">
                <a:solidFill>
                  <a:srgbClr val="0033CC"/>
                </a:solidFill>
              </a:rPr>
              <a:t>AWGN)</a:t>
            </a:r>
            <a:endParaRPr lang="el-GR" dirty="0">
              <a:solidFill>
                <a:srgbClr val="0033CC"/>
              </a:solidFill>
            </a:endParaRPr>
          </a:p>
        </p:txBody>
      </p:sp>
      <p:pic>
        <p:nvPicPr>
          <p:cNvPr id="82949" name="Picture 5" descr="fig1_8">
            <a:extLst>
              <a:ext uri="{FF2B5EF4-FFF2-40B4-BE49-F238E27FC236}">
                <a16:creationId xmlns:a16="http://schemas.microsoft.com/office/drawing/2014/main" id="{4B3952F5-7564-481A-97BB-D70AA9DA6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85900"/>
            <a:ext cx="409257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2950" name="Object 6">
            <a:extLst>
              <a:ext uri="{FF2B5EF4-FFF2-40B4-BE49-F238E27FC236}">
                <a16:creationId xmlns:a16="http://schemas.microsoft.com/office/drawing/2014/main" id="{229FCA4D-892D-439D-A9E2-95FD8AFD74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4813" y="2171700"/>
          <a:ext cx="26225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900" imgH="254000" progId="Equation.DSMT4">
                  <p:embed/>
                </p:oleObj>
              </mc:Choice>
              <mc:Fallback>
                <p:oleObj name="Equation" r:id="rId4" imgW="1104900" imgH="254000" progId="Equation.DSMT4">
                  <p:embed/>
                  <p:pic>
                    <p:nvPicPr>
                      <p:cNvPr id="82950" name="Object 6">
                        <a:extLst>
                          <a:ext uri="{FF2B5EF4-FFF2-40B4-BE49-F238E27FC236}">
                            <a16:creationId xmlns:a16="http://schemas.microsoft.com/office/drawing/2014/main" id="{229FCA4D-892D-439D-A9E2-95FD8AFD74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13" y="2171700"/>
                        <a:ext cx="2622550" cy="603250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oter Placeholder 3">
            <a:extLst>
              <a:ext uri="{FF2B5EF4-FFF2-40B4-BE49-F238E27FC236}">
                <a16:creationId xmlns:a16="http://schemas.microsoft.com/office/drawing/2014/main" id="{F42F38AB-A5A5-4865-A75E-2C7C366D24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32482" name="Rectangle 2">
            <a:extLst>
              <a:ext uri="{FF2B5EF4-FFF2-40B4-BE49-F238E27FC236}">
                <a16:creationId xmlns:a16="http://schemas.microsoft.com/office/drawing/2014/main" id="{28B32962-2372-4FFC-AE36-F232DAC846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Κανάλι Προσθετικού Θορύβου</a:t>
            </a:r>
            <a:endParaRPr lang="en-GB"/>
          </a:p>
        </p:txBody>
      </p:sp>
      <p:sp>
        <p:nvSpPr>
          <p:cNvPr id="532483" name="Rectangle 3">
            <a:extLst>
              <a:ext uri="{FF2B5EF4-FFF2-40B4-BE49-F238E27FC236}">
                <a16:creationId xmlns:a16="http://schemas.microsoft.com/office/drawing/2014/main" id="{927AD3D5-6C22-4A26-834A-57BEE7FF9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836613"/>
            <a:ext cx="8713663" cy="31813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33CC"/>
                </a:solidFill>
              </a:rPr>
              <a:t>    </a:t>
            </a:r>
            <a:r>
              <a:rPr lang="el-GR" dirty="0">
                <a:solidFill>
                  <a:srgbClr val="0033CC"/>
                </a:solidFill>
              </a:rPr>
              <a:t>Λευκός Θόρυβος: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l-GR" dirty="0"/>
              <a:t>Είναι μια θεμελιώδης τυχαία διαδικασία που εμφανίζεται σε πολλές περιπτώσεις. 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l-GR" dirty="0"/>
              <a:t>Μία τυχαία (και Ασθενώς Στάσιμη) διαδικασία καλείται λευκή αν η συνάρτηση αυτο-συνδιασποράς της είναι η σ</a:t>
            </a:r>
            <a:r>
              <a:rPr lang="el-GR" baseline="30000" dirty="0"/>
              <a:t>2</a:t>
            </a:r>
            <a:r>
              <a:rPr lang="el-GR" dirty="0"/>
              <a:t>δ</a:t>
            </a:r>
            <a:r>
              <a:rPr lang="en-US" dirty="0"/>
              <a:t>(t)</a:t>
            </a:r>
            <a:endParaRPr lang="el-GR" dirty="0"/>
          </a:p>
          <a:p>
            <a:pPr eaLnBrk="1" hangingPunct="1">
              <a:lnSpc>
                <a:spcPct val="90000"/>
              </a:lnSpc>
              <a:defRPr/>
            </a:pPr>
            <a:r>
              <a:rPr lang="el-GR" dirty="0"/>
              <a:t>Ισοδύναμα αυτό σημαίνει ότι: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l-GR" dirty="0">
                <a:solidFill>
                  <a:srgbClr val="FF0000"/>
                </a:solidFill>
              </a:rPr>
              <a:t>Η πυκνότητα φάσματος ισχύος είναι μία σταθερά.</a:t>
            </a:r>
            <a:endParaRPr 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el-GR" dirty="0"/>
              <a:t>Στο μοντέλο καναλιού </a:t>
            </a:r>
            <a:r>
              <a:rPr lang="en-US" dirty="0"/>
              <a:t>AWGN </a:t>
            </a:r>
            <a:r>
              <a:rPr lang="el-GR" dirty="0"/>
              <a:t>ο θόρυβος είναι: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dirty="0"/>
              <a:t>προσθετικός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dirty="0"/>
              <a:t>λευκός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dirty="0"/>
              <a:t>ανεξάρτητος του σήματος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l-GR" dirty="0"/>
              <a:t>μοντελοποιείται ως </a:t>
            </a:r>
            <a:r>
              <a:rPr lang="en-US" dirty="0">
                <a:solidFill>
                  <a:srgbClr val="0033CC"/>
                </a:solidFill>
              </a:rPr>
              <a:t>Gaussian</a:t>
            </a:r>
            <a:r>
              <a:rPr lang="en-US" dirty="0"/>
              <a:t> </a:t>
            </a:r>
            <a:r>
              <a:rPr lang="el-GR" dirty="0"/>
              <a:t>μηδενικής μέσης τιμής (Κ</a:t>
            </a:r>
            <a:r>
              <a:rPr lang="en-US" dirty="0"/>
              <a:t>.</a:t>
            </a:r>
            <a:r>
              <a:rPr lang="el-GR" dirty="0"/>
              <a:t>Ο</a:t>
            </a:r>
            <a:r>
              <a:rPr lang="en-US" dirty="0"/>
              <a:t>.</a:t>
            </a:r>
            <a:r>
              <a:rPr lang="el-GR" dirty="0"/>
              <a:t>Θ</a:t>
            </a:r>
            <a:r>
              <a:rPr lang="en-US" dirty="0"/>
              <a:t>.</a:t>
            </a:r>
            <a:r>
              <a:rPr lang="el-GR" dirty="0"/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l-GR" dirty="0">
                <a:solidFill>
                  <a:srgbClr val="0033CC"/>
                </a:solidFill>
              </a:rPr>
              <a:t>Φυσική Εξήγηση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dirty="0"/>
              <a:t>θερμικός θόρυβος από ηλεκτρονικά στοιχεία και ενισχυτές του δέκτη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dirty="0"/>
              <a:t>διάφορες παρεμβολές</a:t>
            </a:r>
            <a:r>
              <a:rPr lang="en-US" dirty="0"/>
              <a:t> (</a:t>
            </a:r>
            <a:r>
              <a:rPr lang="el-GR" dirty="0"/>
              <a:t>π.χ., από άλλους χρήστες)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3">
            <a:extLst>
              <a:ext uri="{FF2B5EF4-FFF2-40B4-BE49-F238E27FC236}">
                <a16:creationId xmlns:a16="http://schemas.microsoft.com/office/drawing/2014/main" id="{44AC8675-21B0-43EB-A5C4-6E188D8D47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33506" name="Rectangle 2">
            <a:extLst>
              <a:ext uri="{FF2B5EF4-FFF2-40B4-BE49-F238E27FC236}">
                <a16:creationId xmlns:a16="http://schemas.microsoft.com/office/drawing/2014/main" id="{F6E6B744-5ED7-4952-9CDE-32F6E5EB58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/>
              <a:t>Κανάλι Προσθετικού Θορύβου (2)</a:t>
            </a:r>
            <a:endParaRPr lang="en-GB"/>
          </a:p>
        </p:txBody>
      </p:sp>
      <p:sp>
        <p:nvSpPr>
          <p:cNvPr id="533507" name="Rectangle 3">
            <a:extLst>
              <a:ext uri="{FF2B5EF4-FFF2-40B4-BE49-F238E27FC236}">
                <a16:creationId xmlns:a16="http://schemas.microsoft.com/office/drawing/2014/main" id="{9477D18E-FB41-43BE-BE8B-595FFE8C7D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593138" cy="5715000"/>
          </a:xfrm>
        </p:spPr>
        <p:txBody>
          <a:bodyPr/>
          <a:lstStyle/>
          <a:p>
            <a:pPr eaLnBrk="1" hangingPunct="1">
              <a:defRPr/>
            </a:pPr>
            <a:r>
              <a:rPr lang="el-GR" dirty="0"/>
              <a:t>Όταν το κανάλι εισάγει εξασθένηση, το μοντέλο τροποποιείται ως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lvl="1" eaLnBrk="1" hangingPunct="1">
              <a:defRPr/>
            </a:pPr>
            <a:r>
              <a:rPr lang="el-GR" dirty="0"/>
              <a:t>όπου </a:t>
            </a:r>
            <a:r>
              <a:rPr lang="el-GR" i="1" dirty="0"/>
              <a:t>α&lt;1</a:t>
            </a:r>
            <a:r>
              <a:rPr lang="el-GR" dirty="0"/>
              <a:t> είναι η εξασθένηση του καναλιού</a:t>
            </a:r>
            <a:r>
              <a:rPr lang="en-US" dirty="0"/>
              <a:t> (</a:t>
            </a:r>
            <a:r>
              <a:rPr lang="el-GR" dirty="0"/>
              <a:t>είναι τ.μ.)</a:t>
            </a: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l-GR" dirty="0"/>
              <a:t>η παράμετρος </a:t>
            </a:r>
            <a:r>
              <a:rPr lang="el-GR" i="1" dirty="0"/>
              <a:t>α</a:t>
            </a:r>
            <a:r>
              <a:rPr lang="el-GR" dirty="0"/>
              <a:t> είναι </a:t>
            </a:r>
            <a:r>
              <a:rPr lang="el-GR" dirty="0">
                <a:solidFill>
                  <a:srgbClr val="0033CC"/>
                </a:solidFill>
              </a:rPr>
              <a:t>τυχαία μεταβλητή </a:t>
            </a:r>
            <a:r>
              <a:rPr lang="el-GR" dirty="0"/>
              <a:t>(στις περισσότερες περιπτώσεις)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SNR in dB: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r>
              <a:rPr lang="en-US" dirty="0" err="1"/>
              <a:t>P</a:t>
            </a:r>
            <a:r>
              <a:rPr lang="en-US" baseline="-25000" dirty="0" err="1"/>
              <a:t>signal</a:t>
            </a:r>
            <a:r>
              <a:rPr lang="en-US" dirty="0"/>
              <a:t> = </a:t>
            </a:r>
            <a:r>
              <a:rPr lang="el-GR" dirty="0"/>
              <a:t>α</a:t>
            </a:r>
            <a:r>
              <a:rPr lang="el-GR" baseline="30000" dirty="0"/>
              <a:t>2</a:t>
            </a:r>
            <a:r>
              <a:rPr lang="en-US" dirty="0"/>
              <a:t>P</a:t>
            </a:r>
            <a:r>
              <a:rPr lang="en-US" baseline="-25000" dirty="0"/>
              <a:t>s</a:t>
            </a:r>
            <a:r>
              <a:rPr lang="en-US" baseline="30000" dirty="0"/>
              <a:t>          </a:t>
            </a:r>
            <a:r>
              <a:rPr lang="en-US" dirty="0" err="1"/>
              <a:t>P</a:t>
            </a:r>
            <a:r>
              <a:rPr lang="en-US" baseline="-25000" dirty="0" err="1"/>
              <a:t>noise</a:t>
            </a:r>
            <a:r>
              <a:rPr lang="en-US" dirty="0"/>
              <a:t> = </a:t>
            </a:r>
            <a:r>
              <a:rPr lang="el-GR" dirty="0"/>
              <a:t>σ</a:t>
            </a:r>
            <a:r>
              <a:rPr lang="el-GR" baseline="30000" dirty="0"/>
              <a:t>2   </a:t>
            </a:r>
            <a:endParaRPr lang="el-GR" dirty="0"/>
          </a:p>
        </p:txBody>
      </p:sp>
      <p:graphicFrame>
        <p:nvGraphicFramePr>
          <p:cNvPr id="87045" name="Object 5">
            <a:extLst>
              <a:ext uri="{FF2B5EF4-FFF2-40B4-BE49-F238E27FC236}">
                <a16:creationId xmlns:a16="http://schemas.microsoft.com/office/drawing/2014/main" id="{563F6FB8-E0DD-4AAF-92D4-969FECC60B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1163" y="1889125"/>
          <a:ext cx="27733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7893" imgH="253890" progId="Equation.DSMT4">
                  <p:embed/>
                </p:oleObj>
              </mc:Choice>
              <mc:Fallback>
                <p:oleObj name="Equation" r:id="rId3" imgW="1167893" imgH="253890" progId="Equation.DSMT4">
                  <p:embed/>
                  <p:pic>
                    <p:nvPicPr>
                      <p:cNvPr id="87045" name="Object 5">
                        <a:extLst>
                          <a:ext uri="{FF2B5EF4-FFF2-40B4-BE49-F238E27FC236}">
                            <a16:creationId xmlns:a16="http://schemas.microsoft.com/office/drawing/2014/main" id="{563F6FB8-E0DD-4AAF-92D4-969FECC60B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1889125"/>
                        <a:ext cx="2773362" cy="603250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6">
            <a:extLst>
              <a:ext uri="{FF2B5EF4-FFF2-40B4-BE49-F238E27FC236}">
                <a16:creationId xmlns:a16="http://schemas.microsoft.com/office/drawing/2014/main" id="{C13BEF2F-8613-4E53-8EC6-B21C52A24A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4292600"/>
          <a:ext cx="1871662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8200" imgH="457200" progId="Equation.DSMT4">
                  <p:embed/>
                </p:oleObj>
              </mc:Choice>
              <mc:Fallback>
                <p:oleObj name="Equation" r:id="rId5" imgW="838200" imgH="457200" progId="Equation.DSMT4">
                  <p:embed/>
                  <p:pic>
                    <p:nvPicPr>
                      <p:cNvPr id="87046" name="Object 6">
                        <a:extLst>
                          <a:ext uri="{FF2B5EF4-FFF2-40B4-BE49-F238E27FC236}">
                            <a16:creationId xmlns:a16="http://schemas.microsoft.com/office/drawing/2014/main" id="{C13BEF2F-8613-4E53-8EC6-B21C52A24A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292600"/>
                        <a:ext cx="1871662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3">
            <a:extLst>
              <a:ext uri="{FF2B5EF4-FFF2-40B4-BE49-F238E27FC236}">
                <a16:creationId xmlns:a16="http://schemas.microsoft.com/office/drawing/2014/main" id="{50504A24-A9AF-4DBD-8D67-29316D92E6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pic>
        <p:nvPicPr>
          <p:cNvPr id="89091" name="Picture 7" descr="fig1_9">
            <a:extLst>
              <a:ext uri="{FF2B5EF4-FFF2-40B4-BE49-F238E27FC236}">
                <a16:creationId xmlns:a16="http://schemas.microsoft.com/office/drawing/2014/main" id="{9A428ADB-55E0-4BC2-9F8D-95AD1FE96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908050"/>
            <a:ext cx="5276850" cy="215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4530" name="Rectangle 2">
            <a:extLst>
              <a:ext uri="{FF2B5EF4-FFF2-40B4-BE49-F238E27FC236}">
                <a16:creationId xmlns:a16="http://schemas.microsoft.com/office/drawing/2014/main" id="{CDC95949-36A1-429C-BF9A-93B72E34A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dirty="0"/>
              <a:t>Το Κανάλι ως Γραμμικό Σύστημα</a:t>
            </a:r>
            <a:endParaRPr lang="en-GB" dirty="0"/>
          </a:p>
        </p:txBody>
      </p:sp>
      <p:sp>
        <p:nvSpPr>
          <p:cNvPr id="534531" name="Rectangle 3">
            <a:extLst>
              <a:ext uri="{FF2B5EF4-FFF2-40B4-BE49-F238E27FC236}">
                <a16:creationId xmlns:a16="http://schemas.microsoft.com/office/drawing/2014/main" id="{A8BC03F8-7ADD-4042-955B-BB3C89BAF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3213100"/>
            <a:ext cx="8305800" cy="3267075"/>
          </a:xfrm>
        </p:spPr>
        <p:txBody>
          <a:bodyPr/>
          <a:lstStyle/>
          <a:p>
            <a:pPr eaLnBrk="1" hangingPunct="1">
              <a:spcAft>
                <a:spcPct val="25000"/>
              </a:spcAft>
              <a:defRPr/>
            </a:pPr>
            <a:r>
              <a:rPr lang="el-GR" dirty="0"/>
              <a:t>Λόγω των ιδιοτήτων του καναλιού, εισάγεται παραμόρφωση πλάτους και φάσης στα πλαίσια της ζώνης διέλευσης.</a:t>
            </a:r>
            <a:endParaRPr lang="en-US" dirty="0"/>
          </a:p>
          <a:p>
            <a:pPr eaLnBrk="1" hangingPunct="1">
              <a:spcAft>
                <a:spcPct val="25000"/>
              </a:spcAft>
              <a:defRPr/>
            </a:pPr>
            <a:r>
              <a:rPr lang="el-GR" dirty="0"/>
              <a:t>Επίσης, χρησιμοποιούνται φίλτρα για να περιορίσουν το εύρος ζώνης του σήματος στο εύρος ζώνης του καναλιού και για να μορφοποιήσουν τον αποστελλόμενο παλμό </a:t>
            </a:r>
          </a:p>
          <a:p>
            <a:pPr eaLnBrk="1" hangingPunct="1">
              <a:spcAft>
                <a:spcPct val="25000"/>
              </a:spcAft>
              <a:defRPr/>
            </a:pPr>
            <a:r>
              <a:rPr lang="el-GR" dirty="0"/>
              <a:t>Έτσι, γενικά, αρκετά κανάλια μοντελοποιούνται ως γραμμικά φίλτρα με απόκριση </a:t>
            </a:r>
            <a:r>
              <a:rPr lang="en-US" i="1" dirty="0"/>
              <a:t>h(t)</a:t>
            </a:r>
            <a:r>
              <a:rPr lang="el-GR" dirty="0"/>
              <a:t>.  Επιπλέον, στην έξοδο του φίλτρου (δηλ. του καναλιού) εισάγεται και θόρυβος (</a:t>
            </a:r>
            <a:r>
              <a:rPr lang="en-US" dirty="0"/>
              <a:t>AWGN)</a:t>
            </a:r>
            <a:endParaRPr lang="el-GR" dirty="0"/>
          </a:p>
          <a:p>
            <a:pPr eaLnBrk="1" hangingPunct="1">
              <a:spcAft>
                <a:spcPct val="25000"/>
              </a:spcAft>
              <a:defRPr/>
            </a:pPr>
            <a:r>
              <a:rPr lang="el-GR" dirty="0"/>
              <a:t>Πολυπλοκότερα μοντέλα:  </a:t>
            </a:r>
            <a:r>
              <a:rPr lang="el-GR" dirty="0">
                <a:solidFill>
                  <a:srgbClr val="FF0000"/>
                </a:solidFill>
              </a:rPr>
              <a:t>Μη-Γραμμικά </a:t>
            </a:r>
            <a:endParaRPr lang="en-GB" dirty="0">
              <a:solidFill>
                <a:srgbClr val="FF0000"/>
              </a:solidFill>
            </a:endParaRPr>
          </a:p>
        </p:txBody>
      </p:sp>
      <p:graphicFrame>
        <p:nvGraphicFramePr>
          <p:cNvPr id="89094" name="Object 6">
            <a:extLst>
              <a:ext uri="{FF2B5EF4-FFF2-40B4-BE49-F238E27FC236}">
                <a16:creationId xmlns:a16="http://schemas.microsoft.com/office/drawing/2014/main" id="{35F42DDE-F81E-4E6E-9430-9C39E23747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984250"/>
          <a:ext cx="3692525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1000" imgH="736600" progId="Equation.DSMT4">
                  <p:embed/>
                </p:oleObj>
              </mc:Choice>
              <mc:Fallback>
                <p:oleObj name="Equation" r:id="rId4" imgW="1651000" imgH="736600" progId="Equation.DSMT4">
                  <p:embed/>
                  <p:pic>
                    <p:nvPicPr>
                      <p:cNvPr id="89094" name="Object 6">
                        <a:extLst>
                          <a:ext uri="{FF2B5EF4-FFF2-40B4-BE49-F238E27FC236}">
                            <a16:creationId xmlns:a16="http://schemas.microsoft.com/office/drawing/2014/main" id="{35F42DDE-F81E-4E6E-9430-9C39E23747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984250"/>
                        <a:ext cx="3692525" cy="1647825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3">
            <a:extLst>
              <a:ext uri="{FF2B5EF4-FFF2-40B4-BE49-F238E27FC236}">
                <a16:creationId xmlns:a16="http://schemas.microsoft.com/office/drawing/2014/main" id="{6FFD8405-B359-4A4E-A682-8945226C7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35554" name="Rectangle 2">
            <a:extLst>
              <a:ext uri="{FF2B5EF4-FFF2-40B4-BE49-F238E27FC236}">
                <a16:creationId xmlns:a16="http://schemas.microsoft.com/office/drawing/2014/main" id="{6C14710C-5DAB-4B71-9862-AEEB1547DB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000" dirty="0"/>
              <a:t>Το Κανάλι ως Χρον. Μεταβ. Γραμ. Συστ.</a:t>
            </a:r>
            <a:endParaRPr lang="en-GB" sz="3000" dirty="0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302D216A-AF2C-4F40-8D8F-3829EF46C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3222625"/>
            <a:ext cx="8305800" cy="3257550"/>
          </a:xfr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l-GR" dirty="0"/>
              <a:t>Πολλά φυσικά κανάλια μεταβάλλονται χρονικά λόγω:</a:t>
            </a:r>
            <a:endParaRPr lang="el-GR" dirty="0">
              <a:solidFill>
                <a:srgbClr val="0033CC"/>
              </a:solidFill>
            </a:endParaRPr>
          </a:p>
          <a:p>
            <a:pPr lvl="1" eaLnBrk="1" hangingPunct="1">
              <a:defRPr/>
            </a:pPr>
            <a:r>
              <a:rPr lang="el-GR" dirty="0"/>
              <a:t>πολύδρομης διάδοσης</a:t>
            </a:r>
          </a:p>
          <a:p>
            <a:pPr lvl="1" eaLnBrk="1" hangingPunct="1">
              <a:defRPr/>
            </a:pPr>
            <a:r>
              <a:rPr lang="el-GR" dirty="0"/>
              <a:t>σχετικής κίνησης πομπού-δέκτη</a:t>
            </a:r>
          </a:p>
          <a:p>
            <a:pPr lvl="1" eaLnBrk="1" hangingPunct="1">
              <a:defRPr/>
            </a:pPr>
            <a:r>
              <a:rPr lang="el-GR" dirty="0"/>
              <a:t>αλλαγών στο μέσο (ασύρματο ή ενσύρματο)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spcAft>
                <a:spcPts val="600"/>
              </a:spcAft>
              <a:defRPr/>
            </a:pPr>
            <a:r>
              <a:rPr lang="el-GR" dirty="0"/>
              <a:t>Σε κάθε χρονική στιγμή </a:t>
            </a:r>
            <a:r>
              <a:rPr lang="en-US" i="1" dirty="0"/>
              <a:t>t</a:t>
            </a:r>
            <a:r>
              <a:rPr lang="el-GR" i="1" dirty="0"/>
              <a:t> </a:t>
            </a:r>
            <a:r>
              <a:rPr lang="el-GR" dirty="0"/>
              <a:t> το κανάλι χαρακτηρίζεται από μια διαφορετική κρουστική απόκριση </a:t>
            </a:r>
            <a:r>
              <a:rPr lang="en-US" i="1" dirty="0"/>
              <a:t>h(</a:t>
            </a:r>
            <a:r>
              <a:rPr lang="el-GR" i="1" dirty="0"/>
              <a:t>τ</a:t>
            </a:r>
            <a:r>
              <a:rPr lang="en-US" i="1" dirty="0"/>
              <a:t>)</a:t>
            </a:r>
            <a:endParaRPr lang="el-GR" i="1" dirty="0"/>
          </a:p>
          <a:p>
            <a:pPr eaLnBrk="1" hangingPunct="1">
              <a:defRPr/>
            </a:pPr>
            <a:r>
              <a:rPr lang="el-GR" dirty="0"/>
              <a:t>Το κανάλι περιγράφεται πλήρως από την </a:t>
            </a:r>
            <a:r>
              <a:rPr lang="en-US" i="1" dirty="0"/>
              <a:t>h(t;</a:t>
            </a:r>
            <a:r>
              <a:rPr lang="el-GR" i="1" dirty="0"/>
              <a:t>τ</a:t>
            </a:r>
            <a:r>
              <a:rPr lang="en-US" i="1" dirty="0"/>
              <a:t>)</a:t>
            </a:r>
            <a:endParaRPr lang="en-GB" dirty="0"/>
          </a:p>
        </p:txBody>
      </p:sp>
      <p:pic>
        <p:nvPicPr>
          <p:cNvPr id="91141" name="Picture 4" descr="fig1_10">
            <a:extLst>
              <a:ext uri="{FF2B5EF4-FFF2-40B4-BE49-F238E27FC236}">
                <a16:creationId xmlns:a16="http://schemas.microsoft.com/office/drawing/2014/main" id="{DA12C684-FD7D-4D43-9CFF-2E1CF9941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95350"/>
            <a:ext cx="5072063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1142" name="Object 5">
            <a:extLst>
              <a:ext uri="{FF2B5EF4-FFF2-40B4-BE49-F238E27FC236}">
                <a16:creationId xmlns:a16="http://schemas.microsoft.com/office/drawing/2014/main" id="{15429367-3E44-486A-A1BD-755BBC6177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4750" y="1066800"/>
          <a:ext cx="3919538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600" imgH="736600" progId="Equation.DSMT4">
                  <p:embed/>
                </p:oleObj>
              </mc:Choice>
              <mc:Fallback>
                <p:oleObj name="Equation" r:id="rId4" imgW="1752600" imgH="736600" progId="Equation.DSMT4">
                  <p:embed/>
                  <p:pic>
                    <p:nvPicPr>
                      <p:cNvPr id="91142" name="Object 5">
                        <a:extLst>
                          <a:ext uri="{FF2B5EF4-FFF2-40B4-BE49-F238E27FC236}">
                            <a16:creationId xmlns:a16="http://schemas.microsoft.com/office/drawing/2014/main" id="{15429367-3E44-486A-A1BD-755BBC6177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1066800"/>
                        <a:ext cx="3919538" cy="1647825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oter Placeholder 3">
            <a:extLst>
              <a:ext uri="{FF2B5EF4-FFF2-40B4-BE49-F238E27FC236}">
                <a16:creationId xmlns:a16="http://schemas.microsoft.com/office/drawing/2014/main" id="{BF33F5B5-50C0-443D-9135-BAB05C9189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36578" name="Rectangle 2">
            <a:extLst>
              <a:ext uri="{FF2B5EF4-FFF2-40B4-BE49-F238E27FC236}">
                <a16:creationId xmlns:a16="http://schemas.microsoft.com/office/drawing/2014/main" id="{96B5ED9F-8ABF-4570-8294-C2CC731F32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435975" cy="762000"/>
          </a:xfrm>
        </p:spPr>
        <p:txBody>
          <a:bodyPr/>
          <a:lstStyle/>
          <a:p>
            <a:pPr eaLnBrk="1" hangingPunct="1">
              <a:defRPr/>
            </a:pPr>
            <a:r>
              <a:rPr lang="el-GR" dirty="0"/>
              <a:t>Παραμετρικό Μοντέλο Καναλιού (1)</a:t>
            </a:r>
            <a:endParaRPr lang="en-GB" dirty="0"/>
          </a:p>
        </p:txBody>
      </p:sp>
      <p:sp>
        <p:nvSpPr>
          <p:cNvPr id="536579" name="Rectangle 3">
            <a:extLst>
              <a:ext uri="{FF2B5EF4-FFF2-40B4-BE49-F238E27FC236}">
                <a16:creationId xmlns:a16="http://schemas.microsoft.com/office/drawing/2014/main" id="{BFFD9676-688B-480B-846C-C1B0742D5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908050"/>
            <a:ext cx="8305800" cy="5715000"/>
          </a:xfrm>
        </p:spPr>
        <p:txBody>
          <a:bodyPr/>
          <a:lstStyle/>
          <a:p>
            <a:pPr eaLnBrk="1" hangingPunct="1">
              <a:spcAft>
                <a:spcPts val="1200"/>
              </a:spcAft>
              <a:defRPr/>
            </a:pPr>
            <a:r>
              <a:rPr lang="el-GR" dirty="0"/>
              <a:t>Στο μοντέλο χρονικά μεταβαλλόμενου γραμμικού φίλτρου το κανάλι περιγράφεται από την κρουστική του απόκριση. Ακολουθεί ένας διαφορετικός τρόπος περιγραφής κατάλληλος για πολυδρομικά κανάλια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multipath channels</a:t>
            </a:r>
            <a:r>
              <a:rPr lang="en-US" dirty="0"/>
              <a:t>)</a:t>
            </a:r>
            <a:endParaRPr lang="el-GR" dirty="0"/>
          </a:p>
          <a:p>
            <a:pPr eaLnBrk="1" hangingPunct="1">
              <a:defRPr/>
            </a:pPr>
            <a:r>
              <a:rPr lang="el-GR" dirty="0"/>
              <a:t>Εφαρμόζεται συχνά σε κανάλια πολύδρομης μετάδοσης,π.χ. </a:t>
            </a:r>
          </a:p>
          <a:p>
            <a:pPr lvl="1" eaLnBrk="1" hangingPunct="1">
              <a:defRPr/>
            </a:pPr>
            <a:r>
              <a:rPr lang="el-GR" dirty="0"/>
              <a:t>ιονοσφαιρικό </a:t>
            </a:r>
            <a:r>
              <a:rPr lang="el-GR" i="1" dirty="0"/>
              <a:t>(</a:t>
            </a:r>
            <a:r>
              <a:rPr lang="en-US" i="1" dirty="0"/>
              <a:t>f&gt;30MHz</a:t>
            </a:r>
            <a:r>
              <a:rPr lang="el-GR" i="1" dirty="0"/>
              <a:t>),</a:t>
            </a:r>
            <a:endParaRPr lang="en-US" i="1" dirty="0"/>
          </a:p>
          <a:p>
            <a:pPr lvl="1" eaLnBrk="1" hangingPunct="1">
              <a:spcAft>
                <a:spcPts val="600"/>
              </a:spcAft>
              <a:defRPr/>
            </a:pPr>
            <a:r>
              <a:rPr lang="el-GR" dirty="0" err="1"/>
              <a:t>Μικροκυματικά</a:t>
            </a:r>
            <a:r>
              <a:rPr lang="el-GR" dirty="0"/>
              <a:t> </a:t>
            </a:r>
            <a:r>
              <a:rPr lang="el-GR" dirty="0" err="1"/>
              <a:t>ραδιοκανάλια</a:t>
            </a:r>
            <a:r>
              <a:rPr lang="el-GR" dirty="0"/>
              <a:t> στην κινητή κυψελωτή τηλεφωνία,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lang="el-GR" dirty="0"/>
              <a:t>θεωρούμε ότι το σήμα ακολουθεί </a:t>
            </a:r>
            <a:r>
              <a:rPr lang="en-US" i="1" dirty="0">
                <a:solidFill>
                  <a:srgbClr val="0033CC"/>
                </a:solidFill>
              </a:rPr>
              <a:t>L</a:t>
            </a:r>
            <a:r>
              <a:rPr lang="en-US" dirty="0">
                <a:solidFill>
                  <a:srgbClr val="0033CC"/>
                </a:solidFill>
              </a:rPr>
              <a:t> </a:t>
            </a:r>
            <a:r>
              <a:rPr lang="el-GR" dirty="0">
                <a:solidFill>
                  <a:srgbClr val="0033CC"/>
                </a:solidFill>
              </a:rPr>
              <a:t>διαδρομές (μονοπάτια)</a:t>
            </a:r>
          </a:p>
          <a:p>
            <a:pPr eaLnBrk="1" hangingPunct="1">
              <a:defRPr/>
            </a:pPr>
            <a:r>
              <a:rPr lang="el-GR" dirty="0"/>
              <a:t>Κάθε μονοπάτι</a:t>
            </a:r>
          </a:p>
          <a:p>
            <a:pPr lvl="1" eaLnBrk="1" hangingPunct="1">
              <a:defRPr/>
            </a:pPr>
            <a:r>
              <a:rPr lang="el-GR" dirty="0"/>
              <a:t>έχει διαφορετική εξασθένηση </a:t>
            </a:r>
            <a:r>
              <a:rPr lang="el-GR" i="1" dirty="0"/>
              <a:t>α</a:t>
            </a:r>
            <a:r>
              <a:rPr lang="en-US" i="1" baseline="-25000" dirty="0"/>
              <a:t>k</a:t>
            </a:r>
            <a:r>
              <a:rPr lang="en-US" i="1" dirty="0"/>
              <a:t>(t)</a:t>
            </a:r>
            <a:endParaRPr lang="el-GR" i="1" dirty="0"/>
          </a:p>
          <a:p>
            <a:pPr lvl="2" eaLnBrk="1" hangingPunct="1">
              <a:defRPr/>
            </a:pPr>
            <a:r>
              <a:rPr lang="el-GR" dirty="0"/>
              <a:t>χρονικά μεταβαλλόμενη</a:t>
            </a:r>
          </a:p>
          <a:p>
            <a:pPr lvl="1" eaLnBrk="1" hangingPunct="1">
              <a:defRPr/>
            </a:pPr>
            <a:r>
              <a:rPr lang="el-GR" dirty="0"/>
              <a:t>και χρονική καθυστέρηση </a:t>
            </a:r>
            <a:r>
              <a:rPr lang="el-GR" i="1" dirty="0"/>
              <a:t>τ</a:t>
            </a:r>
            <a:r>
              <a:rPr lang="en-US" i="1" baseline="-25000" dirty="0"/>
              <a:t>k</a:t>
            </a:r>
            <a:endParaRPr lang="el-GR" i="1" dirty="0"/>
          </a:p>
          <a:p>
            <a:pPr lvl="2" eaLnBrk="1" hangingPunct="1">
              <a:defRPr/>
            </a:pPr>
            <a:r>
              <a:rPr lang="el-GR" dirty="0"/>
              <a:t>συνήθως χρονικά σταθερή ή αργά μεταβαλλόμενη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3">
            <a:extLst>
              <a:ext uri="{FF2B5EF4-FFF2-40B4-BE49-F238E27FC236}">
                <a16:creationId xmlns:a16="http://schemas.microsoft.com/office/drawing/2014/main" id="{0A4E1A0F-D93E-43AD-902B-509A275E4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37602" name="Rectangle 2">
            <a:extLst>
              <a:ext uri="{FF2B5EF4-FFF2-40B4-BE49-F238E27FC236}">
                <a16:creationId xmlns:a16="http://schemas.microsoft.com/office/drawing/2014/main" id="{799CA294-02F7-45CF-9AA1-6D79EE0E5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400" dirty="0"/>
              <a:t>Παραμετρικό Μοντέλο Καναλιού (2)</a:t>
            </a:r>
            <a:endParaRPr lang="en-GB" sz="3400" dirty="0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08C513D6-FC89-44E4-96EB-392011F8B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038" y="882650"/>
            <a:ext cx="8305800" cy="5715000"/>
          </a:xfrm>
        </p:spPr>
        <p:txBody>
          <a:bodyPr/>
          <a:lstStyle/>
          <a:p>
            <a:pPr eaLnBrk="1" hangingPunct="1">
              <a:spcAft>
                <a:spcPts val="1200"/>
              </a:spcAft>
              <a:defRPr/>
            </a:pPr>
            <a:r>
              <a:rPr lang="el-GR" dirty="0"/>
              <a:t>Κρουστική απόκριση καναλιού (παραμετρική έκφραση)</a:t>
            </a:r>
            <a:r>
              <a:rPr lang="en-US" dirty="0"/>
              <a:t>  </a:t>
            </a: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spcAft>
                <a:spcPts val="1200"/>
              </a:spcAft>
              <a:defRPr/>
            </a:pPr>
            <a:r>
              <a:rPr lang="el-GR" dirty="0"/>
              <a:t>Λαμβανόμενο σήμα</a:t>
            </a:r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defRPr/>
            </a:pPr>
            <a:endParaRPr lang="el-GR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dirty="0"/>
          </a:p>
          <a:p>
            <a:pPr eaLnBrk="1" hangingPunct="1">
              <a:spcBef>
                <a:spcPts val="1800"/>
              </a:spcBef>
              <a:spcAft>
                <a:spcPts val="600"/>
              </a:spcAft>
              <a:defRPr/>
            </a:pPr>
            <a:endParaRPr lang="en-US" dirty="0">
              <a:solidFill>
                <a:srgbClr val="0033CC"/>
              </a:solidFill>
            </a:endParaRPr>
          </a:p>
          <a:p>
            <a:pPr eaLnBrk="1" hangingPunct="1">
              <a:spcBef>
                <a:spcPts val="1800"/>
              </a:spcBef>
              <a:spcAft>
                <a:spcPts val="600"/>
              </a:spcAft>
              <a:defRPr/>
            </a:pPr>
            <a:r>
              <a:rPr lang="el-GR" dirty="0">
                <a:solidFill>
                  <a:srgbClr val="0033CC"/>
                </a:solidFill>
              </a:rPr>
              <a:t>Ερώτηση:</a:t>
            </a:r>
            <a:r>
              <a:rPr lang="el-GR" dirty="0"/>
              <a:t> Γιατί σύμφωνα με όλα τα μοντέλα ο θόρυβος εισάγεται στο δέκτη και όχι πριν το κανάλι;</a:t>
            </a:r>
          </a:p>
        </p:txBody>
      </p:sp>
      <p:graphicFrame>
        <p:nvGraphicFramePr>
          <p:cNvPr id="95237" name="Object 4">
            <a:extLst>
              <a:ext uri="{FF2B5EF4-FFF2-40B4-BE49-F238E27FC236}">
                <a16:creationId xmlns:a16="http://schemas.microsoft.com/office/drawing/2014/main" id="{C024C24D-B17A-4526-B0E2-B53CD1A2DC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2863" y="1379538"/>
          <a:ext cx="3502025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88367" imgH="431613" progId="Equation.DSMT4">
                  <p:embed/>
                </p:oleObj>
              </mc:Choice>
              <mc:Fallback>
                <p:oleObj name="Equation" r:id="rId3" imgW="1688367" imgH="431613" progId="Equation.DSMT4">
                  <p:embed/>
                  <p:pic>
                    <p:nvPicPr>
                      <p:cNvPr id="95237" name="Object 4">
                        <a:extLst>
                          <a:ext uri="{FF2B5EF4-FFF2-40B4-BE49-F238E27FC236}">
                            <a16:creationId xmlns:a16="http://schemas.microsoft.com/office/drawing/2014/main" id="{C024C24D-B17A-4526-B0E2-B53CD1A2DC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3" y="1379538"/>
                        <a:ext cx="3502025" cy="896937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8" name="Object 5">
            <a:extLst>
              <a:ext uri="{FF2B5EF4-FFF2-40B4-BE49-F238E27FC236}">
                <a16:creationId xmlns:a16="http://schemas.microsoft.com/office/drawing/2014/main" id="{AB7221F2-D560-4A0F-AE82-0EBBE81B43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3141663"/>
          <a:ext cx="3922712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92300" imgH="431800" progId="Equation.DSMT4">
                  <p:embed/>
                </p:oleObj>
              </mc:Choice>
              <mc:Fallback>
                <p:oleObj name="Equation" r:id="rId5" imgW="1892300" imgH="431800" progId="Equation.DSMT4">
                  <p:embed/>
                  <p:pic>
                    <p:nvPicPr>
                      <p:cNvPr id="95238" name="Object 5">
                        <a:extLst>
                          <a:ext uri="{FF2B5EF4-FFF2-40B4-BE49-F238E27FC236}">
                            <a16:creationId xmlns:a16="http://schemas.microsoft.com/office/drawing/2014/main" id="{AB7221F2-D560-4A0F-AE82-0EBBE81B43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141663"/>
                        <a:ext cx="3922712" cy="895350"/>
                      </a:xfrm>
                      <a:prstGeom prst="rect">
                        <a:avLst/>
                      </a:prstGeom>
                      <a:solidFill>
                        <a:srgbClr val="FFE0A3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FC3F2-463F-9122-2C7C-39BE30F1B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3">
            <a:extLst>
              <a:ext uri="{FF2B5EF4-FFF2-40B4-BE49-F238E27FC236}">
                <a16:creationId xmlns:a16="http://schemas.microsoft.com/office/drawing/2014/main" id="{4256C20E-E72A-F5F6-89F1-A5CB18880C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37602" name="Rectangle 2">
            <a:extLst>
              <a:ext uri="{FF2B5EF4-FFF2-40B4-BE49-F238E27FC236}">
                <a16:creationId xmlns:a16="http://schemas.microsoft.com/office/drawing/2014/main" id="{B2DD3C8A-998E-91D5-F8C6-5842016EC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400" dirty="0"/>
              <a:t>Διαδικαστικά</a:t>
            </a:r>
            <a:endParaRPr lang="en-GB" sz="3400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97CB827-CAA6-540D-9610-4DF3D05CC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882650"/>
            <a:ext cx="8305800" cy="5715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eaLnBrk="1" hangingPunct="1">
              <a:spcAft>
                <a:spcPts val="1200"/>
              </a:spcAft>
              <a:defRPr/>
            </a:pPr>
            <a:r>
              <a:rPr lang="el-GR" kern="0" dirty="0"/>
              <a:t>Πέμπτη (16-19 διάλεξη, 19-20 φροντιστήριο)</a:t>
            </a:r>
          </a:p>
          <a:p>
            <a:pPr eaLnBrk="1" hangingPunct="1">
              <a:defRPr/>
            </a:pPr>
            <a:endParaRPr lang="el-GR" kern="0" dirty="0"/>
          </a:p>
          <a:p>
            <a:pPr eaLnBrk="1" hangingPunct="1">
              <a:defRPr/>
            </a:pPr>
            <a:r>
              <a:rPr lang="el-GR" kern="0" dirty="0"/>
              <a:t>Σημειώσεις θεωρίας και διαφάνειες στο </a:t>
            </a:r>
            <a:r>
              <a:rPr lang="el-GR" kern="0" dirty="0" err="1"/>
              <a:t>ecource</a:t>
            </a:r>
            <a:r>
              <a:rPr lang="el-GR" kern="0" dirty="0"/>
              <a:t> του μαθήματος</a:t>
            </a:r>
            <a:endParaRPr lang="en-US" kern="0" dirty="0"/>
          </a:p>
          <a:p>
            <a:pPr eaLnBrk="1" hangingPunct="1">
              <a:defRPr/>
            </a:pPr>
            <a:endParaRPr lang="en-US" kern="0" dirty="0"/>
          </a:p>
          <a:p>
            <a:pPr eaLnBrk="1" hangingPunct="1">
              <a:defRPr/>
            </a:pPr>
            <a:r>
              <a:rPr lang="el-GR" kern="0" dirty="0"/>
              <a:t>Πρόοδος (?) στο μέσο του εξαμήνου -&gt; συνεισφορά τουλάχιστον κατά 50% στον τελικό βαθμό</a:t>
            </a:r>
          </a:p>
          <a:p>
            <a:pPr eaLnBrk="1" hangingPunct="1">
              <a:defRPr/>
            </a:pPr>
            <a:endParaRPr lang="el-GR" kern="0" dirty="0"/>
          </a:p>
          <a:p>
            <a:pPr eaLnBrk="1" hangingPunct="1">
              <a:defRPr/>
            </a:pPr>
            <a:r>
              <a:rPr lang="el-GR" kern="0" dirty="0"/>
              <a:t>Τελική γραπτή εξέταση </a:t>
            </a:r>
          </a:p>
          <a:p>
            <a:pPr eaLnBrk="1" hangingPunct="1">
              <a:defRPr/>
            </a:pPr>
            <a:endParaRPr lang="el-GR" kern="0" dirty="0"/>
          </a:p>
          <a:p>
            <a:pPr eaLnBrk="1" hangingPunct="1">
              <a:defRPr/>
            </a:pPr>
            <a:endParaRPr lang="el-GR" kern="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l-GR" kern="0" dirty="0"/>
          </a:p>
        </p:txBody>
      </p:sp>
    </p:spTree>
    <p:extLst>
      <p:ext uri="{BB962C8B-B14F-4D97-AF65-F5344CB8AC3E}">
        <p14:creationId xmlns:p14="http://schemas.microsoft.com/office/powerpoint/2010/main" val="36772000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ACBE6-866F-14DD-59F4-5DE60318D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3">
            <a:extLst>
              <a:ext uri="{FF2B5EF4-FFF2-40B4-BE49-F238E27FC236}">
                <a16:creationId xmlns:a16="http://schemas.microsoft.com/office/drawing/2014/main" id="{DEC2743E-535E-23C9-B83D-8095BEE5C9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l-GR" sz="1400">
              <a:latin typeface="Tahoma" panose="020B0604030504040204" pitchFamily="34" charset="0"/>
            </a:endParaRPr>
          </a:p>
        </p:txBody>
      </p:sp>
      <p:sp>
        <p:nvSpPr>
          <p:cNvPr id="537602" name="Rectangle 2">
            <a:extLst>
              <a:ext uri="{FF2B5EF4-FFF2-40B4-BE49-F238E27FC236}">
                <a16:creationId xmlns:a16="http://schemas.microsoft.com/office/drawing/2014/main" id="{0D42C599-5300-10B0-6469-384508DDB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l-GR" sz="3400" dirty="0"/>
              <a:t>Βιβλίο μαθήματος</a:t>
            </a:r>
            <a:endParaRPr lang="en-GB" sz="3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B2B4EF-1540-6550-9E5A-B50B0DBE8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1398203"/>
            <a:ext cx="3180381" cy="451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2D2A727F-371E-B971-D6C4-60EDAE16D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3821"/>
            <a:ext cx="3229744" cy="4543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510037"/>
      </p:ext>
    </p:extLst>
  </p:cSld>
  <p:clrMapOvr>
    <a:masterClrMapping/>
  </p:clrMapOvr>
</p:sld>
</file>

<file path=ppt/theme/theme1.xml><?xml version="1.0" encoding="utf-8"?>
<a:theme xmlns:a="http://schemas.openxmlformats.org/drawingml/2006/main" name="Blue Diagonal">
  <a:themeElements>
    <a:clrScheme name="Blue Diagonal 3">
      <a:dk1>
        <a:srgbClr val="000000"/>
      </a:dk1>
      <a:lt1>
        <a:srgbClr val="FFFFFF"/>
      </a:lt1>
      <a:dk2>
        <a:srgbClr val="000000"/>
      </a:dk2>
      <a:lt2>
        <a:srgbClr val="CBCBCB"/>
      </a:lt2>
      <a:accent1>
        <a:srgbClr val="DDDDDD"/>
      </a:accent1>
      <a:accent2>
        <a:srgbClr val="B2B2B2"/>
      </a:accent2>
      <a:accent3>
        <a:srgbClr val="FFFFFF"/>
      </a:accent3>
      <a:accent4>
        <a:srgbClr val="000000"/>
      </a:accent4>
      <a:accent5>
        <a:srgbClr val="EBEBEB"/>
      </a:accent5>
      <a:accent6>
        <a:srgbClr val="A1A1A1"/>
      </a:accent6>
      <a:hlink>
        <a:srgbClr val="4D4D4D"/>
      </a:hlink>
      <a:folHlink>
        <a:srgbClr val="777777"/>
      </a:folHlink>
    </a:clrScheme>
    <a:fontScheme name="Blue Diagona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5000"/>
          <a:buFont typeface="Wingdings" pitchFamily="2" charset="2"/>
          <a:buChar char="n"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5000"/>
          <a:buFont typeface="Wingdings" pitchFamily="2" charset="2"/>
          <a:buChar char="n"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 Diagonal.pot</Template>
  <TotalTime>28479</TotalTime>
  <Words>3484</Words>
  <Application>Microsoft Office PowerPoint</Application>
  <PresentationFormat>Προβολή στην οθόνη (4:3)</PresentationFormat>
  <Paragraphs>643</Paragraphs>
  <Slides>55</Slides>
  <Notes>55</Notes>
  <HiddenSlides>0</HiddenSlides>
  <MMClips>0</MMClips>
  <ScaleCrop>false</ScaleCrop>
  <HeadingPairs>
    <vt:vector size="8" baseType="variant">
      <vt:variant>
        <vt:lpstr>Γραμματοσειρές που χρησιμοποιούνται</vt:lpstr>
      </vt:variant>
      <vt:variant>
        <vt:i4>11</vt:i4>
      </vt:variant>
      <vt:variant>
        <vt:lpstr>Θέμα</vt:lpstr>
      </vt:variant>
      <vt:variant>
        <vt:i4>1</vt:i4>
      </vt:variant>
      <vt:variant>
        <vt:lpstr>Ενσωματωμένοι διακομιστές OLE</vt:lpstr>
      </vt:variant>
      <vt:variant>
        <vt:i4>1</vt:i4>
      </vt:variant>
      <vt:variant>
        <vt:lpstr>Τίτλοι διαφανειών</vt:lpstr>
      </vt:variant>
      <vt:variant>
        <vt:i4>55</vt:i4>
      </vt:variant>
    </vt:vector>
  </HeadingPairs>
  <TitlesOfParts>
    <vt:vector size="68" baseType="lpstr">
      <vt:lpstr>Arial</vt:lpstr>
      <vt:lpstr>Cambria Math</vt:lpstr>
      <vt:lpstr>Euclid Symbol</vt:lpstr>
      <vt:lpstr>Garamond</vt:lpstr>
      <vt:lpstr>gibson</vt:lpstr>
      <vt:lpstr>Mathematica1Mono</vt:lpstr>
      <vt:lpstr>Symbol</vt:lpstr>
      <vt:lpstr>Tahoma</vt:lpstr>
      <vt:lpstr>Times New Roman</vt:lpstr>
      <vt:lpstr>Verdana</vt:lpstr>
      <vt:lpstr>Wingdings</vt:lpstr>
      <vt:lpstr>Blue Diagonal</vt:lpstr>
      <vt:lpstr>Equation</vt:lpstr>
      <vt:lpstr>Ψηφιακές Τηλεπικοινωνίες</vt:lpstr>
      <vt:lpstr>Επισκόπηση Τεχνολογικών Εξελίξεων στις Τηλ/νιες</vt:lpstr>
      <vt:lpstr>Επισκόπηση Τεχνολογικών Εξελίξεων στις Τηλ/νιες</vt:lpstr>
      <vt:lpstr>Επισκόπηση Τεχνολογικών Εξελίξεων στις Τηλ/νιες</vt:lpstr>
      <vt:lpstr>Επισκόπηση Τεχνολογικών Εξελίξεων στις Τηλ/νιες</vt:lpstr>
      <vt:lpstr>Επισκόπηση Τεχνολογικών Εξελίξεων στις Τηλ/νιες</vt:lpstr>
      <vt:lpstr>Επισκόπηση Τεχνολογικών Εξελίξεων στις Τηλ/νιες</vt:lpstr>
      <vt:lpstr>Επισκόπηση Τεχνολογικών Εξελίξεων στις Τηλ/νιες</vt:lpstr>
      <vt:lpstr>«Φρυκτωρία»</vt:lpstr>
      <vt:lpstr>«Φρυκτωρία» (2)</vt:lpstr>
      <vt:lpstr>Τι μάθαμε από την ιστορική αναδρομή;</vt:lpstr>
      <vt:lpstr>Είδη Τηλ/κων Συστημάτων</vt:lpstr>
      <vt:lpstr>Γενικό Μοντέλο Τηλεπικοινωνιακού Συστήματος</vt:lpstr>
      <vt:lpstr>Κριτήρια Απόδοσης</vt:lpstr>
      <vt:lpstr>Βασικά Σημεία για τα Τηλ/κα Συστ.</vt:lpstr>
      <vt:lpstr>Αναλογικές vs Ψηφ. Τηλεπικ.</vt:lpstr>
      <vt:lpstr>Ψηφιακό Τηλεπικοινωνιακό Σύστημα: Βασική Δομή</vt:lpstr>
      <vt:lpstr>Ανάλυση της Δομής ενός Ψ.Τ.Σ.</vt:lpstr>
      <vt:lpstr>Πηγή Πληροφορίας</vt:lpstr>
      <vt:lpstr>Κωδικοποιητής και Α/Κ Πηγής</vt:lpstr>
      <vt:lpstr>Κωδικοποιητής και Α/Κ Καναλιού</vt:lpstr>
      <vt:lpstr>Φίλτρα Πομπού και Δέκτη</vt:lpstr>
      <vt:lpstr>Διαμόρφωση και Α/Δ</vt:lpstr>
      <vt:lpstr>Διαμόρφωση και Α/Δ  (2)</vt:lpstr>
      <vt:lpstr>Ψηφιακό Τηλεπικοινωνιακό Σύστημα: Βασική Δομή</vt:lpstr>
      <vt:lpstr>Ψηφιακό Τηλεπικοινωνιακό Σύστημα: Κάπως πιο πλήρες</vt:lpstr>
      <vt:lpstr>Διαχείριση Παρεμβολών - Ισοσταθμιστής</vt:lpstr>
      <vt:lpstr>Άλλα υποσυστήματα ενός Ψ.Τ.Σ.</vt:lpstr>
      <vt:lpstr>Κανάλι</vt:lpstr>
      <vt:lpstr>Βασικοί Τύποι Καναλιών (1/2)</vt:lpstr>
      <vt:lpstr>Ενσύρματα Κανάλια</vt:lpstr>
      <vt:lpstr>Βασικοί Τύποι Καναλιών (2/2)</vt:lpstr>
      <vt:lpstr>Ηλεκτρομαγνητικό Φάσμα </vt:lpstr>
      <vt:lpstr>Ηλεκτρομαγνητικό Φάσμα </vt:lpstr>
      <vt:lpstr>Ηλεκτρομαγνητικό Φάσμα </vt:lpstr>
      <vt:lpstr>Ηλεκτρομαγνητικό Φάσμα </vt:lpstr>
      <vt:lpstr>Ανάθεση συχνοτήτων</vt:lpstr>
      <vt:lpstr>Συχνότητες για Ασύρματα Κανάλια</vt:lpstr>
      <vt:lpstr>Τρόποι Διάδοσης  (1/4)</vt:lpstr>
      <vt:lpstr>Τρόποι Διάδοσης (2/4)</vt:lpstr>
      <vt:lpstr>Τρόποι Διάδοσης (3/4)</vt:lpstr>
      <vt:lpstr>Τρόποι Διάδοσης (4/4)</vt:lpstr>
      <vt:lpstr>Παράγοντες υποβάθμισης </vt:lpstr>
      <vt:lpstr>Εξασθένηση λόγω Βροχόπτωσης</vt:lpstr>
      <vt:lpstr>Τρέχουσες και μελλοντικές εξελίξεις</vt:lpstr>
      <vt:lpstr>Μαθηματικά Μοντέλα Καναλιών</vt:lpstr>
      <vt:lpstr>Κανάλι Προσθετικού Θορύβου</vt:lpstr>
      <vt:lpstr>Κανάλι Προσθετικού Θορύβου</vt:lpstr>
      <vt:lpstr>Κανάλι Προσθετικού Θορύβου (2)</vt:lpstr>
      <vt:lpstr>Το Κανάλι ως Γραμμικό Σύστημα</vt:lpstr>
      <vt:lpstr>Το Κανάλι ως Χρον. Μεταβ. Γραμ. Συστ.</vt:lpstr>
      <vt:lpstr>Παραμετρικό Μοντέλο Καναλιού (1)</vt:lpstr>
      <vt:lpstr>Παραμετρικό Μοντέλο Καναλιού (2)</vt:lpstr>
      <vt:lpstr>Διαδικαστικά</vt:lpstr>
      <vt:lpstr>Βιβλίο μαθήματος</vt:lpstr>
    </vt:vector>
  </TitlesOfParts>
  <Company>SPCLab/CEID/UPatras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"Mobile Channel Characteristics"</dc:title>
  <dc:creator>Kostas Berberidis</dc:creator>
  <cp:lastModifiedBy>Nikos Piperigkos</cp:lastModifiedBy>
  <cp:revision>2755</cp:revision>
  <cp:lastPrinted>2022-10-17T11:44:55Z</cp:lastPrinted>
  <dcterms:created xsi:type="dcterms:W3CDTF">2001-05-17T09:43:34Z</dcterms:created>
  <dcterms:modified xsi:type="dcterms:W3CDTF">2024-10-17T12:04:19Z</dcterms:modified>
</cp:coreProperties>
</file>
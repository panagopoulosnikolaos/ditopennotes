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337" r:id="rId2"/>
    <p:sldId id="361" r:id="rId3"/>
    <p:sldId id="360" r:id="rId4"/>
    <p:sldId id="362" r:id="rId5"/>
    <p:sldId id="367" r:id="rId6"/>
    <p:sldId id="356" r:id="rId7"/>
    <p:sldId id="338" r:id="rId8"/>
    <p:sldId id="339" r:id="rId9"/>
    <p:sldId id="355" r:id="rId10"/>
    <p:sldId id="342" r:id="rId11"/>
    <p:sldId id="343" r:id="rId12"/>
    <p:sldId id="363" r:id="rId13"/>
    <p:sldId id="340" r:id="rId14"/>
    <p:sldId id="364" r:id="rId15"/>
    <p:sldId id="344" r:id="rId16"/>
    <p:sldId id="345" r:id="rId17"/>
    <p:sldId id="346" r:id="rId18"/>
    <p:sldId id="365" r:id="rId19"/>
    <p:sldId id="373" r:id="rId20"/>
    <p:sldId id="341" r:id="rId21"/>
    <p:sldId id="385" r:id="rId22"/>
    <p:sldId id="387" r:id="rId23"/>
    <p:sldId id="347" r:id="rId24"/>
    <p:sldId id="368" r:id="rId25"/>
    <p:sldId id="388" r:id="rId26"/>
    <p:sldId id="348" r:id="rId27"/>
    <p:sldId id="386" r:id="rId28"/>
    <p:sldId id="350" r:id="rId29"/>
    <p:sldId id="370" r:id="rId30"/>
    <p:sldId id="371" r:id="rId31"/>
    <p:sldId id="372" r:id="rId32"/>
    <p:sldId id="375" r:id="rId33"/>
    <p:sldId id="376" r:id="rId34"/>
    <p:sldId id="377" r:id="rId35"/>
    <p:sldId id="381" r:id="rId36"/>
    <p:sldId id="380" r:id="rId37"/>
    <p:sldId id="379" r:id="rId38"/>
    <p:sldId id="382" r:id="rId39"/>
    <p:sldId id="383" r:id="rId40"/>
    <p:sldId id="384" r:id="rId41"/>
    <p:sldId id="374" r:id="rId42"/>
    <p:sldId id="378" r:id="rId43"/>
  </p:sldIdLst>
  <p:sldSz cx="8953500" cy="7239000"/>
  <p:notesSz cx="6985000" cy="9282113"/>
  <p:defaultTextStyle>
    <a:defPPr>
      <a:defRPr lang="en-US"/>
    </a:defPPr>
    <a:lvl1pPr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1pPr>
    <a:lvl2pPr marL="4572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2pPr>
    <a:lvl3pPr marL="9144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3pPr>
    <a:lvl4pPr marL="13716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4pPr>
    <a:lvl5pPr marL="1828800" algn="l" rtl="0" eaLnBrk="0" fontAlgn="base" hangingPunct="0">
      <a:spcBef>
        <a:spcPct val="0"/>
      </a:spcBef>
      <a:spcAft>
        <a:spcPct val="0"/>
      </a:spcAft>
      <a:defRPr sz="1400" kern="1200">
        <a:solidFill>
          <a:srgbClr val="000000"/>
        </a:solidFill>
        <a:latin typeface="Helvetica" panose="020B0604020202020204" pitchFamily="34" charset="0"/>
        <a:ea typeface="+mn-ea"/>
        <a:cs typeface="+mn-cs"/>
      </a:defRPr>
    </a:lvl5pPr>
    <a:lvl6pPr marL="2286000" algn="l" defTabSz="914400" rtl="0" eaLnBrk="1" latinLnBrk="0" hangingPunct="1">
      <a:defRPr sz="1400" kern="1200">
        <a:solidFill>
          <a:srgbClr val="000000"/>
        </a:solidFill>
        <a:latin typeface="Helvetica" panose="020B0604020202020204" pitchFamily="34" charset="0"/>
        <a:ea typeface="+mn-ea"/>
        <a:cs typeface="+mn-cs"/>
      </a:defRPr>
    </a:lvl6pPr>
    <a:lvl7pPr marL="2743200" algn="l" defTabSz="914400" rtl="0" eaLnBrk="1" latinLnBrk="0" hangingPunct="1">
      <a:defRPr sz="1400" kern="1200">
        <a:solidFill>
          <a:srgbClr val="000000"/>
        </a:solidFill>
        <a:latin typeface="Helvetica" panose="020B0604020202020204" pitchFamily="34" charset="0"/>
        <a:ea typeface="+mn-ea"/>
        <a:cs typeface="+mn-cs"/>
      </a:defRPr>
    </a:lvl7pPr>
    <a:lvl8pPr marL="3200400" algn="l" defTabSz="914400" rtl="0" eaLnBrk="1" latinLnBrk="0" hangingPunct="1">
      <a:defRPr sz="1400" kern="1200">
        <a:solidFill>
          <a:srgbClr val="000000"/>
        </a:solidFill>
        <a:latin typeface="Helvetica" panose="020B0604020202020204" pitchFamily="34" charset="0"/>
        <a:ea typeface="+mn-ea"/>
        <a:cs typeface="+mn-cs"/>
      </a:defRPr>
    </a:lvl8pPr>
    <a:lvl9pPr marL="3657600" algn="l" defTabSz="914400" rtl="0" eaLnBrk="1" latinLnBrk="0" hangingPunct="1">
      <a:defRPr sz="1400" kern="1200">
        <a:solidFill>
          <a:srgbClr val="000000"/>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4511">
          <p15:clr>
            <a:srgbClr val="A4A3A4"/>
          </p15:clr>
        </p15:guide>
        <p15:guide id="2" pos="16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003399"/>
    <a:srgbClr val="EAEAEA"/>
    <a:srgbClr val="000000"/>
    <a:srgbClr val="FFFFFF"/>
    <a:srgbClr val="676767"/>
    <a:srgbClr val="CC3300"/>
    <a:srgbClr val="E5E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B2318C-11F3-4535-B406-E796FA92C4F0}" v="275" dt="2024-12-05T13:42:04.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85882" autoAdjust="0"/>
  </p:normalViewPr>
  <p:slideViewPr>
    <p:cSldViewPr snapToGrid="0">
      <p:cViewPr varScale="1">
        <p:scale>
          <a:sx n="90" d="100"/>
          <a:sy n="90" d="100"/>
        </p:scale>
        <p:origin x="2334" y="84"/>
      </p:cViewPr>
      <p:guideLst>
        <p:guide orient="horz" pos="4511"/>
        <p:guide pos="165"/>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os Piperigkos" userId="b361276a-3497-4fae-9245-3cd0ad5fb2cd" providerId="ADAL" clId="{12B2318C-11F3-4535-B406-E796FA92C4F0}"/>
    <pc:docChg chg="undo custSel addSld delSld modSld sldOrd">
      <pc:chgData name="Nikos Piperigkos" userId="b361276a-3497-4fae-9245-3cd0ad5fb2cd" providerId="ADAL" clId="{12B2318C-11F3-4535-B406-E796FA92C4F0}" dt="2024-12-11T11:44:00.987" v="864" actId="47"/>
      <pc:docMkLst>
        <pc:docMk/>
      </pc:docMkLst>
      <pc:sldChg chg="add del">
        <pc:chgData name="Nikos Piperigkos" userId="b361276a-3497-4fae-9245-3cd0ad5fb2cd" providerId="ADAL" clId="{12B2318C-11F3-4535-B406-E796FA92C4F0}" dt="2024-12-11T11:43:54.989" v="863" actId="47"/>
        <pc:sldMkLst>
          <pc:docMk/>
          <pc:sldMk cId="0" sldId="337"/>
        </pc:sldMkLst>
      </pc:sldChg>
      <pc:sldChg chg="add del">
        <pc:chgData name="Nikos Piperigkos" userId="b361276a-3497-4fae-9245-3cd0ad5fb2cd" providerId="ADAL" clId="{12B2318C-11F3-4535-B406-E796FA92C4F0}" dt="2024-12-11T11:43:54.989" v="863" actId="47"/>
        <pc:sldMkLst>
          <pc:docMk/>
          <pc:sldMk cId="0" sldId="338"/>
        </pc:sldMkLst>
      </pc:sldChg>
      <pc:sldChg chg="add del">
        <pc:chgData name="Nikos Piperigkos" userId="b361276a-3497-4fae-9245-3cd0ad5fb2cd" providerId="ADAL" clId="{12B2318C-11F3-4535-B406-E796FA92C4F0}" dt="2024-12-11T11:43:54.989" v="863" actId="47"/>
        <pc:sldMkLst>
          <pc:docMk/>
          <pc:sldMk cId="0" sldId="339"/>
        </pc:sldMkLst>
      </pc:sldChg>
      <pc:sldChg chg="add del">
        <pc:chgData name="Nikos Piperigkos" userId="b361276a-3497-4fae-9245-3cd0ad5fb2cd" providerId="ADAL" clId="{12B2318C-11F3-4535-B406-E796FA92C4F0}" dt="2024-12-11T11:43:54.989" v="863" actId="47"/>
        <pc:sldMkLst>
          <pc:docMk/>
          <pc:sldMk cId="0" sldId="340"/>
        </pc:sldMkLst>
      </pc:sldChg>
      <pc:sldChg chg="addSp delSp modSp add del mod">
        <pc:chgData name="Nikos Piperigkos" userId="b361276a-3497-4fae-9245-3cd0ad5fb2cd" providerId="ADAL" clId="{12B2318C-11F3-4535-B406-E796FA92C4F0}" dt="2024-12-11T11:43:54.989" v="863" actId="47"/>
        <pc:sldMkLst>
          <pc:docMk/>
          <pc:sldMk cId="0" sldId="341"/>
        </pc:sldMkLst>
        <pc:spChg chg="add mod">
          <ac:chgData name="Nikos Piperigkos" userId="b361276a-3497-4fae-9245-3cd0ad5fb2cd" providerId="ADAL" clId="{12B2318C-11F3-4535-B406-E796FA92C4F0}" dt="2024-12-05T11:52:58.338" v="616" actId="1076"/>
          <ac:spMkLst>
            <pc:docMk/>
            <pc:sldMk cId="0" sldId="341"/>
            <ac:spMk id="3" creationId="{02E8B44F-06F0-5BC0-ACE6-61E271998E36}"/>
          </ac:spMkLst>
        </pc:spChg>
        <pc:picChg chg="add mod">
          <ac:chgData name="Nikos Piperigkos" userId="b361276a-3497-4fae-9245-3cd0ad5fb2cd" providerId="ADAL" clId="{12B2318C-11F3-4535-B406-E796FA92C4F0}" dt="2024-12-05T11:53:03.368" v="619" actId="1076"/>
          <ac:picMkLst>
            <pc:docMk/>
            <pc:sldMk cId="0" sldId="341"/>
            <ac:picMk id="4" creationId="{F7AA739E-D83E-E398-D21A-0783C3C22457}"/>
          </ac:picMkLst>
        </pc:picChg>
        <pc:picChg chg="mod">
          <ac:chgData name="Nikos Piperigkos" userId="b361276a-3497-4fae-9245-3cd0ad5fb2cd" providerId="ADAL" clId="{12B2318C-11F3-4535-B406-E796FA92C4F0}" dt="2024-12-05T11:53:07.150" v="620" actId="1076"/>
          <ac:picMkLst>
            <pc:docMk/>
            <pc:sldMk cId="0" sldId="341"/>
            <ac:picMk id="11268" creationId="{00000000-0000-0000-0000-000000000000}"/>
          </ac:picMkLst>
        </pc:picChg>
        <pc:picChg chg="del">
          <ac:chgData name="Nikos Piperigkos" userId="b361276a-3497-4fae-9245-3cd0ad5fb2cd" providerId="ADAL" clId="{12B2318C-11F3-4535-B406-E796FA92C4F0}" dt="2024-12-05T11:52:01.177" v="601" actId="478"/>
          <ac:picMkLst>
            <pc:docMk/>
            <pc:sldMk cId="0" sldId="341"/>
            <ac:picMk id="11269" creationId="{00000000-0000-0000-0000-000000000000}"/>
          </ac:picMkLst>
        </pc:picChg>
        <pc:picChg chg="del">
          <ac:chgData name="Nikos Piperigkos" userId="b361276a-3497-4fae-9245-3cd0ad5fb2cd" providerId="ADAL" clId="{12B2318C-11F3-4535-B406-E796FA92C4F0}" dt="2024-12-05T11:52:00.735" v="600" actId="478"/>
          <ac:picMkLst>
            <pc:docMk/>
            <pc:sldMk cId="0" sldId="341"/>
            <ac:picMk id="11270" creationId="{00000000-0000-0000-0000-000000000000}"/>
          </ac:picMkLst>
        </pc:picChg>
      </pc:sldChg>
      <pc:sldChg chg="modSp add del mod">
        <pc:chgData name="Nikos Piperigkos" userId="b361276a-3497-4fae-9245-3cd0ad5fb2cd" providerId="ADAL" clId="{12B2318C-11F3-4535-B406-E796FA92C4F0}" dt="2024-12-11T11:43:54.989" v="863" actId="47"/>
        <pc:sldMkLst>
          <pc:docMk/>
          <pc:sldMk cId="0" sldId="342"/>
        </pc:sldMkLst>
        <pc:spChg chg="mod">
          <ac:chgData name="Nikos Piperigkos" userId="b361276a-3497-4fae-9245-3cd0ad5fb2cd" providerId="ADAL" clId="{12B2318C-11F3-4535-B406-E796FA92C4F0}" dt="2024-11-27T07:05:30.391" v="0" actId="20577"/>
          <ac:spMkLst>
            <pc:docMk/>
            <pc:sldMk cId="0" sldId="342"/>
            <ac:spMk id="5" creationId="{E4E86550-AC70-EA32-6589-D96A93310733}"/>
          </ac:spMkLst>
        </pc:spChg>
      </pc:sldChg>
      <pc:sldChg chg="modSp add del mod">
        <pc:chgData name="Nikos Piperigkos" userId="b361276a-3497-4fae-9245-3cd0ad5fb2cd" providerId="ADAL" clId="{12B2318C-11F3-4535-B406-E796FA92C4F0}" dt="2024-12-11T11:43:54.989" v="863" actId="47"/>
        <pc:sldMkLst>
          <pc:docMk/>
          <pc:sldMk cId="0" sldId="343"/>
        </pc:sldMkLst>
        <pc:spChg chg="mod">
          <ac:chgData name="Nikos Piperigkos" userId="b361276a-3497-4fae-9245-3cd0ad5fb2cd" providerId="ADAL" clId="{12B2318C-11F3-4535-B406-E796FA92C4F0}" dt="2024-11-27T07:07:19.746" v="2" actId="20577"/>
          <ac:spMkLst>
            <pc:docMk/>
            <pc:sldMk cId="0" sldId="343"/>
            <ac:spMk id="6" creationId="{CCC9A3BD-9915-1C79-C6E1-85CB84245F06}"/>
          </ac:spMkLst>
        </pc:spChg>
      </pc:sldChg>
      <pc:sldChg chg="add del">
        <pc:chgData name="Nikos Piperigkos" userId="b361276a-3497-4fae-9245-3cd0ad5fb2cd" providerId="ADAL" clId="{12B2318C-11F3-4535-B406-E796FA92C4F0}" dt="2024-12-11T11:43:54.989" v="863" actId="47"/>
        <pc:sldMkLst>
          <pc:docMk/>
          <pc:sldMk cId="0" sldId="344"/>
        </pc:sldMkLst>
      </pc:sldChg>
      <pc:sldChg chg="add del">
        <pc:chgData name="Nikos Piperigkos" userId="b361276a-3497-4fae-9245-3cd0ad5fb2cd" providerId="ADAL" clId="{12B2318C-11F3-4535-B406-E796FA92C4F0}" dt="2024-12-11T11:43:54.989" v="863" actId="47"/>
        <pc:sldMkLst>
          <pc:docMk/>
          <pc:sldMk cId="0" sldId="345"/>
        </pc:sldMkLst>
      </pc:sldChg>
      <pc:sldChg chg="add del">
        <pc:chgData name="Nikos Piperigkos" userId="b361276a-3497-4fae-9245-3cd0ad5fb2cd" providerId="ADAL" clId="{12B2318C-11F3-4535-B406-E796FA92C4F0}" dt="2024-12-11T11:43:54.989" v="863" actId="47"/>
        <pc:sldMkLst>
          <pc:docMk/>
          <pc:sldMk cId="0" sldId="346"/>
        </pc:sldMkLst>
      </pc:sldChg>
      <pc:sldChg chg="addSp modSp add del mod">
        <pc:chgData name="Nikos Piperigkos" userId="b361276a-3497-4fae-9245-3cd0ad5fb2cd" providerId="ADAL" clId="{12B2318C-11F3-4535-B406-E796FA92C4F0}" dt="2024-12-11T11:43:54.989" v="863" actId="47"/>
        <pc:sldMkLst>
          <pc:docMk/>
          <pc:sldMk cId="0" sldId="347"/>
        </pc:sldMkLst>
        <pc:spChg chg="add mod">
          <ac:chgData name="Nikos Piperigkos" userId="b361276a-3497-4fae-9245-3cd0ad5fb2cd" providerId="ADAL" clId="{12B2318C-11F3-4535-B406-E796FA92C4F0}" dt="2024-12-05T13:16:17.640" v="827" actId="1076"/>
          <ac:spMkLst>
            <pc:docMk/>
            <pc:sldMk cId="0" sldId="347"/>
            <ac:spMk id="2" creationId="{B60AA562-8F94-9C6D-2E66-4E8C94C62B78}"/>
          </ac:spMkLst>
        </pc:spChg>
      </pc:sldChg>
      <pc:sldChg chg="addSp delSp modSp add del mod">
        <pc:chgData name="Nikos Piperigkos" userId="b361276a-3497-4fae-9245-3cd0ad5fb2cd" providerId="ADAL" clId="{12B2318C-11F3-4535-B406-E796FA92C4F0}" dt="2024-12-11T11:43:54.989" v="863" actId="47"/>
        <pc:sldMkLst>
          <pc:docMk/>
          <pc:sldMk cId="0" sldId="348"/>
        </pc:sldMkLst>
        <pc:spChg chg="add mod">
          <ac:chgData name="Nikos Piperigkos" userId="b361276a-3497-4fae-9245-3cd0ad5fb2cd" providerId="ADAL" clId="{12B2318C-11F3-4535-B406-E796FA92C4F0}" dt="2024-11-28T13:53:08.375" v="134" actId="20577"/>
          <ac:spMkLst>
            <pc:docMk/>
            <pc:sldMk cId="0" sldId="348"/>
            <ac:spMk id="3" creationId="{3448A432-5856-5748-6172-49ACDFA98C13}"/>
          </ac:spMkLst>
        </pc:spChg>
        <pc:spChg chg="mod">
          <ac:chgData name="Nikos Piperigkos" userId="b361276a-3497-4fae-9245-3cd0ad5fb2cd" providerId="ADAL" clId="{12B2318C-11F3-4535-B406-E796FA92C4F0}" dt="2024-11-28T13:51:55.001" v="106"/>
          <ac:spMkLst>
            <pc:docMk/>
            <pc:sldMk cId="0" sldId="348"/>
            <ac:spMk id="13315" creationId="{00000000-0000-0000-0000-000000000000}"/>
          </ac:spMkLst>
        </pc:spChg>
        <pc:spChg chg="del">
          <ac:chgData name="Nikos Piperigkos" userId="b361276a-3497-4fae-9245-3cd0ad5fb2cd" providerId="ADAL" clId="{12B2318C-11F3-4535-B406-E796FA92C4F0}" dt="2024-11-28T13:51:46.799" v="103" actId="478"/>
          <ac:spMkLst>
            <pc:docMk/>
            <pc:sldMk cId="0" sldId="348"/>
            <ac:spMk id="13317" creationId="{00000000-0000-0000-0000-000000000000}"/>
          </ac:spMkLst>
        </pc:spChg>
        <pc:picChg chg="del">
          <ac:chgData name="Nikos Piperigkos" userId="b361276a-3497-4fae-9245-3cd0ad5fb2cd" providerId="ADAL" clId="{12B2318C-11F3-4535-B406-E796FA92C4F0}" dt="2024-11-28T13:51:45.477" v="102" actId="478"/>
          <ac:picMkLst>
            <pc:docMk/>
            <pc:sldMk cId="0" sldId="348"/>
            <ac:picMk id="13316" creationId="{00000000-0000-0000-0000-000000000000}"/>
          </ac:picMkLst>
        </pc:picChg>
        <pc:picChg chg="del">
          <ac:chgData name="Nikos Piperigkos" userId="b361276a-3497-4fae-9245-3cd0ad5fb2cd" providerId="ADAL" clId="{12B2318C-11F3-4535-B406-E796FA92C4F0}" dt="2024-11-28T13:51:45.057" v="101" actId="478"/>
          <ac:picMkLst>
            <pc:docMk/>
            <pc:sldMk cId="0" sldId="348"/>
            <ac:picMk id="13318" creationId="{00000000-0000-0000-0000-000000000000}"/>
          </ac:picMkLst>
        </pc:picChg>
        <pc:picChg chg="mod">
          <ac:chgData name="Nikos Piperigkos" userId="b361276a-3497-4fae-9245-3cd0ad5fb2cd" providerId="ADAL" clId="{12B2318C-11F3-4535-B406-E796FA92C4F0}" dt="2024-11-28T13:52:05.560" v="109" actId="1076"/>
          <ac:picMkLst>
            <pc:docMk/>
            <pc:sldMk cId="0" sldId="348"/>
            <ac:picMk id="13319" creationId="{00000000-0000-0000-0000-000000000000}"/>
          </ac:picMkLst>
        </pc:picChg>
      </pc:sldChg>
      <pc:sldChg chg="del mod modShow">
        <pc:chgData name="Nikos Piperigkos" userId="b361276a-3497-4fae-9245-3cd0ad5fb2cd" providerId="ADAL" clId="{12B2318C-11F3-4535-B406-E796FA92C4F0}" dt="2024-12-11T11:42:01.535" v="861" actId="47"/>
        <pc:sldMkLst>
          <pc:docMk/>
          <pc:sldMk cId="0" sldId="349"/>
        </pc:sldMkLst>
      </pc:sldChg>
      <pc:sldChg chg="addSp delSp modSp add del mod">
        <pc:chgData name="Nikos Piperigkos" userId="b361276a-3497-4fae-9245-3cd0ad5fb2cd" providerId="ADAL" clId="{12B2318C-11F3-4535-B406-E796FA92C4F0}" dt="2024-12-11T11:43:54.989" v="863" actId="47"/>
        <pc:sldMkLst>
          <pc:docMk/>
          <pc:sldMk cId="0" sldId="350"/>
        </pc:sldMkLst>
        <pc:spChg chg="del">
          <ac:chgData name="Nikos Piperigkos" userId="b361276a-3497-4fae-9245-3cd0ad5fb2cd" providerId="ADAL" clId="{12B2318C-11F3-4535-B406-E796FA92C4F0}" dt="2024-11-30T16:09:23.264" v="141" actId="478"/>
          <ac:spMkLst>
            <pc:docMk/>
            <pc:sldMk cId="0" sldId="350"/>
            <ac:spMk id="2" creationId="{00000000-0000-0000-0000-000000000000}"/>
          </ac:spMkLst>
        </pc:spChg>
        <pc:spChg chg="add mod">
          <ac:chgData name="Nikos Piperigkos" userId="b361276a-3497-4fae-9245-3cd0ad5fb2cd" providerId="ADAL" clId="{12B2318C-11F3-4535-B406-E796FA92C4F0}" dt="2024-11-30T16:18:59.337" v="370" actId="20577"/>
          <ac:spMkLst>
            <pc:docMk/>
            <pc:sldMk cId="0" sldId="350"/>
            <ac:spMk id="3" creationId="{67650EF4-2C08-B179-6A4F-E5EE3C6CF82D}"/>
          </ac:spMkLst>
        </pc:spChg>
        <pc:spChg chg="del mod">
          <ac:chgData name="Nikos Piperigkos" userId="b361276a-3497-4fae-9245-3cd0ad5fb2cd" providerId="ADAL" clId="{12B2318C-11F3-4535-B406-E796FA92C4F0}" dt="2024-11-30T16:09:25.757" v="143" actId="478"/>
          <ac:spMkLst>
            <pc:docMk/>
            <pc:sldMk cId="0" sldId="350"/>
            <ac:spMk id="7" creationId="{00000000-0000-0000-0000-000000000000}"/>
          </ac:spMkLst>
        </pc:spChg>
        <pc:spChg chg="add mod">
          <ac:chgData name="Nikos Piperigkos" userId="b361276a-3497-4fae-9245-3cd0ad5fb2cd" providerId="ADAL" clId="{12B2318C-11F3-4535-B406-E796FA92C4F0}" dt="2024-12-05T11:58:57.662" v="791" actId="14100"/>
          <ac:spMkLst>
            <pc:docMk/>
            <pc:sldMk cId="0" sldId="350"/>
            <ac:spMk id="8" creationId="{BFD817F4-11E8-FED2-C79D-1978B47B1E1B}"/>
          </ac:spMkLst>
        </pc:spChg>
        <pc:spChg chg="add mod">
          <ac:chgData name="Nikos Piperigkos" userId="b361276a-3497-4fae-9245-3cd0ad5fb2cd" providerId="ADAL" clId="{12B2318C-11F3-4535-B406-E796FA92C4F0}" dt="2024-11-30T16:14:04.242" v="314" actId="1076"/>
          <ac:spMkLst>
            <pc:docMk/>
            <pc:sldMk cId="0" sldId="350"/>
            <ac:spMk id="9" creationId="{2D3274BD-B4B6-E17B-4C87-0D1A7348FE4D}"/>
          </ac:spMkLst>
        </pc:spChg>
        <pc:graphicFrameChg chg="del">
          <ac:chgData name="Nikos Piperigkos" userId="b361276a-3497-4fae-9245-3cd0ad5fb2cd" providerId="ADAL" clId="{12B2318C-11F3-4535-B406-E796FA92C4F0}" dt="2024-11-30T16:09:22.499" v="140" actId="478"/>
          <ac:graphicFrameMkLst>
            <pc:docMk/>
            <pc:sldMk cId="0" sldId="350"/>
            <ac:graphicFrameMk id="15364" creationId="{00000000-0000-0000-0000-000000000000}"/>
          </ac:graphicFrameMkLst>
        </pc:graphicFrameChg>
        <pc:picChg chg="add mod">
          <ac:chgData name="Nikos Piperigkos" userId="b361276a-3497-4fae-9245-3cd0ad5fb2cd" providerId="ADAL" clId="{12B2318C-11F3-4535-B406-E796FA92C4F0}" dt="2024-11-30T16:12:41.519" v="292" actId="1076"/>
          <ac:picMkLst>
            <pc:docMk/>
            <pc:sldMk cId="0" sldId="350"/>
            <ac:picMk id="5" creationId="{FE115FF8-B117-6B74-042B-A520899497E0}"/>
          </ac:picMkLst>
        </pc:picChg>
        <pc:picChg chg="del">
          <ac:chgData name="Nikos Piperigkos" userId="b361276a-3497-4fae-9245-3cd0ad5fb2cd" providerId="ADAL" clId="{12B2318C-11F3-4535-B406-E796FA92C4F0}" dt="2024-11-30T16:09:20.875" v="139" actId="478"/>
          <ac:picMkLst>
            <pc:docMk/>
            <pc:sldMk cId="0" sldId="350"/>
            <ac:picMk id="15362" creationId="{00000000-0000-0000-0000-000000000000}"/>
          </ac:picMkLst>
        </pc:picChg>
        <pc:picChg chg="del">
          <ac:chgData name="Nikos Piperigkos" userId="b361276a-3497-4fae-9245-3cd0ad5fb2cd" providerId="ADAL" clId="{12B2318C-11F3-4535-B406-E796FA92C4F0}" dt="2024-11-30T16:09:20.460" v="138" actId="478"/>
          <ac:picMkLst>
            <pc:docMk/>
            <pc:sldMk cId="0" sldId="350"/>
            <ac:picMk id="15365" creationId="{00000000-0000-0000-0000-000000000000}"/>
          </ac:picMkLst>
        </pc:picChg>
      </pc:sldChg>
      <pc:sldChg chg="del">
        <pc:chgData name="Nikos Piperigkos" userId="b361276a-3497-4fae-9245-3cd0ad5fb2cd" providerId="ADAL" clId="{12B2318C-11F3-4535-B406-E796FA92C4F0}" dt="2024-11-30T16:19:11.150" v="371" actId="47"/>
        <pc:sldMkLst>
          <pc:docMk/>
          <pc:sldMk cId="0" sldId="351"/>
        </pc:sldMkLst>
      </pc:sldChg>
      <pc:sldChg chg="del">
        <pc:chgData name="Nikos Piperigkos" userId="b361276a-3497-4fae-9245-3cd0ad5fb2cd" providerId="ADAL" clId="{12B2318C-11F3-4535-B406-E796FA92C4F0}" dt="2024-11-30T16:09:05.892" v="137" actId="47"/>
        <pc:sldMkLst>
          <pc:docMk/>
          <pc:sldMk cId="0" sldId="352"/>
        </pc:sldMkLst>
      </pc:sldChg>
      <pc:sldChg chg="del">
        <pc:chgData name="Nikos Piperigkos" userId="b361276a-3497-4fae-9245-3cd0ad5fb2cd" providerId="ADAL" clId="{12B2318C-11F3-4535-B406-E796FA92C4F0}" dt="2024-12-11T11:44:00.987" v="864" actId="47"/>
        <pc:sldMkLst>
          <pc:docMk/>
          <pc:sldMk cId="0" sldId="353"/>
        </pc:sldMkLst>
      </pc:sldChg>
      <pc:sldChg chg="del">
        <pc:chgData name="Nikos Piperigkos" userId="b361276a-3497-4fae-9245-3cd0ad5fb2cd" providerId="ADAL" clId="{12B2318C-11F3-4535-B406-E796FA92C4F0}" dt="2024-12-11T11:44:00.987" v="864" actId="47"/>
        <pc:sldMkLst>
          <pc:docMk/>
          <pc:sldMk cId="0" sldId="354"/>
        </pc:sldMkLst>
      </pc:sldChg>
      <pc:sldChg chg="modSp add del mod">
        <pc:chgData name="Nikos Piperigkos" userId="b361276a-3497-4fae-9245-3cd0ad5fb2cd" providerId="ADAL" clId="{12B2318C-11F3-4535-B406-E796FA92C4F0}" dt="2024-12-11T11:43:54.989" v="863" actId="47"/>
        <pc:sldMkLst>
          <pc:docMk/>
          <pc:sldMk cId="3967636279" sldId="355"/>
        </pc:sldMkLst>
        <pc:spChg chg="mod">
          <ac:chgData name="Nikos Piperigkos" userId="b361276a-3497-4fae-9245-3cd0ad5fb2cd" providerId="ADAL" clId="{12B2318C-11F3-4535-B406-E796FA92C4F0}" dt="2024-12-05T11:48:38.120" v="593" actId="20577"/>
          <ac:spMkLst>
            <pc:docMk/>
            <pc:sldMk cId="3967636279" sldId="355"/>
            <ac:spMk id="4" creationId="{438344F5-69F9-A712-EF9B-E15851360B9B}"/>
          </ac:spMkLst>
        </pc:spChg>
      </pc:sldChg>
      <pc:sldChg chg="addSp delSp modSp add del mod">
        <pc:chgData name="Nikos Piperigkos" userId="b361276a-3497-4fae-9245-3cd0ad5fb2cd" providerId="ADAL" clId="{12B2318C-11F3-4535-B406-E796FA92C4F0}" dt="2024-12-11T11:43:54.989" v="863" actId="47"/>
        <pc:sldMkLst>
          <pc:docMk/>
          <pc:sldMk cId="1974682115" sldId="356"/>
        </pc:sldMkLst>
        <pc:picChg chg="add mod">
          <ac:chgData name="Nikos Piperigkos" userId="b361276a-3497-4fae-9245-3cd0ad5fb2cd" providerId="ADAL" clId="{12B2318C-11F3-4535-B406-E796FA92C4F0}" dt="2024-11-28T13:13:41.316" v="19" actId="1076"/>
          <ac:picMkLst>
            <pc:docMk/>
            <pc:sldMk cId="1974682115" sldId="356"/>
            <ac:picMk id="3" creationId="{0DDFA5D9-540A-38CE-741A-B34387C55A7D}"/>
          </ac:picMkLst>
        </pc:picChg>
        <pc:picChg chg="add mod">
          <ac:chgData name="Nikos Piperigkos" userId="b361276a-3497-4fae-9245-3cd0ad5fb2cd" providerId="ADAL" clId="{12B2318C-11F3-4535-B406-E796FA92C4F0}" dt="2024-11-28T13:13:34.491" v="15" actId="1076"/>
          <ac:picMkLst>
            <pc:docMk/>
            <pc:sldMk cId="1974682115" sldId="356"/>
            <ac:picMk id="5" creationId="{D92A533B-4D5B-BC08-9741-9B2CB65FB349}"/>
          </ac:picMkLst>
        </pc:picChg>
        <pc:picChg chg="add mod">
          <ac:chgData name="Nikos Piperigkos" userId="b361276a-3497-4fae-9245-3cd0ad5fb2cd" providerId="ADAL" clId="{12B2318C-11F3-4535-B406-E796FA92C4F0}" dt="2024-11-28T13:13:43.379" v="20" actId="1076"/>
          <ac:picMkLst>
            <pc:docMk/>
            <pc:sldMk cId="1974682115" sldId="356"/>
            <ac:picMk id="7" creationId="{E73435DB-8D34-4DCA-B499-DC5D4F367171}"/>
          </ac:picMkLst>
        </pc:picChg>
        <pc:picChg chg="del">
          <ac:chgData name="Nikos Piperigkos" userId="b361276a-3497-4fae-9245-3cd0ad5fb2cd" providerId="ADAL" clId="{12B2318C-11F3-4535-B406-E796FA92C4F0}" dt="2024-11-28T13:12:26.031" v="4" actId="478"/>
          <ac:picMkLst>
            <pc:docMk/>
            <pc:sldMk cId="1974682115" sldId="356"/>
            <ac:picMk id="2051" creationId="{00000000-0000-0000-0000-000000000000}"/>
          </ac:picMkLst>
        </pc:picChg>
      </pc:sldChg>
      <pc:sldChg chg="del">
        <pc:chgData name="Nikos Piperigkos" userId="b361276a-3497-4fae-9245-3cd0ad5fb2cd" providerId="ADAL" clId="{12B2318C-11F3-4535-B406-E796FA92C4F0}" dt="2024-12-11T11:44:00.987" v="864" actId="47"/>
        <pc:sldMkLst>
          <pc:docMk/>
          <pc:sldMk cId="1641591636" sldId="357"/>
        </pc:sldMkLst>
      </pc:sldChg>
      <pc:sldChg chg="del">
        <pc:chgData name="Nikos Piperigkos" userId="b361276a-3497-4fae-9245-3cd0ad5fb2cd" providerId="ADAL" clId="{12B2318C-11F3-4535-B406-E796FA92C4F0}" dt="2024-12-11T11:44:00.987" v="864" actId="47"/>
        <pc:sldMkLst>
          <pc:docMk/>
          <pc:sldMk cId="3455378175" sldId="358"/>
        </pc:sldMkLst>
      </pc:sldChg>
      <pc:sldChg chg="del">
        <pc:chgData name="Nikos Piperigkos" userId="b361276a-3497-4fae-9245-3cd0ad5fb2cd" providerId="ADAL" clId="{12B2318C-11F3-4535-B406-E796FA92C4F0}" dt="2024-12-11T11:44:00.987" v="864" actId="47"/>
        <pc:sldMkLst>
          <pc:docMk/>
          <pc:sldMk cId="2626067460" sldId="359"/>
        </pc:sldMkLst>
      </pc:sldChg>
      <pc:sldChg chg="modSp add del mod">
        <pc:chgData name="Nikos Piperigkos" userId="b361276a-3497-4fae-9245-3cd0ad5fb2cd" providerId="ADAL" clId="{12B2318C-11F3-4535-B406-E796FA92C4F0}" dt="2024-12-11T11:43:54.989" v="863" actId="47"/>
        <pc:sldMkLst>
          <pc:docMk/>
          <pc:sldMk cId="2621639717" sldId="360"/>
        </pc:sldMkLst>
        <pc:spChg chg="mod">
          <ac:chgData name="Nikos Piperigkos" userId="b361276a-3497-4fae-9245-3cd0ad5fb2cd" providerId="ADAL" clId="{12B2318C-11F3-4535-B406-E796FA92C4F0}" dt="2024-11-28T13:25:33.091" v="37" actId="20577"/>
          <ac:spMkLst>
            <pc:docMk/>
            <pc:sldMk cId="2621639717" sldId="360"/>
            <ac:spMk id="10" creationId="{77D1AACC-6C7A-6D18-35CD-E5BAF6CB965F}"/>
          </ac:spMkLst>
        </pc:spChg>
      </pc:sldChg>
      <pc:sldChg chg="add del">
        <pc:chgData name="Nikos Piperigkos" userId="b361276a-3497-4fae-9245-3cd0ad5fb2cd" providerId="ADAL" clId="{12B2318C-11F3-4535-B406-E796FA92C4F0}" dt="2024-12-11T11:43:54.989" v="863" actId="47"/>
        <pc:sldMkLst>
          <pc:docMk/>
          <pc:sldMk cId="857895948" sldId="361"/>
        </pc:sldMkLst>
      </pc:sldChg>
      <pc:sldChg chg="addSp modSp add del mod">
        <pc:chgData name="Nikos Piperigkos" userId="b361276a-3497-4fae-9245-3cd0ad5fb2cd" providerId="ADAL" clId="{12B2318C-11F3-4535-B406-E796FA92C4F0}" dt="2024-12-11T11:43:54.989" v="863" actId="47"/>
        <pc:sldMkLst>
          <pc:docMk/>
          <pc:sldMk cId="1628600215" sldId="362"/>
        </pc:sldMkLst>
        <pc:spChg chg="mod">
          <ac:chgData name="Nikos Piperigkos" userId="b361276a-3497-4fae-9245-3cd0ad5fb2cd" providerId="ADAL" clId="{12B2318C-11F3-4535-B406-E796FA92C4F0}" dt="2024-11-28T13:25:57.391" v="42" actId="14100"/>
          <ac:spMkLst>
            <pc:docMk/>
            <pc:sldMk cId="1628600215" sldId="362"/>
            <ac:spMk id="5" creationId="{43D4E0A6-9636-3B85-A208-C6BE9C34BF10}"/>
          </ac:spMkLst>
        </pc:spChg>
        <pc:spChg chg="mod">
          <ac:chgData name="Nikos Piperigkos" userId="b361276a-3497-4fae-9245-3cd0ad5fb2cd" providerId="ADAL" clId="{12B2318C-11F3-4535-B406-E796FA92C4F0}" dt="2024-11-28T13:25:29.504" v="31" actId="20577"/>
          <ac:spMkLst>
            <pc:docMk/>
            <pc:sldMk cId="1628600215" sldId="362"/>
            <ac:spMk id="10" creationId="{DA55656A-F08E-413F-99EF-027E4071D5C8}"/>
          </ac:spMkLst>
        </pc:spChg>
        <pc:picChg chg="add mod">
          <ac:chgData name="Nikos Piperigkos" userId="b361276a-3497-4fae-9245-3cd0ad5fb2cd" providerId="ADAL" clId="{12B2318C-11F3-4535-B406-E796FA92C4F0}" dt="2024-11-28T13:26:02.277" v="45" actId="14100"/>
          <ac:picMkLst>
            <pc:docMk/>
            <pc:sldMk cId="1628600215" sldId="362"/>
            <ac:picMk id="3" creationId="{5D74D198-8AD6-B695-AC47-CA3B629CABE6}"/>
          </ac:picMkLst>
        </pc:picChg>
      </pc:sldChg>
      <pc:sldChg chg="add del">
        <pc:chgData name="Nikos Piperigkos" userId="b361276a-3497-4fae-9245-3cd0ad5fb2cd" providerId="ADAL" clId="{12B2318C-11F3-4535-B406-E796FA92C4F0}" dt="2024-12-11T11:43:54.989" v="863" actId="47"/>
        <pc:sldMkLst>
          <pc:docMk/>
          <pc:sldMk cId="3601549820" sldId="363"/>
        </pc:sldMkLst>
      </pc:sldChg>
      <pc:sldChg chg="add del">
        <pc:chgData name="Nikos Piperigkos" userId="b361276a-3497-4fae-9245-3cd0ad5fb2cd" providerId="ADAL" clId="{12B2318C-11F3-4535-B406-E796FA92C4F0}" dt="2024-12-11T11:43:54.989" v="863" actId="47"/>
        <pc:sldMkLst>
          <pc:docMk/>
          <pc:sldMk cId="4169459472" sldId="364"/>
        </pc:sldMkLst>
      </pc:sldChg>
      <pc:sldChg chg="add del">
        <pc:chgData name="Nikos Piperigkos" userId="b361276a-3497-4fae-9245-3cd0ad5fb2cd" providerId="ADAL" clId="{12B2318C-11F3-4535-B406-E796FA92C4F0}" dt="2024-12-11T11:43:54.989" v="863" actId="47"/>
        <pc:sldMkLst>
          <pc:docMk/>
          <pc:sldMk cId="3865671215" sldId="365"/>
        </pc:sldMkLst>
      </pc:sldChg>
      <pc:sldChg chg="del">
        <pc:chgData name="Nikos Piperigkos" userId="b361276a-3497-4fae-9245-3cd0ad5fb2cd" providerId="ADAL" clId="{12B2318C-11F3-4535-B406-E796FA92C4F0}" dt="2024-12-04T08:00:49.966" v="448" actId="47"/>
        <pc:sldMkLst>
          <pc:docMk/>
          <pc:sldMk cId="2533079011" sldId="366"/>
        </pc:sldMkLst>
      </pc:sldChg>
      <pc:sldChg chg="addSp delSp modSp add del mod">
        <pc:chgData name="Nikos Piperigkos" userId="b361276a-3497-4fae-9245-3cd0ad5fb2cd" providerId="ADAL" clId="{12B2318C-11F3-4535-B406-E796FA92C4F0}" dt="2024-12-11T11:43:54.989" v="863" actId="47"/>
        <pc:sldMkLst>
          <pc:docMk/>
          <pc:sldMk cId="1422001839" sldId="367"/>
        </pc:sldMkLst>
        <pc:spChg chg="del mod">
          <ac:chgData name="Nikos Piperigkos" userId="b361276a-3497-4fae-9245-3cd0ad5fb2cd" providerId="ADAL" clId="{12B2318C-11F3-4535-B406-E796FA92C4F0}" dt="2024-11-28T13:25:39.803" v="41"/>
          <ac:spMkLst>
            <pc:docMk/>
            <pc:sldMk cId="1422001839" sldId="367"/>
            <ac:spMk id="5" creationId="{F5611279-4855-2631-CD43-504E317279FD}"/>
          </ac:spMkLst>
        </pc:spChg>
        <pc:spChg chg="mod">
          <ac:chgData name="Nikos Piperigkos" userId="b361276a-3497-4fae-9245-3cd0ad5fb2cd" providerId="ADAL" clId="{12B2318C-11F3-4535-B406-E796FA92C4F0}" dt="2024-11-28T13:25:25.121" v="26" actId="20577"/>
          <ac:spMkLst>
            <pc:docMk/>
            <pc:sldMk cId="1422001839" sldId="367"/>
            <ac:spMk id="10" creationId="{1AF863EA-3B65-CFC0-E791-C70247810FF5}"/>
          </ac:spMkLst>
        </pc:spChg>
        <pc:picChg chg="add del">
          <ac:chgData name="Nikos Piperigkos" userId="b361276a-3497-4fae-9245-3cd0ad5fb2cd" providerId="ADAL" clId="{12B2318C-11F3-4535-B406-E796FA92C4F0}" dt="2024-11-28T13:26:13.232" v="46" actId="478"/>
          <ac:picMkLst>
            <pc:docMk/>
            <pc:sldMk cId="1422001839" sldId="367"/>
            <ac:picMk id="3" creationId="{3914F15A-3CAD-3A64-0070-09D2B9BA63E4}"/>
          </ac:picMkLst>
        </pc:picChg>
        <pc:picChg chg="add">
          <ac:chgData name="Nikos Piperigkos" userId="b361276a-3497-4fae-9245-3cd0ad5fb2cd" providerId="ADAL" clId="{12B2318C-11F3-4535-B406-E796FA92C4F0}" dt="2024-11-28T13:26:28.154" v="47" actId="22"/>
          <ac:picMkLst>
            <pc:docMk/>
            <pc:sldMk cId="1422001839" sldId="367"/>
            <ac:picMk id="6" creationId="{4BA21F75-6AB1-1663-15E3-9FE4E9A7CB60}"/>
          </ac:picMkLst>
        </pc:picChg>
      </pc:sldChg>
      <pc:sldChg chg="addSp delSp modSp add del mod ord">
        <pc:chgData name="Nikos Piperigkos" userId="b361276a-3497-4fae-9245-3cd0ad5fb2cd" providerId="ADAL" clId="{12B2318C-11F3-4535-B406-E796FA92C4F0}" dt="2024-12-11T11:43:54.989" v="863" actId="47"/>
        <pc:sldMkLst>
          <pc:docMk/>
          <pc:sldMk cId="1756010619" sldId="368"/>
        </pc:sldMkLst>
        <pc:spChg chg="add del mod">
          <ac:chgData name="Nikos Piperigkos" userId="b361276a-3497-4fae-9245-3cd0ad5fb2cd" providerId="ADAL" clId="{12B2318C-11F3-4535-B406-E796FA92C4F0}" dt="2024-12-05T13:16:58.034" v="831" actId="478"/>
          <ac:spMkLst>
            <pc:docMk/>
            <pc:sldMk cId="1756010619" sldId="368"/>
            <ac:spMk id="3" creationId="{5414167E-6AC5-67BD-52F0-94EE0F8B0419}"/>
          </ac:spMkLst>
        </pc:spChg>
        <pc:spChg chg="add mod">
          <ac:chgData name="Nikos Piperigkos" userId="b361276a-3497-4fae-9245-3cd0ad5fb2cd" providerId="ADAL" clId="{12B2318C-11F3-4535-B406-E796FA92C4F0}" dt="2024-12-05T13:17:20.200" v="839" actId="1076"/>
          <ac:spMkLst>
            <pc:docMk/>
            <pc:sldMk cId="1756010619" sldId="368"/>
            <ac:spMk id="4" creationId="{E560E5A4-4536-B62A-8100-97FDB8A9FEBC}"/>
          </ac:spMkLst>
        </pc:spChg>
        <pc:spChg chg="add mod">
          <ac:chgData name="Nikos Piperigkos" userId="b361276a-3497-4fae-9245-3cd0ad5fb2cd" providerId="ADAL" clId="{12B2318C-11F3-4535-B406-E796FA92C4F0}" dt="2024-11-28T13:51:29.263" v="98" actId="20577"/>
          <ac:spMkLst>
            <pc:docMk/>
            <pc:sldMk cId="1756010619" sldId="368"/>
            <ac:spMk id="5" creationId="{95AC2408-5B72-3631-17FA-7FC2C0290E71}"/>
          </ac:spMkLst>
        </pc:spChg>
        <pc:spChg chg="del mod">
          <ac:chgData name="Nikos Piperigkos" userId="b361276a-3497-4fae-9245-3cd0ad5fb2cd" providerId="ADAL" clId="{12B2318C-11F3-4535-B406-E796FA92C4F0}" dt="2024-12-05T13:17:16.472" v="837" actId="478"/>
          <ac:spMkLst>
            <pc:docMk/>
            <pc:sldMk cId="1756010619" sldId="368"/>
            <ac:spMk id="13317" creationId="{EF629791-8357-1A19-FC22-1E3A0071E470}"/>
          </ac:spMkLst>
        </pc:spChg>
        <pc:picChg chg="mod">
          <ac:chgData name="Nikos Piperigkos" userId="b361276a-3497-4fae-9245-3cd0ad5fb2cd" providerId="ADAL" clId="{12B2318C-11F3-4535-B406-E796FA92C4F0}" dt="2024-12-05T13:17:00.118" v="833" actId="1076"/>
          <ac:picMkLst>
            <pc:docMk/>
            <pc:sldMk cId="1756010619" sldId="368"/>
            <ac:picMk id="13316" creationId="{27673C3D-0037-E1B7-47D9-36AD538F8B18}"/>
          </ac:picMkLst>
        </pc:picChg>
        <pc:picChg chg="del mod">
          <ac:chgData name="Nikos Piperigkos" userId="b361276a-3497-4fae-9245-3cd0ad5fb2cd" providerId="ADAL" clId="{12B2318C-11F3-4535-B406-E796FA92C4F0}" dt="2024-12-05T13:17:16.879" v="838" actId="478"/>
          <ac:picMkLst>
            <pc:docMk/>
            <pc:sldMk cId="1756010619" sldId="368"/>
            <ac:picMk id="13318" creationId="{4B26B818-21D3-DC69-81EE-285C740D7884}"/>
          </ac:picMkLst>
        </pc:picChg>
        <pc:picChg chg="del">
          <ac:chgData name="Nikos Piperigkos" userId="b361276a-3497-4fae-9245-3cd0ad5fb2cd" providerId="ADAL" clId="{12B2318C-11F3-4535-B406-E796FA92C4F0}" dt="2024-11-28T13:49:26.032" v="49" actId="478"/>
          <ac:picMkLst>
            <pc:docMk/>
            <pc:sldMk cId="1756010619" sldId="368"/>
            <ac:picMk id="13319" creationId="{0C91CF92-B74D-7769-7DE5-2B01B7F3130D}"/>
          </ac:picMkLst>
        </pc:picChg>
      </pc:sldChg>
      <pc:sldChg chg="add del">
        <pc:chgData name="Nikos Piperigkos" userId="b361276a-3497-4fae-9245-3cd0ad5fb2cd" providerId="ADAL" clId="{12B2318C-11F3-4535-B406-E796FA92C4F0}" dt="2024-11-30T16:19:11.150" v="371" actId="47"/>
        <pc:sldMkLst>
          <pc:docMk/>
          <pc:sldMk cId="984667846" sldId="369"/>
        </pc:sldMkLst>
      </pc:sldChg>
      <pc:sldChg chg="addSp delSp modSp add del mod">
        <pc:chgData name="Nikos Piperigkos" userId="b361276a-3497-4fae-9245-3cd0ad5fb2cd" providerId="ADAL" clId="{12B2318C-11F3-4535-B406-E796FA92C4F0}" dt="2024-12-11T11:43:54.989" v="863" actId="47"/>
        <pc:sldMkLst>
          <pc:docMk/>
          <pc:sldMk cId="1713719618" sldId="370"/>
        </pc:sldMkLst>
        <pc:spChg chg="add mod">
          <ac:chgData name="Nikos Piperigkos" userId="b361276a-3497-4fae-9245-3cd0ad5fb2cd" providerId="ADAL" clId="{12B2318C-11F3-4535-B406-E796FA92C4F0}" dt="2024-11-30T16:14:08.230" v="315"/>
          <ac:spMkLst>
            <pc:docMk/>
            <pc:sldMk cId="1713719618" sldId="370"/>
            <ac:spMk id="2" creationId="{4336D314-1113-C660-87D3-3BE846119A7F}"/>
          </ac:spMkLst>
        </pc:spChg>
        <pc:spChg chg="mod">
          <ac:chgData name="Nikos Piperigkos" userId="b361276a-3497-4fae-9245-3cd0ad5fb2cd" providerId="ADAL" clId="{12B2318C-11F3-4535-B406-E796FA92C4F0}" dt="2024-11-30T16:18:54.605" v="368" actId="20577"/>
          <ac:spMkLst>
            <pc:docMk/>
            <pc:sldMk cId="1713719618" sldId="370"/>
            <ac:spMk id="3" creationId="{43477751-113D-77DC-3B50-E164E818F745}"/>
          </ac:spMkLst>
        </pc:spChg>
        <pc:spChg chg="mod">
          <ac:chgData name="Nikos Piperigkos" userId="b361276a-3497-4fae-9245-3cd0ad5fb2cd" providerId="ADAL" clId="{12B2318C-11F3-4535-B406-E796FA92C4F0}" dt="2024-11-30T16:14:51.882" v="332"/>
          <ac:spMkLst>
            <pc:docMk/>
            <pc:sldMk cId="1713719618" sldId="370"/>
            <ac:spMk id="8" creationId="{162E3350-BE7F-6C57-7514-69B6CDAF6C9B}"/>
          </ac:spMkLst>
        </pc:spChg>
        <pc:picChg chg="del">
          <ac:chgData name="Nikos Piperigkos" userId="b361276a-3497-4fae-9245-3cd0ad5fb2cd" providerId="ADAL" clId="{12B2318C-11F3-4535-B406-E796FA92C4F0}" dt="2024-11-30T16:17:15.718" v="337" actId="478"/>
          <ac:picMkLst>
            <pc:docMk/>
            <pc:sldMk cId="1713719618" sldId="370"/>
            <ac:picMk id="5" creationId="{58246628-F264-4ACC-BCC1-917799D36DF9}"/>
          </ac:picMkLst>
        </pc:picChg>
        <pc:picChg chg="add mod">
          <ac:chgData name="Nikos Piperigkos" userId="b361276a-3497-4fae-9245-3cd0ad5fb2cd" providerId="ADAL" clId="{12B2318C-11F3-4535-B406-E796FA92C4F0}" dt="2024-11-30T16:17:23.455" v="341" actId="1076"/>
          <ac:picMkLst>
            <pc:docMk/>
            <pc:sldMk cId="1713719618" sldId="370"/>
            <ac:picMk id="6" creationId="{5C26150A-9E45-FD5F-5764-EEEDC343156E}"/>
          </ac:picMkLst>
        </pc:picChg>
      </pc:sldChg>
      <pc:sldChg chg="addSp delSp modSp add del mod">
        <pc:chgData name="Nikos Piperigkos" userId="b361276a-3497-4fae-9245-3cd0ad5fb2cd" providerId="ADAL" clId="{12B2318C-11F3-4535-B406-E796FA92C4F0}" dt="2024-12-11T11:43:54.989" v="863" actId="47"/>
        <pc:sldMkLst>
          <pc:docMk/>
          <pc:sldMk cId="1911010906" sldId="371"/>
        </pc:sldMkLst>
        <pc:spChg chg="mod">
          <ac:chgData name="Nikos Piperigkos" userId="b361276a-3497-4fae-9245-3cd0ad5fb2cd" providerId="ADAL" clId="{12B2318C-11F3-4535-B406-E796FA92C4F0}" dt="2024-11-30T16:18:47.912" v="366" actId="20577"/>
          <ac:spMkLst>
            <pc:docMk/>
            <pc:sldMk cId="1911010906" sldId="371"/>
            <ac:spMk id="3" creationId="{0152354B-E352-4232-A90A-A80C3D417FE6}"/>
          </ac:spMkLst>
        </pc:spChg>
        <pc:spChg chg="mod">
          <ac:chgData name="Nikos Piperigkos" userId="b361276a-3497-4fae-9245-3cd0ad5fb2cd" providerId="ADAL" clId="{12B2318C-11F3-4535-B406-E796FA92C4F0}" dt="2024-11-30T16:18:11.836" v="348" actId="20577"/>
          <ac:spMkLst>
            <pc:docMk/>
            <pc:sldMk cId="1911010906" sldId="371"/>
            <ac:spMk id="8" creationId="{5B2C674F-D436-4812-C944-D5DA6B967577}"/>
          </ac:spMkLst>
        </pc:spChg>
        <pc:picChg chg="add mod">
          <ac:chgData name="Nikos Piperigkos" userId="b361276a-3497-4fae-9245-3cd0ad5fb2cd" providerId="ADAL" clId="{12B2318C-11F3-4535-B406-E796FA92C4F0}" dt="2024-11-30T16:18:29.411" v="352" actId="1076"/>
          <ac:picMkLst>
            <pc:docMk/>
            <pc:sldMk cId="1911010906" sldId="371"/>
            <ac:picMk id="5" creationId="{BC1D4511-EA2F-5B4A-8E28-6FB218A43280}"/>
          </ac:picMkLst>
        </pc:picChg>
        <pc:picChg chg="del">
          <ac:chgData name="Nikos Piperigkos" userId="b361276a-3497-4fae-9245-3cd0ad5fb2cd" providerId="ADAL" clId="{12B2318C-11F3-4535-B406-E796FA92C4F0}" dt="2024-11-30T16:18:24.725" v="349" actId="478"/>
          <ac:picMkLst>
            <pc:docMk/>
            <pc:sldMk cId="1911010906" sldId="371"/>
            <ac:picMk id="6" creationId="{71D67D4A-E86F-DACF-069D-24E737C2375B}"/>
          </ac:picMkLst>
        </pc:picChg>
      </pc:sldChg>
      <pc:sldChg chg="addSp delSp modSp add del mod">
        <pc:chgData name="Nikos Piperigkos" userId="b361276a-3497-4fae-9245-3cd0ad5fb2cd" providerId="ADAL" clId="{12B2318C-11F3-4535-B406-E796FA92C4F0}" dt="2024-12-11T11:43:54.989" v="863" actId="47"/>
        <pc:sldMkLst>
          <pc:docMk/>
          <pc:sldMk cId="686824657" sldId="372"/>
        </pc:sldMkLst>
        <pc:spChg chg="del">
          <ac:chgData name="Nikos Piperigkos" userId="b361276a-3497-4fae-9245-3cd0ad5fb2cd" providerId="ADAL" clId="{12B2318C-11F3-4535-B406-E796FA92C4F0}" dt="2024-11-30T16:19:51.563" v="375" actId="478"/>
          <ac:spMkLst>
            <pc:docMk/>
            <pc:sldMk cId="686824657" sldId="372"/>
            <ac:spMk id="2" creationId="{DCFF1CAE-2E3D-E8E8-FC1A-626DBBAD6749}"/>
          </ac:spMkLst>
        </pc:spChg>
        <pc:spChg chg="mod">
          <ac:chgData name="Nikos Piperigkos" userId="b361276a-3497-4fae-9245-3cd0ad5fb2cd" providerId="ADAL" clId="{12B2318C-11F3-4535-B406-E796FA92C4F0}" dt="2024-11-30T17:12:40.303" v="405" actId="5793"/>
          <ac:spMkLst>
            <pc:docMk/>
            <pc:sldMk cId="686824657" sldId="372"/>
            <ac:spMk id="3" creationId="{64840186-7BBF-A8BA-D4B9-183B5F9BAD6F}"/>
          </ac:spMkLst>
        </pc:spChg>
        <pc:spChg chg="add mod">
          <ac:chgData name="Nikos Piperigkos" userId="b361276a-3497-4fae-9245-3cd0ad5fb2cd" providerId="ADAL" clId="{12B2318C-11F3-4535-B406-E796FA92C4F0}" dt="2024-11-30T16:21:44.010" v="402" actId="164"/>
          <ac:spMkLst>
            <pc:docMk/>
            <pc:sldMk cId="686824657" sldId="372"/>
            <ac:spMk id="7" creationId="{09EF9EFB-09F7-94F2-A91E-36D21351E470}"/>
          </ac:spMkLst>
        </pc:spChg>
        <pc:spChg chg="del">
          <ac:chgData name="Nikos Piperigkos" userId="b361276a-3497-4fae-9245-3cd0ad5fb2cd" providerId="ADAL" clId="{12B2318C-11F3-4535-B406-E796FA92C4F0}" dt="2024-11-30T16:19:50.297" v="374" actId="478"/>
          <ac:spMkLst>
            <pc:docMk/>
            <pc:sldMk cId="686824657" sldId="372"/>
            <ac:spMk id="8" creationId="{378D2188-AD18-02FC-8CFB-B37B6895A5F1}"/>
          </ac:spMkLst>
        </pc:spChg>
        <pc:grpChg chg="add mod">
          <ac:chgData name="Nikos Piperigkos" userId="b361276a-3497-4fae-9245-3cd0ad5fb2cd" providerId="ADAL" clId="{12B2318C-11F3-4535-B406-E796FA92C4F0}" dt="2024-11-30T16:21:47.028" v="403" actId="1076"/>
          <ac:grpSpMkLst>
            <pc:docMk/>
            <pc:sldMk cId="686824657" sldId="372"/>
            <ac:grpSpMk id="9" creationId="{3144B4DA-D47F-727E-9BDE-6CF0C9AEB211}"/>
          </ac:grpSpMkLst>
        </pc:grpChg>
        <pc:picChg chg="del">
          <ac:chgData name="Nikos Piperigkos" userId="b361276a-3497-4fae-9245-3cd0ad5fb2cd" providerId="ADAL" clId="{12B2318C-11F3-4535-B406-E796FA92C4F0}" dt="2024-11-30T16:19:54.039" v="376" actId="478"/>
          <ac:picMkLst>
            <pc:docMk/>
            <pc:sldMk cId="686824657" sldId="372"/>
            <ac:picMk id="5" creationId="{C28BD2D0-E4AF-F2A2-0CD8-C967384E3DE5}"/>
          </ac:picMkLst>
        </pc:picChg>
        <pc:picChg chg="add mod">
          <ac:chgData name="Nikos Piperigkos" userId="b361276a-3497-4fae-9245-3cd0ad5fb2cd" providerId="ADAL" clId="{12B2318C-11F3-4535-B406-E796FA92C4F0}" dt="2024-11-30T16:21:44.010" v="402" actId="164"/>
          <ac:picMkLst>
            <pc:docMk/>
            <pc:sldMk cId="686824657" sldId="372"/>
            <ac:picMk id="6" creationId="{51D9B8AF-F607-C21C-D076-24C1F3A2AE6F}"/>
          </ac:picMkLst>
        </pc:picChg>
      </pc:sldChg>
      <pc:sldChg chg="delSp modSp add del mod">
        <pc:chgData name="Nikos Piperigkos" userId="b361276a-3497-4fae-9245-3cd0ad5fb2cd" providerId="ADAL" clId="{12B2318C-11F3-4535-B406-E796FA92C4F0}" dt="2024-12-11T11:43:54.989" v="863" actId="47"/>
        <pc:sldMkLst>
          <pc:docMk/>
          <pc:sldMk cId="852427656" sldId="373"/>
        </pc:sldMkLst>
        <pc:spChg chg="mod">
          <ac:chgData name="Nikos Piperigkos" userId="b361276a-3497-4fae-9245-3cd0ad5fb2cd" providerId="ADAL" clId="{12B2318C-11F3-4535-B406-E796FA92C4F0}" dt="2024-11-30T17:14:10.888" v="447" actId="404"/>
          <ac:spMkLst>
            <pc:docMk/>
            <pc:sldMk cId="852427656" sldId="373"/>
            <ac:spMk id="10243" creationId="{60337F4F-4649-46EE-5800-DED41697957A}"/>
          </ac:spMkLst>
        </pc:spChg>
        <pc:picChg chg="del">
          <ac:chgData name="Nikos Piperigkos" userId="b361276a-3497-4fae-9245-3cd0ad5fb2cd" providerId="ADAL" clId="{12B2318C-11F3-4535-B406-E796FA92C4F0}" dt="2024-11-30T17:13:20.825" v="407" actId="478"/>
          <ac:picMkLst>
            <pc:docMk/>
            <pc:sldMk cId="852427656" sldId="373"/>
            <ac:picMk id="10248" creationId="{9CD5D2D8-13E9-A1D0-25F4-24A63DD9D7D6}"/>
          </ac:picMkLst>
        </pc:picChg>
      </pc:sldChg>
      <pc:sldChg chg="delSp modSp add del mod ord">
        <pc:chgData name="Nikos Piperigkos" userId="b361276a-3497-4fae-9245-3cd0ad5fb2cd" providerId="ADAL" clId="{12B2318C-11F3-4535-B406-E796FA92C4F0}" dt="2024-12-11T11:43:54.989" v="863" actId="47"/>
        <pc:sldMkLst>
          <pc:docMk/>
          <pc:sldMk cId="1612693905" sldId="374"/>
        </pc:sldMkLst>
        <pc:spChg chg="mod">
          <ac:chgData name="Nikos Piperigkos" userId="b361276a-3497-4fae-9245-3cd0ad5fb2cd" providerId="ADAL" clId="{12B2318C-11F3-4535-B406-E796FA92C4F0}" dt="2024-12-04T08:44:25.086" v="557" actId="20577"/>
          <ac:spMkLst>
            <pc:docMk/>
            <pc:sldMk cId="1612693905" sldId="374"/>
            <ac:spMk id="18434" creationId="{8079C863-B9E8-C515-9788-558D94BF4B19}"/>
          </ac:spMkLst>
        </pc:spChg>
        <pc:picChg chg="del">
          <ac:chgData name="Nikos Piperigkos" userId="b361276a-3497-4fae-9245-3cd0ad5fb2cd" providerId="ADAL" clId="{12B2318C-11F3-4535-B406-E796FA92C4F0}" dt="2024-12-04T08:02:24.371" v="452" actId="478"/>
          <ac:picMkLst>
            <pc:docMk/>
            <pc:sldMk cId="1612693905" sldId="374"/>
            <ac:picMk id="18435" creationId="{FEC1F710-2939-4C37-D41F-40431228C68A}"/>
          </ac:picMkLst>
        </pc:picChg>
      </pc:sldChg>
      <pc:sldChg chg="modSp add del mod ord">
        <pc:chgData name="Nikos Piperigkos" userId="b361276a-3497-4fae-9245-3cd0ad5fb2cd" providerId="ADAL" clId="{12B2318C-11F3-4535-B406-E796FA92C4F0}" dt="2024-12-11T11:43:54.989" v="863" actId="47"/>
        <pc:sldMkLst>
          <pc:docMk/>
          <pc:sldMk cId="1108646314" sldId="375"/>
        </pc:sldMkLst>
        <pc:spChg chg="mod">
          <ac:chgData name="Nikos Piperigkos" userId="b361276a-3497-4fae-9245-3cd0ad5fb2cd" providerId="ADAL" clId="{12B2318C-11F3-4535-B406-E796FA92C4F0}" dt="2024-12-04T08:04:23.943" v="478" actId="20577"/>
          <ac:spMkLst>
            <pc:docMk/>
            <pc:sldMk cId="1108646314" sldId="375"/>
            <ac:spMk id="18434" creationId="{42D92009-AE61-6FF9-9091-69E1AED90161}"/>
          </ac:spMkLst>
        </pc:spChg>
      </pc:sldChg>
      <pc:sldChg chg="modSp add del mod">
        <pc:chgData name="Nikos Piperigkos" userId="b361276a-3497-4fae-9245-3cd0ad5fb2cd" providerId="ADAL" clId="{12B2318C-11F3-4535-B406-E796FA92C4F0}" dt="2024-12-11T11:43:54.989" v="863" actId="47"/>
        <pc:sldMkLst>
          <pc:docMk/>
          <pc:sldMk cId="2712705140" sldId="376"/>
        </pc:sldMkLst>
        <pc:spChg chg="mod">
          <ac:chgData name="Nikos Piperigkos" userId="b361276a-3497-4fae-9245-3cd0ad5fb2cd" providerId="ADAL" clId="{12B2318C-11F3-4535-B406-E796FA92C4F0}" dt="2024-12-04T08:19:13.365" v="541" actId="20577"/>
          <ac:spMkLst>
            <pc:docMk/>
            <pc:sldMk cId="2712705140" sldId="376"/>
            <ac:spMk id="18434" creationId="{5785A08D-153B-4225-8BA3-0F0488FDF5BA}"/>
          </ac:spMkLst>
        </pc:spChg>
      </pc:sldChg>
      <pc:sldChg chg="addSp delSp modSp add del mod">
        <pc:chgData name="Nikos Piperigkos" userId="b361276a-3497-4fae-9245-3cd0ad5fb2cd" providerId="ADAL" clId="{12B2318C-11F3-4535-B406-E796FA92C4F0}" dt="2024-12-11T11:43:54.989" v="863" actId="47"/>
        <pc:sldMkLst>
          <pc:docMk/>
          <pc:sldMk cId="958387317" sldId="377"/>
        </pc:sldMkLst>
        <pc:spChg chg="mod">
          <ac:chgData name="Nikos Piperigkos" userId="b361276a-3497-4fae-9245-3cd0ad5fb2cd" providerId="ADAL" clId="{12B2318C-11F3-4535-B406-E796FA92C4F0}" dt="2024-12-05T13:42:04.566" v="860" actId="20577"/>
          <ac:spMkLst>
            <pc:docMk/>
            <pc:sldMk cId="958387317" sldId="377"/>
            <ac:spMk id="18434" creationId="{BB1721BB-9D57-E190-8378-0A21331700AE}"/>
          </ac:spMkLst>
        </pc:spChg>
        <pc:picChg chg="add del mod">
          <ac:chgData name="Nikos Piperigkos" userId="b361276a-3497-4fae-9245-3cd0ad5fb2cd" providerId="ADAL" clId="{12B2318C-11F3-4535-B406-E796FA92C4F0}" dt="2024-12-04T08:07:20.905" v="505" actId="478"/>
          <ac:picMkLst>
            <pc:docMk/>
            <pc:sldMk cId="958387317" sldId="377"/>
            <ac:picMk id="3" creationId="{489FC192-6781-CC11-7CA1-A2BEAA6372E3}"/>
          </ac:picMkLst>
        </pc:picChg>
        <pc:picChg chg="add del">
          <ac:chgData name="Nikos Piperigkos" userId="b361276a-3497-4fae-9245-3cd0ad5fb2cd" providerId="ADAL" clId="{12B2318C-11F3-4535-B406-E796FA92C4F0}" dt="2024-12-04T08:07:24.856" v="507" actId="22"/>
          <ac:picMkLst>
            <pc:docMk/>
            <pc:sldMk cId="958387317" sldId="377"/>
            <ac:picMk id="5" creationId="{E684D476-0383-22C5-C882-B922EF7F792E}"/>
          </ac:picMkLst>
        </pc:picChg>
      </pc:sldChg>
      <pc:sldChg chg="modSp add del ord">
        <pc:chgData name="Nikos Piperigkos" userId="b361276a-3497-4fae-9245-3cd0ad5fb2cd" providerId="ADAL" clId="{12B2318C-11F3-4535-B406-E796FA92C4F0}" dt="2024-12-11T11:43:54.989" v="863" actId="47"/>
        <pc:sldMkLst>
          <pc:docMk/>
          <pc:sldMk cId="2732090283" sldId="378"/>
        </pc:sldMkLst>
        <pc:spChg chg="mod">
          <ac:chgData name="Nikos Piperigkos" userId="b361276a-3497-4fae-9245-3cd0ad5fb2cd" providerId="ADAL" clId="{12B2318C-11F3-4535-B406-E796FA92C4F0}" dt="2024-12-05T11:43:54.299" v="577" actId="20577"/>
          <ac:spMkLst>
            <pc:docMk/>
            <pc:sldMk cId="2732090283" sldId="378"/>
            <ac:spMk id="18434" creationId="{A1269917-46D4-04E5-E7AB-C3AB4809E9FD}"/>
          </ac:spMkLst>
        </pc:spChg>
      </pc:sldChg>
      <pc:sldChg chg="modSp add del mod ord">
        <pc:chgData name="Nikos Piperigkos" userId="b361276a-3497-4fae-9245-3cd0ad5fb2cd" providerId="ADAL" clId="{12B2318C-11F3-4535-B406-E796FA92C4F0}" dt="2024-12-11T11:43:54.989" v="863" actId="47"/>
        <pc:sldMkLst>
          <pc:docMk/>
          <pc:sldMk cId="1425621616" sldId="379"/>
        </pc:sldMkLst>
        <pc:spChg chg="mod">
          <ac:chgData name="Nikos Piperigkos" userId="b361276a-3497-4fae-9245-3cd0ad5fb2cd" providerId="ADAL" clId="{12B2318C-11F3-4535-B406-E796FA92C4F0}" dt="2024-12-04T08:08:44.098" v="511" actId="1076"/>
          <ac:spMkLst>
            <pc:docMk/>
            <pc:sldMk cId="1425621616" sldId="379"/>
            <ac:spMk id="18434" creationId="{2B03DDF3-4DA4-EA97-B076-E448ACEF2514}"/>
          </ac:spMkLst>
        </pc:spChg>
      </pc:sldChg>
      <pc:sldChg chg="modSp add del mod ord">
        <pc:chgData name="Nikos Piperigkos" userId="b361276a-3497-4fae-9245-3cd0ad5fb2cd" providerId="ADAL" clId="{12B2318C-11F3-4535-B406-E796FA92C4F0}" dt="2024-12-11T11:43:54.989" v="863" actId="47"/>
        <pc:sldMkLst>
          <pc:docMk/>
          <pc:sldMk cId="4270093646" sldId="380"/>
        </pc:sldMkLst>
        <pc:spChg chg="mod">
          <ac:chgData name="Nikos Piperigkos" userId="b361276a-3497-4fae-9245-3cd0ad5fb2cd" providerId="ADAL" clId="{12B2318C-11F3-4535-B406-E796FA92C4F0}" dt="2024-12-04T08:10:50.004" v="514" actId="20577"/>
          <ac:spMkLst>
            <pc:docMk/>
            <pc:sldMk cId="4270093646" sldId="380"/>
            <ac:spMk id="18434" creationId="{8B5A9224-93FE-45EC-739B-50D7625AB761}"/>
          </ac:spMkLst>
        </pc:spChg>
      </pc:sldChg>
      <pc:sldChg chg="addSp modSp add del mod ord">
        <pc:chgData name="Nikos Piperigkos" userId="b361276a-3497-4fae-9245-3cd0ad5fb2cd" providerId="ADAL" clId="{12B2318C-11F3-4535-B406-E796FA92C4F0}" dt="2024-12-11T11:43:54.989" v="863" actId="47"/>
        <pc:sldMkLst>
          <pc:docMk/>
          <pc:sldMk cId="822762119" sldId="381"/>
        </pc:sldMkLst>
        <pc:spChg chg="mod">
          <ac:chgData name="Nikos Piperigkos" userId="b361276a-3497-4fae-9245-3cd0ad5fb2cd" providerId="ADAL" clId="{12B2318C-11F3-4535-B406-E796FA92C4F0}" dt="2024-12-04T08:20:18.809" v="549" actId="20577"/>
          <ac:spMkLst>
            <pc:docMk/>
            <pc:sldMk cId="822762119" sldId="381"/>
            <ac:spMk id="18434" creationId="{A9D66B60-7AEA-6DF9-70F7-02460244DBDE}"/>
          </ac:spMkLst>
        </pc:spChg>
        <pc:picChg chg="add mod">
          <ac:chgData name="Nikos Piperigkos" userId="b361276a-3497-4fae-9245-3cd0ad5fb2cd" providerId="ADAL" clId="{12B2318C-11F3-4535-B406-E796FA92C4F0}" dt="2024-12-04T08:11:30.057" v="523" actId="1076"/>
          <ac:picMkLst>
            <pc:docMk/>
            <pc:sldMk cId="822762119" sldId="381"/>
            <ac:picMk id="3" creationId="{E4DDAFEB-B4A0-14F6-231C-E7CEA6FED290}"/>
          </ac:picMkLst>
        </pc:picChg>
        <pc:picChg chg="add mod">
          <ac:chgData name="Nikos Piperigkos" userId="b361276a-3497-4fae-9245-3cd0ad5fb2cd" providerId="ADAL" clId="{12B2318C-11F3-4535-B406-E796FA92C4F0}" dt="2024-12-04T08:13:29.553" v="530" actId="14100"/>
          <ac:picMkLst>
            <pc:docMk/>
            <pc:sldMk cId="822762119" sldId="381"/>
            <ac:picMk id="4" creationId="{7B3144BD-3B61-FA8A-8521-1F9BF28125C4}"/>
          </ac:picMkLst>
        </pc:picChg>
      </pc:sldChg>
      <pc:sldChg chg="delSp modSp add del mod">
        <pc:chgData name="Nikos Piperigkos" userId="b361276a-3497-4fae-9245-3cd0ad5fb2cd" providerId="ADAL" clId="{12B2318C-11F3-4535-B406-E796FA92C4F0}" dt="2024-12-11T11:43:54.989" v="863" actId="47"/>
        <pc:sldMkLst>
          <pc:docMk/>
          <pc:sldMk cId="742418324" sldId="382"/>
        </pc:sldMkLst>
        <pc:spChg chg="mod">
          <ac:chgData name="Nikos Piperigkos" userId="b361276a-3497-4fae-9245-3cd0ad5fb2cd" providerId="ADAL" clId="{12B2318C-11F3-4535-B406-E796FA92C4F0}" dt="2024-12-04T08:18:29.634" v="532"/>
          <ac:spMkLst>
            <pc:docMk/>
            <pc:sldMk cId="742418324" sldId="382"/>
            <ac:spMk id="18434" creationId="{F2A08BC9-95A4-271B-8EF3-3BBA83D59365}"/>
          </ac:spMkLst>
        </pc:spChg>
        <pc:picChg chg="del">
          <ac:chgData name="Nikos Piperigkos" userId="b361276a-3497-4fae-9245-3cd0ad5fb2cd" providerId="ADAL" clId="{12B2318C-11F3-4535-B406-E796FA92C4F0}" dt="2024-12-04T08:18:31.135" v="533" actId="478"/>
          <ac:picMkLst>
            <pc:docMk/>
            <pc:sldMk cId="742418324" sldId="382"/>
            <ac:picMk id="3" creationId="{DEADC2B2-C49B-9B60-1ADC-F76DA8A1F68E}"/>
          </ac:picMkLst>
        </pc:picChg>
        <pc:picChg chg="del">
          <ac:chgData name="Nikos Piperigkos" userId="b361276a-3497-4fae-9245-3cd0ad5fb2cd" providerId="ADAL" clId="{12B2318C-11F3-4535-B406-E796FA92C4F0}" dt="2024-12-04T08:18:31.517" v="534" actId="478"/>
          <ac:picMkLst>
            <pc:docMk/>
            <pc:sldMk cId="742418324" sldId="382"/>
            <ac:picMk id="4" creationId="{B3D006B7-B817-FE20-B954-F354F31AF43C}"/>
          </ac:picMkLst>
        </pc:picChg>
      </pc:sldChg>
      <pc:sldChg chg="modSp add del mod">
        <pc:chgData name="Nikos Piperigkos" userId="b361276a-3497-4fae-9245-3cd0ad5fb2cd" providerId="ADAL" clId="{12B2318C-11F3-4535-B406-E796FA92C4F0}" dt="2024-12-11T11:43:54.989" v="863" actId="47"/>
        <pc:sldMkLst>
          <pc:docMk/>
          <pc:sldMk cId="966549445" sldId="383"/>
        </pc:sldMkLst>
        <pc:spChg chg="mod">
          <ac:chgData name="Nikos Piperigkos" userId="b361276a-3497-4fae-9245-3cd0ad5fb2cd" providerId="ADAL" clId="{12B2318C-11F3-4535-B406-E796FA92C4F0}" dt="2024-12-04T08:42:38.646" v="555" actId="313"/>
          <ac:spMkLst>
            <pc:docMk/>
            <pc:sldMk cId="966549445" sldId="383"/>
            <ac:spMk id="18434" creationId="{C4862C7A-4ACE-F818-C0FC-ACB70CE4096E}"/>
          </ac:spMkLst>
        </pc:spChg>
      </pc:sldChg>
      <pc:sldChg chg="modSp add del mod">
        <pc:chgData name="Nikos Piperigkos" userId="b361276a-3497-4fae-9245-3cd0ad5fb2cd" providerId="ADAL" clId="{12B2318C-11F3-4535-B406-E796FA92C4F0}" dt="2024-12-11T11:43:54.989" v="863" actId="47"/>
        <pc:sldMkLst>
          <pc:docMk/>
          <pc:sldMk cId="1133946037" sldId="384"/>
        </pc:sldMkLst>
        <pc:spChg chg="mod">
          <ac:chgData name="Nikos Piperigkos" userId="b361276a-3497-4fae-9245-3cd0ad5fb2cd" providerId="ADAL" clId="{12B2318C-11F3-4535-B406-E796FA92C4F0}" dt="2024-12-05T11:43:42.478" v="574" actId="20577"/>
          <ac:spMkLst>
            <pc:docMk/>
            <pc:sldMk cId="1133946037" sldId="384"/>
            <ac:spMk id="18434" creationId="{0DEB79B3-628C-A759-910C-5A69AF804948}"/>
          </ac:spMkLst>
        </pc:spChg>
      </pc:sldChg>
      <pc:sldChg chg="addSp delSp modSp add del mod">
        <pc:chgData name="Nikos Piperigkos" userId="b361276a-3497-4fae-9245-3cd0ad5fb2cd" providerId="ADAL" clId="{12B2318C-11F3-4535-B406-E796FA92C4F0}" dt="2024-12-11T11:43:54.989" v="863" actId="47"/>
        <pc:sldMkLst>
          <pc:docMk/>
          <pc:sldMk cId="3337126105" sldId="385"/>
        </pc:sldMkLst>
        <pc:spChg chg="add mod">
          <ac:chgData name="Nikos Piperigkos" userId="b361276a-3497-4fae-9245-3cd0ad5fb2cd" providerId="ADAL" clId="{12B2318C-11F3-4535-B406-E796FA92C4F0}" dt="2024-12-05T11:54:50.432" v="661" actId="14100"/>
          <ac:spMkLst>
            <pc:docMk/>
            <pc:sldMk cId="3337126105" sldId="385"/>
            <ac:spMk id="3" creationId="{7272B8F2-D7F8-07AA-EC7C-6DDF219AC54F}"/>
          </ac:spMkLst>
        </pc:spChg>
        <pc:picChg chg="del">
          <ac:chgData name="Nikos Piperigkos" userId="b361276a-3497-4fae-9245-3cd0ad5fb2cd" providerId="ADAL" clId="{12B2318C-11F3-4535-B406-E796FA92C4F0}" dt="2024-12-05T11:53:26.418" v="621" actId="478"/>
          <ac:picMkLst>
            <pc:docMk/>
            <pc:sldMk cId="3337126105" sldId="385"/>
            <ac:picMk id="11268" creationId="{DABD762A-6B72-0752-E3FC-F8ADCE68AC4A}"/>
          </ac:picMkLst>
        </pc:picChg>
        <pc:picChg chg="add del">
          <ac:chgData name="Nikos Piperigkos" userId="b361276a-3497-4fae-9245-3cd0ad5fb2cd" providerId="ADAL" clId="{12B2318C-11F3-4535-B406-E796FA92C4F0}" dt="2024-12-05T11:53:26.894" v="622" actId="478"/>
          <ac:picMkLst>
            <pc:docMk/>
            <pc:sldMk cId="3337126105" sldId="385"/>
            <ac:picMk id="11269" creationId="{2568C0F9-D6CC-049F-D8FC-05DB0175FB27}"/>
          </ac:picMkLst>
        </pc:picChg>
        <pc:picChg chg="mod">
          <ac:chgData name="Nikos Piperigkos" userId="b361276a-3497-4fae-9245-3cd0ad5fb2cd" providerId="ADAL" clId="{12B2318C-11F3-4535-B406-E796FA92C4F0}" dt="2024-12-05T11:53:37.614" v="627" actId="1076"/>
          <ac:picMkLst>
            <pc:docMk/>
            <pc:sldMk cId="3337126105" sldId="385"/>
            <ac:picMk id="11270" creationId="{223E4B67-3BD7-BB82-6CE3-E11C6D1B0CFE}"/>
          </ac:picMkLst>
        </pc:picChg>
      </pc:sldChg>
      <pc:sldChg chg="addSp delSp modSp add del mod">
        <pc:chgData name="Nikos Piperigkos" userId="b361276a-3497-4fae-9245-3cd0ad5fb2cd" providerId="ADAL" clId="{12B2318C-11F3-4535-B406-E796FA92C4F0}" dt="2024-12-11T11:43:54.989" v="863" actId="47"/>
        <pc:sldMkLst>
          <pc:docMk/>
          <pc:sldMk cId="1198321791" sldId="386"/>
        </pc:sldMkLst>
        <pc:spChg chg="del">
          <ac:chgData name="Nikos Piperigkos" userId="b361276a-3497-4fae-9245-3cd0ad5fb2cd" providerId="ADAL" clId="{12B2318C-11F3-4535-B406-E796FA92C4F0}" dt="2024-12-05T11:56:15.491" v="664" actId="478"/>
          <ac:spMkLst>
            <pc:docMk/>
            <pc:sldMk cId="1198321791" sldId="386"/>
            <ac:spMk id="3" creationId="{7E1638BB-C817-4473-81FB-EB1C643FDBD5}"/>
          </ac:spMkLst>
        </pc:spChg>
        <pc:spChg chg="add mod">
          <ac:chgData name="Nikos Piperigkos" userId="b361276a-3497-4fae-9245-3cd0ad5fb2cd" providerId="ADAL" clId="{12B2318C-11F3-4535-B406-E796FA92C4F0}" dt="2024-12-05T11:57:13.654" v="701" actId="20577"/>
          <ac:spMkLst>
            <pc:docMk/>
            <pc:sldMk cId="1198321791" sldId="386"/>
            <ac:spMk id="4" creationId="{689DDE1A-6113-366C-47F7-37454F3F768C}"/>
          </ac:spMkLst>
        </pc:spChg>
        <pc:spChg chg="add mod">
          <ac:chgData name="Nikos Piperigkos" userId="b361276a-3497-4fae-9245-3cd0ad5fb2cd" providerId="ADAL" clId="{12B2318C-11F3-4535-B406-E796FA92C4F0}" dt="2024-12-05T11:58:22.103" v="732" actId="20577"/>
          <ac:spMkLst>
            <pc:docMk/>
            <pc:sldMk cId="1198321791" sldId="386"/>
            <ac:spMk id="6" creationId="{8A83C272-AE26-B0A2-C97E-56997ECCD9F2}"/>
          </ac:spMkLst>
        </pc:spChg>
        <pc:spChg chg="del">
          <ac:chgData name="Nikos Piperigkos" userId="b361276a-3497-4fae-9245-3cd0ad5fb2cd" providerId="ADAL" clId="{12B2318C-11F3-4535-B406-E796FA92C4F0}" dt="2024-12-05T11:56:17.591" v="665" actId="478"/>
          <ac:spMkLst>
            <pc:docMk/>
            <pc:sldMk cId="1198321791" sldId="386"/>
            <ac:spMk id="13315" creationId="{B417CCA3-1B00-F99B-F465-3B4F40FE190E}"/>
          </ac:spMkLst>
        </pc:spChg>
        <pc:picChg chg="del">
          <ac:chgData name="Nikos Piperigkos" userId="b361276a-3497-4fae-9245-3cd0ad5fb2cd" providerId="ADAL" clId="{12B2318C-11F3-4535-B406-E796FA92C4F0}" dt="2024-12-05T11:56:14.546" v="663" actId="478"/>
          <ac:picMkLst>
            <pc:docMk/>
            <pc:sldMk cId="1198321791" sldId="386"/>
            <ac:picMk id="13319" creationId="{B7EF8A10-C043-5DC5-3071-38C9C281D6E0}"/>
          </ac:picMkLst>
        </pc:picChg>
      </pc:sldChg>
      <pc:sldChg chg="addSp delSp modSp add del mod">
        <pc:chgData name="Nikos Piperigkos" userId="b361276a-3497-4fae-9245-3cd0ad5fb2cd" providerId="ADAL" clId="{12B2318C-11F3-4535-B406-E796FA92C4F0}" dt="2024-12-11T11:43:54.989" v="863" actId="47"/>
        <pc:sldMkLst>
          <pc:docMk/>
          <pc:sldMk cId="3866916204" sldId="387"/>
        </pc:sldMkLst>
        <pc:spChg chg="mod">
          <ac:chgData name="Nikos Piperigkos" userId="b361276a-3497-4fae-9245-3cd0ad5fb2cd" providerId="ADAL" clId="{12B2318C-11F3-4535-B406-E796FA92C4F0}" dt="2024-12-05T13:12:43.992" v="826" actId="20577"/>
          <ac:spMkLst>
            <pc:docMk/>
            <pc:sldMk cId="3866916204" sldId="387"/>
            <ac:spMk id="3" creationId="{7E26A020-1F8E-49F0-9116-689337988D83}"/>
          </ac:spMkLst>
        </pc:spChg>
        <pc:spChg chg="mod">
          <ac:chgData name="Nikos Piperigkos" userId="b361276a-3497-4fae-9245-3cd0ad5fb2cd" providerId="ADAL" clId="{12B2318C-11F3-4535-B406-E796FA92C4F0}" dt="2024-12-05T13:12:09.801" v="819" actId="20577"/>
          <ac:spMkLst>
            <pc:docMk/>
            <pc:sldMk cId="3866916204" sldId="387"/>
            <ac:spMk id="11267" creationId="{82ED5B08-A77A-4CE3-FBF9-BCC7235CFD78}"/>
          </ac:spMkLst>
        </pc:spChg>
        <pc:picChg chg="add mod">
          <ac:chgData name="Nikos Piperigkos" userId="b361276a-3497-4fae-9245-3cd0ad5fb2cd" providerId="ADAL" clId="{12B2318C-11F3-4535-B406-E796FA92C4F0}" dt="2024-12-05T13:12:25.116" v="823" actId="1076"/>
          <ac:picMkLst>
            <pc:docMk/>
            <pc:sldMk cId="3866916204" sldId="387"/>
            <ac:picMk id="4" creationId="{FFF118F7-5743-4D3B-DFA9-32DCF16DFA3B}"/>
          </ac:picMkLst>
        </pc:picChg>
        <pc:picChg chg="del">
          <ac:chgData name="Nikos Piperigkos" userId="b361276a-3497-4fae-9245-3cd0ad5fb2cd" providerId="ADAL" clId="{12B2318C-11F3-4535-B406-E796FA92C4F0}" dt="2024-12-05T13:12:20.513" v="820" actId="478"/>
          <ac:picMkLst>
            <pc:docMk/>
            <pc:sldMk cId="3866916204" sldId="387"/>
            <ac:picMk id="11270" creationId="{CF4963E5-AD92-924E-F251-8B7C5ECCD44F}"/>
          </ac:picMkLst>
        </pc:picChg>
      </pc:sldChg>
      <pc:sldChg chg="delSp modSp add del mod modNotesTx">
        <pc:chgData name="Nikos Piperigkos" userId="b361276a-3497-4fae-9245-3cd0ad5fb2cd" providerId="ADAL" clId="{12B2318C-11F3-4535-B406-E796FA92C4F0}" dt="2024-12-11T11:43:54.989" v="863" actId="47"/>
        <pc:sldMkLst>
          <pc:docMk/>
          <pc:sldMk cId="1297114274" sldId="388"/>
        </pc:sldMkLst>
        <pc:spChg chg="mod">
          <ac:chgData name="Nikos Piperigkos" userId="b361276a-3497-4fae-9245-3cd0ad5fb2cd" providerId="ADAL" clId="{12B2318C-11F3-4535-B406-E796FA92C4F0}" dt="2024-12-05T13:34:48.819" v="857" actId="20577"/>
          <ac:spMkLst>
            <pc:docMk/>
            <pc:sldMk cId="1297114274" sldId="388"/>
            <ac:spMk id="3" creationId="{3B81A3E6-E3D7-35BA-3A7C-B41001721F46}"/>
          </ac:spMkLst>
        </pc:spChg>
        <pc:spChg chg="del">
          <ac:chgData name="Nikos Piperigkos" userId="b361276a-3497-4fae-9245-3cd0ad5fb2cd" providerId="ADAL" clId="{12B2318C-11F3-4535-B406-E796FA92C4F0}" dt="2024-12-05T13:17:25.222" v="842" actId="478"/>
          <ac:spMkLst>
            <pc:docMk/>
            <pc:sldMk cId="1297114274" sldId="388"/>
            <ac:spMk id="4" creationId="{57098E14-EBBE-9A43-8584-36B1F50DADBE}"/>
          </ac:spMkLst>
        </pc:spChg>
        <pc:spChg chg="del">
          <ac:chgData name="Nikos Piperigkos" userId="b361276a-3497-4fae-9245-3cd0ad5fb2cd" providerId="ADAL" clId="{12B2318C-11F3-4535-B406-E796FA92C4F0}" dt="2024-12-05T13:17:24.223" v="841" actId="478"/>
          <ac:spMkLst>
            <pc:docMk/>
            <pc:sldMk cId="1297114274" sldId="388"/>
            <ac:spMk id="5" creationId="{4DE3FF39-AA3C-2FA1-ADD6-8BAB4F5E49D0}"/>
          </ac:spMkLst>
        </pc:spChg>
        <pc:spChg chg="mod">
          <ac:chgData name="Nikos Piperigkos" userId="b361276a-3497-4fae-9245-3cd0ad5fb2cd" providerId="ADAL" clId="{12B2318C-11F3-4535-B406-E796FA92C4F0}" dt="2024-12-05T13:17:30.916" v="844" actId="1076"/>
          <ac:spMkLst>
            <pc:docMk/>
            <pc:sldMk cId="1297114274" sldId="388"/>
            <ac:spMk id="13317" creationId="{55219667-C27A-4A20-9AA0-049836677597}"/>
          </ac:spMkLst>
        </pc:spChg>
        <pc:picChg chg="del">
          <ac:chgData name="Nikos Piperigkos" userId="b361276a-3497-4fae-9245-3cd0ad5fb2cd" providerId="ADAL" clId="{12B2318C-11F3-4535-B406-E796FA92C4F0}" dt="2024-12-05T13:17:23.178" v="840" actId="478"/>
          <ac:picMkLst>
            <pc:docMk/>
            <pc:sldMk cId="1297114274" sldId="388"/>
            <ac:picMk id="13316" creationId="{E8F1A040-9898-30FE-CEA4-3F80374B3D3C}"/>
          </ac:picMkLst>
        </pc:picChg>
        <pc:picChg chg="mod">
          <ac:chgData name="Nikos Piperigkos" userId="b361276a-3497-4fae-9245-3cd0ad5fb2cd" providerId="ADAL" clId="{12B2318C-11F3-4535-B406-E796FA92C4F0}" dt="2024-12-05T13:17:30.916" v="844" actId="1076"/>
          <ac:picMkLst>
            <pc:docMk/>
            <pc:sldMk cId="1297114274" sldId="388"/>
            <ac:picMk id="13318" creationId="{7ECF6D2D-C034-331E-C70C-63D51F321D4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588"/>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smtClean="0">
                <a:latin typeface="Arial" charset="0"/>
              </a:defRPr>
            </a:lvl1pPr>
          </a:lstStyle>
          <a:p>
            <a:pPr>
              <a:defRPr/>
            </a:pPr>
            <a:endParaRPr lang="en-US"/>
          </a:p>
        </p:txBody>
      </p:sp>
      <p:sp>
        <p:nvSpPr>
          <p:cNvPr id="3075" name="Rectangle 3"/>
          <p:cNvSpPr>
            <a:spLocks noGrp="1" noChangeArrowheads="1"/>
          </p:cNvSpPr>
          <p:nvPr>
            <p:ph type="dt" sz="quarter" idx="1"/>
          </p:nvPr>
        </p:nvSpPr>
        <p:spPr bwMode="auto">
          <a:xfrm>
            <a:off x="3957638" y="-1588"/>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smtClean="0">
                <a:latin typeface="Arial" charset="0"/>
              </a:defRPr>
            </a:lvl1pPr>
          </a:lstStyle>
          <a:p>
            <a:pPr>
              <a:defRPr/>
            </a:pPr>
            <a:endParaRPr lang="en-US"/>
          </a:p>
        </p:txBody>
      </p:sp>
      <p:sp>
        <p:nvSpPr>
          <p:cNvPr id="3076" name="Rectangle 4"/>
          <p:cNvSpPr>
            <a:spLocks noGrp="1" noChangeArrowheads="1"/>
          </p:cNvSpPr>
          <p:nvPr>
            <p:ph type="ftr" sz="quarter" idx="2"/>
          </p:nvPr>
        </p:nvSpPr>
        <p:spPr bwMode="auto">
          <a:xfrm>
            <a:off x="0" y="8845550"/>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smtClean="0">
                <a:latin typeface="Arial" charset="0"/>
              </a:defRPr>
            </a:lvl1pPr>
          </a:lstStyle>
          <a:p>
            <a:pPr>
              <a:defRPr/>
            </a:pPr>
            <a:endParaRPr lang="en-US"/>
          </a:p>
        </p:txBody>
      </p:sp>
      <p:sp>
        <p:nvSpPr>
          <p:cNvPr id="3077" name="Rectangle 5"/>
          <p:cNvSpPr>
            <a:spLocks noGrp="1" noChangeArrowheads="1"/>
          </p:cNvSpPr>
          <p:nvPr>
            <p:ph type="sldNum" sz="quarter" idx="3"/>
          </p:nvPr>
        </p:nvSpPr>
        <p:spPr bwMode="auto">
          <a:xfrm>
            <a:off x="3957638" y="8845550"/>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atin typeface="Arial" panose="020B0604020202020204" pitchFamily="34" charset="0"/>
              </a:defRPr>
            </a:lvl1pPr>
          </a:lstStyle>
          <a:p>
            <a:fld id="{F830C67F-428E-4596-B02A-DCD0F3127CE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smtClean="0">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3957638" y="-1588"/>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smtClean="0">
                <a:solidFill>
                  <a:schemeClr val="tx1"/>
                </a:solidFill>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8845550"/>
            <a:ext cx="3027363"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smtClean="0">
                <a:solidFill>
                  <a:schemeClr val="tx1"/>
                </a:solidFill>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3957638" y="8845550"/>
            <a:ext cx="3027362"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solidFill>
                  <a:schemeClr val="tx1"/>
                </a:solidFill>
                <a:latin typeface="Times New Roman" panose="02020603050405020304" pitchFamily="18" charset="0"/>
              </a:defRPr>
            </a:lvl1pPr>
          </a:lstStyle>
          <a:p>
            <a:fld id="{AAF3C157-EDAE-470A-866E-40051A96A7B4}" type="slidenum">
              <a:rPr lang="en-US" altLang="en-US"/>
              <a:pPr/>
              <a:t>‹#›</a:t>
            </a:fld>
            <a:endParaRPr lang="en-US" altLang="en-US"/>
          </a:p>
        </p:txBody>
      </p:sp>
      <p:sp>
        <p:nvSpPr>
          <p:cNvPr id="2054" name="Rectangle 6"/>
          <p:cNvSpPr>
            <a:spLocks noGrp="1" noChangeArrowheads="1"/>
          </p:cNvSpPr>
          <p:nvPr>
            <p:ph type="body" sz="quarter" idx="3"/>
          </p:nvPr>
        </p:nvSpPr>
        <p:spPr bwMode="auto">
          <a:xfrm>
            <a:off x="931863" y="4410075"/>
            <a:ext cx="5121275" cy="3916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7" name="Rectangle 7"/>
          <p:cNvSpPr>
            <a:spLocks noGrp="1" noRot="1" noChangeAspect="1" noChangeArrowheads="1" noTextEdit="1"/>
          </p:cNvSpPr>
          <p:nvPr>
            <p:ph type="sldImg" idx="2"/>
          </p:nvPr>
        </p:nvSpPr>
        <p:spPr bwMode="auto">
          <a:xfrm>
            <a:off x="1363663" y="715963"/>
            <a:ext cx="4257675" cy="344011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fld id="{AAF3C157-EDAE-470A-866E-40051A96A7B4}" type="slidenum">
              <a:rPr lang="en-US" altLang="en-US" smtClean="0"/>
              <a:pPr/>
              <a:t>5</a:t>
            </a:fld>
            <a:endParaRPr lang="en-US" altLang="en-US"/>
          </a:p>
        </p:txBody>
      </p:sp>
    </p:spTree>
    <p:extLst>
      <p:ext uri="{BB962C8B-B14F-4D97-AF65-F5344CB8AC3E}">
        <p14:creationId xmlns:p14="http://schemas.microsoft.com/office/powerpoint/2010/main" val="1950797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fld id="{AAF3C157-EDAE-470A-866E-40051A96A7B4}" type="slidenum">
              <a:rPr lang="en-US" altLang="en-US" smtClean="0"/>
              <a:pPr/>
              <a:t>6</a:t>
            </a:fld>
            <a:endParaRPr lang="en-US" altLang="en-US"/>
          </a:p>
        </p:txBody>
      </p:sp>
    </p:spTree>
    <p:extLst>
      <p:ext uri="{BB962C8B-B14F-4D97-AF65-F5344CB8AC3E}">
        <p14:creationId xmlns:p14="http://schemas.microsoft.com/office/powerpoint/2010/main" val="1219934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p:sp>
        <p:nvSpPr>
          <p:cNvPr id="3" name="Θέση σημειώσεων 2"/>
          <p:cNvSpPr>
            <a:spLocks noGrp="1"/>
          </p:cNvSpPr>
          <p:nvPr>
            <p:ph type="body" idx="1"/>
          </p:nvPr>
        </p:nvSpPr>
        <p:spPr/>
        <p:txBody>
          <a:bodyPr/>
          <a:lstStyle/>
          <a:p>
            <a:r>
              <a:rPr lang="en-US" b="1" dirty="0"/>
              <a:t>Advantages of Orthogonal BFSK:</a:t>
            </a:r>
          </a:p>
          <a:p>
            <a:pPr>
              <a:buFont typeface="+mj-lt"/>
              <a:buAutoNum type="arabicPeriod"/>
            </a:pPr>
            <a:r>
              <a:rPr lang="en-US" b="1" dirty="0"/>
              <a:t>Better Performance in Noise</a:t>
            </a:r>
            <a:r>
              <a:rPr lang="en-US" dirty="0"/>
              <a:t>:</a:t>
            </a:r>
          </a:p>
          <a:p>
            <a:pPr marL="742950" lvl="1" indent="-285750">
              <a:buFont typeface="+mj-lt"/>
              <a:buAutoNum type="arabicPeriod"/>
            </a:pPr>
            <a:r>
              <a:rPr lang="en-US" dirty="0"/>
              <a:t>Orthogonality reduces cross-symbol interference, which improves the signal detection and lowers the bit error rate (BER).</a:t>
            </a:r>
          </a:p>
          <a:p>
            <a:pPr>
              <a:buFont typeface="+mj-lt"/>
              <a:buAutoNum type="arabicPeriod"/>
            </a:pPr>
            <a:r>
              <a:rPr lang="en-US" b="1" dirty="0"/>
              <a:t>Energy Efficiency</a:t>
            </a:r>
            <a:r>
              <a:rPr lang="en-US" dirty="0"/>
              <a:t>:</a:t>
            </a:r>
          </a:p>
          <a:p>
            <a:pPr marL="742950" lvl="1" indent="-285750">
              <a:buFont typeface="+mj-lt"/>
              <a:buAutoNum type="arabicPeriod"/>
            </a:pPr>
            <a:r>
              <a:rPr lang="en-US" dirty="0"/>
              <a:t>The orthogonal signals efficiently use energy since they do not interfere with each other, allowing more reliable demodulation.</a:t>
            </a:r>
          </a:p>
          <a:p>
            <a:pPr>
              <a:buFont typeface="+mj-lt"/>
              <a:buAutoNum type="arabicPeriod"/>
            </a:pPr>
            <a:r>
              <a:rPr lang="en-US" b="1" dirty="0"/>
              <a:t>Simplicity in Coherent Detection</a:t>
            </a:r>
            <a:r>
              <a:rPr lang="en-US" dirty="0"/>
              <a:t>:</a:t>
            </a:r>
          </a:p>
          <a:p>
            <a:pPr marL="742950" lvl="1" indent="-285750">
              <a:buFont typeface="+mj-lt"/>
              <a:buAutoNum type="arabicPeriod"/>
            </a:pPr>
            <a:r>
              <a:rPr lang="en-US" dirty="0"/>
              <a:t>Orthogonality simplifies coherent demodulation because the two signals can be separated easily using matched filters or correlation receivers.</a:t>
            </a:r>
          </a:p>
          <a:p>
            <a:endParaRPr lang="el-GR" dirty="0"/>
          </a:p>
        </p:txBody>
      </p:sp>
      <p:sp>
        <p:nvSpPr>
          <p:cNvPr id="4" name="Θέση αριθμού διαφάνειας 3"/>
          <p:cNvSpPr>
            <a:spLocks noGrp="1"/>
          </p:cNvSpPr>
          <p:nvPr>
            <p:ph type="sldNum" sz="quarter" idx="5"/>
          </p:nvPr>
        </p:nvSpPr>
        <p:spPr/>
        <p:txBody>
          <a:bodyPr/>
          <a:lstStyle/>
          <a:p>
            <a:fld id="{AAF3C157-EDAE-470A-866E-40051A96A7B4}" type="slidenum">
              <a:rPr lang="en-US" altLang="en-US" smtClean="0"/>
              <a:pPr/>
              <a:t>7</a:t>
            </a:fld>
            <a:endParaRPr lang="en-US" altLang="en-US"/>
          </a:p>
        </p:txBody>
      </p:sp>
    </p:spTree>
    <p:extLst>
      <p:ext uri="{BB962C8B-B14F-4D97-AF65-F5344CB8AC3E}">
        <p14:creationId xmlns:p14="http://schemas.microsoft.com/office/powerpoint/2010/main" val="3285416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p:sp>
        <p:nvSpPr>
          <p:cNvPr id="3" name="Θέση σημειώσεων 2"/>
          <p:cNvSpPr>
            <a:spLocks noGrp="1"/>
          </p:cNvSpPr>
          <p:nvPr>
            <p:ph type="body" idx="1"/>
          </p:nvPr>
        </p:nvSpPr>
        <p:spPr/>
        <p:txBody>
          <a:bodyPr/>
          <a:lstStyle/>
          <a:p>
            <a:r>
              <a:rPr lang="el-GR" dirty="0"/>
              <a:t>Το διάγραμμα αστερισμού (</a:t>
            </a:r>
            <a:r>
              <a:rPr lang="el-GR" dirty="0" err="1"/>
              <a:t>constellation</a:t>
            </a:r>
            <a:r>
              <a:rPr lang="el-GR" dirty="0"/>
              <a:t> </a:t>
            </a:r>
            <a:r>
              <a:rPr lang="el-GR" dirty="0" err="1"/>
              <a:t>diagram</a:t>
            </a:r>
            <a:r>
              <a:rPr lang="el-GR" dirty="0"/>
              <a:t> ) είναι μία αναπαράσταση των καταστάσεων συμβόλων ως προς </a:t>
            </a:r>
            <a:r>
              <a:rPr lang="el-GR" dirty="0" err="1"/>
              <a:t>πλάτοςκαι</a:t>
            </a:r>
            <a:r>
              <a:rPr lang="el-GR" dirty="0"/>
              <a:t> τη </a:t>
            </a:r>
            <a:r>
              <a:rPr lang="el-GR" dirty="0" err="1"/>
              <a:t>φάσητου</a:t>
            </a:r>
            <a:r>
              <a:rPr lang="el-GR" dirty="0"/>
              <a:t> διαμορφωμένου φέροντος. </a:t>
            </a:r>
            <a:endParaRPr lang="en-US" dirty="0"/>
          </a:p>
          <a:p>
            <a:endParaRPr lang="en-US" dirty="0"/>
          </a:p>
          <a:p>
            <a:r>
              <a:rPr lang="el-GR" dirty="0"/>
              <a:t>• Ο οριζόντιος άξονας θεωρείται ως αναφορά και περιγράφει σύμβολα που είναι σε φάση με τον φορέα 𝑐𝑜𝑠𝜔𝑐𝑡. </a:t>
            </a:r>
            <a:endParaRPr lang="en-US" dirty="0"/>
          </a:p>
          <a:p>
            <a:endParaRPr lang="en-US" dirty="0"/>
          </a:p>
          <a:p>
            <a:r>
              <a:rPr lang="el-GR" dirty="0"/>
              <a:t>• O κατακόρυφος άξονας αντιπροσωπεύει τον </a:t>
            </a:r>
            <a:r>
              <a:rPr lang="el-GR" dirty="0" err="1"/>
              <a:t>ορθογωνική</a:t>
            </a:r>
            <a:r>
              <a:rPr lang="el-GR" dirty="0"/>
              <a:t> συνιστώσα 𝑠𝑖𝑛𝜔𝑐𝑡.</a:t>
            </a:r>
            <a:endParaRPr lang="en-US" dirty="0"/>
          </a:p>
          <a:p>
            <a:endParaRPr lang="en-US" dirty="0"/>
          </a:p>
          <a:p>
            <a:r>
              <a:rPr lang="el-GR" dirty="0"/>
              <a:t>Στη δυαδική διαμόρφωση ASK (Μ=2), υπάρχουν μόνο δύο καταστάσεις για απεικόνιση στο διάγραμμα αστερισμού, οι 𝛼(𝑡) = 0 και 𝛼(𝑡) = 𝐴 𝑐𝑜𝑠𝜔𝑐𝑡.</a:t>
            </a:r>
          </a:p>
        </p:txBody>
      </p:sp>
      <p:sp>
        <p:nvSpPr>
          <p:cNvPr id="4" name="Θέση αριθμού διαφάνειας 3"/>
          <p:cNvSpPr>
            <a:spLocks noGrp="1"/>
          </p:cNvSpPr>
          <p:nvPr>
            <p:ph type="sldNum" sz="quarter" idx="5"/>
          </p:nvPr>
        </p:nvSpPr>
        <p:spPr/>
        <p:txBody>
          <a:bodyPr/>
          <a:lstStyle/>
          <a:p>
            <a:fld id="{AAF3C157-EDAE-470A-866E-40051A96A7B4}" type="slidenum">
              <a:rPr lang="en-US" altLang="en-US" smtClean="0"/>
              <a:pPr/>
              <a:t>9</a:t>
            </a:fld>
            <a:endParaRPr lang="en-US" altLang="en-US"/>
          </a:p>
        </p:txBody>
      </p:sp>
    </p:spTree>
    <p:extLst>
      <p:ext uri="{BB962C8B-B14F-4D97-AF65-F5344CB8AC3E}">
        <p14:creationId xmlns:p14="http://schemas.microsoft.com/office/powerpoint/2010/main" val="3761786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p:sp>
        <p:nvSpPr>
          <p:cNvPr id="3" name="Θέση σημειώσεων 2"/>
          <p:cNvSpPr>
            <a:spLocks noGrp="1"/>
          </p:cNvSpPr>
          <p:nvPr>
            <p:ph type="body" idx="1"/>
          </p:nvPr>
        </p:nvSpPr>
        <p:spPr/>
        <p:txBody>
          <a:bodyPr/>
          <a:lstStyle/>
          <a:p>
            <a:r>
              <a:rPr lang="en-US" dirty="0" err="1"/>
              <a:t>Sunde’S</a:t>
            </a:r>
            <a:r>
              <a:rPr lang="en-US" dirty="0"/>
              <a:t> FSK arises when the spacing between the two symbol frequencies is made exactly equal to the symbol rate. For this case, the spectrum uniquely contains two discrete spectral lines at the two s</a:t>
            </a:r>
            <a:r>
              <a:rPr lang="en-US" altLang="ja-JP" dirty="0"/>
              <a:t>ym</a:t>
            </a:r>
            <a:r>
              <a:rPr lang="en-US" dirty="0"/>
              <a:t>bol frequencies, in addition to broad spectral spread. These spectral lines can be used in a coherent FSK detector as the source of the carrier references</a:t>
            </a:r>
          </a:p>
          <a:p>
            <a:endParaRPr lang="en-US" dirty="0"/>
          </a:p>
          <a:p>
            <a:r>
              <a:rPr lang="el-GR" dirty="0"/>
              <a:t>Η διαμόρφωση </a:t>
            </a:r>
            <a:r>
              <a:rPr lang="el-GR" dirty="0" err="1"/>
              <a:t>Minimum</a:t>
            </a:r>
            <a:r>
              <a:rPr lang="el-GR" dirty="0"/>
              <a:t> </a:t>
            </a:r>
            <a:r>
              <a:rPr lang="el-GR" dirty="0" err="1"/>
              <a:t>Shift</a:t>
            </a:r>
            <a:r>
              <a:rPr lang="el-GR" dirty="0"/>
              <a:t> </a:t>
            </a:r>
            <a:r>
              <a:rPr lang="el-GR" dirty="0" err="1"/>
              <a:t>Keying</a:t>
            </a:r>
            <a:r>
              <a:rPr lang="el-GR" dirty="0"/>
              <a:t> FSK (MSK ) χρησιμοποιεί μια απόσταση συμβόλου ίση με το μισό του ρυθμού συμβόλου. </a:t>
            </a:r>
            <a:endParaRPr lang="en-US" dirty="0"/>
          </a:p>
          <a:p>
            <a:r>
              <a:rPr lang="el-GR" dirty="0"/>
              <a:t>• Παράγει ένα ομαλό φάσμα με στενό κύριο λοβό και ταχεία μείωση του πλευρικού λοβού ενέργειας. </a:t>
            </a:r>
          </a:p>
        </p:txBody>
      </p:sp>
      <p:sp>
        <p:nvSpPr>
          <p:cNvPr id="4" name="Θέση αριθμού διαφάνειας 3"/>
          <p:cNvSpPr>
            <a:spLocks noGrp="1"/>
          </p:cNvSpPr>
          <p:nvPr>
            <p:ph type="sldNum" sz="quarter" idx="5"/>
          </p:nvPr>
        </p:nvSpPr>
        <p:spPr/>
        <p:txBody>
          <a:bodyPr/>
          <a:lstStyle/>
          <a:p>
            <a:fld id="{AAF3C157-EDAE-470A-866E-40051A96A7B4}" type="slidenum">
              <a:rPr lang="en-US" altLang="en-US" smtClean="0"/>
              <a:pPr/>
              <a:t>16</a:t>
            </a:fld>
            <a:endParaRPr lang="en-US" altLang="en-US"/>
          </a:p>
        </p:txBody>
      </p:sp>
    </p:spTree>
    <p:extLst>
      <p:ext uri="{BB962C8B-B14F-4D97-AF65-F5344CB8AC3E}">
        <p14:creationId xmlns:p14="http://schemas.microsoft.com/office/powerpoint/2010/main" val="2195959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fld id="{AAF3C157-EDAE-470A-866E-40051A96A7B4}" type="slidenum">
              <a:rPr lang="en-US" altLang="en-US" smtClean="0"/>
              <a:pPr/>
              <a:t>17</a:t>
            </a:fld>
            <a:endParaRPr lang="en-US" altLang="en-US"/>
          </a:p>
        </p:txBody>
      </p:sp>
    </p:spTree>
    <p:extLst>
      <p:ext uri="{BB962C8B-B14F-4D97-AF65-F5344CB8AC3E}">
        <p14:creationId xmlns:p14="http://schemas.microsoft.com/office/powerpoint/2010/main" val="4220221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89DFF-656A-298A-9F69-D01E3CADA05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DE408F0-049B-8685-B1F3-49FCA15B7012}"/>
              </a:ext>
            </a:extLst>
          </p:cNvPr>
          <p:cNvSpPr>
            <a:spLocks noGrp="1" noRot="1" noChangeAspect="1"/>
          </p:cNvSpPr>
          <p:nvPr>
            <p:ph type="sldImg"/>
          </p:nvPr>
        </p:nvSpPr>
        <p:spPr>
          <a:xfrm>
            <a:off x="1365250" y="715963"/>
            <a:ext cx="4254500" cy="3440112"/>
          </a:xfrm>
        </p:spPr>
      </p:sp>
      <p:sp>
        <p:nvSpPr>
          <p:cNvPr id="3" name="Θέση σημειώσεων 2">
            <a:extLst>
              <a:ext uri="{FF2B5EF4-FFF2-40B4-BE49-F238E27FC236}">
                <a16:creationId xmlns:a16="http://schemas.microsoft.com/office/drawing/2014/main" id="{29CBE5B0-E036-7259-21D7-0C838A08CF70}"/>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2A50C0A8-DC7B-9F8E-E902-E0B0DB96718D}"/>
              </a:ext>
            </a:extLst>
          </p:cNvPr>
          <p:cNvSpPr>
            <a:spLocks noGrp="1"/>
          </p:cNvSpPr>
          <p:nvPr>
            <p:ph type="sldNum" sz="quarter" idx="5"/>
          </p:nvPr>
        </p:nvSpPr>
        <p:spPr/>
        <p:txBody>
          <a:bodyPr/>
          <a:lstStyle/>
          <a:p>
            <a:fld id="{AAF3C157-EDAE-470A-866E-40051A96A7B4}" type="slidenum">
              <a:rPr lang="en-US" altLang="en-US" smtClean="0"/>
              <a:pPr/>
              <a:t>18</a:t>
            </a:fld>
            <a:endParaRPr lang="en-US" altLang="en-US"/>
          </a:p>
        </p:txBody>
      </p:sp>
    </p:spTree>
    <p:extLst>
      <p:ext uri="{BB962C8B-B14F-4D97-AF65-F5344CB8AC3E}">
        <p14:creationId xmlns:p14="http://schemas.microsoft.com/office/powerpoint/2010/main" val="4154055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00917-CECF-B7F2-A1FA-33A78D71D72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DB5DDEC-63AE-A2C8-52F3-C7783121C7CB}"/>
              </a:ext>
            </a:extLst>
          </p:cNvPr>
          <p:cNvSpPr>
            <a:spLocks noGrp="1" noRot="1" noChangeAspect="1"/>
          </p:cNvSpPr>
          <p:nvPr>
            <p:ph type="sldImg"/>
          </p:nvPr>
        </p:nvSpPr>
        <p:spPr>
          <a:xfrm>
            <a:off x="1365250" y="715963"/>
            <a:ext cx="4254500" cy="3440112"/>
          </a:xfrm>
        </p:spPr>
      </p:sp>
      <p:sp>
        <p:nvSpPr>
          <p:cNvPr id="3" name="Θέση σημειώσεων 2">
            <a:extLst>
              <a:ext uri="{FF2B5EF4-FFF2-40B4-BE49-F238E27FC236}">
                <a16:creationId xmlns:a16="http://schemas.microsoft.com/office/drawing/2014/main" id="{BC382FD3-B89A-A6CD-B92D-4538FA78AA81}"/>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3C6FEC75-C3CB-9444-017A-12CA74C9791A}"/>
              </a:ext>
            </a:extLst>
          </p:cNvPr>
          <p:cNvSpPr>
            <a:spLocks noGrp="1"/>
          </p:cNvSpPr>
          <p:nvPr>
            <p:ph type="sldNum" sz="quarter" idx="5"/>
          </p:nvPr>
        </p:nvSpPr>
        <p:spPr/>
        <p:txBody>
          <a:bodyPr/>
          <a:lstStyle/>
          <a:p>
            <a:fld id="{AAF3C157-EDAE-470A-866E-40051A96A7B4}" type="slidenum">
              <a:rPr lang="en-US" altLang="en-US" smtClean="0"/>
              <a:pPr/>
              <a:t>19</a:t>
            </a:fld>
            <a:endParaRPr lang="en-US" altLang="en-US"/>
          </a:p>
        </p:txBody>
      </p:sp>
    </p:spTree>
    <p:extLst>
      <p:ext uri="{BB962C8B-B14F-4D97-AF65-F5344CB8AC3E}">
        <p14:creationId xmlns:p14="http://schemas.microsoft.com/office/powerpoint/2010/main" val="277162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365250" y="715963"/>
            <a:ext cx="4254500" cy="3440112"/>
          </a:xfrm>
        </p:spPr>
      </p:sp>
      <mc:AlternateContent xmlns:mc="http://schemas.openxmlformats.org/markup-compatibility/2006" xmlns:a14="http://schemas.microsoft.com/office/drawing/2010/main">
        <mc:Choice Requires="a14">
          <p:sp>
            <p:nvSpPr>
              <p:cNvPr id="3" name="Θέση σημειώσεων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cos</m:t>
                              </m:r>
                            </m:e>
                            <m:sup>
                              <m:r>
                                <a:rPr lang="en-US" b="0" i="1" smtClean="0">
                                  <a:latin typeface="Cambria Math" panose="02040503050406030204" pitchFamily="18" charset="0"/>
                                </a:rPr>
                                <m:t>2</m:t>
                              </m:r>
                            </m:sup>
                          </m:sSup>
                        </m:fName>
                        <m:e>
                          <m:r>
                            <a:rPr lang="en-US" b="0" i="1" smtClean="0">
                              <a:latin typeface="Cambria Math" panose="02040503050406030204" pitchFamily="18" charset="0"/>
                            </a:rPr>
                            <m:t>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𝑐𝑜𝑠</m:t>
                              </m:r>
                              <m:r>
                                <a:rPr lang="en-US" b="0" i="1" smtClean="0">
                                  <a:latin typeface="Cambria Math" panose="02040503050406030204" pitchFamily="18" charset="0"/>
                                </a:rPr>
                                <m:t>2</m:t>
                              </m:r>
                              <m:r>
                                <a:rPr lang="en-US" b="0" i="1" smtClean="0">
                                  <a:latin typeface="Cambria Math" panose="02040503050406030204" pitchFamily="18" charset="0"/>
                                </a:rPr>
                                <m:t>𝜃</m:t>
                              </m:r>
                            </m:e>
                          </m:d>
                        </m:e>
                      </m:func>
                    </m:oMath>
                  </m:oMathPara>
                </a14:m>
                <a:endParaRPr lang="el-GR" dirty="0"/>
              </a:p>
            </p:txBody>
          </p:sp>
        </mc:Choice>
        <mc:Fallback xmlns="">
          <p:sp>
            <p:nvSpPr>
              <p:cNvPr id="3" name="Θέση σημειώσεων 2"/>
              <p:cNvSpPr>
                <a:spLocks noGrp="1"/>
              </p:cNvSpPr>
              <p:nvPr>
                <p:ph type="body" idx="1"/>
              </p:nvPr>
            </p:nvSpPr>
            <p:spPr/>
            <p:txBody>
              <a:bodyPr/>
              <a:lstStyle/>
              <a:p>
                <a:r>
                  <a:rPr lang="en-US" b="0" i="0">
                    <a:latin typeface="Cambria Math" panose="02040503050406030204" pitchFamily="18" charset="0"/>
                  </a:rPr>
                  <a:t>cos^2⁡〖𝜃=1/2 (1+𝑐𝑜𝑠2𝜃)〗</a:t>
                </a:r>
                <a:endParaRPr lang="el-GR" dirty="0"/>
              </a:p>
            </p:txBody>
          </p:sp>
        </mc:Fallback>
      </mc:AlternateContent>
      <p:sp>
        <p:nvSpPr>
          <p:cNvPr id="4" name="Θέση αριθμού διαφάνειας 3"/>
          <p:cNvSpPr>
            <a:spLocks noGrp="1"/>
          </p:cNvSpPr>
          <p:nvPr>
            <p:ph type="sldNum" sz="quarter" idx="5"/>
          </p:nvPr>
        </p:nvSpPr>
        <p:spPr/>
        <p:txBody>
          <a:bodyPr/>
          <a:lstStyle/>
          <a:p>
            <a:fld id="{AAF3C157-EDAE-470A-866E-40051A96A7B4}" type="slidenum">
              <a:rPr lang="en-US" altLang="en-US" smtClean="0"/>
              <a:pPr/>
              <a:t>25</a:t>
            </a:fld>
            <a:endParaRPr lang="en-US" altLang="en-US"/>
          </a:p>
        </p:txBody>
      </p:sp>
    </p:spTree>
    <p:extLst>
      <p:ext uri="{BB962C8B-B14F-4D97-AF65-F5344CB8AC3E}">
        <p14:creationId xmlns:p14="http://schemas.microsoft.com/office/powerpoint/2010/main" val="2164010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1513" y="2249488"/>
            <a:ext cx="7610475" cy="1550987"/>
          </a:xfrm>
          <a:prstGeom prst="rect">
            <a:avLst/>
          </a:prstGeom>
        </p:spPr>
        <p:txBody>
          <a:bodyPr/>
          <a:lstStyle/>
          <a:p>
            <a:r>
              <a:rPr lang="en-US"/>
              <a:t>Click to edit Master title style</a:t>
            </a:r>
            <a:endParaRPr lang="el-GR"/>
          </a:p>
        </p:txBody>
      </p:sp>
      <p:sp>
        <p:nvSpPr>
          <p:cNvPr id="3" name="Subtitle 2"/>
          <p:cNvSpPr>
            <a:spLocks noGrp="1"/>
          </p:cNvSpPr>
          <p:nvPr>
            <p:ph type="subTitle" idx="1"/>
          </p:nvPr>
        </p:nvSpPr>
        <p:spPr>
          <a:xfrm>
            <a:off x="1343025" y="4102100"/>
            <a:ext cx="6267450" cy="1849438"/>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l-GR"/>
          </a:p>
        </p:txBody>
      </p:sp>
    </p:spTree>
    <p:extLst>
      <p:ext uri="{BB962C8B-B14F-4D97-AF65-F5344CB8AC3E}">
        <p14:creationId xmlns:p14="http://schemas.microsoft.com/office/powerpoint/2010/main" val="4185441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675" y="290513"/>
            <a:ext cx="8058150" cy="1206500"/>
          </a:xfrm>
          <a:prstGeom prst="rect">
            <a:avLst/>
          </a:prstGeom>
        </p:spPr>
        <p:txBody>
          <a:bodyPr/>
          <a:lstStyle/>
          <a:p>
            <a:r>
              <a:rPr lang="en-US"/>
              <a:t>Click to edit Master title style</a:t>
            </a:r>
            <a:endParaRPr lang="el-GR"/>
          </a:p>
        </p:txBody>
      </p:sp>
      <p:sp>
        <p:nvSpPr>
          <p:cNvPr id="3" name="Content Placeholder 2"/>
          <p:cNvSpPr>
            <a:spLocks noGrp="1"/>
          </p:cNvSpPr>
          <p:nvPr>
            <p:ph idx="1"/>
          </p:nvPr>
        </p:nvSpPr>
        <p:spPr>
          <a:xfrm>
            <a:off x="447675" y="1689100"/>
            <a:ext cx="8058150" cy="47767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Tree>
    <p:extLst>
      <p:ext uri="{BB962C8B-B14F-4D97-AF65-F5344CB8AC3E}">
        <p14:creationId xmlns:p14="http://schemas.microsoft.com/office/powerpoint/2010/main" val="962913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8025" y="4651375"/>
            <a:ext cx="7610475" cy="1438275"/>
          </a:xfrm>
          <a:prstGeom prst="rect">
            <a:avLst/>
          </a:prstGeom>
        </p:spPr>
        <p:txBody>
          <a:bodyPr anchor="t"/>
          <a:lstStyle>
            <a:lvl1pPr algn="l">
              <a:defRPr sz="4000" b="1" cap="all"/>
            </a:lvl1pPr>
          </a:lstStyle>
          <a:p>
            <a:r>
              <a:rPr lang="en-US"/>
              <a:t>Click to edit Master title style</a:t>
            </a:r>
            <a:endParaRPr lang="el-GR"/>
          </a:p>
        </p:txBody>
      </p:sp>
      <p:sp>
        <p:nvSpPr>
          <p:cNvPr id="3" name="Text Placeholder 2"/>
          <p:cNvSpPr>
            <a:spLocks noGrp="1"/>
          </p:cNvSpPr>
          <p:nvPr>
            <p:ph type="body" idx="1"/>
          </p:nvPr>
        </p:nvSpPr>
        <p:spPr>
          <a:xfrm>
            <a:off x="708025" y="3068638"/>
            <a:ext cx="7610475" cy="15827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31837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47675" y="290513"/>
            <a:ext cx="8058150" cy="1206500"/>
          </a:xfrm>
          <a:prstGeom prst="rect">
            <a:avLst/>
          </a:prstGeom>
        </p:spPr>
        <p:txBody>
          <a:bodyPr/>
          <a:lstStyle/>
          <a:p>
            <a:r>
              <a:rPr lang="en-US"/>
              <a:t>Click to edit Master title style</a:t>
            </a:r>
            <a:endParaRPr lang="el-GR"/>
          </a:p>
        </p:txBody>
      </p:sp>
      <p:sp>
        <p:nvSpPr>
          <p:cNvPr id="3" name="Content Placeholder 2"/>
          <p:cNvSpPr>
            <a:spLocks noGrp="1"/>
          </p:cNvSpPr>
          <p:nvPr>
            <p:ph sz="half" idx="1"/>
          </p:nvPr>
        </p:nvSpPr>
        <p:spPr>
          <a:xfrm>
            <a:off x="447675" y="1689100"/>
            <a:ext cx="3952875" cy="477678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p:cNvSpPr>
            <a:spLocks noGrp="1"/>
          </p:cNvSpPr>
          <p:nvPr>
            <p:ph sz="half" idx="2"/>
          </p:nvPr>
        </p:nvSpPr>
        <p:spPr>
          <a:xfrm>
            <a:off x="4552950" y="1689100"/>
            <a:ext cx="3952875" cy="477678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Tree>
    <p:extLst>
      <p:ext uri="{BB962C8B-B14F-4D97-AF65-F5344CB8AC3E}">
        <p14:creationId xmlns:p14="http://schemas.microsoft.com/office/powerpoint/2010/main" val="4274423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7675" y="290513"/>
            <a:ext cx="8058150" cy="1206500"/>
          </a:xfrm>
          <a:prstGeom prst="rect">
            <a:avLst/>
          </a:prstGeom>
        </p:spPr>
        <p:txBody>
          <a:bodyPr/>
          <a:lstStyle>
            <a:lvl1pPr>
              <a:defRPr/>
            </a:lvl1pPr>
          </a:lstStyle>
          <a:p>
            <a:r>
              <a:rPr lang="en-US"/>
              <a:t>Click to edit Master title style</a:t>
            </a:r>
            <a:endParaRPr lang="el-GR"/>
          </a:p>
        </p:txBody>
      </p:sp>
      <p:sp>
        <p:nvSpPr>
          <p:cNvPr id="3" name="Text Placeholder 2"/>
          <p:cNvSpPr>
            <a:spLocks noGrp="1"/>
          </p:cNvSpPr>
          <p:nvPr>
            <p:ph type="body" idx="1"/>
          </p:nvPr>
        </p:nvSpPr>
        <p:spPr>
          <a:xfrm>
            <a:off x="447675" y="1620838"/>
            <a:ext cx="3956050" cy="67468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47675" y="2295525"/>
            <a:ext cx="3956050" cy="41703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p:cNvSpPr>
            <a:spLocks noGrp="1"/>
          </p:cNvSpPr>
          <p:nvPr>
            <p:ph type="body" sz="quarter" idx="3"/>
          </p:nvPr>
        </p:nvSpPr>
        <p:spPr>
          <a:xfrm>
            <a:off x="4548188" y="1620838"/>
            <a:ext cx="3957637" cy="67468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48188" y="2295525"/>
            <a:ext cx="3957637" cy="41703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Tree>
    <p:extLst>
      <p:ext uri="{BB962C8B-B14F-4D97-AF65-F5344CB8AC3E}">
        <p14:creationId xmlns:p14="http://schemas.microsoft.com/office/powerpoint/2010/main" val="1360300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47675" y="290513"/>
            <a:ext cx="8058150" cy="1206500"/>
          </a:xfrm>
          <a:prstGeom prst="rect">
            <a:avLst/>
          </a:prstGeom>
        </p:spPr>
        <p:txBody>
          <a:bodyPr/>
          <a:lstStyle/>
          <a:p>
            <a:r>
              <a:rPr lang="en-US"/>
              <a:t>Click to edit Master title style</a:t>
            </a:r>
            <a:endParaRPr lang="el-GR"/>
          </a:p>
        </p:txBody>
      </p:sp>
    </p:spTree>
    <p:extLst>
      <p:ext uri="{BB962C8B-B14F-4D97-AF65-F5344CB8AC3E}">
        <p14:creationId xmlns:p14="http://schemas.microsoft.com/office/powerpoint/2010/main" val="1194200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5906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7675" y="288925"/>
            <a:ext cx="2946400" cy="1225550"/>
          </a:xfrm>
          <a:prstGeom prst="rect">
            <a:avLst/>
          </a:prstGeom>
        </p:spPr>
        <p:txBody>
          <a:bodyPr anchor="b"/>
          <a:lstStyle>
            <a:lvl1pPr algn="l">
              <a:defRPr sz="2000" b="1"/>
            </a:lvl1pPr>
          </a:lstStyle>
          <a:p>
            <a:r>
              <a:rPr lang="en-US"/>
              <a:t>Click to edit Master title style</a:t>
            </a:r>
            <a:endParaRPr lang="el-GR"/>
          </a:p>
        </p:txBody>
      </p:sp>
      <p:sp>
        <p:nvSpPr>
          <p:cNvPr id="3" name="Content Placeholder 2"/>
          <p:cNvSpPr>
            <a:spLocks noGrp="1"/>
          </p:cNvSpPr>
          <p:nvPr>
            <p:ph idx="1"/>
          </p:nvPr>
        </p:nvSpPr>
        <p:spPr>
          <a:xfrm>
            <a:off x="3500438" y="288925"/>
            <a:ext cx="5005387" cy="617696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p:cNvSpPr>
            <a:spLocks noGrp="1"/>
          </p:cNvSpPr>
          <p:nvPr>
            <p:ph type="body" sz="half" idx="2"/>
          </p:nvPr>
        </p:nvSpPr>
        <p:spPr>
          <a:xfrm>
            <a:off x="447675" y="1514475"/>
            <a:ext cx="2946400" cy="495141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82343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54188" y="5067300"/>
            <a:ext cx="5372100" cy="598488"/>
          </a:xfrm>
          <a:prstGeom prst="rect">
            <a:avLst/>
          </a:prstGeom>
        </p:spPr>
        <p:txBody>
          <a:bodyPr anchor="b"/>
          <a:lstStyle>
            <a:lvl1pPr algn="l">
              <a:defRPr sz="2000" b="1"/>
            </a:lvl1pPr>
          </a:lstStyle>
          <a:p>
            <a:r>
              <a:rPr lang="en-US"/>
              <a:t>Click to edit Master title style</a:t>
            </a:r>
            <a:endParaRPr lang="el-GR"/>
          </a:p>
        </p:txBody>
      </p:sp>
      <p:sp>
        <p:nvSpPr>
          <p:cNvPr id="3" name="Picture Placeholder 2"/>
          <p:cNvSpPr>
            <a:spLocks noGrp="1"/>
          </p:cNvSpPr>
          <p:nvPr>
            <p:ph type="pic" idx="1"/>
          </p:nvPr>
        </p:nvSpPr>
        <p:spPr>
          <a:xfrm>
            <a:off x="1754188" y="646113"/>
            <a:ext cx="5372100" cy="43434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l-GR" noProof="0"/>
          </a:p>
        </p:txBody>
      </p:sp>
      <p:sp>
        <p:nvSpPr>
          <p:cNvPr id="4" name="Text Placeholder 3"/>
          <p:cNvSpPr>
            <a:spLocks noGrp="1"/>
          </p:cNvSpPr>
          <p:nvPr>
            <p:ph type="body" sz="half" idx="2"/>
          </p:nvPr>
        </p:nvSpPr>
        <p:spPr>
          <a:xfrm>
            <a:off x="1754188" y="5665788"/>
            <a:ext cx="5372100" cy="8493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80839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47675" y="290513"/>
            <a:ext cx="8058150" cy="1206500"/>
          </a:xfrm>
          <a:prstGeom prst="rect">
            <a:avLst/>
          </a:prstGeom>
        </p:spPr>
        <p:txBody>
          <a:bodyPr/>
          <a:lstStyle/>
          <a:p>
            <a:r>
              <a:rPr lang="en-US"/>
              <a:t>Click to edit Master title style</a:t>
            </a:r>
            <a:endParaRPr lang="el-GR"/>
          </a:p>
        </p:txBody>
      </p:sp>
      <p:sp>
        <p:nvSpPr>
          <p:cNvPr id="3" name="Vertical Text Placeholder 2"/>
          <p:cNvSpPr>
            <a:spLocks noGrp="1"/>
          </p:cNvSpPr>
          <p:nvPr>
            <p:ph type="body" orient="vert" idx="1"/>
          </p:nvPr>
        </p:nvSpPr>
        <p:spPr>
          <a:xfrm>
            <a:off x="447675" y="1689100"/>
            <a:ext cx="8058150" cy="477678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Tree>
    <p:extLst>
      <p:ext uri="{BB962C8B-B14F-4D97-AF65-F5344CB8AC3E}">
        <p14:creationId xmlns:p14="http://schemas.microsoft.com/office/powerpoint/2010/main" val="2164828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1288" y="290513"/>
            <a:ext cx="2014537" cy="6175375"/>
          </a:xfrm>
          <a:prstGeom prst="rect">
            <a:avLst/>
          </a:prstGeom>
        </p:spPr>
        <p:txBody>
          <a:bodyPr vert="eaVert"/>
          <a:lstStyle/>
          <a:p>
            <a:r>
              <a:rPr lang="en-US"/>
              <a:t>Click to edit Master title style</a:t>
            </a:r>
            <a:endParaRPr lang="el-GR"/>
          </a:p>
        </p:txBody>
      </p:sp>
      <p:sp>
        <p:nvSpPr>
          <p:cNvPr id="3" name="Vertical Text Placeholder 2"/>
          <p:cNvSpPr>
            <a:spLocks noGrp="1"/>
          </p:cNvSpPr>
          <p:nvPr>
            <p:ph type="body" orient="vert" idx="1"/>
          </p:nvPr>
        </p:nvSpPr>
        <p:spPr>
          <a:xfrm>
            <a:off x="447675" y="290513"/>
            <a:ext cx="5891213" cy="61753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Tree>
    <p:extLst>
      <p:ext uri="{BB962C8B-B14F-4D97-AF65-F5344CB8AC3E}">
        <p14:creationId xmlns:p14="http://schemas.microsoft.com/office/powerpoint/2010/main" val="3743276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47675" y="290513"/>
            <a:ext cx="8058150" cy="61753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Tree>
    <p:extLst>
      <p:ext uri="{BB962C8B-B14F-4D97-AF65-F5344CB8AC3E}">
        <p14:creationId xmlns:p14="http://schemas.microsoft.com/office/powerpoint/2010/main" val="735607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1026" name="Rectangle 11"/>
          <p:cNvSpPr>
            <a:spLocks noChangeArrowheads="1"/>
          </p:cNvSpPr>
          <p:nvPr/>
        </p:nvSpPr>
        <p:spPr bwMode="auto">
          <a:xfrm>
            <a:off x="1112838" y="6778625"/>
            <a:ext cx="166687" cy="9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sp>
        <p:nvSpPr>
          <p:cNvPr id="1027" name="Text Box 21"/>
          <p:cNvSpPr txBox="1">
            <a:spLocks noChangeArrowheads="1"/>
          </p:cNvSpPr>
          <p:nvPr userDrawn="1"/>
        </p:nvSpPr>
        <p:spPr bwMode="auto">
          <a:xfrm>
            <a:off x="0" y="0"/>
            <a:ext cx="8953500" cy="482600"/>
          </a:xfrm>
          <a:prstGeom prst="rect">
            <a:avLst/>
          </a:prstGeom>
          <a:solidFill>
            <a:srgbClr val="FF6600"/>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r>
              <a:rPr lang="el-GR" altLang="en-US" sz="1200" b="1" i="1">
                <a:latin typeface="Times New Roman" panose="02020603050405020304" pitchFamily="18" charset="0"/>
              </a:rPr>
              <a:t>ΨΗΦΙΑΚΕΣ ΤΗΛΕΠΙΚΟΙΝΩΝΙΕΣ	 </a:t>
            </a:r>
            <a:r>
              <a:rPr lang="en-US" altLang="en-US" sz="1200" b="1" i="1">
                <a:latin typeface="Times New Roman" panose="02020603050405020304" pitchFamily="18" charset="0"/>
              </a:rPr>
              <a:t>		</a:t>
            </a:r>
            <a:r>
              <a:rPr lang="en-GB" altLang="en-US" sz="1200" b="1" i="1">
                <a:latin typeface="Times New Roman" panose="02020603050405020304" pitchFamily="18" charset="0"/>
              </a:rPr>
              <a:t> </a:t>
            </a:r>
            <a:r>
              <a:rPr lang="el-GR" altLang="en-US" sz="1200" b="1" i="1">
                <a:latin typeface="Times New Roman" panose="02020603050405020304" pitchFamily="18" charset="0"/>
              </a:rPr>
              <a:t>		</a:t>
            </a:r>
            <a:r>
              <a:rPr lang="en-US" altLang="en-US" sz="1200" b="1" i="1">
                <a:latin typeface="Times New Roman" panose="02020603050405020304" pitchFamily="18" charset="0"/>
              </a:rPr>
              <a:t>1-</a:t>
            </a:r>
            <a:fld id="{8DD0985E-133E-4829-93CC-9EB8E3EFB979}" type="slidenum">
              <a:rPr lang="en-US" altLang="en-US" sz="1200" b="1" i="1">
                <a:latin typeface="Times New Roman" panose="02020603050405020304" pitchFamily="18" charset="0"/>
              </a:rPr>
              <a:pPr algn="just"/>
              <a:t>‹#›</a:t>
            </a:fld>
            <a:endParaRPr lang="en-US" altLang="en-US" sz="1200" b="1" i="1">
              <a:latin typeface="Times New Roman" panose="02020603050405020304" pitchFamily="18" charset="0"/>
            </a:endParaRPr>
          </a:p>
          <a:p>
            <a:pPr algn="just"/>
            <a:r>
              <a:rPr lang="el-GR" altLang="en-US" sz="1200" b="1" i="1">
                <a:latin typeface="Times New Roman" panose="02020603050405020304" pitchFamily="18" charset="0"/>
              </a:rPr>
              <a:t>ΚΕΦΑΛΑΙΟ </a:t>
            </a:r>
            <a:r>
              <a:rPr lang="en-US" altLang="en-US" sz="1200" b="1" i="1">
                <a:latin typeface="Times New Roman" panose="02020603050405020304" pitchFamily="18" charset="0"/>
              </a:rPr>
              <a:t>5</a:t>
            </a:r>
            <a:r>
              <a:rPr lang="el-GR" altLang="en-US" sz="1200" b="1" i="1">
                <a:latin typeface="Times New Roman" panose="02020603050405020304" pitchFamily="18" charset="0"/>
              </a:rPr>
              <a:t>: ΨΗΦΙΑΚΗ ΔΙΑΜΟΡΦΩΣΗ ΔΙΕΛΕΥΣΗΣ ΖΩΝΗΣ</a:t>
            </a:r>
            <a:endParaRPr lang="en-GB" altLang="en-US" sz="1200" b="1" i="1">
              <a:latin typeface="Times New Roman" panose="02020603050405020304" pitchFamily="18" charset="0"/>
            </a:endParaRPr>
          </a:p>
        </p:txBody>
      </p:sp>
      <p:pic>
        <p:nvPicPr>
          <p:cNvPr id="1028" name="Picture 23" descr="COSTAS1"/>
          <p:cNvPicPr>
            <a:picLocks noChangeAspect="1" noChangeArrowheads="1"/>
          </p:cNvPicPr>
          <p:nvPr userDrawn="1"/>
        </p:nvPicPr>
        <p:blipFill>
          <a:blip r:embed="rId14" cstate="print">
            <a:grayscl/>
            <a:extLst>
              <a:ext uri="{28A0092B-C50C-407E-A947-70E740481C1C}">
                <a14:useLocalDpi xmlns:a14="http://schemas.microsoft.com/office/drawing/2010/main" val="0"/>
              </a:ext>
            </a:extLst>
          </a:blip>
          <a:srcRect l="-2274" t="-3836" r="-3586" b="-9258"/>
          <a:stretch>
            <a:fillRect/>
          </a:stretch>
        </p:blipFill>
        <p:spPr bwMode="auto">
          <a:xfrm>
            <a:off x="7872413" y="0"/>
            <a:ext cx="1081087" cy="969963"/>
          </a:xfrm>
          <a:prstGeom prst="rect">
            <a:avLst/>
          </a:prstGeom>
          <a:solidFill>
            <a:schemeClr val="folHlink"/>
          </a:solidFill>
          <a:ln w="28575">
            <a:solidFill>
              <a:srgbClr val="000099"/>
            </a:solidFill>
            <a:miter lim="800000"/>
            <a:headEnd/>
            <a:tailEnd/>
          </a:ln>
        </p:spPr>
      </p:pic>
      <p:sp>
        <p:nvSpPr>
          <p:cNvPr id="1029" name="Rectangle 25"/>
          <p:cNvSpPr>
            <a:spLocks noChangeArrowheads="1"/>
          </p:cNvSpPr>
          <p:nvPr userDrawn="1"/>
        </p:nvSpPr>
        <p:spPr bwMode="auto">
          <a:xfrm>
            <a:off x="0" y="7151688"/>
            <a:ext cx="8953500" cy="87312"/>
          </a:xfrm>
          <a:prstGeom prst="rect">
            <a:avLst/>
          </a:prstGeom>
          <a:solidFill>
            <a:srgbClr val="FF6600"/>
          </a:solidFill>
          <a:ln w="6350">
            <a:solidFill>
              <a:srgbClr val="FF6600"/>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a:solidFill>
            <a:srgbClr val="000000"/>
          </a:solidFill>
          <a:latin typeface="+mj-lt"/>
          <a:ea typeface="+mj-ea"/>
          <a:cs typeface="+mj-cs"/>
        </a:defRPr>
      </a:lvl1pPr>
      <a:lvl2pPr algn="ctr" rtl="0" eaLnBrk="0" fontAlgn="base" hangingPunct="0">
        <a:spcBef>
          <a:spcPct val="0"/>
        </a:spcBef>
        <a:spcAft>
          <a:spcPct val="0"/>
        </a:spcAft>
        <a:defRPr sz="3600" b="1">
          <a:solidFill>
            <a:srgbClr val="000000"/>
          </a:solidFill>
          <a:latin typeface="Arial" charset="0"/>
        </a:defRPr>
      </a:lvl2pPr>
      <a:lvl3pPr algn="ctr" rtl="0" eaLnBrk="0" fontAlgn="base" hangingPunct="0">
        <a:spcBef>
          <a:spcPct val="0"/>
        </a:spcBef>
        <a:spcAft>
          <a:spcPct val="0"/>
        </a:spcAft>
        <a:defRPr sz="3600" b="1">
          <a:solidFill>
            <a:srgbClr val="000000"/>
          </a:solidFill>
          <a:latin typeface="Arial" charset="0"/>
        </a:defRPr>
      </a:lvl3pPr>
      <a:lvl4pPr algn="ctr" rtl="0" eaLnBrk="0" fontAlgn="base" hangingPunct="0">
        <a:spcBef>
          <a:spcPct val="0"/>
        </a:spcBef>
        <a:spcAft>
          <a:spcPct val="0"/>
        </a:spcAft>
        <a:defRPr sz="3600" b="1">
          <a:solidFill>
            <a:srgbClr val="000000"/>
          </a:solidFill>
          <a:latin typeface="Arial" charset="0"/>
        </a:defRPr>
      </a:lvl4pPr>
      <a:lvl5pPr algn="ctr" rtl="0" eaLnBrk="0" fontAlgn="base" hangingPunct="0">
        <a:spcBef>
          <a:spcPct val="0"/>
        </a:spcBef>
        <a:spcAft>
          <a:spcPct val="0"/>
        </a:spcAft>
        <a:defRPr sz="3600" b="1">
          <a:solidFill>
            <a:srgbClr val="000000"/>
          </a:solidFill>
          <a:latin typeface="Arial" charset="0"/>
        </a:defRPr>
      </a:lvl5pPr>
      <a:lvl6pPr marL="457200" algn="ctr" rtl="0" eaLnBrk="0" fontAlgn="base" hangingPunct="0">
        <a:spcBef>
          <a:spcPct val="0"/>
        </a:spcBef>
        <a:spcAft>
          <a:spcPct val="0"/>
        </a:spcAft>
        <a:defRPr sz="3600" b="1">
          <a:solidFill>
            <a:srgbClr val="000000"/>
          </a:solidFill>
          <a:latin typeface="Arial" charset="0"/>
        </a:defRPr>
      </a:lvl6pPr>
      <a:lvl7pPr marL="914400" algn="ctr" rtl="0" eaLnBrk="0" fontAlgn="base" hangingPunct="0">
        <a:spcBef>
          <a:spcPct val="0"/>
        </a:spcBef>
        <a:spcAft>
          <a:spcPct val="0"/>
        </a:spcAft>
        <a:defRPr sz="3600" b="1">
          <a:solidFill>
            <a:srgbClr val="000000"/>
          </a:solidFill>
          <a:latin typeface="Arial" charset="0"/>
        </a:defRPr>
      </a:lvl7pPr>
      <a:lvl8pPr marL="1371600" algn="ctr" rtl="0" eaLnBrk="0" fontAlgn="base" hangingPunct="0">
        <a:spcBef>
          <a:spcPct val="0"/>
        </a:spcBef>
        <a:spcAft>
          <a:spcPct val="0"/>
        </a:spcAft>
        <a:defRPr sz="3600" b="1">
          <a:solidFill>
            <a:srgbClr val="000000"/>
          </a:solidFill>
          <a:latin typeface="Arial" charset="0"/>
        </a:defRPr>
      </a:lvl8pPr>
      <a:lvl9pPr marL="1828800" algn="ctr" rtl="0" eaLnBrk="0" fontAlgn="base" hangingPunct="0">
        <a:spcBef>
          <a:spcPct val="0"/>
        </a:spcBef>
        <a:spcAft>
          <a:spcPct val="0"/>
        </a:spcAft>
        <a:defRPr sz="3600" b="1">
          <a:solidFill>
            <a:srgbClr val="000000"/>
          </a:solidFill>
          <a:latin typeface="Arial" charset="0"/>
        </a:defRPr>
      </a:lvl9pPr>
    </p:titleStyle>
    <p:bodyStyle>
      <a:lvl1pPr marL="342900" indent="-342900" algn="l" rtl="0" eaLnBrk="0" fontAlgn="base" hangingPunct="0">
        <a:spcBef>
          <a:spcPct val="20000"/>
        </a:spcBef>
        <a:spcAft>
          <a:spcPct val="0"/>
        </a:spcAft>
        <a:buSzPct val="75000"/>
        <a:buFont typeface="Monotype Sorts" pitchFamily="2" charset="2"/>
        <a:buChar char="l"/>
        <a:defRPr sz="3200">
          <a:solidFill>
            <a:srgbClr val="000000"/>
          </a:solidFill>
          <a:latin typeface="+mn-lt"/>
          <a:ea typeface="+mn-ea"/>
          <a:cs typeface="+mn-cs"/>
        </a:defRPr>
      </a:lvl1pPr>
      <a:lvl2pPr marL="742950" indent="-285750" algn="l" rtl="0" eaLnBrk="0" fontAlgn="base" hangingPunct="0">
        <a:spcBef>
          <a:spcPct val="20000"/>
        </a:spcBef>
        <a:spcAft>
          <a:spcPct val="0"/>
        </a:spcAft>
        <a:buSzPct val="75000"/>
        <a:buFont typeface="Monotype Sorts" pitchFamily="2" charset="2"/>
        <a:buChar char="l"/>
        <a:defRPr sz="2800">
          <a:solidFill>
            <a:srgbClr val="000000"/>
          </a:solidFill>
          <a:latin typeface="+mn-lt"/>
        </a:defRPr>
      </a:lvl2pPr>
      <a:lvl3pPr marL="1143000" indent="-228600" algn="l" rtl="0" eaLnBrk="0" fontAlgn="base" hangingPunct="0">
        <a:spcBef>
          <a:spcPct val="20000"/>
        </a:spcBef>
        <a:spcAft>
          <a:spcPct val="0"/>
        </a:spcAft>
        <a:buSzPct val="75000"/>
        <a:buFont typeface="Monotype Sorts" pitchFamily="2" charset="2"/>
        <a:buChar char="l"/>
        <a:defRPr sz="2400">
          <a:solidFill>
            <a:srgbClr val="000000"/>
          </a:solidFill>
          <a:latin typeface="+mn-lt"/>
        </a:defRPr>
      </a:lvl3pPr>
      <a:lvl4pPr marL="1600200" indent="-228600" algn="l" rtl="0" eaLnBrk="0" fontAlgn="base" hangingPunct="0">
        <a:spcBef>
          <a:spcPct val="20000"/>
        </a:spcBef>
        <a:spcAft>
          <a:spcPct val="0"/>
        </a:spcAft>
        <a:buSzPct val="75000"/>
        <a:buFont typeface="Monotype Sorts" pitchFamily="2" charset="2"/>
        <a:buChar char="l"/>
        <a:defRPr sz="2000">
          <a:solidFill>
            <a:srgbClr val="000000"/>
          </a:solidFill>
          <a:latin typeface="+mn-lt"/>
        </a:defRPr>
      </a:lvl4pPr>
      <a:lvl5pPr marL="2057400" indent="-228600" algn="l" rtl="0" eaLnBrk="0" fontAlgn="base" hangingPunct="0">
        <a:spcBef>
          <a:spcPct val="20000"/>
        </a:spcBef>
        <a:spcAft>
          <a:spcPct val="0"/>
        </a:spcAft>
        <a:buSzPct val="75000"/>
        <a:buFont typeface="Monotype Sorts" pitchFamily="2" charset="2"/>
        <a:buChar char="l"/>
        <a:defRPr sz="2000">
          <a:solidFill>
            <a:srgbClr val="000000"/>
          </a:solidFill>
          <a:latin typeface="+mn-lt"/>
        </a:defRPr>
      </a:lvl5pPr>
      <a:lvl6pPr marL="2514600" indent="-228600" algn="l" rtl="0" eaLnBrk="0" fontAlgn="base" hangingPunct="0">
        <a:spcBef>
          <a:spcPct val="20000"/>
        </a:spcBef>
        <a:spcAft>
          <a:spcPct val="0"/>
        </a:spcAft>
        <a:buSzPct val="75000"/>
        <a:buFont typeface="Monotype Sorts" pitchFamily="2" charset="2"/>
        <a:buChar char="l"/>
        <a:defRPr sz="2000">
          <a:solidFill>
            <a:srgbClr val="000000"/>
          </a:solidFill>
          <a:latin typeface="+mn-lt"/>
        </a:defRPr>
      </a:lvl6pPr>
      <a:lvl7pPr marL="2971800" indent="-228600" algn="l" rtl="0" eaLnBrk="0" fontAlgn="base" hangingPunct="0">
        <a:spcBef>
          <a:spcPct val="20000"/>
        </a:spcBef>
        <a:spcAft>
          <a:spcPct val="0"/>
        </a:spcAft>
        <a:buSzPct val="75000"/>
        <a:buFont typeface="Monotype Sorts" pitchFamily="2" charset="2"/>
        <a:buChar char="l"/>
        <a:defRPr sz="2000">
          <a:solidFill>
            <a:srgbClr val="000000"/>
          </a:solidFill>
          <a:latin typeface="+mn-lt"/>
        </a:defRPr>
      </a:lvl7pPr>
      <a:lvl8pPr marL="3429000" indent="-228600" algn="l" rtl="0" eaLnBrk="0" fontAlgn="base" hangingPunct="0">
        <a:spcBef>
          <a:spcPct val="20000"/>
        </a:spcBef>
        <a:spcAft>
          <a:spcPct val="0"/>
        </a:spcAft>
        <a:buSzPct val="75000"/>
        <a:buFont typeface="Monotype Sorts" pitchFamily="2" charset="2"/>
        <a:buChar char="l"/>
        <a:defRPr sz="2000">
          <a:solidFill>
            <a:srgbClr val="000000"/>
          </a:solidFill>
          <a:latin typeface="+mn-lt"/>
        </a:defRPr>
      </a:lvl8pPr>
      <a:lvl9pPr marL="3886200" indent="-228600" algn="l" rtl="0" eaLnBrk="0" fontAlgn="base" hangingPunct="0">
        <a:spcBef>
          <a:spcPct val="20000"/>
        </a:spcBef>
        <a:spcAft>
          <a:spcPct val="0"/>
        </a:spcAft>
        <a:buSzPct val="75000"/>
        <a:buFont typeface="Monotype Sorts" pitchFamily="2" charset="2"/>
        <a:buChar char="l"/>
        <a:defRPr sz="2000">
          <a:solidFill>
            <a:srgbClr val="000000"/>
          </a:solidFill>
          <a:latin typeface="+mn-lt"/>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bin"/><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0.png"/><Relationship Id="rId4" Type="http://schemas.openxmlformats.org/officeDocument/2006/relationships/image" Target="../media/image230.pn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w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33.w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2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8.png"/><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6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4"/>
          <p:cNvSpPr txBox="1">
            <a:spLocks noChangeArrowheads="1"/>
          </p:cNvSpPr>
          <p:nvPr/>
        </p:nvSpPr>
        <p:spPr bwMode="auto">
          <a:xfrm>
            <a:off x="570586" y="2164754"/>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ctr"/>
            <a:r>
              <a:rPr lang="el-GR" altLang="en-US" sz="2200" b="1" dirty="0">
                <a:latin typeface="Times New Roman" panose="02020603050405020304" pitchFamily="18" charset="0"/>
                <a:cs typeface="Times New Roman" panose="02020603050405020304" pitchFamily="18" charset="0"/>
              </a:rPr>
              <a:t>ΨΗΦΙΑΚΕΣ ΔΙΑΜΟΡΦΩΣΕΙΣ ΔΙΕΛΕΥΣΗΣ ΖΩΝΗΣ</a:t>
            </a:r>
            <a:r>
              <a:rPr lang="en-US" altLang="en-US" dirty="0">
                <a:latin typeface="Times New Roman" panose="02020603050405020304" pitchFamily="18" charset="0"/>
              </a:rPr>
              <a:t> </a:t>
            </a:r>
            <a:r>
              <a:rPr lang="en-US" altLang="en-US" sz="2200" dirty="0">
                <a:latin typeface="Times New Roman" panose="02020603050405020304" pitchFamily="18" charset="0"/>
              </a:rPr>
              <a:t> </a:t>
            </a:r>
            <a:endParaRPr lang="en-GB" altLang="en-US" sz="2200" dirty="0">
              <a:latin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D3FA7-C1FC-1958-864B-1E82CD00B71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BE8AE8-94B2-01E8-E6EA-926EDFD50790}"/>
              </a:ext>
            </a:extLst>
          </p:cNvPr>
          <p:cNvSpPr txBox="1"/>
          <p:nvPr/>
        </p:nvSpPr>
        <p:spPr>
          <a:xfrm>
            <a:off x="-1" y="1265021"/>
            <a:ext cx="8697433" cy="4801314"/>
          </a:xfrm>
          <a:prstGeom prst="rect">
            <a:avLst/>
          </a:prstGeom>
          <a:noFill/>
        </p:spPr>
        <p:txBody>
          <a:bodyPr wrap="square">
            <a:spAutoFit/>
          </a:bodyPr>
          <a:lstStyle/>
          <a:p>
            <a:pPr marL="171450" indent="-171450">
              <a:buFont typeface="Arial" panose="020B0604020202020204" pitchFamily="34" charset="0"/>
              <a:buChar char="•"/>
            </a:pPr>
            <a:r>
              <a:rPr lang="el-GR" sz="1800" dirty="0">
                <a:solidFill>
                  <a:srgbClr val="C00000"/>
                </a:solidFill>
                <a:latin typeface="Times New Roman" panose="02020603050405020304" pitchFamily="18" charset="0"/>
                <a:cs typeface="Times New Roman" panose="02020603050405020304" pitchFamily="18" charset="0"/>
              </a:rPr>
              <a:t>Αν το κανάλι διαθέτει μία συγκεκριμένη ζώνη διέλευσης συχνοτήτων, τότε δεν μπορεί να χρησιμοποιηθεί η μετάδοση βασικής ζώνης, αλλά η σηματοδοσία διέλευσης ζώνης (</a:t>
            </a:r>
            <a:r>
              <a:rPr lang="el-GR" sz="1800" dirty="0" err="1">
                <a:solidFill>
                  <a:srgbClr val="C00000"/>
                </a:solidFill>
                <a:latin typeface="Times New Roman" panose="02020603050405020304" pitchFamily="18" charset="0"/>
                <a:cs typeface="Times New Roman" panose="02020603050405020304" pitchFamily="18" charset="0"/>
              </a:rPr>
              <a:t>bandpass</a:t>
            </a:r>
            <a:r>
              <a:rPr lang="el-GR" sz="1800" dirty="0">
                <a:solidFill>
                  <a:srgbClr val="C00000"/>
                </a:solidFill>
                <a:latin typeface="Times New Roman" panose="02020603050405020304" pitchFamily="18" charset="0"/>
                <a:cs typeface="Times New Roman" panose="02020603050405020304" pitchFamily="18" charset="0"/>
              </a:rPr>
              <a:t> </a:t>
            </a:r>
            <a:r>
              <a:rPr lang="el-GR" sz="1800" dirty="0" err="1">
                <a:solidFill>
                  <a:srgbClr val="C00000"/>
                </a:solidFill>
                <a:latin typeface="Times New Roman" panose="02020603050405020304" pitchFamily="18" charset="0"/>
                <a:cs typeface="Times New Roman" panose="02020603050405020304" pitchFamily="18" charset="0"/>
              </a:rPr>
              <a:t>signalling</a:t>
            </a:r>
            <a:r>
              <a:rPr lang="el-GR" sz="1800" dirty="0">
                <a:solidFill>
                  <a:srgbClr val="C00000"/>
                </a:solidFill>
                <a:latin typeface="Times New Roman" panose="02020603050405020304" pitchFamily="18" charset="0"/>
                <a:cs typeface="Times New Roman" panose="02020603050405020304" pitchFamily="18" charset="0"/>
              </a:rPr>
              <a:t>). </a:t>
            </a: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l-GR" sz="1800" dirty="0">
                <a:solidFill>
                  <a:srgbClr val="C00000"/>
                </a:solidFill>
                <a:latin typeface="Times New Roman" panose="02020603050405020304" pitchFamily="18" charset="0"/>
                <a:cs typeface="Times New Roman" panose="02020603050405020304" pitchFamily="18" charset="0"/>
              </a:rPr>
              <a:t>Σήματα βασικής ζώνης των οποίων το φάσμα έχει μεταφερθεί σε μια </a:t>
            </a:r>
            <a:r>
              <a:rPr lang="el-GR" sz="1800" dirty="0" err="1">
                <a:solidFill>
                  <a:srgbClr val="C00000"/>
                </a:solidFill>
                <a:latin typeface="Times New Roman" panose="02020603050405020304" pitchFamily="18" charset="0"/>
                <a:cs typeface="Times New Roman" panose="02020603050405020304" pitchFamily="18" charset="0"/>
              </a:rPr>
              <a:t>συχνοτική</a:t>
            </a:r>
            <a:r>
              <a:rPr lang="el-GR" sz="1800" dirty="0">
                <a:solidFill>
                  <a:srgbClr val="C00000"/>
                </a:solidFill>
                <a:latin typeface="Times New Roman" panose="02020603050405020304" pitchFamily="18" charset="0"/>
                <a:cs typeface="Times New Roman" panose="02020603050405020304" pitchFamily="18" charset="0"/>
              </a:rPr>
              <a:t> περιοχή που είναι πιο κατάλληλη για μετάδοση μέσα από το συγκεκριμένο κανάλι μετάδοσης ονομάζονται σήματα διέλευσης ζώνης (</a:t>
            </a:r>
            <a:r>
              <a:rPr lang="el-GR" sz="1800" dirty="0" err="1">
                <a:solidFill>
                  <a:srgbClr val="C00000"/>
                </a:solidFill>
                <a:latin typeface="Times New Roman" panose="02020603050405020304" pitchFamily="18" charset="0"/>
                <a:cs typeface="Times New Roman" panose="02020603050405020304" pitchFamily="18" charset="0"/>
              </a:rPr>
              <a:t>passband</a:t>
            </a:r>
            <a:r>
              <a:rPr lang="el-GR" sz="1800" dirty="0">
                <a:solidFill>
                  <a:srgbClr val="C00000"/>
                </a:solidFill>
                <a:latin typeface="Times New Roman" panose="02020603050405020304" pitchFamily="18" charset="0"/>
                <a:cs typeface="Times New Roman" panose="02020603050405020304" pitchFamily="18" charset="0"/>
              </a:rPr>
              <a:t> </a:t>
            </a:r>
            <a:r>
              <a:rPr lang="el-GR" sz="1800" dirty="0" err="1">
                <a:solidFill>
                  <a:srgbClr val="C00000"/>
                </a:solidFill>
                <a:latin typeface="Times New Roman" panose="02020603050405020304" pitchFamily="18" charset="0"/>
                <a:cs typeface="Times New Roman" panose="02020603050405020304" pitchFamily="18" charset="0"/>
              </a:rPr>
              <a:t>signals</a:t>
            </a:r>
            <a:r>
              <a:rPr lang="el-GR" sz="1800" dirty="0">
                <a:solidFill>
                  <a:srgbClr val="C00000"/>
                </a:solidFill>
                <a:latin typeface="Times New Roman" panose="02020603050405020304" pitchFamily="18" charset="0"/>
                <a:cs typeface="Times New Roman" panose="02020603050405020304" pitchFamily="18" charset="0"/>
              </a:rPr>
              <a:t>). </a:t>
            </a: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l-GR" sz="1800" dirty="0">
                <a:solidFill>
                  <a:srgbClr val="C00000"/>
                </a:solidFill>
                <a:latin typeface="Times New Roman" panose="02020603050405020304" pitchFamily="18" charset="0"/>
                <a:cs typeface="Times New Roman" panose="02020603050405020304" pitchFamily="18" charset="0"/>
              </a:rPr>
              <a:t>Το φάσμα των σημάτων αυτών είναι συγκεντρωμένο γύρω από μια συχνότητα που καλείται φέρουσα συχνότητα (</a:t>
            </a:r>
            <a:r>
              <a:rPr lang="el-GR" sz="1800" dirty="0" err="1">
                <a:solidFill>
                  <a:srgbClr val="C00000"/>
                </a:solidFill>
                <a:latin typeface="Times New Roman" panose="02020603050405020304" pitchFamily="18" charset="0"/>
                <a:cs typeface="Times New Roman" panose="02020603050405020304" pitchFamily="18" charset="0"/>
              </a:rPr>
              <a:t>carrier</a:t>
            </a:r>
            <a:r>
              <a:rPr lang="el-GR" sz="1800" dirty="0">
                <a:solidFill>
                  <a:srgbClr val="C00000"/>
                </a:solidFill>
                <a:latin typeface="Times New Roman" panose="02020603050405020304" pitchFamily="18" charset="0"/>
                <a:cs typeface="Times New Roman" panose="02020603050405020304" pitchFamily="18" charset="0"/>
              </a:rPr>
              <a:t> </a:t>
            </a:r>
            <a:r>
              <a:rPr lang="el-GR" sz="1800" dirty="0" err="1">
                <a:solidFill>
                  <a:srgbClr val="C00000"/>
                </a:solidFill>
                <a:latin typeface="Times New Roman" panose="02020603050405020304" pitchFamily="18" charset="0"/>
                <a:cs typeface="Times New Roman" panose="02020603050405020304" pitchFamily="18" charset="0"/>
              </a:rPr>
              <a:t>frequency</a:t>
            </a:r>
            <a:r>
              <a:rPr lang="el-GR" sz="1800" dirty="0">
                <a:solidFill>
                  <a:srgbClr val="C00000"/>
                </a:solidFill>
                <a:latin typeface="Times New Roman" panose="02020603050405020304" pitchFamily="18" charset="0"/>
                <a:cs typeface="Times New Roman" panose="02020603050405020304" pitchFamily="18" charset="0"/>
              </a:rPr>
              <a:t>). </a:t>
            </a:r>
          </a:p>
        </p:txBody>
      </p:sp>
      <p:pic>
        <p:nvPicPr>
          <p:cNvPr id="7" name="Εικόνα 6">
            <a:extLst>
              <a:ext uri="{FF2B5EF4-FFF2-40B4-BE49-F238E27FC236}">
                <a16:creationId xmlns:a16="http://schemas.microsoft.com/office/drawing/2014/main" id="{BB74687B-C63D-DA7F-A5E3-24F30574FD37}"/>
              </a:ext>
            </a:extLst>
          </p:cNvPr>
          <p:cNvPicPr>
            <a:picLocks noChangeAspect="1"/>
          </p:cNvPicPr>
          <p:nvPr/>
        </p:nvPicPr>
        <p:blipFill>
          <a:blip r:embed="rId2"/>
          <a:stretch>
            <a:fillRect/>
          </a:stretch>
        </p:blipFill>
        <p:spPr>
          <a:xfrm>
            <a:off x="2521214" y="3249604"/>
            <a:ext cx="3911072" cy="1928452"/>
          </a:xfrm>
          <a:prstGeom prst="rect">
            <a:avLst/>
          </a:prstGeom>
        </p:spPr>
      </p:pic>
      <p:sp>
        <p:nvSpPr>
          <p:cNvPr id="10" name="Text Box 3">
            <a:extLst>
              <a:ext uri="{FF2B5EF4-FFF2-40B4-BE49-F238E27FC236}">
                <a16:creationId xmlns:a16="http://schemas.microsoft.com/office/drawing/2014/main" id="{BCDB0AB4-C1AA-8530-1EA2-0A2AC076691D}"/>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cs typeface="Times New Roman" panose="02020603050405020304" pitchFamily="18" charset="0"/>
              </a:rPr>
              <a:t>Σηματοδοσία Διέλευσης Ζώνης</a:t>
            </a:r>
            <a:endParaRPr lang="en-GB" altLang="en-US" sz="2200" dirty="0">
              <a:latin typeface="Times New Roman" panose="02020603050405020304" pitchFamily="18" charset="0"/>
            </a:endParaRPr>
          </a:p>
        </p:txBody>
      </p:sp>
    </p:spTree>
    <p:extLst>
      <p:ext uri="{BB962C8B-B14F-4D97-AF65-F5344CB8AC3E}">
        <p14:creationId xmlns:p14="http://schemas.microsoft.com/office/powerpoint/2010/main" val="85789594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5C9B-E238-9403-3054-65F7283DBA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B6A3C7-ABC0-4840-5B15-30381899C121}"/>
                  </a:ext>
                </a:extLst>
              </p:cNvPr>
              <p:cNvSpPr txBox="1"/>
              <p:nvPr/>
            </p:nvSpPr>
            <p:spPr>
              <a:xfrm>
                <a:off x="-1" y="1265021"/>
                <a:ext cx="8697433" cy="5047216"/>
              </a:xfrm>
              <a:prstGeom prst="rect">
                <a:avLst/>
              </a:prstGeom>
              <a:noFill/>
            </p:spPr>
            <p:txBody>
              <a:bodyPr wrap="square">
                <a:spAutoFit/>
              </a:bodyPr>
              <a:lstStyle/>
              <a:p>
                <a:pPr marL="171450" indent="-1714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Διαμόρφωση:</a:t>
                </a:r>
                <a:r>
                  <a:rPr lang="el-GR" sz="1800" dirty="0">
                    <a:solidFill>
                      <a:srgbClr val="C00000"/>
                    </a:solidFill>
                    <a:latin typeface="Times New Roman" panose="02020603050405020304" pitchFamily="18" charset="0"/>
                    <a:cs typeface="Times New Roman" panose="02020603050405020304" pitchFamily="18" charset="0"/>
                  </a:rPr>
                  <a:t> Η συστηματική μεταβολή κάποιου χαρακτηριστικού της (</a:t>
                </a:r>
                <a:r>
                  <a:rPr lang="el-GR" sz="1800" dirty="0" err="1">
                    <a:solidFill>
                      <a:srgbClr val="C00000"/>
                    </a:solidFill>
                    <a:latin typeface="Times New Roman" panose="02020603050405020304" pitchFamily="18" charset="0"/>
                    <a:cs typeface="Times New Roman" panose="02020603050405020304" pitchFamily="18" charset="0"/>
                  </a:rPr>
                  <a:t>υψίσυχνης</a:t>
                </a:r>
                <a:r>
                  <a:rPr lang="el-GR" sz="1800" dirty="0">
                    <a:solidFill>
                      <a:srgbClr val="C00000"/>
                    </a:solidFill>
                    <a:latin typeface="Times New Roman" panose="02020603050405020304" pitchFamily="18" charset="0"/>
                    <a:cs typeface="Times New Roman" panose="02020603050405020304" pitchFamily="18" charset="0"/>
                  </a:rPr>
                  <a:t>) φέρουσας </a:t>
                </a:r>
                <a:r>
                  <a:rPr lang="el-GR" sz="1800" dirty="0" err="1">
                    <a:solidFill>
                      <a:srgbClr val="C00000"/>
                    </a:solidFill>
                    <a:latin typeface="Times New Roman" panose="02020603050405020304" pitchFamily="18" charset="0"/>
                    <a:cs typeface="Times New Roman" panose="02020603050405020304" pitchFamily="18" charset="0"/>
                  </a:rPr>
                  <a:t>κυματομορφής</a:t>
                </a:r>
                <a:r>
                  <a:rPr lang="el-GR" sz="1800" dirty="0">
                    <a:solidFill>
                      <a:srgbClr val="C00000"/>
                    </a:solidFill>
                    <a:latin typeface="Times New Roman" panose="02020603050405020304" pitchFamily="18" charset="0"/>
                    <a:cs typeface="Times New Roman" panose="02020603050405020304" pitchFamily="18" charset="0"/>
                  </a:rPr>
                  <a:t> (φέρον) , όπως π.χ. πλάτος, συχνότητα, φάση, σε συνάρτηση με το πληροφοριακό σήμα (μήνυμα / </a:t>
                </a:r>
                <a:r>
                  <a:rPr lang="el-GR" sz="1800" dirty="0" err="1">
                    <a:solidFill>
                      <a:srgbClr val="C00000"/>
                    </a:solidFill>
                    <a:latin typeface="Times New Roman" panose="02020603050405020304" pitchFamily="18" charset="0"/>
                    <a:cs typeface="Times New Roman" panose="02020603050405020304" pitchFamily="18" charset="0"/>
                  </a:rPr>
                  <a:t>χαμηλόσυχνο</a:t>
                </a:r>
                <a:r>
                  <a:rPr lang="el-GR" sz="1800" dirty="0">
                    <a:solidFill>
                      <a:srgbClr val="C00000"/>
                    </a:solidFill>
                    <a:latin typeface="Times New Roman" panose="02020603050405020304" pitchFamily="18" charset="0"/>
                    <a:cs typeface="Times New Roman" panose="02020603050405020304" pitchFamily="18" charset="0"/>
                  </a:rPr>
                  <a:t> σήμα).</a:t>
                </a:r>
              </a:p>
              <a:p>
                <a:pPr marL="171450" indent="-171450">
                  <a:buFont typeface="Arial" panose="020B0604020202020204" pitchFamily="34" charset="0"/>
                  <a:buChar char="•"/>
                </a:pPr>
                <a:endParaRPr lang="el-GR" sz="1800" dirty="0">
                  <a:solidFill>
                    <a:srgbClr val="C00000"/>
                  </a:solidFill>
                  <a:latin typeface="Times New Roman" panose="02020603050405020304" pitchFamily="18" charset="0"/>
                  <a:cs typeface="Times New Roman" panose="02020603050405020304" pitchFamily="18" charset="0"/>
                </a:endParaRPr>
              </a:p>
              <a:p>
                <a:r>
                  <a:rPr lang="el-GR" sz="1800" b="1" dirty="0">
                    <a:solidFill>
                      <a:srgbClr val="C00000"/>
                    </a:solidFill>
                    <a:latin typeface="Times New Roman" panose="02020603050405020304" pitchFamily="18" charset="0"/>
                    <a:cs typeface="Times New Roman" panose="02020603050405020304" pitchFamily="18" charset="0"/>
                  </a:rPr>
                  <a:t>Λόγοι διαμόρφωσης</a:t>
                </a:r>
                <a:endParaRPr lang="en-US" sz="1800" b="1"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Εύκολη ακτινοβολία: </a:t>
                </a:r>
                <a:r>
                  <a:rPr lang="el-GR" sz="1800" dirty="0">
                    <a:solidFill>
                      <a:srgbClr val="C00000"/>
                    </a:solidFill>
                    <a:latin typeface="Times New Roman" panose="02020603050405020304" pitchFamily="18" charset="0"/>
                    <a:cs typeface="Times New Roman" panose="02020603050405020304" pitchFamily="18" charset="0"/>
                  </a:rPr>
                  <a:t>Για την αποτελεσματική εκπομπή της ηλεκτρομαγνητικής ακτινοβολίας στον ελεύθερο χώρο, οι διαστάσεις της κεραίας πρέπει να είναι συγκρίσιμες με το μήκος κύματος </a:t>
                </a:r>
                <a:r>
                  <a:rPr lang="en-US" sz="1800" dirty="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r>
                      <a:rPr lang="en-US" sz="1800" b="0" i="1" smtClean="0">
                        <a:solidFill>
                          <a:srgbClr val="C00000"/>
                        </a:solidFill>
                        <a:latin typeface="Cambria Math" panose="02040503050406030204" pitchFamily="18" charset="0"/>
                        <a:cs typeface="Times New Roman" panose="02020603050405020304" pitchFamily="18" charset="0"/>
                      </a:rPr>
                      <m:t>𝜆</m:t>
                    </m:r>
                    <m:r>
                      <a:rPr lang="en-US" sz="1800" b="0" i="1" smtClean="0">
                        <a:solidFill>
                          <a:srgbClr val="C00000"/>
                        </a:solidFill>
                        <a:latin typeface="Cambria Math" panose="02040503050406030204" pitchFamily="18" charset="0"/>
                        <a:cs typeface="Times New Roman" panose="02020603050405020304" pitchFamily="18" charset="0"/>
                      </a:rPr>
                      <m:t>)</m:t>
                    </m:r>
                  </m:oMath>
                </a14:m>
                <a:r>
                  <a:rPr lang="en-US" sz="1800" dirty="0">
                    <a:solidFill>
                      <a:srgbClr val="C00000"/>
                    </a:solidFill>
                    <a:latin typeface="Times New Roman" panose="02020603050405020304" pitchFamily="18" charset="0"/>
                    <a:cs typeface="Times New Roman" panose="02020603050405020304" pitchFamily="18" charset="0"/>
                  </a:rPr>
                  <a:t> </a:t>
                </a:r>
                <a:r>
                  <a:rPr lang="el-GR" sz="1800" dirty="0">
                    <a:solidFill>
                      <a:srgbClr val="C00000"/>
                    </a:solidFill>
                    <a:latin typeface="Times New Roman" panose="02020603050405020304" pitchFamily="18" charset="0"/>
                    <a:cs typeface="Times New Roman" panose="02020603050405020304" pitchFamily="18" charset="0"/>
                  </a:rPr>
                  <a:t>του σήματος.</a:t>
                </a: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r>
                        <m:rPr>
                          <m:sty m:val="p"/>
                        </m:rPr>
                        <a:rPr lang="el-GR" sz="1800" b="0" i="0" smtClean="0">
                          <a:solidFill>
                            <a:srgbClr val="C00000"/>
                          </a:solidFill>
                          <a:latin typeface="Cambria Math" panose="02040503050406030204" pitchFamily="18" charset="0"/>
                          <a:cs typeface="Times New Roman" panose="02020603050405020304" pitchFamily="18" charset="0"/>
                        </a:rPr>
                        <m:t>Ισχύει</m:t>
                      </m:r>
                      <m:r>
                        <a:rPr lang="el-GR" sz="1800" b="0" i="0" smtClean="0">
                          <a:solidFill>
                            <a:srgbClr val="C00000"/>
                          </a:solidFill>
                          <a:latin typeface="Cambria Math" panose="02040503050406030204" pitchFamily="18" charset="0"/>
                          <a:cs typeface="Times New Roman" panose="02020603050405020304" pitchFamily="18" charset="0"/>
                        </a:rPr>
                        <m:t>:</m:t>
                      </m:r>
                      <m:r>
                        <a:rPr lang="en-US" sz="1800" b="0" i="1" smtClean="0">
                          <a:solidFill>
                            <a:srgbClr val="C00000"/>
                          </a:solidFill>
                          <a:latin typeface="Cambria Math" panose="02040503050406030204" pitchFamily="18" charset="0"/>
                          <a:cs typeface="Times New Roman" panose="02020603050405020304" pitchFamily="18" charset="0"/>
                        </a:rPr>
                        <m:t>𝜆</m:t>
                      </m:r>
                      <m:r>
                        <a:rPr lang="en-US" sz="1800" b="0" i="1" smtClean="0">
                          <a:solidFill>
                            <a:srgbClr val="C00000"/>
                          </a:solidFill>
                          <a:latin typeface="Cambria Math" panose="02040503050406030204" pitchFamily="18" charset="0"/>
                          <a:cs typeface="Times New Roman" panose="02020603050405020304" pitchFamily="18" charset="0"/>
                        </a:rPr>
                        <m:t>=</m:t>
                      </m:r>
                      <m:f>
                        <m:fPr>
                          <m:ctrlPr>
                            <a:rPr lang="en-US" sz="1800" b="0" i="1" smtClean="0">
                              <a:solidFill>
                                <a:srgbClr val="C00000"/>
                              </a:solidFill>
                              <a:latin typeface="Cambria Math" panose="02040503050406030204" pitchFamily="18" charset="0"/>
                              <a:cs typeface="Times New Roman" panose="02020603050405020304" pitchFamily="18" charset="0"/>
                            </a:rPr>
                          </m:ctrlPr>
                        </m:fPr>
                        <m:num>
                          <m:r>
                            <a:rPr lang="en-US" sz="1800" b="0" i="1" smtClean="0">
                              <a:solidFill>
                                <a:srgbClr val="C00000"/>
                              </a:solidFill>
                              <a:latin typeface="Cambria Math" panose="02040503050406030204" pitchFamily="18" charset="0"/>
                              <a:cs typeface="Times New Roman" panose="02020603050405020304" pitchFamily="18" charset="0"/>
                            </a:rPr>
                            <m:t>𝑐</m:t>
                          </m:r>
                        </m:num>
                        <m:den>
                          <m:r>
                            <a:rPr lang="en-US" sz="1800" b="0" i="1" smtClean="0">
                              <a:solidFill>
                                <a:srgbClr val="C00000"/>
                              </a:solidFill>
                              <a:latin typeface="Cambria Math" panose="02040503050406030204" pitchFamily="18" charset="0"/>
                              <a:cs typeface="Times New Roman" panose="02020603050405020304" pitchFamily="18" charset="0"/>
                            </a:rPr>
                            <m:t>𝑓</m:t>
                          </m:r>
                        </m:den>
                      </m:f>
                      <m:r>
                        <a:rPr lang="en-US" sz="1800" b="0" i="1" smtClean="0">
                          <a:solidFill>
                            <a:srgbClr val="C00000"/>
                          </a:solidFill>
                          <a:latin typeface="Cambria Math" panose="02040503050406030204" pitchFamily="18" charset="0"/>
                          <a:cs typeface="Times New Roman" panose="02020603050405020304" pitchFamily="18" charset="0"/>
                        </a:rPr>
                        <m:t>, </m:t>
                      </m:r>
                      <m:r>
                        <m:rPr>
                          <m:sty m:val="p"/>
                        </m:rPr>
                        <a:rPr lang="el-GR" sz="1800" b="0" i="1" smtClean="0">
                          <a:solidFill>
                            <a:srgbClr val="C00000"/>
                          </a:solidFill>
                          <a:latin typeface="Cambria Math" panose="02040503050406030204" pitchFamily="18" charset="0"/>
                          <a:cs typeface="Times New Roman" panose="02020603050405020304" pitchFamily="18" charset="0"/>
                        </a:rPr>
                        <m:t>ό</m:t>
                      </m:r>
                      <m:r>
                        <a:rPr lang="el-GR" sz="1800" b="0" i="1" smtClean="0">
                          <a:solidFill>
                            <a:srgbClr val="C00000"/>
                          </a:solidFill>
                          <a:latin typeface="Cambria Math" panose="02040503050406030204" pitchFamily="18" charset="0"/>
                          <a:cs typeface="Times New Roman" panose="02020603050405020304" pitchFamily="18" charset="0"/>
                        </a:rPr>
                        <m:t>𝜋𝜊𝜐</m:t>
                      </m:r>
                      <m:r>
                        <a:rPr lang="el-GR" sz="1800" b="0" i="1" smtClean="0">
                          <a:solidFill>
                            <a:srgbClr val="C00000"/>
                          </a:solidFill>
                          <a:latin typeface="Cambria Math" panose="02040503050406030204" pitchFamily="18" charset="0"/>
                          <a:cs typeface="Times New Roman" panose="02020603050405020304" pitchFamily="18" charset="0"/>
                        </a:rPr>
                        <m:t> </m:t>
                      </m:r>
                      <m:r>
                        <a:rPr lang="en-US" sz="1800" b="0" i="1" smtClean="0">
                          <a:solidFill>
                            <a:srgbClr val="C00000"/>
                          </a:solidFill>
                          <a:latin typeface="Cambria Math" panose="02040503050406030204" pitchFamily="18" charset="0"/>
                          <a:cs typeface="Times New Roman" panose="02020603050405020304" pitchFamily="18" charset="0"/>
                        </a:rPr>
                        <m:t>𝑐</m:t>
                      </m:r>
                      <m:r>
                        <a:rPr lang="en-US" sz="1800" b="0" i="1" smtClean="0">
                          <a:solidFill>
                            <a:srgbClr val="C00000"/>
                          </a:solidFill>
                          <a:latin typeface="Cambria Math" panose="02040503050406030204" pitchFamily="18" charset="0"/>
                          <a:cs typeface="Times New Roman" panose="02020603050405020304" pitchFamily="18" charset="0"/>
                        </a:rPr>
                        <m:t>=3</m:t>
                      </m:r>
                      <m:r>
                        <a:rPr lang="en-US" sz="1800" b="0" i="1" smtClean="0">
                          <a:solidFill>
                            <a:srgbClr val="C00000"/>
                          </a:solidFill>
                          <a:latin typeface="Cambria Math" panose="02040503050406030204" pitchFamily="18" charset="0"/>
                          <a:cs typeface="Times New Roman" panose="02020603050405020304" pitchFamily="18" charset="0"/>
                        </a:rPr>
                        <m:t>𝑥</m:t>
                      </m:r>
                      <m:sSup>
                        <m:sSupPr>
                          <m:ctrlPr>
                            <a:rPr lang="en-US" sz="1800" b="0" i="1" smtClean="0">
                              <a:solidFill>
                                <a:srgbClr val="C00000"/>
                              </a:solidFill>
                              <a:latin typeface="Cambria Math" panose="02040503050406030204" pitchFamily="18" charset="0"/>
                              <a:cs typeface="Times New Roman" panose="02020603050405020304" pitchFamily="18" charset="0"/>
                            </a:rPr>
                          </m:ctrlPr>
                        </m:sSupPr>
                        <m:e>
                          <m:r>
                            <a:rPr lang="en-US" sz="1800" b="0" i="1" smtClean="0">
                              <a:solidFill>
                                <a:srgbClr val="C00000"/>
                              </a:solidFill>
                              <a:latin typeface="Cambria Math" panose="02040503050406030204" pitchFamily="18" charset="0"/>
                              <a:cs typeface="Times New Roman" panose="02020603050405020304" pitchFamily="18" charset="0"/>
                            </a:rPr>
                            <m:t>10</m:t>
                          </m:r>
                        </m:e>
                        <m:sup>
                          <m:r>
                            <a:rPr lang="en-US" sz="1800" b="0" i="1" smtClean="0">
                              <a:solidFill>
                                <a:srgbClr val="C00000"/>
                              </a:solidFill>
                              <a:latin typeface="Cambria Math" panose="02040503050406030204" pitchFamily="18" charset="0"/>
                              <a:cs typeface="Times New Roman" panose="02020603050405020304" pitchFamily="18" charset="0"/>
                            </a:rPr>
                            <m:t>8</m:t>
                          </m:r>
                        </m:sup>
                      </m:sSup>
                      <m:r>
                        <a:rPr lang="en-US" sz="1800" b="0" i="1" smtClean="0">
                          <a:solidFill>
                            <a:srgbClr val="C00000"/>
                          </a:solidFill>
                          <a:latin typeface="Cambria Math" panose="02040503050406030204" pitchFamily="18" charset="0"/>
                          <a:cs typeface="Times New Roman" panose="02020603050405020304" pitchFamily="18" charset="0"/>
                        </a:rPr>
                        <m:t>𝑚</m:t>
                      </m:r>
                      <m:r>
                        <a:rPr lang="en-US" sz="1800" b="0" i="1" smtClean="0">
                          <a:solidFill>
                            <a:srgbClr val="C00000"/>
                          </a:solidFill>
                          <a:latin typeface="Cambria Math" panose="02040503050406030204" pitchFamily="18" charset="0"/>
                          <a:cs typeface="Times New Roman" panose="02020603050405020304" pitchFamily="18" charset="0"/>
                        </a:rPr>
                        <m:t>/</m:t>
                      </m:r>
                      <m:r>
                        <a:rPr lang="en-US" sz="1800" b="0" i="1" smtClean="0">
                          <a:solidFill>
                            <a:srgbClr val="C00000"/>
                          </a:solidFill>
                          <a:latin typeface="Cambria Math" panose="02040503050406030204" pitchFamily="18" charset="0"/>
                          <a:cs typeface="Times New Roman" panose="02020603050405020304" pitchFamily="18" charset="0"/>
                        </a:rPr>
                        <m:t>𝑠𝑒𝑐</m:t>
                      </m:r>
                    </m:oMath>
                  </m:oMathPara>
                </a14:m>
                <a:endParaRPr lang="en-US" sz="1800" dirty="0">
                  <a:solidFill>
                    <a:srgbClr val="C00000"/>
                  </a:solidFill>
                  <a:latin typeface="Times New Roman" panose="02020603050405020304" pitchFamily="18"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r>
                        <a:rPr lang="el-GR" sz="1800" b="0" i="1" smtClean="0">
                          <a:solidFill>
                            <a:srgbClr val="C00000"/>
                          </a:solidFill>
                          <a:latin typeface="Cambria Math" panose="02040503050406030204" pitchFamily="18" charset="0"/>
                          <a:cs typeface="Times New Roman" panose="02020603050405020304" pitchFamily="18" charset="0"/>
                        </a:rPr>
                        <m:t>Ά</m:t>
                      </m:r>
                      <m:r>
                        <a:rPr lang="el-GR" sz="1800" b="0" i="1" smtClean="0">
                          <a:solidFill>
                            <a:srgbClr val="C00000"/>
                          </a:solidFill>
                          <a:latin typeface="Cambria Math" panose="02040503050406030204" pitchFamily="18" charset="0"/>
                          <a:cs typeface="Times New Roman" panose="02020603050405020304" pitchFamily="18" charset="0"/>
                        </a:rPr>
                        <m:t>𝜌𝛼</m:t>
                      </m:r>
                      <m:r>
                        <a:rPr lang="el-GR" sz="1800" b="0" i="1" smtClean="0">
                          <a:solidFill>
                            <a:srgbClr val="C00000"/>
                          </a:solidFill>
                          <a:latin typeface="Cambria Math" panose="02040503050406030204" pitchFamily="18" charset="0"/>
                          <a:cs typeface="Times New Roman" panose="02020603050405020304" pitchFamily="18" charset="0"/>
                        </a:rPr>
                        <m:t>, </m:t>
                      </m:r>
                      <m:r>
                        <a:rPr lang="el-GR" sz="1800" b="0" i="1" smtClean="0">
                          <a:solidFill>
                            <a:srgbClr val="C00000"/>
                          </a:solidFill>
                          <a:latin typeface="Cambria Math" panose="02040503050406030204" pitchFamily="18" charset="0"/>
                          <a:cs typeface="Times New Roman" panose="02020603050405020304" pitchFamily="18" charset="0"/>
                        </a:rPr>
                        <m:t>𝛾𝜄𝛼</m:t>
                      </m:r>
                      <m:r>
                        <a:rPr lang="el-GR" sz="1800" b="0" i="1" smtClean="0">
                          <a:solidFill>
                            <a:srgbClr val="C00000"/>
                          </a:solidFill>
                          <a:latin typeface="Cambria Math" panose="02040503050406030204" pitchFamily="18" charset="0"/>
                          <a:cs typeface="Times New Roman" panose="02020603050405020304" pitchFamily="18" charset="0"/>
                        </a:rPr>
                        <m:t> </m:t>
                      </m:r>
                      <m:r>
                        <a:rPr lang="en-US" sz="1800" b="0" i="1" smtClean="0">
                          <a:solidFill>
                            <a:srgbClr val="C00000"/>
                          </a:solidFill>
                          <a:latin typeface="Cambria Math" panose="02040503050406030204" pitchFamily="18" charset="0"/>
                          <a:cs typeface="Times New Roman" panose="02020603050405020304" pitchFamily="18" charset="0"/>
                        </a:rPr>
                        <m:t>𝑓</m:t>
                      </m:r>
                      <m:r>
                        <a:rPr lang="en-US" sz="1800" b="0" i="1" smtClean="0">
                          <a:solidFill>
                            <a:srgbClr val="C00000"/>
                          </a:solidFill>
                          <a:latin typeface="Cambria Math" panose="02040503050406030204" pitchFamily="18" charset="0"/>
                          <a:cs typeface="Times New Roman" panose="02020603050405020304" pitchFamily="18" charset="0"/>
                        </a:rPr>
                        <m:t>=300</m:t>
                      </m:r>
                      <m:r>
                        <m:rPr>
                          <m:sty m:val="p"/>
                        </m:rPr>
                        <a:rPr lang="en-US" sz="1800" b="0" i="0" smtClean="0">
                          <a:solidFill>
                            <a:srgbClr val="C00000"/>
                          </a:solidFill>
                          <a:latin typeface="Cambria Math" panose="02040503050406030204" pitchFamily="18" charset="0"/>
                          <a:cs typeface="Times New Roman" panose="02020603050405020304" pitchFamily="18" charset="0"/>
                        </a:rPr>
                        <m:t>Hz</m:t>
                      </m:r>
                      <m:r>
                        <a:rPr lang="en-US" sz="1800" b="0" i="0" smtClean="0">
                          <a:solidFill>
                            <a:srgbClr val="C00000"/>
                          </a:solidFill>
                          <a:latin typeface="Cambria Math" panose="02040503050406030204" pitchFamily="18" charset="0"/>
                          <a:cs typeface="Times New Roman" panose="02020603050405020304" pitchFamily="18" charset="0"/>
                        </a:rPr>
                        <m:t>⇒</m:t>
                      </m:r>
                      <m:r>
                        <a:rPr lang="en-US" sz="1800" b="0" i="1" smtClean="0">
                          <a:solidFill>
                            <a:srgbClr val="C00000"/>
                          </a:solidFill>
                          <a:latin typeface="Cambria Math" panose="02040503050406030204" pitchFamily="18" charset="0"/>
                          <a:cs typeface="Times New Roman" panose="02020603050405020304" pitchFamily="18" charset="0"/>
                        </a:rPr>
                        <m:t>𝜆</m:t>
                      </m:r>
                      <m:r>
                        <a:rPr lang="en-US" sz="1800" b="0" i="1" smtClean="0">
                          <a:solidFill>
                            <a:srgbClr val="C00000"/>
                          </a:solidFill>
                          <a:latin typeface="Cambria Math" panose="02040503050406030204" pitchFamily="18" charset="0"/>
                          <a:cs typeface="Times New Roman" panose="02020603050405020304" pitchFamily="18" charset="0"/>
                        </a:rPr>
                        <m:t>=</m:t>
                      </m:r>
                      <m:sSup>
                        <m:sSupPr>
                          <m:ctrlPr>
                            <a:rPr lang="en-US" sz="1800" b="0" i="1" smtClean="0">
                              <a:solidFill>
                                <a:srgbClr val="C00000"/>
                              </a:solidFill>
                              <a:latin typeface="Cambria Math" panose="02040503050406030204" pitchFamily="18" charset="0"/>
                              <a:cs typeface="Times New Roman" panose="02020603050405020304" pitchFamily="18" charset="0"/>
                            </a:rPr>
                          </m:ctrlPr>
                        </m:sSupPr>
                        <m:e>
                          <m:r>
                            <a:rPr lang="en-US" sz="1800" b="0" i="1" smtClean="0">
                              <a:solidFill>
                                <a:srgbClr val="C00000"/>
                              </a:solidFill>
                              <a:latin typeface="Cambria Math" panose="02040503050406030204" pitchFamily="18" charset="0"/>
                              <a:cs typeface="Times New Roman" panose="02020603050405020304" pitchFamily="18" charset="0"/>
                            </a:rPr>
                            <m:t>10</m:t>
                          </m:r>
                        </m:e>
                        <m:sup>
                          <m:r>
                            <a:rPr lang="en-US" sz="1800" b="0" i="1" smtClean="0">
                              <a:solidFill>
                                <a:srgbClr val="C00000"/>
                              </a:solidFill>
                              <a:latin typeface="Cambria Math" panose="02040503050406030204" pitchFamily="18" charset="0"/>
                              <a:cs typeface="Times New Roman" panose="02020603050405020304" pitchFamily="18" charset="0"/>
                            </a:rPr>
                            <m:t>6</m:t>
                          </m:r>
                        </m:sup>
                      </m:sSup>
                      <m:r>
                        <a:rPr lang="en-US" sz="1800" b="0" i="1" smtClean="0">
                          <a:solidFill>
                            <a:srgbClr val="C00000"/>
                          </a:solidFill>
                          <a:latin typeface="Cambria Math" panose="02040503050406030204" pitchFamily="18" charset="0"/>
                          <a:cs typeface="Times New Roman" panose="02020603050405020304" pitchFamily="18" charset="0"/>
                        </a:rPr>
                        <m:t>𝑚</m:t>
                      </m:r>
                    </m:oMath>
                  </m:oMathPara>
                </a14:m>
                <a:endParaRPr lang="en-US" sz="1800" dirty="0">
                  <a:solidFill>
                    <a:srgbClr val="C00000"/>
                  </a:solidFill>
                  <a:latin typeface="Times New Roman" panose="02020603050405020304" pitchFamily="18" charset="0"/>
                  <a:cs typeface="Times New Roman" panose="02020603050405020304" pitchFamily="18" charset="0"/>
                </a:endParaRPr>
              </a:p>
              <a:p>
                <a:pPr lvl="1"/>
                <a:endParaRPr lang="en-US" sz="1800" dirty="0">
                  <a:solidFill>
                    <a:srgbClr val="C00000"/>
                  </a:solidFill>
                  <a:latin typeface="Times New Roman" panose="02020603050405020304" pitchFamily="18"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r>
                        <a:rPr lang="el-GR" sz="1800" b="0" i="1" smtClean="0">
                          <a:solidFill>
                            <a:srgbClr val="C00000"/>
                          </a:solidFill>
                          <a:latin typeface="Cambria Math" panose="02040503050406030204" pitchFamily="18" charset="0"/>
                          <a:cs typeface="Times New Roman" panose="02020603050405020304" pitchFamily="18" charset="0"/>
                        </a:rPr>
                        <m:t>𝜀𝜈</m:t>
                      </m:r>
                      <m:r>
                        <m:rPr>
                          <m:sty m:val="p"/>
                        </m:rPr>
                        <a:rPr lang="el-GR" sz="1800" b="0" i="1" smtClean="0">
                          <a:solidFill>
                            <a:srgbClr val="C00000"/>
                          </a:solidFill>
                          <a:latin typeface="Cambria Math" panose="02040503050406030204" pitchFamily="18" charset="0"/>
                          <a:cs typeface="Times New Roman" panose="02020603050405020304" pitchFamily="18" charset="0"/>
                        </a:rPr>
                        <m:t>ώ</m:t>
                      </m:r>
                      <m:r>
                        <a:rPr lang="el-GR" sz="1800" b="0" i="1" smtClean="0">
                          <a:solidFill>
                            <a:srgbClr val="C00000"/>
                          </a:solidFill>
                          <a:latin typeface="Cambria Math" panose="02040503050406030204" pitchFamily="18" charset="0"/>
                          <a:cs typeface="Times New Roman" panose="02020603050405020304" pitchFamily="18" charset="0"/>
                        </a:rPr>
                        <m:t> </m:t>
                      </m:r>
                      <m:r>
                        <a:rPr lang="el-GR" sz="1800" b="0" i="1" smtClean="0">
                          <a:solidFill>
                            <a:srgbClr val="C00000"/>
                          </a:solidFill>
                          <a:latin typeface="Cambria Math" panose="02040503050406030204" pitchFamily="18" charset="0"/>
                          <a:cs typeface="Times New Roman" panose="02020603050405020304" pitchFamily="18" charset="0"/>
                        </a:rPr>
                        <m:t>𝛾𝜄𝛼</m:t>
                      </m:r>
                      <m:r>
                        <a:rPr lang="el-GR" sz="1800" b="0" i="1" smtClean="0">
                          <a:solidFill>
                            <a:srgbClr val="C00000"/>
                          </a:solidFill>
                          <a:latin typeface="Cambria Math" panose="02040503050406030204" pitchFamily="18" charset="0"/>
                          <a:cs typeface="Times New Roman" panose="02020603050405020304" pitchFamily="18" charset="0"/>
                        </a:rPr>
                        <m:t> </m:t>
                      </m:r>
                      <m:r>
                        <a:rPr lang="en-US" sz="1800" b="0" i="1" smtClean="0">
                          <a:solidFill>
                            <a:srgbClr val="C00000"/>
                          </a:solidFill>
                          <a:latin typeface="Cambria Math" panose="02040503050406030204" pitchFamily="18" charset="0"/>
                          <a:cs typeface="Times New Roman" panose="02020603050405020304" pitchFamily="18" charset="0"/>
                        </a:rPr>
                        <m:t>𝑓</m:t>
                      </m:r>
                      <m:r>
                        <a:rPr lang="en-US" sz="1800" b="0" i="1" smtClean="0">
                          <a:solidFill>
                            <a:srgbClr val="C00000"/>
                          </a:solidFill>
                          <a:latin typeface="Cambria Math" panose="02040503050406030204" pitchFamily="18" charset="0"/>
                          <a:cs typeface="Times New Roman" panose="02020603050405020304" pitchFamily="18" charset="0"/>
                        </a:rPr>
                        <m:t>=300</m:t>
                      </m:r>
                      <m:r>
                        <a:rPr lang="en-US" sz="1800" b="0" i="1" smtClean="0">
                          <a:solidFill>
                            <a:srgbClr val="C00000"/>
                          </a:solidFill>
                          <a:latin typeface="Cambria Math" panose="02040503050406030204" pitchFamily="18" charset="0"/>
                          <a:cs typeface="Times New Roman" panose="02020603050405020304" pitchFamily="18" charset="0"/>
                        </a:rPr>
                        <m:t>𝑀𝐻𝑧</m:t>
                      </m:r>
                      <m:r>
                        <a:rPr lang="en-US" sz="1800" b="0" i="1" smtClean="0">
                          <a:solidFill>
                            <a:srgbClr val="C00000"/>
                          </a:solidFill>
                          <a:latin typeface="Cambria Math" panose="02040503050406030204" pitchFamily="18" charset="0"/>
                          <a:cs typeface="Times New Roman" panose="02020603050405020304" pitchFamily="18" charset="0"/>
                        </a:rPr>
                        <m:t>⇒</m:t>
                      </m:r>
                      <m:r>
                        <a:rPr lang="en-US" sz="1800" b="0" i="1" smtClean="0">
                          <a:solidFill>
                            <a:srgbClr val="C00000"/>
                          </a:solidFill>
                          <a:latin typeface="Cambria Math" panose="02040503050406030204" pitchFamily="18" charset="0"/>
                          <a:cs typeface="Times New Roman" panose="02020603050405020304" pitchFamily="18" charset="0"/>
                        </a:rPr>
                        <m:t>𝜆</m:t>
                      </m:r>
                      <m:r>
                        <a:rPr lang="en-US" sz="1800" b="0" i="1" smtClean="0">
                          <a:solidFill>
                            <a:srgbClr val="C00000"/>
                          </a:solidFill>
                          <a:latin typeface="Cambria Math" panose="02040503050406030204" pitchFamily="18" charset="0"/>
                          <a:cs typeface="Times New Roman" panose="02020603050405020304" pitchFamily="18" charset="0"/>
                        </a:rPr>
                        <m:t>=1</m:t>
                      </m:r>
                      <m:r>
                        <a:rPr lang="en-US" sz="1800" b="0" i="1" smtClean="0">
                          <a:solidFill>
                            <a:srgbClr val="C00000"/>
                          </a:solidFill>
                          <a:latin typeface="Cambria Math" panose="02040503050406030204" pitchFamily="18" charset="0"/>
                          <a:cs typeface="Times New Roman" panose="02020603050405020304" pitchFamily="18" charset="0"/>
                        </a:rPr>
                        <m:t>𝑚</m:t>
                      </m:r>
                    </m:oMath>
                  </m:oMathPara>
                </a14:m>
                <a:endParaRPr lang="en-US" sz="1800" dirty="0">
                  <a:solidFill>
                    <a:srgbClr val="C00000"/>
                  </a:solidFill>
                  <a:latin typeface="Times New Roman" panose="02020603050405020304" pitchFamily="18" charset="0"/>
                  <a:cs typeface="Times New Roman" panose="02020603050405020304" pitchFamily="18" charset="0"/>
                </a:endParaRPr>
              </a:p>
              <a:p>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Πολυπλεξία (</a:t>
                </a:r>
                <a:r>
                  <a:rPr lang="el-GR" sz="1800" b="1" dirty="0" err="1">
                    <a:solidFill>
                      <a:srgbClr val="C00000"/>
                    </a:solidFill>
                    <a:latin typeface="Times New Roman" panose="02020603050405020304" pitchFamily="18" charset="0"/>
                    <a:cs typeface="Times New Roman" panose="02020603050405020304" pitchFamily="18" charset="0"/>
                  </a:rPr>
                  <a:t>multiplexing</a:t>
                </a:r>
                <a:r>
                  <a:rPr lang="el-GR" sz="1800" b="1" dirty="0">
                    <a:solidFill>
                      <a:srgbClr val="C00000"/>
                    </a:solidFill>
                    <a:latin typeface="Times New Roman" panose="02020603050405020304" pitchFamily="18" charset="0"/>
                    <a:cs typeface="Times New Roman" panose="02020603050405020304" pitchFamily="18" charset="0"/>
                  </a:rPr>
                  <a:t>): </a:t>
                </a:r>
                <a:r>
                  <a:rPr lang="el-GR" sz="1800" dirty="0">
                    <a:solidFill>
                      <a:srgbClr val="C00000"/>
                    </a:solidFill>
                    <a:latin typeface="Times New Roman" panose="02020603050405020304" pitchFamily="18" charset="0"/>
                    <a:cs typeface="Times New Roman" panose="02020603050405020304" pitchFamily="18" charset="0"/>
                  </a:rPr>
                  <a:t>Για τη μεταφορά των φασμάτων πολλών σημάτων σε διαφορετικές φασματικές περιοχές και την ταυτόχρονη μετάδοσή τους μέσα από το  ίδιο κανάλι.</a:t>
                </a:r>
              </a:p>
            </p:txBody>
          </p:sp>
        </mc:Choice>
        <mc:Fallback xmlns="">
          <p:sp>
            <p:nvSpPr>
              <p:cNvPr id="5" name="TextBox 4">
                <a:extLst>
                  <a:ext uri="{FF2B5EF4-FFF2-40B4-BE49-F238E27FC236}">
                    <a16:creationId xmlns:a16="http://schemas.microsoft.com/office/drawing/2014/main" id="{DCB6A3C7-ABC0-4840-5B15-30381899C121}"/>
                  </a:ext>
                </a:extLst>
              </p:cNvPr>
              <p:cNvSpPr txBox="1">
                <a:spLocks noRot="1" noChangeAspect="1" noMove="1" noResize="1" noEditPoints="1" noAdjustHandles="1" noChangeArrowheads="1" noChangeShapeType="1" noTextEdit="1"/>
              </p:cNvSpPr>
              <p:nvPr/>
            </p:nvSpPr>
            <p:spPr>
              <a:xfrm>
                <a:off x="-1" y="1265021"/>
                <a:ext cx="8697433" cy="5047216"/>
              </a:xfrm>
              <a:prstGeom prst="rect">
                <a:avLst/>
              </a:prstGeom>
              <a:blipFill>
                <a:blip r:embed="rId2"/>
                <a:stretch>
                  <a:fillRect l="-561" t="-726" b="-1088"/>
                </a:stretch>
              </a:blipFill>
            </p:spPr>
            <p:txBody>
              <a:bodyPr/>
              <a:lstStyle/>
              <a:p>
                <a:r>
                  <a:rPr lang="el-GR">
                    <a:noFill/>
                  </a:rPr>
                  <a:t> </a:t>
                </a:r>
              </a:p>
            </p:txBody>
          </p:sp>
        </mc:Fallback>
      </mc:AlternateContent>
      <p:sp>
        <p:nvSpPr>
          <p:cNvPr id="10" name="Text Box 3">
            <a:extLst>
              <a:ext uri="{FF2B5EF4-FFF2-40B4-BE49-F238E27FC236}">
                <a16:creationId xmlns:a16="http://schemas.microsoft.com/office/drawing/2014/main" id="{77D1AACC-6C7A-6D18-35CD-E5BAF6CB965F}"/>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cs typeface="Times New Roman" panose="02020603050405020304" pitchFamily="18" charset="0"/>
              </a:rPr>
              <a:t>Η Ανάγκη για διαμόρφωση</a:t>
            </a:r>
            <a:endParaRPr lang="en-GB" altLang="en-US" sz="2200" dirty="0">
              <a:latin typeface="Times New Roman" panose="02020603050405020304" pitchFamily="18" charset="0"/>
            </a:endParaRPr>
          </a:p>
        </p:txBody>
      </p:sp>
    </p:spTree>
    <p:extLst>
      <p:ext uri="{BB962C8B-B14F-4D97-AF65-F5344CB8AC3E}">
        <p14:creationId xmlns:p14="http://schemas.microsoft.com/office/powerpoint/2010/main" val="262163971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CCD7-77D1-01B2-8D9A-6C02B919FD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3D4E0A6-9636-3B85-A208-C6BE9C34BF10}"/>
              </a:ext>
            </a:extLst>
          </p:cNvPr>
          <p:cNvSpPr txBox="1"/>
          <p:nvPr/>
        </p:nvSpPr>
        <p:spPr>
          <a:xfrm>
            <a:off x="0" y="1265021"/>
            <a:ext cx="3882888" cy="5632311"/>
          </a:xfrm>
          <a:prstGeom prst="rect">
            <a:avLst/>
          </a:prstGeom>
          <a:noFill/>
        </p:spPr>
        <p:txBody>
          <a:bodyPr wrap="square">
            <a:spAutoFit/>
          </a:bodyPr>
          <a:lstStyle/>
          <a:p>
            <a:pPr marL="171450" indent="-1714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Υπέρβαση περιορισμών από τις διατάξεις: </a:t>
            </a:r>
            <a:r>
              <a:rPr lang="el-GR" sz="1800" dirty="0">
                <a:solidFill>
                  <a:srgbClr val="C00000"/>
                </a:solidFill>
                <a:latin typeface="Times New Roman" panose="02020603050405020304" pitchFamily="18" charset="0"/>
                <a:cs typeface="Times New Roman" panose="02020603050405020304" pitchFamily="18" charset="0"/>
              </a:rPr>
              <a:t>Μεταφέροντας το φάσμα του σήματος σε φασματική περιοχή που προσφέρει ευνοϊκότερες συνθήκες σχεδίασης των διατάξεων.</a:t>
            </a:r>
          </a:p>
          <a:p>
            <a:pPr marL="171450" indent="-171450">
              <a:buFont typeface="Arial" panose="020B0604020202020204" pitchFamily="34" charset="0"/>
              <a:buChar char="•"/>
            </a:pPr>
            <a:endParaRPr lang="el-GR"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l-GR"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Εκχώρηση συχνότητας (</a:t>
            </a:r>
            <a:r>
              <a:rPr lang="el-GR" sz="1800" b="1" dirty="0" err="1">
                <a:solidFill>
                  <a:srgbClr val="C00000"/>
                </a:solidFill>
                <a:latin typeface="Times New Roman" panose="02020603050405020304" pitchFamily="18" charset="0"/>
                <a:cs typeface="Times New Roman" panose="02020603050405020304" pitchFamily="18" charset="0"/>
              </a:rPr>
              <a:t>frequency</a:t>
            </a:r>
            <a:r>
              <a:rPr lang="el-GR" sz="1800" b="1" dirty="0">
                <a:solidFill>
                  <a:srgbClr val="C00000"/>
                </a:solidFill>
                <a:latin typeface="Times New Roman" panose="02020603050405020304" pitchFamily="18" charset="0"/>
                <a:cs typeface="Times New Roman" panose="02020603050405020304" pitchFamily="18" charset="0"/>
              </a:rPr>
              <a:t> </a:t>
            </a:r>
            <a:r>
              <a:rPr lang="el-GR" sz="1800" b="1" dirty="0" err="1">
                <a:solidFill>
                  <a:srgbClr val="C00000"/>
                </a:solidFill>
                <a:latin typeface="Times New Roman" panose="02020603050405020304" pitchFamily="18" charset="0"/>
                <a:cs typeface="Times New Roman" panose="02020603050405020304" pitchFamily="18" charset="0"/>
              </a:rPr>
              <a:t>allocation</a:t>
            </a:r>
            <a:r>
              <a:rPr lang="el-GR" sz="1800" b="1" dirty="0">
                <a:solidFill>
                  <a:srgbClr val="C00000"/>
                </a:solidFill>
                <a:latin typeface="Times New Roman" panose="02020603050405020304" pitchFamily="18" charset="0"/>
                <a:cs typeface="Times New Roman" panose="02020603050405020304" pitchFamily="18" charset="0"/>
              </a:rPr>
              <a:t>): </a:t>
            </a:r>
            <a:r>
              <a:rPr lang="el-GR" sz="1800" dirty="0">
                <a:solidFill>
                  <a:srgbClr val="C00000"/>
                </a:solidFill>
                <a:latin typeface="Times New Roman" panose="02020603050405020304" pitchFamily="18" charset="0"/>
                <a:cs typeface="Times New Roman" panose="02020603050405020304" pitchFamily="18" charset="0"/>
              </a:rPr>
              <a:t>Για την ραδιοφωνική ή τηλεοπτική εκπομπή σε συγκεκριμένη φασματική περιοχή ανά σταθμό ή ανά τύπο επικοινωνίας, σύμφωνα με τις κρατικές ή διεθνείς ρυθμίσεις.</a:t>
            </a:r>
          </a:p>
          <a:p>
            <a:pPr marL="171450" indent="-171450">
              <a:buFont typeface="Arial" panose="020B0604020202020204" pitchFamily="34" charset="0"/>
              <a:buChar char="•"/>
            </a:pPr>
            <a:endParaRPr lang="el-GR" sz="1800" b="1"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800"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Περιορισμό θορύβου και παρεμβολών:  </a:t>
            </a:r>
            <a:r>
              <a:rPr lang="el-GR" sz="1800" dirty="0">
                <a:solidFill>
                  <a:srgbClr val="C00000"/>
                </a:solidFill>
                <a:latin typeface="Times New Roman" panose="02020603050405020304" pitchFamily="18" charset="0"/>
                <a:cs typeface="Times New Roman" panose="02020603050405020304" pitchFamily="18" charset="0"/>
              </a:rPr>
              <a:t>Μπορούμε να επιτύχουμε περιορισμό του θορύβου μετάδοσης ανταλλάσσοντας ευρύτερο φάσμα.</a:t>
            </a:r>
          </a:p>
        </p:txBody>
      </p:sp>
      <p:sp>
        <p:nvSpPr>
          <p:cNvPr id="10" name="Text Box 3">
            <a:extLst>
              <a:ext uri="{FF2B5EF4-FFF2-40B4-BE49-F238E27FC236}">
                <a16:creationId xmlns:a16="http://schemas.microsoft.com/office/drawing/2014/main" id="{DA55656A-F08E-413F-99EF-027E4071D5C8}"/>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cs typeface="Times New Roman" panose="02020603050405020304" pitchFamily="18" charset="0"/>
              </a:rPr>
              <a:t>Η Ανάγκη για διαμόρφωση </a:t>
            </a:r>
            <a:endParaRPr lang="en-GB" altLang="en-US" sz="2200" dirty="0">
              <a:latin typeface="Times New Roman" panose="02020603050405020304" pitchFamily="18" charset="0"/>
            </a:endParaRPr>
          </a:p>
        </p:txBody>
      </p:sp>
      <p:pic>
        <p:nvPicPr>
          <p:cNvPr id="3" name="Εικόνα 2">
            <a:extLst>
              <a:ext uri="{FF2B5EF4-FFF2-40B4-BE49-F238E27FC236}">
                <a16:creationId xmlns:a16="http://schemas.microsoft.com/office/drawing/2014/main" id="{5D74D198-8AD6-B695-AC47-CA3B629CABE6}"/>
              </a:ext>
            </a:extLst>
          </p:cNvPr>
          <p:cNvPicPr>
            <a:picLocks noChangeAspect="1"/>
          </p:cNvPicPr>
          <p:nvPr/>
        </p:nvPicPr>
        <p:blipFill>
          <a:blip r:embed="rId2"/>
          <a:stretch>
            <a:fillRect/>
          </a:stretch>
        </p:blipFill>
        <p:spPr>
          <a:xfrm>
            <a:off x="3762399" y="1669167"/>
            <a:ext cx="4995466" cy="3300398"/>
          </a:xfrm>
          <a:prstGeom prst="rect">
            <a:avLst/>
          </a:prstGeom>
        </p:spPr>
      </p:pic>
    </p:spTree>
    <p:extLst>
      <p:ext uri="{BB962C8B-B14F-4D97-AF65-F5344CB8AC3E}">
        <p14:creationId xmlns:p14="http://schemas.microsoft.com/office/powerpoint/2010/main" val="162860021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48BA6-BF72-69B1-2D54-B04588DD77EE}"/>
            </a:ext>
          </a:extLst>
        </p:cNvPr>
        <p:cNvGrpSpPr/>
        <p:nvPr/>
      </p:nvGrpSpPr>
      <p:grpSpPr>
        <a:xfrm>
          <a:off x="0" y="0"/>
          <a:ext cx="0" cy="0"/>
          <a:chOff x="0" y="0"/>
          <a:chExt cx="0" cy="0"/>
        </a:xfrm>
      </p:grpSpPr>
      <p:sp>
        <p:nvSpPr>
          <p:cNvPr id="10" name="Text Box 3">
            <a:extLst>
              <a:ext uri="{FF2B5EF4-FFF2-40B4-BE49-F238E27FC236}">
                <a16:creationId xmlns:a16="http://schemas.microsoft.com/office/drawing/2014/main" id="{1AF863EA-3B65-CFC0-E791-C70247810FF5}"/>
              </a:ext>
            </a:extLst>
          </p:cNvPr>
          <p:cNvSpPr txBox="1">
            <a:spLocks noChangeArrowheads="1"/>
          </p:cNvSpPr>
          <p:nvPr/>
        </p:nvSpPr>
        <p:spPr bwMode="auto">
          <a:xfrm>
            <a:off x="0" y="496888"/>
            <a:ext cx="7839075" cy="43088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200" b="1" dirty="0">
                <a:latin typeface="Times New Roman" panose="02020603050405020304" pitchFamily="18" charset="0"/>
                <a:cs typeface="Times New Roman" panose="02020603050405020304" pitchFamily="18" charset="0"/>
              </a:rPr>
              <a:t>Η Ανάγκη για διαμόρφωση </a:t>
            </a:r>
            <a:endParaRPr lang="en-GB" altLang="en-US" sz="2200" dirty="0">
              <a:latin typeface="Times New Roman" panose="02020603050405020304" pitchFamily="18" charset="0"/>
            </a:endParaRPr>
          </a:p>
        </p:txBody>
      </p:sp>
      <p:pic>
        <p:nvPicPr>
          <p:cNvPr id="6" name="Εικόνα 5">
            <a:extLst>
              <a:ext uri="{FF2B5EF4-FFF2-40B4-BE49-F238E27FC236}">
                <a16:creationId xmlns:a16="http://schemas.microsoft.com/office/drawing/2014/main" id="{4BA21F75-6AB1-1663-15E3-9FE4E9A7CB60}"/>
              </a:ext>
            </a:extLst>
          </p:cNvPr>
          <p:cNvPicPr>
            <a:picLocks noChangeAspect="1"/>
          </p:cNvPicPr>
          <p:nvPr/>
        </p:nvPicPr>
        <p:blipFill>
          <a:blip r:embed="rId3"/>
          <a:stretch>
            <a:fillRect/>
          </a:stretch>
        </p:blipFill>
        <p:spPr>
          <a:xfrm>
            <a:off x="1173193" y="1371405"/>
            <a:ext cx="6607113" cy="4496190"/>
          </a:xfrm>
          <a:prstGeom prst="rect">
            <a:avLst/>
          </a:prstGeom>
        </p:spPr>
      </p:pic>
    </p:spTree>
    <p:extLst>
      <p:ext uri="{BB962C8B-B14F-4D97-AF65-F5344CB8AC3E}">
        <p14:creationId xmlns:p14="http://schemas.microsoft.com/office/powerpoint/2010/main" val="142200183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4"/>
          <p:cNvSpPr txBox="1">
            <a:spLocks noChangeArrowheads="1"/>
          </p:cNvSpPr>
          <p:nvPr/>
        </p:nvSpPr>
        <p:spPr bwMode="auto">
          <a:xfrm>
            <a:off x="0" y="496888"/>
            <a:ext cx="7839075" cy="7874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ΨΗΦΙΑΚΗ ΔΙΑΜΟΡΦΩΣΗ ΠΛΑΤΟΥΣ (ASK),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graphicFrame>
        <p:nvGraphicFramePr>
          <p:cNvPr id="2052" name="Object 38"/>
          <p:cNvGraphicFramePr>
            <a:graphicFrameLocks noChangeAspect="1"/>
          </p:cNvGraphicFramePr>
          <p:nvPr>
            <p:extLst>
              <p:ext uri="{D42A27DB-BD31-4B8C-83A1-F6EECF244321}">
                <p14:modId xmlns:p14="http://schemas.microsoft.com/office/powerpoint/2010/main" val="3716702269"/>
              </p:ext>
            </p:extLst>
          </p:nvPr>
        </p:nvGraphicFramePr>
        <p:xfrm>
          <a:off x="772719" y="5950744"/>
          <a:ext cx="2720022" cy="725488"/>
        </p:xfrm>
        <a:graphic>
          <a:graphicData uri="http://schemas.openxmlformats.org/presentationml/2006/ole">
            <mc:AlternateContent xmlns:mc="http://schemas.openxmlformats.org/markup-compatibility/2006">
              <mc:Choice xmlns:v="urn:schemas-microsoft-com:vml" Requires="v">
                <p:oleObj name="Equation" r:id="rId3" imgW="1282700" imgH="342900" progId="Equation.3">
                  <p:embed/>
                </p:oleObj>
              </mc:Choice>
              <mc:Fallback>
                <p:oleObj name="Equation" r:id="rId3" imgW="1282700" imgH="342900" progId="Equation.3">
                  <p:embed/>
                  <p:pic>
                    <p:nvPicPr>
                      <p:cNvPr id="2052"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719" y="5950744"/>
                        <a:ext cx="2720022" cy="725488"/>
                      </a:xfrm>
                      <a:prstGeom prst="rect">
                        <a:avLst/>
                      </a:prstGeom>
                      <a:noFill/>
                      <a:ln>
                        <a:solidFill>
                          <a:schemeClr val="accent1">
                            <a:lumMod val="75000"/>
                          </a:schemeClr>
                        </a:solidFill>
                      </a:ln>
                    </p:spPr>
                  </p:pic>
                </p:oleObj>
              </mc:Fallback>
            </mc:AlternateContent>
          </a:graphicData>
        </a:graphic>
      </p:graphicFrame>
      <p:graphicFrame>
        <p:nvGraphicFramePr>
          <p:cNvPr id="2053" name="Object 39"/>
          <p:cNvGraphicFramePr>
            <a:graphicFrameLocks noChangeAspect="1"/>
          </p:cNvGraphicFramePr>
          <p:nvPr>
            <p:extLst>
              <p:ext uri="{D42A27DB-BD31-4B8C-83A1-F6EECF244321}">
                <p14:modId xmlns:p14="http://schemas.microsoft.com/office/powerpoint/2010/main" val="364132521"/>
              </p:ext>
            </p:extLst>
          </p:nvPr>
        </p:nvGraphicFramePr>
        <p:xfrm>
          <a:off x="3979863" y="5846763"/>
          <a:ext cx="3802062" cy="933450"/>
        </p:xfrm>
        <a:graphic>
          <a:graphicData uri="http://schemas.openxmlformats.org/presentationml/2006/ole">
            <mc:AlternateContent xmlns:mc="http://schemas.openxmlformats.org/markup-compatibility/2006">
              <mc:Choice xmlns:v="urn:schemas-microsoft-com:vml" Requires="v">
                <p:oleObj name="Equation" r:id="rId5" imgW="1981080" imgH="482400" progId="Equation.3">
                  <p:embed/>
                </p:oleObj>
              </mc:Choice>
              <mc:Fallback>
                <p:oleObj name="Equation" r:id="rId5" imgW="1981080" imgH="482400" progId="Equation.3">
                  <p:embed/>
                  <p:pic>
                    <p:nvPicPr>
                      <p:cNvPr id="2053" name="Object 39"/>
                      <p:cNvPicPr>
                        <a:picLocks noChangeAspect="1" noChangeArrowheads="1"/>
                      </p:cNvPicPr>
                      <p:nvPr/>
                    </p:nvPicPr>
                    <p:blipFill>
                      <a:blip r:embed="rId6"/>
                      <a:srcRect/>
                      <a:stretch>
                        <a:fillRect/>
                      </a:stretch>
                    </p:blipFill>
                    <p:spPr bwMode="auto">
                      <a:xfrm>
                        <a:off x="3979863" y="5846763"/>
                        <a:ext cx="3802062" cy="933450"/>
                      </a:xfrm>
                      <a:prstGeom prst="rect">
                        <a:avLst/>
                      </a:prstGeom>
                      <a:noFill/>
                      <a:ln>
                        <a:solidFill>
                          <a:schemeClr val="accent1">
                            <a:lumMod val="75000"/>
                          </a:schemeClr>
                        </a:solidFill>
                      </a:ln>
                    </p:spPr>
                  </p:pic>
                </p:oleObj>
              </mc:Fallback>
            </mc:AlternateContent>
          </a:graphicData>
        </a:graphic>
      </p:graphicFrame>
      <p:pic>
        <p:nvPicPr>
          <p:cNvPr id="3" name="Εικόνα 2">
            <a:extLst>
              <a:ext uri="{FF2B5EF4-FFF2-40B4-BE49-F238E27FC236}">
                <a16:creationId xmlns:a16="http://schemas.microsoft.com/office/drawing/2014/main" id="{0DDFA5D9-540A-38CE-741A-B34387C55A7D}"/>
              </a:ext>
            </a:extLst>
          </p:cNvPr>
          <p:cNvPicPr>
            <a:picLocks noChangeAspect="1"/>
          </p:cNvPicPr>
          <p:nvPr/>
        </p:nvPicPr>
        <p:blipFill>
          <a:blip r:embed="rId7"/>
          <a:stretch>
            <a:fillRect/>
          </a:stretch>
        </p:blipFill>
        <p:spPr>
          <a:xfrm>
            <a:off x="0" y="1664429"/>
            <a:ext cx="2828187" cy="1937944"/>
          </a:xfrm>
          <a:prstGeom prst="rect">
            <a:avLst/>
          </a:prstGeom>
        </p:spPr>
      </p:pic>
      <p:pic>
        <p:nvPicPr>
          <p:cNvPr id="5" name="Εικόνα 4">
            <a:extLst>
              <a:ext uri="{FF2B5EF4-FFF2-40B4-BE49-F238E27FC236}">
                <a16:creationId xmlns:a16="http://schemas.microsoft.com/office/drawing/2014/main" id="{D92A533B-4D5B-BC08-9741-9B2CB65FB349}"/>
              </a:ext>
            </a:extLst>
          </p:cNvPr>
          <p:cNvPicPr>
            <a:picLocks noChangeAspect="1"/>
          </p:cNvPicPr>
          <p:nvPr/>
        </p:nvPicPr>
        <p:blipFill>
          <a:blip r:embed="rId8"/>
          <a:stretch>
            <a:fillRect/>
          </a:stretch>
        </p:blipFill>
        <p:spPr>
          <a:xfrm>
            <a:off x="2301021" y="3602373"/>
            <a:ext cx="3357683" cy="1937944"/>
          </a:xfrm>
          <a:prstGeom prst="rect">
            <a:avLst/>
          </a:prstGeom>
        </p:spPr>
      </p:pic>
      <p:pic>
        <p:nvPicPr>
          <p:cNvPr id="7" name="Εικόνα 6">
            <a:extLst>
              <a:ext uri="{FF2B5EF4-FFF2-40B4-BE49-F238E27FC236}">
                <a16:creationId xmlns:a16="http://schemas.microsoft.com/office/drawing/2014/main" id="{E73435DB-8D34-4DCA-B499-DC5D4F367171}"/>
              </a:ext>
            </a:extLst>
          </p:cNvPr>
          <p:cNvPicPr>
            <a:picLocks noChangeAspect="1"/>
          </p:cNvPicPr>
          <p:nvPr/>
        </p:nvPicPr>
        <p:blipFill>
          <a:blip r:embed="rId9"/>
          <a:stretch>
            <a:fillRect/>
          </a:stretch>
        </p:blipFill>
        <p:spPr>
          <a:xfrm>
            <a:off x="5129208" y="1507439"/>
            <a:ext cx="3173052" cy="2220436"/>
          </a:xfrm>
          <a:prstGeom prst="rect">
            <a:avLst/>
          </a:prstGeom>
        </p:spPr>
      </p:pic>
    </p:spTree>
    <p:extLst>
      <p:ext uri="{BB962C8B-B14F-4D97-AF65-F5344CB8AC3E}">
        <p14:creationId xmlns:p14="http://schemas.microsoft.com/office/powerpoint/2010/main" val="197468211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3"/>
          <p:cNvSpPr txBox="1">
            <a:spLocks noChangeArrowheads="1"/>
          </p:cNvSpPr>
          <p:nvPr/>
        </p:nvSpPr>
        <p:spPr bwMode="auto">
          <a:xfrm>
            <a:off x="0" y="496888"/>
            <a:ext cx="7839075" cy="7874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.1</a:t>
            </a:r>
            <a:r>
              <a:rPr lang="el-GR" altLang="en-US" sz="2200" b="1">
                <a:latin typeface="Times New Roman" panose="02020603050405020304" pitchFamily="18" charset="0"/>
                <a:cs typeface="Times New Roman" panose="02020603050405020304" pitchFamily="18" charset="0"/>
              </a:rPr>
              <a:t>	ΨΗΦΙΑΚΗ ΔΙΑΜΟΡΦΩΣΗ ΠΛΑΤΟΥΣ (ASK),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grpSp>
        <p:nvGrpSpPr>
          <p:cNvPr id="11" name="Ομάδα 10">
            <a:extLst>
              <a:ext uri="{FF2B5EF4-FFF2-40B4-BE49-F238E27FC236}">
                <a16:creationId xmlns:a16="http://schemas.microsoft.com/office/drawing/2014/main" id="{F108A39A-E63E-37F5-DB21-5D3D6CE38AB0}"/>
              </a:ext>
            </a:extLst>
          </p:cNvPr>
          <p:cNvGrpSpPr/>
          <p:nvPr/>
        </p:nvGrpSpPr>
        <p:grpSpPr>
          <a:xfrm>
            <a:off x="931773" y="1703065"/>
            <a:ext cx="6749707" cy="4576781"/>
            <a:chOff x="1101894" y="1724330"/>
            <a:chExt cx="6749707" cy="4576781"/>
          </a:xfrm>
        </p:grpSpPr>
        <p:pic>
          <p:nvPicPr>
            <p:cNvPr id="4" name="Εικόνα 3">
              <a:extLst>
                <a:ext uri="{FF2B5EF4-FFF2-40B4-BE49-F238E27FC236}">
                  <a16:creationId xmlns:a16="http://schemas.microsoft.com/office/drawing/2014/main" id="{160AA65D-108C-EE7A-0772-314F59EE9108}"/>
                </a:ext>
              </a:extLst>
            </p:cNvPr>
            <p:cNvPicPr>
              <a:picLocks noChangeAspect="1"/>
            </p:cNvPicPr>
            <p:nvPr/>
          </p:nvPicPr>
          <p:blipFill>
            <a:blip r:embed="rId3"/>
            <a:stretch>
              <a:fillRect/>
            </a:stretch>
          </p:blipFill>
          <p:spPr>
            <a:xfrm>
              <a:off x="1101894" y="1724330"/>
              <a:ext cx="6737181" cy="1252786"/>
            </a:xfrm>
            <a:prstGeom prst="rect">
              <a:avLst/>
            </a:prstGeom>
          </p:spPr>
        </p:pic>
        <p:pic>
          <p:nvPicPr>
            <p:cNvPr id="8" name="Εικόνα 7">
              <a:extLst>
                <a:ext uri="{FF2B5EF4-FFF2-40B4-BE49-F238E27FC236}">
                  <a16:creationId xmlns:a16="http://schemas.microsoft.com/office/drawing/2014/main" id="{3B97CB8B-EF9C-63A3-DEA2-7A41B77BC592}"/>
                </a:ext>
              </a:extLst>
            </p:cNvPr>
            <p:cNvPicPr>
              <a:picLocks noChangeAspect="1"/>
            </p:cNvPicPr>
            <p:nvPr/>
          </p:nvPicPr>
          <p:blipFill>
            <a:blip r:embed="rId4"/>
            <a:stretch>
              <a:fillRect/>
            </a:stretch>
          </p:blipFill>
          <p:spPr>
            <a:xfrm>
              <a:off x="1101894" y="2977116"/>
              <a:ext cx="6749707" cy="2071209"/>
            </a:xfrm>
            <a:prstGeom prst="rect">
              <a:avLst/>
            </a:prstGeom>
          </p:spPr>
        </p:pic>
        <p:pic>
          <p:nvPicPr>
            <p:cNvPr id="10" name="Εικόνα 9">
              <a:extLst>
                <a:ext uri="{FF2B5EF4-FFF2-40B4-BE49-F238E27FC236}">
                  <a16:creationId xmlns:a16="http://schemas.microsoft.com/office/drawing/2014/main" id="{B3A80219-3139-5B88-FBBB-64A94B8527D0}"/>
                </a:ext>
              </a:extLst>
            </p:cNvPr>
            <p:cNvPicPr>
              <a:picLocks noChangeAspect="1"/>
            </p:cNvPicPr>
            <p:nvPr/>
          </p:nvPicPr>
          <p:blipFill>
            <a:blip r:embed="rId5"/>
            <a:stretch>
              <a:fillRect/>
            </a:stretch>
          </p:blipFill>
          <p:spPr>
            <a:xfrm>
              <a:off x="1101894" y="5048325"/>
              <a:ext cx="6749707" cy="1252786"/>
            </a:xfrm>
            <a:prstGeom prst="rect">
              <a:avLst/>
            </a:prstGeom>
          </p:spPr>
        </p:pic>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08192DE-8EA4-DC5D-7AFA-399CC6BCD8CA}"/>
                  </a:ext>
                </a:extLst>
              </p:cNvPr>
              <p:cNvSpPr txBox="1"/>
              <p:nvPr/>
            </p:nvSpPr>
            <p:spPr>
              <a:xfrm>
                <a:off x="3699473" y="3374628"/>
                <a:ext cx="4139602" cy="461665"/>
              </a:xfrm>
              <a:prstGeom prst="rect">
                <a:avLst/>
              </a:prstGeom>
              <a:noFill/>
            </p:spPr>
            <p:txBody>
              <a:bodyPr wrap="square">
                <a:spAutoFit/>
              </a:bodyPr>
              <a:lstStyle/>
              <a:p>
                <a:pPr eaLnBrk="1" hangingPunct="1">
                  <a:defRPr/>
                </a:pPr>
                <a:r>
                  <a:rPr lang="el-GR" sz="1200" b="1" u="sng" dirty="0">
                    <a:solidFill>
                      <a:srgbClr val="0033CC"/>
                    </a:solidFill>
                  </a:rPr>
                  <a:t>Η </a:t>
                </a:r>
                <a:r>
                  <a:rPr lang="el-GR" sz="1200" b="1" u="sng" dirty="0" err="1">
                    <a:solidFill>
                      <a:srgbClr val="0033CC"/>
                    </a:solidFill>
                  </a:rPr>
                  <a:t>συχνοτική</a:t>
                </a:r>
                <a:r>
                  <a:rPr lang="el-GR" sz="1200" b="1" u="sng" dirty="0">
                    <a:solidFill>
                      <a:srgbClr val="0033CC"/>
                    </a:solidFill>
                  </a:rPr>
                  <a:t> απόσταση </a:t>
                </a:r>
                <a14:m>
                  <m:oMath xmlns:m="http://schemas.openxmlformats.org/officeDocument/2006/math">
                    <m:r>
                      <a:rPr lang="en-US" sz="1200" b="1" i="1" u="sng" dirty="0" smtClean="0">
                        <a:solidFill>
                          <a:srgbClr val="FF0000"/>
                        </a:solidFill>
                        <a:latin typeface="Cambria Math" panose="02040503050406030204" pitchFamily="18" charset="0"/>
                      </a:rPr>
                      <m:t>𝒌</m:t>
                    </m:r>
                    <m:r>
                      <a:rPr lang="el-GR" sz="1200" b="1" i="0" u="sng" dirty="0" smtClean="0">
                        <a:solidFill>
                          <a:srgbClr val="FF0000"/>
                        </a:solidFill>
                        <a:latin typeface="Cambria Math" panose="02040503050406030204" pitchFamily="18" charset="0"/>
                      </a:rPr>
                      <m:t>𝚫</m:t>
                    </m:r>
                    <m:r>
                      <a:rPr lang="en-US" sz="1200" b="1" i="1" u="sng" dirty="0">
                        <a:solidFill>
                          <a:srgbClr val="FF0000"/>
                        </a:solidFill>
                        <a:latin typeface="Cambria Math" panose="02040503050406030204" pitchFamily="18" charset="0"/>
                      </a:rPr>
                      <m:t>𝒇</m:t>
                    </m:r>
                    <m:r>
                      <a:rPr lang="en-US" sz="1200" b="1" i="1" u="sng" dirty="0" smtClean="0">
                        <a:solidFill>
                          <a:srgbClr val="FF0000"/>
                        </a:solidFill>
                        <a:latin typeface="Cambria Math" panose="02040503050406030204" pitchFamily="18" charset="0"/>
                      </a:rPr>
                      <m:t>=</m:t>
                    </m:r>
                    <m:r>
                      <a:rPr lang="en-US" sz="1200" b="1" i="1" u="sng" dirty="0" smtClean="0">
                        <a:solidFill>
                          <a:srgbClr val="FF0000"/>
                        </a:solidFill>
                        <a:latin typeface="Cambria Math" panose="02040503050406030204" pitchFamily="18" charset="0"/>
                      </a:rPr>
                      <m:t>𝒌</m:t>
                    </m:r>
                    <m:r>
                      <a:rPr lang="en-US" sz="1200" b="1" i="1" u="sng" dirty="0" smtClean="0">
                        <a:solidFill>
                          <a:srgbClr val="FF0000"/>
                        </a:solidFill>
                        <a:latin typeface="Cambria Math" panose="02040503050406030204" pitchFamily="18" charset="0"/>
                      </a:rPr>
                      <m:t>(</m:t>
                    </m:r>
                    <m:r>
                      <a:rPr lang="en-US" sz="1200" b="1" i="1" u="sng" dirty="0" smtClean="0">
                        <a:solidFill>
                          <a:srgbClr val="FF0000"/>
                        </a:solidFill>
                        <a:latin typeface="Cambria Math" panose="02040503050406030204" pitchFamily="18" charset="0"/>
                      </a:rPr>
                      <m:t>𝒇</m:t>
                    </m:r>
                    <m:r>
                      <a:rPr lang="en-US" sz="1200" b="1" i="1" u="sng" dirty="0" smtClean="0">
                        <a:solidFill>
                          <a:srgbClr val="FF0000"/>
                        </a:solidFill>
                        <a:latin typeface="Cambria Math" panose="02040503050406030204" pitchFamily="18" charset="0"/>
                      </a:rPr>
                      <m:t>𝟏</m:t>
                    </m:r>
                    <m:r>
                      <a:rPr lang="en-US" sz="1200" b="1" i="1" u="sng" dirty="0" smtClean="0">
                        <a:solidFill>
                          <a:srgbClr val="FF0000"/>
                        </a:solidFill>
                        <a:latin typeface="Cambria Math" panose="02040503050406030204" pitchFamily="18" charset="0"/>
                      </a:rPr>
                      <m:t>−</m:t>
                    </m:r>
                    <m:r>
                      <a:rPr lang="en-US" sz="1200" b="1" i="1" u="sng" dirty="0" smtClean="0">
                        <a:solidFill>
                          <a:srgbClr val="FF0000"/>
                        </a:solidFill>
                        <a:latin typeface="Cambria Math" panose="02040503050406030204" pitchFamily="18" charset="0"/>
                      </a:rPr>
                      <m:t>𝒇</m:t>
                    </m:r>
                    <m:r>
                      <a:rPr lang="en-US" sz="1200" b="1" i="1" u="sng" dirty="0" smtClean="0">
                        <a:solidFill>
                          <a:srgbClr val="FF0000"/>
                        </a:solidFill>
                        <a:latin typeface="Cambria Math" panose="02040503050406030204" pitchFamily="18" charset="0"/>
                      </a:rPr>
                      <m:t>𝟎</m:t>
                    </m:r>
                    <m:r>
                      <a:rPr lang="en-US" sz="1200" b="1" i="1" u="sng" dirty="0" smtClean="0">
                        <a:solidFill>
                          <a:srgbClr val="FF0000"/>
                        </a:solidFill>
                        <a:latin typeface="Cambria Math" panose="02040503050406030204" pitchFamily="18" charset="0"/>
                      </a:rPr>
                      <m:t>)  </m:t>
                    </m:r>
                  </m:oMath>
                </a14:m>
                <a:r>
                  <a:rPr lang="el-GR" sz="1200" b="1" u="sng" dirty="0">
                    <a:solidFill>
                      <a:srgbClr val="0033CC"/>
                    </a:solidFill>
                  </a:rPr>
                  <a:t>επιλέγεται ώστε να επιτευχθεί </a:t>
                </a:r>
                <a:r>
                  <a:rPr lang="el-GR" sz="1200" b="1" u="sng" dirty="0" err="1">
                    <a:solidFill>
                      <a:srgbClr val="0033CC"/>
                    </a:solidFill>
                  </a:rPr>
                  <a:t>ορθογωνιότητα</a:t>
                </a:r>
                <a:r>
                  <a:rPr lang="el-GR" sz="1200" b="1" u="sng" dirty="0">
                    <a:solidFill>
                      <a:srgbClr val="0033CC"/>
                    </a:solidFill>
                  </a:rPr>
                  <a:t> </a:t>
                </a:r>
                <a:endParaRPr lang="en-GB" sz="1200" b="1" u="sng" dirty="0">
                  <a:solidFill>
                    <a:srgbClr val="0033CC"/>
                  </a:solidFill>
                </a:endParaRPr>
              </a:p>
            </p:txBody>
          </p:sp>
        </mc:Choice>
        <mc:Fallback xmlns="">
          <p:sp>
            <p:nvSpPr>
              <p:cNvPr id="13" name="TextBox 12">
                <a:extLst>
                  <a:ext uri="{FF2B5EF4-FFF2-40B4-BE49-F238E27FC236}">
                    <a16:creationId xmlns:a16="http://schemas.microsoft.com/office/drawing/2014/main" id="{808192DE-8EA4-DC5D-7AFA-399CC6BCD8CA}"/>
                  </a:ext>
                </a:extLst>
              </p:cNvPr>
              <p:cNvSpPr txBox="1">
                <a:spLocks noRot="1" noChangeAspect="1" noMove="1" noResize="1" noEditPoints="1" noAdjustHandles="1" noChangeArrowheads="1" noChangeShapeType="1" noTextEdit="1"/>
              </p:cNvSpPr>
              <p:nvPr/>
            </p:nvSpPr>
            <p:spPr>
              <a:xfrm>
                <a:off x="3699473" y="3374628"/>
                <a:ext cx="4139602" cy="461665"/>
              </a:xfrm>
              <a:prstGeom prst="rect">
                <a:avLst/>
              </a:prstGeom>
              <a:blipFill>
                <a:blip r:embed="rId6"/>
                <a:stretch>
                  <a:fillRect l="-147" t="-2667" b="-9333"/>
                </a:stretch>
              </a:blipFill>
            </p:spPr>
            <p:txBody>
              <a:bodyPr/>
              <a:lstStyle/>
              <a:p>
                <a:r>
                  <a:rPr lang="el-GR">
                    <a:noFill/>
                  </a:rPr>
                  <a:t> </a:t>
                </a:r>
              </a:p>
            </p:txBody>
          </p:sp>
        </mc:Fallback>
      </mc:AlternateContent>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2	ΨΗΦΙΑΚΗ ΔΙΑΜΟΡΦΩΣΗ ΠΛΑΤΟΥΣ (ASK)</a:t>
            </a:r>
            <a:endParaRPr lang="en-GB" altLang="en-US" sz="2200">
              <a:latin typeface="Times New Roman" panose="02020603050405020304" pitchFamily="18" charset="0"/>
            </a:endParaRPr>
          </a:p>
        </p:txBody>
      </p:sp>
      <p:pic>
        <p:nvPicPr>
          <p:cNvPr id="4099" name="Picture 12"/>
          <p:cNvPicPr>
            <a:picLocks noChangeAspect="1" noChangeArrowheads="1"/>
          </p:cNvPicPr>
          <p:nvPr/>
        </p:nvPicPr>
        <p:blipFill>
          <a:blip r:embed="rId2">
            <a:extLst>
              <a:ext uri="{28A0092B-C50C-407E-A947-70E740481C1C}">
                <a14:useLocalDpi xmlns:a14="http://schemas.microsoft.com/office/drawing/2010/main" val="0"/>
              </a:ext>
            </a:extLst>
          </a:blip>
          <a:srcRect l="33961" t="10178" r="15274" b="35161"/>
          <a:stretch>
            <a:fillRect/>
          </a:stretch>
        </p:blipFill>
        <p:spPr bwMode="auto">
          <a:xfrm>
            <a:off x="4738688" y="1044575"/>
            <a:ext cx="4102100" cy="3062288"/>
          </a:xfrm>
          <a:prstGeom prst="rect">
            <a:avLst/>
          </a:prstGeom>
          <a:noFill/>
          <a:ln w="6350">
            <a:solidFill>
              <a:srgbClr val="CC3300"/>
            </a:solidFill>
            <a:miter lim="800000"/>
            <a:headEnd/>
            <a:tailEnd/>
          </a:ln>
          <a:extLst>
            <a:ext uri="{909E8E84-426E-40DD-AFC4-6F175D3DCCD1}">
              <a14:hiddenFill xmlns:a14="http://schemas.microsoft.com/office/drawing/2010/main">
                <a:solidFill>
                  <a:srgbClr val="FFFFFF"/>
                </a:solidFill>
              </a14:hiddenFill>
            </a:ext>
          </a:extLst>
        </p:spPr>
      </p:pic>
      <p:pic>
        <p:nvPicPr>
          <p:cNvPr id="4100" name="Picture 14" descr="untitled1"/>
          <p:cNvPicPr>
            <a:picLocks noChangeAspect="1" noChangeArrowheads="1"/>
          </p:cNvPicPr>
          <p:nvPr/>
        </p:nvPicPr>
        <p:blipFill>
          <a:blip r:embed="rId3">
            <a:grayscl/>
            <a:extLst>
              <a:ext uri="{28A0092B-C50C-407E-A947-70E740481C1C}">
                <a14:useLocalDpi xmlns:a14="http://schemas.microsoft.com/office/drawing/2010/main" val="0"/>
              </a:ext>
            </a:extLst>
          </a:blip>
          <a:srcRect l="19270" t="31314" r="32057" b="49463"/>
          <a:stretch>
            <a:fillRect/>
          </a:stretch>
        </p:blipFill>
        <p:spPr bwMode="auto">
          <a:xfrm>
            <a:off x="1938338" y="1552575"/>
            <a:ext cx="2289548" cy="1497013"/>
          </a:xfrm>
          <a:prstGeom prst="rect">
            <a:avLst/>
          </a:prstGeom>
          <a:noFill/>
          <a:ln w="6350">
            <a:solidFill>
              <a:srgbClr val="CC0000"/>
            </a:solidFill>
            <a:miter lim="800000"/>
            <a:headEnd/>
            <a:tailEnd/>
          </a:ln>
          <a:extLst>
            <a:ext uri="{909E8E84-426E-40DD-AFC4-6F175D3DCCD1}">
              <a14:hiddenFill xmlns:a14="http://schemas.microsoft.com/office/drawing/2010/main">
                <a:solidFill>
                  <a:srgbClr val="FFFFFF"/>
                </a:solidFill>
              </a14:hiddenFill>
            </a:ext>
          </a:extLst>
        </p:spPr>
      </p:pic>
      <p:pic>
        <p:nvPicPr>
          <p:cNvPr id="4101" name="Picture 15"/>
          <p:cNvPicPr>
            <a:picLocks noChangeAspect="1" noChangeArrowheads="1"/>
          </p:cNvPicPr>
          <p:nvPr/>
        </p:nvPicPr>
        <p:blipFill>
          <a:blip r:embed="rId4">
            <a:extLst>
              <a:ext uri="{28A0092B-C50C-407E-A947-70E740481C1C}">
                <a14:useLocalDpi xmlns:a14="http://schemas.microsoft.com/office/drawing/2010/main" val="0"/>
              </a:ext>
            </a:extLst>
          </a:blip>
          <a:srcRect l="20000" t="28255" r="15938" b="17839"/>
          <a:stretch>
            <a:fillRect/>
          </a:stretch>
        </p:blipFill>
        <p:spPr bwMode="auto">
          <a:xfrm>
            <a:off x="4740275" y="4305300"/>
            <a:ext cx="4095750" cy="2794000"/>
          </a:xfrm>
          <a:prstGeom prst="rect">
            <a:avLst/>
          </a:prstGeom>
          <a:noFill/>
          <a:ln w="6350">
            <a:solidFill>
              <a:srgbClr val="CC000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2" name="Text Box 16"/>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Δημιουργία της διαμόρφωσης ΑSK</a:t>
            </a:r>
          </a:p>
        </p:txBody>
      </p:sp>
      <p:pic>
        <p:nvPicPr>
          <p:cNvPr id="4104"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l="56305" t="21414" r="12561" b="43996"/>
          <a:stretch>
            <a:fillRect/>
          </a:stretch>
        </p:blipFill>
        <p:spPr bwMode="auto">
          <a:xfrm>
            <a:off x="2409218" y="3154363"/>
            <a:ext cx="1347787" cy="1204913"/>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l="36069" t="17268" r="4283" b="28435"/>
          <a:stretch>
            <a:fillRect/>
          </a:stretch>
        </p:blipFill>
        <p:spPr bwMode="auto">
          <a:xfrm>
            <a:off x="92953" y="1670142"/>
            <a:ext cx="1732673" cy="1261877"/>
          </a:xfrm>
          <a:prstGeom prst="rect">
            <a:avLst/>
          </a:prstGeom>
          <a:noFill/>
          <a:ln w="12700">
            <a:solidFill>
              <a:srgbClr val="00000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2	ΨΗΦΙΑΚΗ ΔΙΑΜΟΡΦΩΣΗ ΠΛΑΤΟΥΣ (ASK)</a:t>
            </a:r>
            <a:endParaRPr lang="en-GB" altLang="en-US" sz="2200">
              <a:latin typeface="Times New Roman" panose="02020603050405020304" pitchFamily="18" charset="0"/>
            </a:endParaRPr>
          </a:p>
        </p:txBody>
      </p:sp>
      <p:pic>
        <p:nvPicPr>
          <p:cNvPr id="4100" name="Picture 14" descr="untitled1"/>
          <p:cNvPicPr>
            <a:picLocks noChangeAspect="1" noChangeArrowheads="1"/>
          </p:cNvPicPr>
          <p:nvPr/>
        </p:nvPicPr>
        <p:blipFill>
          <a:blip r:embed="rId3">
            <a:grayscl/>
            <a:extLst>
              <a:ext uri="{28A0092B-C50C-407E-A947-70E740481C1C}">
                <a14:useLocalDpi xmlns:a14="http://schemas.microsoft.com/office/drawing/2010/main" val="0"/>
              </a:ext>
            </a:extLst>
          </a:blip>
          <a:srcRect l="19270" t="31314" r="32057" b="49463"/>
          <a:stretch>
            <a:fillRect/>
          </a:stretch>
        </p:blipFill>
        <p:spPr bwMode="auto">
          <a:xfrm>
            <a:off x="1501911" y="1552575"/>
            <a:ext cx="1366899" cy="893742"/>
          </a:xfrm>
          <a:prstGeom prst="rect">
            <a:avLst/>
          </a:prstGeom>
          <a:noFill/>
          <a:ln w="6350">
            <a:solidFill>
              <a:srgbClr val="CC0000"/>
            </a:solidFill>
            <a:miter lim="800000"/>
            <a:headEnd/>
            <a:tailEnd/>
          </a:ln>
          <a:extLst>
            <a:ext uri="{909E8E84-426E-40DD-AFC4-6F175D3DCCD1}">
              <a14:hiddenFill xmlns:a14="http://schemas.microsoft.com/office/drawing/2010/main">
                <a:solidFill>
                  <a:srgbClr val="FFFFFF"/>
                </a:solidFill>
              </a14:hiddenFill>
            </a:ext>
          </a:extLst>
        </p:spPr>
      </p:pic>
      <p:sp>
        <p:nvSpPr>
          <p:cNvPr id="4102" name="Text Box 16"/>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Δημιουργία της διαμόρφωσης ΑSK</a:t>
            </a:r>
          </a:p>
        </p:txBody>
      </p:sp>
      <p:pic>
        <p:nvPicPr>
          <p:cNvPr id="4104"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l="56305" t="21414" r="12561" b="43996"/>
          <a:stretch>
            <a:fillRect/>
          </a:stretch>
        </p:blipFill>
        <p:spPr bwMode="auto">
          <a:xfrm>
            <a:off x="1521023" y="2553482"/>
            <a:ext cx="1347787" cy="1204913"/>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pic>
        <p:nvPicPr>
          <p:cNvPr id="4105" name="Picture 19" descr="askcon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 y="5070475"/>
            <a:ext cx="2905785" cy="1670759"/>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l="36069" t="17268" r="4283" b="28435"/>
          <a:stretch>
            <a:fillRect/>
          </a:stretch>
        </p:blipFill>
        <p:spPr bwMode="auto">
          <a:xfrm>
            <a:off x="103355" y="1552575"/>
            <a:ext cx="1238557" cy="902021"/>
          </a:xfrm>
          <a:prstGeom prst="rect">
            <a:avLst/>
          </a:prstGeom>
          <a:noFill/>
          <a:ln w="12700">
            <a:solidFill>
              <a:srgbClr val="00000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7">
            <a:extLst>
              <a:ext uri="{28A0092B-C50C-407E-A947-70E740481C1C}">
                <a14:useLocalDpi xmlns:a14="http://schemas.microsoft.com/office/drawing/2010/main" val="0"/>
              </a:ext>
            </a:extLst>
          </a:blip>
          <a:srcRect l="11157" t="6686" r="7104" b="3656"/>
          <a:stretch>
            <a:fillRect/>
          </a:stretch>
        </p:blipFill>
        <p:spPr bwMode="auto">
          <a:xfrm>
            <a:off x="3059584" y="1577975"/>
            <a:ext cx="5798419" cy="4229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42741" y="6741234"/>
            <a:ext cx="2196179" cy="307777"/>
          </a:xfrm>
          <a:prstGeom prst="rect">
            <a:avLst/>
          </a:prstGeom>
          <a:noFill/>
        </p:spPr>
        <p:txBody>
          <a:bodyPr wrap="none" rtlCol="0">
            <a:spAutoFit/>
          </a:bodyPr>
          <a:lstStyle/>
          <a:p>
            <a:r>
              <a:rPr lang="el-GR" b="1" dirty="0"/>
              <a:t>Διάγραμμα Αστερισμού</a:t>
            </a:r>
            <a:endParaRPr lang="en-US" b="1" dirty="0"/>
          </a:p>
        </p:txBody>
      </p:sp>
      <p:sp>
        <p:nvSpPr>
          <p:cNvPr id="4" name="TextBox 3">
            <a:extLst>
              <a:ext uri="{FF2B5EF4-FFF2-40B4-BE49-F238E27FC236}">
                <a16:creationId xmlns:a16="http://schemas.microsoft.com/office/drawing/2014/main" id="{438344F5-69F9-A712-EF9B-E15851360B9B}"/>
              </a:ext>
            </a:extLst>
          </p:cNvPr>
          <p:cNvSpPr txBox="1"/>
          <p:nvPr/>
        </p:nvSpPr>
        <p:spPr>
          <a:xfrm>
            <a:off x="4000500" y="6012524"/>
            <a:ext cx="4534786" cy="646331"/>
          </a:xfrm>
          <a:prstGeom prst="rect">
            <a:avLst/>
          </a:prstGeom>
          <a:noFill/>
        </p:spPr>
        <p:txBody>
          <a:bodyPr wrap="square">
            <a:spAutoFit/>
          </a:bodyPr>
          <a:lstStyle/>
          <a:p>
            <a:r>
              <a:rPr lang="el-GR" sz="1800" b="1" dirty="0">
                <a:solidFill>
                  <a:srgbClr val="C00000"/>
                </a:solidFill>
                <a:latin typeface="Times New Roman" panose="02020603050405020304" pitchFamily="18" charset="0"/>
                <a:cs typeface="Times New Roman" panose="02020603050405020304" pitchFamily="18" charset="0"/>
              </a:rPr>
              <a:t>Η BASK απαιτεί διπλάσιο εύρος ζώνης  σε σχέση με το αρχικό σήμα βασικής ζώνης.</a:t>
            </a:r>
          </a:p>
        </p:txBody>
      </p:sp>
    </p:spTree>
    <p:extLst>
      <p:ext uri="{BB962C8B-B14F-4D97-AF65-F5344CB8AC3E}">
        <p14:creationId xmlns:p14="http://schemas.microsoft.com/office/powerpoint/2010/main" val="396763627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2	ΨΗΦΙΑΚΗ ΔΙΑΜΟΡΦΩΣΗ ΠΛΑΤΟΥΣ (ASK)</a:t>
            </a:r>
            <a:endParaRPr lang="en-GB" altLang="en-US" sz="2200">
              <a:latin typeface="Times New Roman" panose="02020603050405020304" pitchFamily="18" charset="0"/>
            </a:endParaRPr>
          </a:p>
        </p:txBody>
      </p:sp>
      <p:pic>
        <p:nvPicPr>
          <p:cNvPr id="5123" name="Picture 6" descr="ASKFILT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646238"/>
            <a:ext cx="3919538" cy="169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8"/>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Μέθοδος φιλτραρίσματος βασικής ζώνης</a:t>
            </a:r>
            <a:r>
              <a:rPr lang="en-US" altLang="en-US" sz="2200" b="1">
                <a:solidFill>
                  <a:srgbClr val="990000"/>
                </a:solidFill>
                <a:latin typeface="Times New Roman" panose="02020603050405020304" pitchFamily="18" charset="0"/>
              </a:rPr>
              <a:t> </a:t>
            </a:r>
            <a:endParaRPr lang="el-GR" altLang="en-US" sz="2200" b="1">
              <a:solidFill>
                <a:srgbClr val="990000"/>
              </a:solidFill>
              <a:latin typeface="Times New Roman" panose="02020603050405020304" pitchFamily="18" charset="0"/>
            </a:endParaRPr>
          </a:p>
        </p:txBody>
      </p:sp>
      <p:sp>
        <p:nvSpPr>
          <p:cNvPr id="5" name="TextBox 4">
            <a:extLst>
              <a:ext uri="{FF2B5EF4-FFF2-40B4-BE49-F238E27FC236}">
                <a16:creationId xmlns:a16="http://schemas.microsoft.com/office/drawing/2014/main" id="{E4E86550-AC70-EA32-6589-D96A93310733}"/>
              </a:ext>
            </a:extLst>
          </p:cNvPr>
          <p:cNvSpPr txBox="1"/>
          <p:nvPr/>
        </p:nvSpPr>
        <p:spPr>
          <a:xfrm>
            <a:off x="0" y="3668695"/>
            <a:ext cx="8631865" cy="1754326"/>
          </a:xfrm>
          <a:prstGeom prst="rect">
            <a:avLst/>
          </a:prstGeom>
          <a:noFill/>
        </p:spPr>
        <p:txBody>
          <a:bodyPr wrap="square">
            <a:spAutoFit/>
          </a:bodyPr>
          <a:lstStyle/>
          <a:p>
            <a:pPr marL="171450" indent="-1714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Φιλτράρισμα του ψηφιακού σήματος εισόδου με ένα φίλτρο μορφοποίησης παλμών (υψωμένου </a:t>
            </a:r>
            <a:r>
              <a:rPr lang="el-GR" sz="1800" b="1" dirty="0" err="1">
                <a:solidFill>
                  <a:srgbClr val="C00000"/>
                </a:solidFill>
                <a:latin typeface="Times New Roman" panose="02020603050405020304" pitchFamily="18" charset="0"/>
                <a:cs typeface="Times New Roman" panose="02020603050405020304" pitchFamily="18" charset="0"/>
              </a:rPr>
              <a:t>συνημιτόνου</a:t>
            </a:r>
            <a:r>
              <a:rPr lang="el-GR" sz="1800" b="1" dirty="0">
                <a:solidFill>
                  <a:srgbClr val="C00000"/>
                </a:solidFill>
                <a:latin typeface="Times New Roman" panose="02020603050405020304" pitchFamily="18" charset="0"/>
                <a:cs typeface="Times New Roman" panose="02020603050405020304" pitchFamily="18" charset="0"/>
              </a:rPr>
              <a:t>), ώστε να περιοριστεί το εύρος ζώνης και να παραχθεί η ακολουθία δεδομένων βασικής ζώνης. </a:t>
            </a:r>
          </a:p>
          <a:p>
            <a:pPr marL="171450" indent="-171450">
              <a:buFont typeface="Arial" panose="020B0604020202020204" pitchFamily="34" charset="0"/>
              <a:buChar char="•"/>
            </a:pPr>
            <a:endParaRPr lang="el-GR" sz="1800" b="1" dirty="0">
              <a:solidFill>
                <a:srgbClr val="C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Πολλαπλασιασμός φέροντος με την ακολουθία δεδομένων βασικής ζώνης, μέσω μίας γραμμικής διαμόρφωσης παλμών.</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2	ΨΗΦΙΑΚΗ ΔΙΑΜΟΡΦΩΣΗ ΠΛΑΤΟΥΣ (ASK)</a:t>
            </a:r>
            <a:endParaRPr lang="en-GB" altLang="en-US" sz="2200">
              <a:latin typeface="Times New Roman" panose="02020603050405020304" pitchFamily="18" charset="0"/>
            </a:endParaRPr>
          </a:p>
        </p:txBody>
      </p:sp>
      <p:sp>
        <p:nvSpPr>
          <p:cNvPr id="6147" name="Text Box 4"/>
          <p:cNvSpPr txBox="1">
            <a:spLocks noChangeArrowheads="1"/>
          </p:cNvSpPr>
          <p:nvPr/>
        </p:nvSpPr>
        <p:spPr bwMode="auto">
          <a:xfrm>
            <a:off x="0" y="1054100"/>
            <a:ext cx="8953500" cy="5576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err="1">
                <a:solidFill>
                  <a:srgbClr val="990000"/>
                </a:solidFill>
                <a:latin typeface="Times New Roman" panose="02020603050405020304" pitchFamily="18" charset="0"/>
              </a:rPr>
              <a:t>Αποδιαμόρφωση</a:t>
            </a:r>
            <a:r>
              <a:rPr lang="el-GR" altLang="en-US" sz="2200" b="1" dirty="0">
                <a:solidFill>
                  <a:srgbClr val="990000"/>
                </a:solidFill>
                <a:latin typeface="Times New Roman" panose="02020603050405020304" pitchFamily="18" charset="0"/>
              </a:rPr>
              <a:t> </a:t>
            </a:r>
            <a:r>
              <a:rPr lang="en-US" altLang="en-US" sz="2200" b="1" dirty="0">
                <a:solidFill>
                  <a:srgbClr val="990000"/>
                </a:solidFill>
                <a:latin typeface="Times New Roman" panose="02020603050405020304" pitchFamily="18" charset="0"/>
              </a:rPr>
              <a:t>ASK </a:t>
            </a: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n-US" altLang="en-US" sz="2200" b="1" dirty="0">
              <a:solidFill>
                <a:srgbClr val="990000"/>
              </a:solidFill>
              <a:latin typeface="Times New Roman" panose="02020603050405020304" pitchFamily="18" charset="0"/>
            </a:endParaRPr>
          </a:p>
          <a:p>
            <a:pPr algn="just">
              <a:lnSpc>
                <a:spcPct val="90000"/>
              </a:lnSpc>
            </a:pPr>
            <a:endParaRPr lang="en-US" altLang="en-US" sz="2200" b="1" dirty="0">
              <a:solidFill>
                <a:srgbClr val="990000"/>
              </a:solidFill>
              <a:latin typeface="Times New Roman" panose="02020603050405020304" pitchFamily="18" charset="0"/>
            </a:endParaRPr>
          </a:p>
          <a:p>
            <a:pPr algn="just">
              <a:lnSpc>
                <a:spcPct val="90000"/>
              </a:lnSpc>
            </a:pPr>
            <a:endParaRPr lang="en-US" altLang="en-US" sz="2200" b="1" dirty="0">
              <a:solidFill>
                <a:srgbClr val="990000"/>
              </a:solidFill>
              <a:latin typeface="Times New Roman" panose="02020603050405020304" pitchFamily="18" charset="0"/>
            </a:endParaRPr>
          </a:p>
          <a:p>
            <a:pPr algn="just">
              <a:lnSpc>
                <a:spcPct val="90000"/>
              </a:lnSpc>
            </a:pPr>
            <a:endParaRPr lang="en-US" altLang="en-US" sz="2200" b="1" dirty="0">
              <a:solidFill>
                <a:srgbClr val="990000"/>
              </a:solidFill>
              <a:latin typeface="Times New Roman" panose="02020603050405020304" pitchFamily="18" charset="0"/>
            </a:endParaRPr>
          </a:p>
          <a:p>
            <a:pPr algn="just">
              <a:lnSpc>
                <a:spcPct val="90000"/>
              </a:lnSpc>
            </a:pPr>
            <a:endParaRPr lang="en-US" altLang="en-US" sz="2200" b="1" dirty="0">
              <a:solidFill>
                <a:srgbClr val="990000"/>
              </a:solidFill>
              <a:latin typeface="Times New Roman" panose="02020603050405020304" pitchFamily="18" charset="0"/>
            </a:endParaRPr>
          </a:p>
          <a:p>
            <a:pPr algn="just">
              <a:lnSpc>
                <a:spcPct val="90000"/>
              </a:lnSpc>
            </a:pPr>
            <a:endParaRPr lang="en-US" altLang="en-US" sz="2200" b="1" dirty="0">
              <a:solidFill>
                <a:srgbClr val="990000"/>
              </a:solidFill>
              <a:latin typeface="Times New Roman" panose="02020603050405020304" pitchFamily="18" charset="0"/>
            </a:endParaRPr>
          </a:p>
          <a:p>
            <a:pPr algn="just">
              <a:lnSpc>
                <a:spcPct val="90000"/>
              </a:lnSpc>
            </a:pPr>
            <a:endParaRPr lang="en-US" altLang="en-US" sz="2200" b="1" dirty="0">
              <a:solidFill>
                <a:srgbClr val="990000"/>
              </a:solidFill>
              <a:latin typeface="Times New Roman" panose="02020603050405020304" pitchFamily="18" charset="0"/>
            </a:endParaRPr>
          </a:p>
          <a:p>
            <a:pPr algn="just">
              <a:lnSpc>
                <a:spcPct val="90000"/>
              </a:lnSpc>
            </a:pPr>
            <a:r>
              <a:rPr lang="en-US" altLang="en-US" sz="2200" b="1" dirty="0">
                <a:solidFill>
                  <a:srgbClr val="990000"/>
                </a:solidFill>
                <a:latin typeface="Times New Roman" panose="02020603050405020304" pitchFamily="18" charset="0"/>
              </a:rPr>
              <a:t> </a:t>
            </a: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p:txBody>
      </p:sp>
      <p:grpSp>
        <p:nvGrpSpPr>
          <p:cNvPr id="2" name="Ομάδα 1">
            <a:extLst>
              <a:ext uri="{FF2B5EF4-FFF2-40B4-BE49-F238E27FC236}">
                <a16:creationId xmlns:a16="http://schemas.microsoft.com/office/drawing/2014/main" id="{E7053541-6258-4AAA-8BD2-B1B95F2F0B68}"/>
              </a:ext>
            </a:extLst>
          </p:cNvPr>
          <p:cNvGrpSpPr/>
          <p:nvPr/>
        </p:nvGrpSpPr>
        <p:grpSpPr>
          <a:xfrm>
            <a:off x="5161441" y="5397316"/>
            <a:ext cx="3272832" cy="1626491"/>
            <a:chOff x="3671888" y="1430339"/>
            <a:chExt cx="3272832" cy="1626491"/>
          </a:xfrm>
        </p:grpSpPr>
        <p:pic>
          <p:nvPicPr>
            <p:cNvPr id="6148" name="Picture 6" descr="dioded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8" y="1871663"/>
              <a:ext cx="238125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p:nvPr/>
          </p:nvSpPr>
          <p:spPr>
            <a:xfrm>
              <a:off x="4629150" y="2749053"/>
              <a:ext cx="2315570" cy="307777"/>
            </a:xfrm>
            <a:prstGeom prst="rect">
              <a:avLst/>
            </a:prstGeom>
            <a:noFill/>
          </p:spPr>
          <p:txBody>
            <a:bodyPr wrap="none" rtlCol="0">
              <a:spAutoFit/>
            </a:bodyPr>
            <a:lstStyle/>
            <a:p>
              <a:r>
                <a:rPr lang="el-GR" dirty="0"/>
                <a:t>ανιχνευτής περιβάλλουσας</a:t>
              </a:r>
              <a:endParaRPr lang="en-US" dirty="0"/>
            </a:p>
          </p:txBody>
        </p:sp>
        <p:sp>
          <p:nvSpPr>
            <p:cNvPr id="13" name="TextBox 12"/>
            <p:cNvSpPr txBox="1"/>
            <p:nvPr/>
          </p:nvSpPr>
          <p:spPr>
            <a:xfrm>
              <a:off x="4976813" y="1430339"/>
              <a:ext cx="1786579" cy="307777"/>
            </a:xfrm>
            <a:prstGeom prst="rect">
              <a:avLst/>
            </a:prstGeom>
            <a:noFill/>
          </p:spPr>
          <p:txBody>
            <a:bodyPr wrap="none" rtlCol="0">
              <a:spAutoFit/>
            </a:bodyPr>
            <a:lstStyle/>
            <a:p>
              <a:r>
                <a:rPr lang="el-GR" dirty="0"/>
                <a:t>φίλτρο εξομάλυνσης</a:t>
              </a:r>
              <a:endParaRPr lang="en-US" dirty="0"/>
            </a:p>
          </p:txBody>
        </p:sp>
        <p:cxnSp>
          <p:nvCxnSpPr>
            <p:cNvPr id="15" name="Straight Arrow Connector 14"/>
            <p:cNvCxnSpPr>
              <a:stCxn id="13" idx="1"/>
            </p:cNvCxnSpPr>
            <p:nvPr/>
          </p:nvCxnSpPr>
          <p:spPr bwMode="auto">
            <a:xfrm>
              <a:off x="4976813" y="1584228"/>
              <a:ext cx="0" cy="520797"/>
            </a:xfrm>
            <a:prstGeom prst="straightConnector1">
              <a:avLst/>
            </a:prstGeom>
            <a:noFill/>
            <a:ln w="6350" cap="flat" cmpd="sng" algn="ctr">
              <a:solidFill>
                <a:srgbClr val="00000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CC9A3BD-9915-1C79-C6E1-85CB84245F06}"/>
                  </a:ext>
                </a:extLst>
              </p:cNvPr>
              <p:cNvSpPr txBox="1"/>
              <p:nvPr/>
            </p:nvSpPr>
            <p:spPr>
              <a:xfrm>
                <a:off x="119616" y="1698700"/>
                <a:ext cx="8195041" cy="4062651"/>
              </a:xfrm>
              <a:prstGeom prst="rect">
                <a:avLst/>
              </a:prstGeom>
              <a:noFill/>
            </p:spPr>
            <p:txBody>
              <a:bodyPr wrap="square">
                <a:spAutoFit/>
              </a:bodyPr>
              <a:lstStyle/>
              <a:p>
                <a:r>
                  <a:rPr lang="el-GR" sz="1800" b="1" dirty="0">
                    <a:solidFill>
                      <a:srgbClr val="C00000"/>
                    </a:solidFill>
                    <a:latin typeface="Times New Roman" panose="02020603050405020304" pitchFamily="18" charset="0"/>
                    <a:cs typeface="Times New Roman" panose="02020603050405020304" pitchFamily="18" charset="0"/>
                  </a:rPr>
                  <a:t>Ο δέκτης ASK (αλλά και FSK, PSK) «διαβάζει» το διαμορφωμένο σήμα και κάθε </a:t>
                </a:r>
                <a14:m>
                  <m:oMath xmlns:m="http://schemas.openxmlformats.org/officeDocument/2006/math">
                    <m:r>
                      <a:rPr lang="el-GR" sz="1800" b="1" i="1" dirty="0" smtClean="0">
                        <a:solidFill>
                          <a:srgbClr val="C00000"/>
                        </a:solidFill>
                        <a:latin typeface="Cambria Math" panose="02040503050406030204" pitchFamily="18" charset="0"/>
                        <a:cs typeface="Times New Roman" panose="02020603050405020304" pitchFamily="18" charset="0"/>
                      </a:rPr>
                      <m:t>𝑻</m:t>
                    </m:r>
                    <m:r>
                      <a:rPr lang="el-GR" sz="1800" b="1" i="1" dirty="0" smtClean="0">
                        <a:solidFill>
                          <a:srgbClr val="C00000"/>
                        </a:solidFill>
                        <a:latin typeface="Cambria Math" panose="02040503050406030204" pitchFamily="18" charset="0"/>
                        <a:cs typeface="Times New Roman" panose="02020603050405020304" pitchFamily="18" charset="0"/>
                      </a:rPr>
                      <m:t> </m:t>
                    </m:r>
                    <m:r>
                      <m:rPr>
                        <m:sty m:val="p"/>
                      </m:rPr>
                      <a:rPr lang="el-GR" sz="1800" b="1" i="1" dirty="0" err="1">
                        <a:solidFill>
                          <a:srgbClr val="C00000"/>
                        </a:solidFill>
                        <a:latin typeface="Cambria Math" panose="02040503050406030204" pitchFamily="18" charset="0"/>
                        <a:cs typeface="Times New Roman" panose="02020603050405020304" pitchFamily="18" charset="0"/>
                      </a:rPr>
                      <m:t>sec</m:t>
                    </m:r>
                    <m:r>
                      <a:rPr lang="el-GR" sz="1800" b="1" i="1" dirty="0">
                        <a:solidFill>
                          <a:srgbClr val="C00000"/>
                        </a:solidFill>
                        <a:latin typeface="Cambria Math" panose="02040503050406030204" pitchFamily="18" charset="0"/>
                        <a:cs typeface="Times New Roman" panose="02020603050405020304" pitchFamily="18" charset="0"/>
                      </a:rPr>
                      <m:t>⁡</m:t>
                    </m:r>
                  </m:oMath>
                </a14:m>
                <a:r>
                  <a:rPr lang="el-GR" sz="1800" b="1" dirty="0">
                    <a:solidFill>
                      <a:srgbClr val="C00000"/>
                    </a:solidFill>
                    <a:latin typeface="Times New Roman" panose="02020603050405020304" pitchFamily="18" charset="0"/>
                    <a:cs typeface="Times New Roman" panose="02020603050405020304" pitchFamily="18" charset="0"/>
                  </a:rPr>
                  <a:t>«αποφασίζει» αν στο αντίστοιχο διάστημα έλαβε 1 ή 0.</a:t>
                </a:r>
                <a:endParaRPr lang="en-US" sz="1800"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b="1" dirty="0">
                  <a:solidFill>
                    <a:srgbClr val="C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l-GR" sz="2200" b="1" dirty="0">
                    <a:solidFill>
                      <a:srgbClr val="C00000"/>
                    </a:solidFill>
                    <a:latin typeface="Times New Roman" panose="02020603050405020304" pitchFamily="18" charset="0"/>
                    <a:cs typeface="Times New Roman" panose="02020603050405020304" pitchFamily="18" charset="0"/>
                  </a:rPr>
                  <a:t>Ασύμφωνη ανίχνευση</a:t>
                </a:r>
                <a:endParaRPr lang="en-US" sz="2200"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Η  πληροφορία που μεταδίδεται με την ASK μεταφέρεται στην </a:t>
                </a:r>
                <a:r>
                  <a:rPr lang="el-GR" sz="1800" b="1" dirty="0" err="1">
                    <a:solidFill>
                      <a:srgbClr val="C00000"/>
                    </a:solidFill>
                    <a:latin typeface="Times New Roman" panose="02020603050405020304" pitchFamily="18" charset="0"/>
                    <a:cs typeface="Times New Roman" panose="02020603050405020304" pitchFamily="18" charset="0"/>
                  </a:rPr>
                  <a:t>περιβάλλουσα</a:t>
                </a:r>
                <a:r>
                  <a:rPr lang="el-GR" sz="1800" b="1" dirty="0">
                    <a:solidFill>
                      <a:srgbClr val="C00000"/>
                    </a:solidFill>
                    <a:latin typeface="Times New Roman" panose="02020603050405020304" pitchFamily="18" charset="0"/>
                    <a:cs typeface="Times New Roman" panose="02020603050405020304" pitchFamily="18" charset="0"/>
                  </a:rPr>
                  <a:t> (</a:t>
                </a:r>
                <a:r>
                  <a:rPr lang="el-GR" sz="1800" b="1" dirty="0" err="1">
                    <a:solidFill>
                      <a:srgbClr val="C00000"/>
                    </a:solidFill>
                    <a:latin typeface="Times New Roman" panose="02020603050405020304" pitchFamily="18" charset="0"/>
                    <a:cs typeface="Times New Roman" panose="02020603050405020304" pitchFamily="18" charset="0"/>
                  </a:rPr>
                  <a:t>envelope</a:t>
                </a:r>
                <a:r>
                  <a:rPr lang="el-GR" sz="1800" b="1" dirty="0">
                    <a:solidFill>
                      <a:srgbClr val="C00000"/>
                    </a:solidFill>
                    <a:latin typeface="Times New Roman" panose="02020603050405020304" pitchFamily="18" charset="0"/>
                    <a:cs typeface="Times New Roman" panose="02020603050405020304" pitchFamily="18" charset="0"/>
                  </a:rPr>
                  <a:t>) του διαμορφωμένου σήματος. Έτσι τα δεδομένα μπορούν να ανιχνευθούν χρησιμοποιώντας έναν ανιχνευτή (φωρατή) </a:t>
                </a:r>
                <a:r>
                  <a:rPr lang="el-GR" sz="1800" b="1" dirty="0" err="1">
                    <a:solidFill>
                      <a:srgbClr val="C00000"/>
                    </a:solidFill>
                    <a:latin typeface="Times New Roman" panose="02020603050405020304" pitchFamily="18" charset="0"/>
                    <a:cs typeface="Times New Roman" panose="02020603050405020304" pitchFamily="18" charset="0"/>
                  </a:rPr>
                  <a:t>περιβάλλουσας</a:t>
                </a:r>
                <a:r>
                  <a:rPr lang="el-GR" sz="1800" b="1" dirty="0">
                    <a:solidFill>
                      <a:srgbClr val="C00000"/>
                    </a:solidFill>
                    <a:latin typeface="Times New Roman" panose="02020603050405020304" pitchFamily="18" charset="0"/>
                    <a:cs typeface="Times New Roman" panose="02020603050405020304" pitchFamily="18" charset="0"/>
                  </a:rPr>
                  <a:t> (</a:t>
                </a:r>
                <a:r>
                  <a:rPr lang="el-GR" sz="1800" b="1" dirty="0" err="1">
                    <a:solidFill>
                      <a:srgbClr val="C00000"/>
                    </a:solidFill>
                    <a:latin typeface="Times New Roman" panose="02020603050405020304" pitchFamily="18" charset="0"/>
                    <a:cs typeface="Times New Roman" panose="02020603050405020304" pitchFamily="18" charset="0"/>
                  </a:rPr>
                  <a:t>envelope</a:t>
                </a:r>
                <a:r>
                  <a:rPr lang="el-GR" sz="1800" b="1" dirty="0">
                    <a:solidFill>
                      <a:srgbClr val="C00000"/>
                    </a:solidFill>
                    <a:latin typeface="Times New Roman" panose="02020603050405020304" pitchFamily="18" charset="0"/>
                    <a:cs typeface="Times New Roman" panose="02020603050405020304" pitchFamily="18" charset="0"/>
                  </a:rPr>
                  <a:t> </a:t>
                </a:r>
                <a:r>
                  <a:rPr lang="el-GR" sz="1800" b="1" dirty="0" err="1">
                    <a:solidFill>
                      <a:srgbClr val="C00000"/>
                    </a:solidFill>
                    <a:latin typeface="Times New Roman" panose="02020603050405020304" pitchFamily="18" charset="0"/>
                    <a:cs typeface="Times New Roman" panose="02020603050405020304" pitchFamily="18" charset="0"/>
                  </a:rPr>
                  <a:t>detector</a:t>
                </a:r>
                <a:r>
                  <a:rPr lang="el-GR" sz="1800" b="1" dirty="0">
                    <a:solidFill>
                      <a:srgbClr val="C00000"/>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l-GR" sz="1800"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Υλοποίηση: χρήση μιας διόδου που λειτουργεί ως ανορθωτής και ενός φίλτρου εξομάλυνσης. Στις υψηλές τιμές έχουμε 1 και στις χαμηλές 0.</a:t>
                </a:r>
              </a:p>
              <a:p>
                <a:pPr marL="285750" indent="-285750">
                  <a:buFont typeface="Arial" panose="020B0604020202020204" pitchFamily="34" charset="0"/>
                  <a:buChar char="•"/>
                </a:pPr>
                <a:endParaRPr lang="el-GR" sz="1800"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Απλότητα κατασκευής, αλλά και μειωμένη ικανότητα διαχωρισμού του σήματος από τον θόρυβο.</a:t>
                </a:r>
              </a:p>
            </p:txBody>
          </p:sp>
        </mc:Choice>
        <mc:Fallback xmlns="">
          <p:sp>
            <p:nvSpPr>
              <p:cNvPr id="6" name="TextBox 5">
                <a:extLst>
                  <a:ext uri="{FF2B5EF4-FFF2-40B4-BE49-F238E27FC236}">
                    <a16:creationId xmlns:a16="http://schemas.microsoft.com/office/drawing/2014/main" id="{CCC9A3BD-9915-1C79-C6E1-85CB84245F06}"/>
                  </a:ext>
                </a:extLst>
              </p:cNvPr>
              <p:cNvSpPr txBox="1">
                <a:spLocks noRot="1" noChangeAspect="1" noMove="1" noResize="1" noEditPoints="1" noAdjustHandles="1" noChangeArrowheads="1" noChangeShapeType="1" noTextEdit="1"/>
              </p:cNvSpPr>
              <p:nvPr/>
            </p:nvSpPr>
            <p:spPr>
              <a:xfrm>
                <a:off x="119616" y="1698700"/>
                <a:ext cx="8195041" cy="4062651"/>
              </a:xfrm>
              <a:prstGeom prst="rect">
                <a:avLst/>
              </a:prstGeom>
              <a:blipFill>
                <a:blip r:embed="rId3"/>
                <a:stretch>
                  <a:fillRect l="-818" t="-901" r="-670" b="-751"/>
                </a:stretch>
              </a:blipFill>
            </p:spPr>
            <p:txBody>
              <a:bodyPr/>
              <a:lstStyle/>
              <a:p>
                <a:r>
                  <a:rPr lang="el-GR">
                    <a:noFill/>
                  </a:rPr>
                  <a:t> </a:t>
                </a:r>
              </a:p>
            </p:txBody>
          </p:sp>
        </mc:Fallback>
      </mc:AlternateContent>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F0BB7-F203-73E7-42B7-CA3703F1D7EE}"/>
            </a:ext>
          </a:extLst>
        </p:cNvPr>
        <p:cNvGrpSpPr/>
        <p:nvPr/>
      </p:nvGrpSpPr>
      <p:grpSpPr>
        <a:xfrm>
          <a:off x="0" y="0"/>
          <a:ext cx="0" cy="0"/>
          <a:chOff x="0" y="0"/>
          <a:chExt cx="0" cy="0"/>
        </a:xfrm>
      </p:grpSpPr>
      <p:sp>
        <p:nvSpPr>
          <p:cNvPr id="6146" name="Text Box 2">
            <a:extLst>
              <a:ext uri="{FF2B5EF4-FFF2-40B4-BE49-F238E27FC236}">
                <a16:creationId xmlns:a16="http://schemas.microsoft.com/office/drawing/2014/main" id="{19B52DA5-11C6-4125-BCB9-D2255C6C2765}"/>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2	ΨΗΦΙΑΚΗ ΔΙΑΜΟΡΦΩΣΗ ΠΛΑΤΟΥΣ (ASK)</a:t>
            </a:r>
            <a:endParaRPr lang="en-GB" altLang="en-US" sz="220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6147" name="Text Box 4">
                <a:extLst>
                  <a:ext uri="{FF2B5EF4-FFF2-40B4-BE49-F238E27FC236}">
                    <a16:creationId xmlns:a16="http://schemas.microsoft.com/office/drawing/2014/main" id="{392E6791-83CC-A1E3-F1E1-3BCCCC3073FE}"/>
                  </a:ext>
                </a:extLst>
              </p:cNvPr>
              <p:cNvSpPr txBox="1">
                <a:spLocks noChangeArrowheads="1"/>
              </p:cNvSpPr>
              <p:nvPr/>
            </p:nvSpPr>
            <p:spPr bwMode="auto">
              <a:xfrm>
                <a:off x="0" y="1054100"/>
                <a:ext cx="8953500" cy="4081117"/>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Αποδιαμόρφωση </a:t>
                </a:r>
                <a:r>
                  <a:rPr lang="en-US" altLang="en-US" sz="2200" b="1" dirty="0">
                    <a:solidFill>
                      <a:srgbClr val="990000"/>
                    </a:solidFill>
                    <a:latin typeface="Times New Roman" panose="02020603050405020304" pitchFamily="18" charset="0"/>
                  </a:rPr>
                  <a:t>ASK </a:t>
                </a: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rPr>
                  <a:t>2. Σύμφωνη ανίχνευση</a:t>
                </a:r>
                <a:r>
                  <a:rPr lang="en-US" altLang="en-US" sz="2200" b="1" dirty="0">
                    <a:solidFill>
                      <a:srgbClr val="990000"/>
                    </a:solidFill>
                    <a:latin typeface="Times New Roman" panose="02020603050405020304" pitchFamily="18" charset="0"/>
                  </a:rPr>
                  <a:t> </a:t>
                </a:r>
                <a:endParaRPr lang="el-GR" altLang="en-US" sz="22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C00000"/>
                    </a:solidFill>
                    <a:latin typeface="Times New Roman" panose="02020603050405020304" pitchFamily="18" charset="0"/>
                    <a:cs typeface="Times New Roman" panose="02020603050405020304" pitchFamily="18" charset="0"/>
                  </a:rPr>
                  <a:t>Ένας σύμφωνος ανιχνευτής (</a:t>
                </a:r>
                <a:r>
                  <a:rPr lang="el-GR" sz="1800" b="1" dirty="0" err="1">
                    <a:solidFill>
                      <a:srgbClr val="C00000"/>
                    </a:solidFill>
                    <a:latin typeface="Times New Roman" panose="02020603050405020304" pitchFamily="18" charset="0"/>
                    <a:cs typeface="Times New Roman" panose="02020603050405020304" pitchFamily="18" charset="0"/>
                  </a:rPr>
                  <a:t>coherent</a:t>
                </a:r>
                <a:r>
                  <a:rPr lang="el-GR" sz="1800" b="1" dirty="0">
                    <a:solidFill>
                      <a:srgbClr val="C00000"/>
                    </a:solidFill>
                    <a:latin typeface="Times New Roman" panose="02020603050405020304" pitchFamily="18" charset="0"/>
                    <a:cs typeface="Times New Roman" panose="02020603050405020304" pitchFamily="18" charset="0"/>
                  </a:rPr>
                  <a:t> </a:t>
                </a:r>
                <a:r>
                  <a:rPr lang="el-GR" sz="1800" b="1" dirty="0" err="1">
                    <a:solidFill>
                      <a:srgbClr val="C00000"/>
                    </a:solidFill>
                    <a:latin typeface="Times New Roman" panose="02020603050405020304" pitchFamily="18" charset="0"/>
                    <a:cs typeface="Times New Roman" panose="02020603050405020304" pitchFamily="18" charset="0"/>
                  </a:rPr>
                  <a:t>detector</a:t>
                </a:r>
                <a:r>
                  <a:rPr lang="el-GR" sz="1800" b="1" dirty="0">
                    <a:solidFill>
                      <a:srgbClr val="C00000"/>
                    </a:solidFill>
                    <a:latin typeface="Times New Roman" panose="02020603050405020304" pitchFamily="18" charset="0"/>
                    <a:cs typeface="Times New Roman" panose="02020603050405020304" pitchFamily="18" charset="0"/>
                  </a:rPr>
                  <a:t>) αναμιγνύει το εισερχόμενο στο δέκτη διαμορφωμένο σήμα δεδομένων με  ένα φέρον αναφοράς, το οποίο δημιουργεί τοπικά επιλέγοντας τη συνιστώσα διαφοράς από την έξοδο του </a:t>
                </a:r>
                <a:r>
                  <a:rPr lang="el-GR" sz="1800" b="1" dirty="0" err="1">
                    <a:solidFill>
                      <a:srgbClr val="C00000"/>
                    </a:solidFill>
                    <a:latin typeface="Times New Roman" panose="02020603050405020304" pitchFamily="18" charset="0"/>
                    <a:cs typeface="Times New Roman" panose="02020603050405020304" pitchFamily="18" charset="0"/>
                  </a:rPr>
                  <a:t>μίκτη</a:t>
                </a:r>
                <a:r>
                  <a:rPr lang="el-GR" sz="1800" b="1" dirty="0">
                    <a:solidFill>
                      <a:srgbClr val="C00000"/>
                    </a:solidFill>
                    <a:latin typeface="Times New Roman" panose="02020603050405020304" pitchFamily="18" charset="0"/>
                    <a:cs typeface="Times New Roman" panose="02020603050405020304" pitchFamily="18" charset="0"/>
                  </a:rPr>
                  <a:t>.</a:t>
                </a:r>
                <a:endParaRPr lang="en-US" sz="1800"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l-GR" altLang="en-US" sz="1800" b="1" dirty="0">
                    <a:solidFill>
                      <a:srgbClr val="C00000"/>
                    </a:solidFill>
                    <a:latin typeface="Times New Roman" panose="02020603050405020304" pitchFamily="18" charset="0"/>
                    <a:cs typeface="Times New Roman" panose="02020603050405020304" pitchFamily="18" charset="0"/>
                  </a:rPr>
                  <a:t>Εάν ο τοπικός φορέας είναι σύμφωνος σε φάση (</a:t>
                </a:r>
                <a14:m>
                  <m:oMath xmlns:m="http://schemas.openxmlformats.org/officeDocument/2006/math">
                    <m:r>
                      <a:rPr lang="el-GR" altLang="en-US" sz="1800" b="1" i="1" dirty="0" smtClean="0">
                        <a:solidFill>
                          <a:srgbClr val="C00000"/>
                        </a:solidFill>
                        <a:latin typeface="Cambria Math" panose="02040503050406030204" pitchFamily="18" charset="0"/>
                        <a:cs typeface="Times New Roman" panose="02020603050405020304" pitchFamily="18" charset="0"/>
                      </a:rPr>
                      <m:t>𝜃</m:t>
                    </m:r>
                    <m:r>
                      <a:rPr lang="el-GR" altLang="en-US" sz="1800" b="1" i="1" dirty="0" smtClean="0">
                        <a:solidFill>
                          <a:srgbClr val="C00000"/>
                        </a:solidFill>
                        <a:latin typeface="Cambria Math" panose="02040503050406030204" pitchFamily="18" charset="0"/>
                        <a:cs typeface="Times New Roman" panose="02020603050405020304" pitchFamily="18" charset="0"/>
                      </a:rPr>
                      <m:t> = </m:t>
                    </m:r>
                    <m:sSup>
                      <m:sSupPr>
                        <m:ctrlPr>
                          <a:rPr lang="en-US" altLang="en-US" sz="1800" b="1" i="1" dirty="0" smtClean="0">
                            <a:solidFill>
                              <a:srgbClr val="C00000"/>
                            </a:solidFill>
                            <a:latin typeface="Cambria Math" panose="02040503050406030204" pitchFamily="18" charset="0"/>
                            <a:cs typeface="Times New Roman" panose="02020603050405020304" pitchFamily="18" charset="0"/>
                          </a:rPr>
                        </m:ctrlPr>
                      </m:sSupPr>
                      <m:e>
                        <m:r>
                          <a:rPr lang="el-GR" altLang="en-US" sz="1800" b="1" i="1" dirty="0" smtClean="0">
                            <a:solidFill>
                              <a:srgbClr val="C00000"/>
                            </a:solidFill>
                            <a:latin typeface="Cambria Math" panose="02040503050406030204" pitchFamily="18" charset="0"/>
                            <a:cs typeface="Times New Roman" panose="02020603050405020304" pitchFamily="18" charset="0"/>
                          </a:rPr>
                          <m:t>𝟎</m:t>
                        </m:r>
                      </m:e>
                      <m:sup>
                        <m:r>
                          <a:rPr lang="el-GR" altLang="en-US" sz="1800" b="1" i="1" dirty="0" smtClean="0">
                            <a:solidFill>
                              <a:srgbClr val="C00000"/>
                            </a:solidFill>
                            <a:latin typeface="Cambria Math" panose="02040503050406030204" pitchFamily="18" charset="0"/>
                            <a:cs typeface="Times New Roman" panose="02020603050405020304" pitchFamily="18" charset="0"/>
                          </a:rPr>
                          <m:t>𝜊</m:t>
                        </m:r>
                      </m:sup>
                    </m:sSup>
                  </m:oMath>
                </a14:m>
                <a:r>
                  <a:rPr lang="el-GR" altLang="en-US" sz="1800" b="1" dirty="0">
                    <a:solidFill>
                      <a:srgbClr val="C00000"/>
                    </a:solidFill>
                    <a:latin typeface="Times New Roman" panose="02020603050405020304" pitchFamily="18" charset="0"/>
                    <a:cs typeface="Times New Roman" panose="02020603050405020304" pitchFamily="18" charset="0"/>
                  </a:rPr>
                  <a:t>)</a:t>
                </a:r>
                <a:r>
                  <a:rPr lang="en-US" altLang="en-US" sz="1800" b="1" dirty="0">
                    <a:solidFill>
                      <a:srgbClr val="C00000"/>
                    </a:solidFill>
                    <a:latin typeface="Times New Roman" panose="02020603050405020304" pitchFamily="18" charset="0"/>
                    <a:cs typeface="Times New Roman" panose="02020603050405020304" pitchFamily="18" charset="0"/>
                  </a:rPr>
                  <a:t> </a:t>
                </a:r>
                <a:r>
                  <a:rPr lang="el-GR" altLang="en-US" sz="1800" b="1" dirty="0">
                    <a:solidFill>
                      <a:srgbClr val="C00000"/>
                    </a:solidFill>
                    <a:latin typeface="Times New Roman" panose="02020603050405020304" pitchFamily="18" charset="0"/>
                    <a:cs typeface="Times New Roman" panose="02020603050405020304" pitchFamily="18" charset="0"/>
                  </a:rPr>
                  <a:t>με το εισερχόμενο σήμα, τότε η έξοδος είναι ανάλογη του εισερχόμενου σήματος και έχουμε τέλεια ανίχνευση. </a:t>
                </a:r>
                <a:endParaRPr lang="en-US" altLang="en-US" sz="1800"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800"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l-GR" altLang="en-US" sz="1800" b="1" dirty="0">
                    <a:solidFill>
                      <a:srgbClr val="C00000"/>
                    </a:solidFill>
                    <a:latin typeface="Times New Roman" panose="02020603050405020304" pitchFamily="18" charset="0"/>
                    <a:cs typeface="Times New Roman" panose="02020603050405020304" pitchFamily="18" charset="0"/>
                  </a:rPr>
                  <a:t>Για το «κλείδωμα» ως προς τη φάση (</a:t>
                </a:r>
                <a14:m>
                  <m:oMath xmlns:m="http://schemas.openxmlformats.org/officeDocument/2006/math">
                    <m:r>
                      <a:rPr lang="el-GR" altLang="en-US" sz="1800" b="1" i="1" dirty="0" smtClean="0">
                        <a:solidFill>
                          <a:srgbClr val="C00000"/>
                        </a:solidFill>
                        <a:latin typeface="Cambria Math" panose="02040503050406030204" pitchFamily="18" charset="0"/>
                        <a:cs typeface="Times New Roman" panose="02020603050405020304" pitchFamily="18" charset="0"/>
                      </a:rPr>
                      <m:t>𝜃</m:t>
                    </m:r>
                    <m:r>
                      <a:rPr lang="el-GR" altLang="en-US" sz="1800" b="1" i="1" dirty="0" smtClean="0">
                        <a:solidFill>
                          <a:srgbClr val="C00000"/>
                        </a:solidFill>
                        <a:latin typeface="Cambria Math" panose="02040503050406030204" pitchFamily="18" charset="0"/>
                        <a:cs typeface="Times New Roman" panose="02020603050405020304" pitchFamily="18" charset="0"/>
                      </a:rPr>
                      <m:t> = </m:t>
                    </m:r>
                    <m:sSup>
                      <m:sSupPr>
                        <m:ctrlPr>
                          <a:rPr lang="en-US" altLang="en-US" sz="1800" b="1" i="1" dirty="0" smtClean="0">
                            <a:solidFill>
                              <a:srgbClr val="C00000"/>
                            </a:solidFill>
                            <a:latin typeface="Cambria Math" panose="02040503050406030204" pitchFamily="18" charset="0"/>
                            <a:cs typeface="Times New Roman" panose="02020603050405020304" pitchFamily="18" charset="0"/>
                          </a:rPr>
                        </m:ctrlPr>
                      </m:sSupPr>
                      <m:e>
                        <m:r>
                          <a:rPr lang="el-GR" altLang="en-US" sz="1800" b="1" i="1" dirty="0" smtClean="0">
                            <a:solidFill>
                              <a:srgbClr val="C00000"/>
                            </a:solidFill>
                            <a:latin typeface="Cambria Math" panose="02040503050406030204" pitchFamily="18" charset="0"/>
                            <a:cs typeface="Times New Roman" panose="02020603050405020304" pitchFamily="18" charset="0"/>
                          </a:rPr>
                          <m:t>𝟎</m:t>
                        </m:r>
                      </m:e>
                      <m:sup>
                        <m:r>
                          <a:rPr lang="el-GR" altLang="en-US" sz="1800" b="1" i="1" dirty="0" smtClean="0">
                            <a:solidFill>
                              <a:srgbClr val="C00000"/>
                            </a:solidFill>
                            <a:latin typeface="Cambria Math" panose="02040503050406030204" pitchFamily="18" charset="0"/>
                            <a:cs typeface="Times New Roman" panose="02020603050405020304" pitchFamily="18" charset="0"/>
                          </a:rPr>
                          <m:t>𝜊</m:t>
                        </m:r>
                      </m:sup>
                    </m:sSup>
                  </m:oMath>
                </a14:m>
                <a:r>
                  <a:rPr lang="el-GR" altLang="en-US" sz="1800" b="1" dirty="0">
                    <a:solidFill>
                      <a:srgbClr val="C00000"/>
                    </a:solidFill>
                    <a:latin typeface="Times New Roman" panose="02020603050405020304" pitchFamily="18" charset="0"/>
                    <a:cs typeface="Times New Roman" panose="02020603050405020304" pitchFamily="18" charset="0"/>
                  </a:rPr>
                  <a:t>) του τοπικού ταλαντωτή στο δέκτη με αυτόν του πομπού χρησιμοποιείται η τεχνική βρόχου κλειδωμένης φάσης ( </a:t>
                </a:r>
                <a:r>
                  <a:rPr lang="el-GR" altLang="en-US" sz="1800" b="1" dirty="0" err="1">
                    <a:solidFill>
                      <a:srgbClr val="C00000"/>
                    </a:solidFill>
                    <a:latin typeface="Times New Roman" panose="02020603050405020304" pitchFamily="18" charset="0"/>
                    <a:cs typeface="Times New Roman" panose="02020603050405020304" pitchFamily="18" charset="0"/>
                  </a:rPr>
                  <a:t>phase-locked</a:t>
                </a:r>
                <a:r>
                  <a:rPr lang="el-GR" altLang="en-US" sz="1800" b="1" dirty="0">
                    <a:solidFill>
                      <a:srgbClr val="C00000"/>
                    </a:solidFill>
                    <a:latin typeface="Times New Roman" panose="02020603050405020304" pitchFamily="18" charset="0"/>
                    <a:cs typeface="Times New Roman" panose="02020603050405020304" pitchFamily="18" charset="0"/>
                  </a:rPr>
                  <a:t> </a:t>
                </a:r>
                <a:r>
                  <a:rPr lang="el-GR" altLang="en-US" sz="1800" b="1" dirty="0" err="1">
                    <a:solidFill>
                      <a:srgbClr val="C00000"/>
                    </a:solidFill>
                    <a:latin typeface="Times New Roman" panose="02020603050405020304" pitchFamily="18" charset="0"/>
                    <a:cs typeface="Times New Roman" panose="02020603050405020304" pitchFamily="18" charset="0"/>
                  </a:rPr>
                  <a:t>loop</a:t>
                </a:r>
                <a:r>
                  <a:rPr lang="el-GR" altLang="en-US" sz="1800" b="1" dirty="0">
                    <a:solidFill>
                      <a:srgbClr val="C00000"/>
                    </a:solidFill>
                    <a:latin typeface="Times New Roman" panose="02020603050405020304" pitchFamily="18" charset="0"/>
                    <a:cs typeface="Times New Roman" panose="02020603050405020304" pitchFamily="18" charset="0"/>
                  </a:rPr>
                  <a:t> – PLL).</a:t>
                </a:r>
              </a:p>
              <a:p>
                <a:pPr algn="just">
                  <a:lnSpc>
                    <a:spcPct val="90000"/>
                  </a:lnSpc>
                </a:pPr>
                <a:endParaRPr lang="el-GR" altLang="en-US" sz="2200" b="1" dirty="0">
                  <a:solidFill>
                    <a:srgbClr val="990000"/>
                  </a:solidFill>
                  <a:latin typeface="Times New Roman" panose="02020603050405020304" pitchFamily="18" charset="0"/>
                </a:endParaRPr>
              </a:p>
            </p:txBody>
          </p:sp>
        </mc:Choice>
        <mc:Fallback xmlns="">
          <p:sp>
            <p:nvSpPr>
              <p:cNvPr id="6147" name="Text Box 4">
                <a:extLst>
                  <a:ext uri="{FF2B5EF4-FFF2-40B4-BE49-F238E27FC236}">
                    <a16:creationId xmlns:a16="http://schemas.microsoft.com/office/drawing/2014/main" id="{392E6791-83CC-A1E3-F1E1-3BCCCC3073FE}"/>
                  </a:ext>
                </a:extLst>
              </p:cNvPr>
              <p:cNvSpPr txBox="1">
                <a:spLocks noRot="1" noChangeAspect="1" noMove="1" noResize="1" noEditPoints="1" noAdjustHandles="1" noChangeArrowheads="1" noChangeShapeType="1" noTextEdit="1"/>
              </p:cNvSpPr>
              <p:nvPr/>
            </p:nvSpPr>
            <p:spPr bwMode="auto">
              <a:xfrm>
                <a:off x="0" y="1054100"/>
                <a:ext cx="8953500" cy="4081117"/>
              </a:xfrm>
              <a:prstGeom prst="rect">
                <a:avLst/>
              </a:prstGeom>
              <a:blipFill>
                <a:blip r:embed="rId2"/>
                <a:stretch>
                  <a:fillRect l="-885" t="-1794" r="-74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grpSp>
        <p:nvGrpSpPr>
          <p:cNvPr id="2" name="Ομάδα 1">
            <a:extLst>
              <a:ext uri="{FF2B5EF4-FFF2-40B4-BE49-F238E27FC236}">
                <a16:creationId xmlns:a16="http://schemas.microsoft.com/office/drawing/2014/main" id="{0B8F7184-753E-BB10-4705-B0B7BB604EF4}"/>
              </a:ext>
            </a:extLst>
          </p:cNvPr>
          <p:cNvGrpSpPr/>
          <p:nvPr/>
        </p:nvGrpSpPr>
        <p:grpSpPr>
          <a:xfrm>
            <a:off x="2913063" y="4765195"/>
            <a:ext cx="6040437" cy="1808643"/>
            <a:chOff x="2753574" y="3840163"/>
            <a:chExt cx="6040437" cy="1808643"/>
          </a:xfrm>
        </p:grpSpPr>
        <p:pic>
          <p:nvPicPr>
            <p:cNvPr id="6149" name="Picture 8" descr="COHDECT">
              <a:extLst>
                <a:ext uri="{FF2B5EF4-FFF2-40B4-BE49-F238E27FC236}">
                  <a16:creationId xmlns:a16="http://schemas.microsoft.com/office/drawing/2014/main" id="{0DA45ED2-43D6-2EEE-E51A-00D2EEA52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9188" y="3840163"/>
              <a:ext cx="238125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Object 2">
                  <a:extLst>
                    <a:ext uri="{FF2B5EF4-FFF2-40B4-BE49-F238E27FC236}">
                      <a16:creationId xmlns:a16="http://schemas.microsoft.com/office/drawing/2014/main" id="{21B93F41-91B6-6521-CBEC-1491DA2A3AFE}"/>
                    </a:ext>
                  </a:extLst>
                </p:cNvPr>
                <p:cNvSpPr txBox="1"/>
                <p:nvPr/>
              </p:nvSpPr>
              <p:spPr bwMode="auto">
                <a:xfrm>
                  <a:off x="2928550" y="4736864"/>
                  <a:ext cx="1461276" cy="2286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m:rPr>
                            <m:nor/>
                          </m:rPr>
                          <a:rPr lang="el-GR" i="0">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cos</m:t>
                        </m:r>
                        <m:d>
                          <m:dPr>
                            <m:ctrlPr>
                              <a:rPr lang="el-GR" i="1">
                                <a:solidFill>
                                  <a:srgbClr val="000000"/>
                                </a:solidFill>
                                <a:latin typeface="Cambria Math" panose="02040503050406030204" pitchFamily="18" charset="0"/>
                              </a:rPr>
                            </m:ctrlPr>
                          </m:dPr>
                          <m:e>
                            <m:sSub>
                              <m:sSubPr>
                                <m:ctrlPr>
                                  <a:rPr lang="el-GR"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m:t>
                                </m:r>
                                <m:r>
                                  <a:rPr lang="el-GR" i="1">
                                    <a:solidFill>
                                      <a:srgbClr val="000000"/>
                                    </a:solidFill>
                                    <a:latin typeface="Cambria Math" panose="02040503050406030204" pitchFamily="18" charset="0"/>
                                  </a:rPr>
                                  <m:t>𝜔</m:t>
                                </m:r>
                              </m:e>
                              <m:sub>
                                <m:r>
                                  <m:rPr>
                                    <m:sty m:val="p"/>
                                  </m:rPr>
                                  <a:rPr lang="el-GR" i="0">
                                    <a:solidFill>
                                      <a:srgbClr val="000000"/>
                                    </a:solidFill>
                                    <a:latin typeface="Cambria Math" panose="02040503050406030204" pitchFamily="18" charset="0"/>
                                  </a:rPr>
                                  <m:t>c</m:t>
                                </m:r>
                              </m:sub>
                            </m:sSub>
                            <m:r>
                              <m:rPr>
                                <m:sty m:val="p"/>
                              </m:rPr>
                              <a:rPr lang="el-GR" i="0">
                                <a:solidFill>
                                  <a:srgbClr val="000000"/>
                                </a:solidFill>
                                <a:latin typeface="Cambria Math" panose="02040503050406030204" pitchFamily="18" charset="0"/>
                              </a:rPr>
                              <m:t>t</m:t>
                            </m:r>
                          </m:e>
                        </m:d>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𝜃</m:t>
                        </m:r>
                        <m:r>
                          <a:rPr lang="en-US" b="0" i="1" smtClean="0">
                            <a:solidFill>
                              <a:srgbClr val="000000"/>
                            </a:solidFill>
                            <a:latin typeface="Cambria Math" panose="02040503050406030204" pitchFamily="18" charset="0"/>
                          </a:rPr>
                          <m:t>)</m:t>
                        </m:r>
                      </m:oMath>
                    </m:oMathPara>
                  </a14:m>
                  <a:endParaRPr lang="el-GR" dirty="0"/>
                </a:p>
              </p:txBody>
            </p:sp>
          </mc:Choice>
          <mc:Fallback xmlns="">
            <p:sp>
              <p:nvSpPr>
                <p:cNvPr id="3" name="Object 2">
                  <a:extLst>
                    <a:ext uri="{FF2B5EF4-FFF2-40B4-BE49-F238E27FC236}">
                      <a16:creationId xmlns:a16="http://schemas.microsoft.com/office/drawing/2014/main" id="{21B93F41-91B6-6521-CBEC-1491DA2A3AFE}"/>
                    </a:ext>
                  </a:extLst>
                </p:cNvPr>
                <p:cNvSpPr txBox="1">
                  <a:spLocks noRot="1" noChangeAspect="1" noMove="1" noResize="1" noEditPoints="1" noAdjustHandles="1" noChangeArrowheads="1" noChangeShapeType="1" noTextEdit="1"/>
                </p:cNvSpPr>
                <p:nvPr/>
              </p:nvSpPr>
              <p:spPr bwMode="auto">
                <a:xfrm>
                  <a:off x="2928550" y="4736864"/>
                  <a:ext cx="1461276" cy="228600"/>
                </a:xfrm>
                <a:prstGeom prst="rect">
                  <a:avLst/>
                </a:prstGeom>
                <a:blipFill>
                  <a:blip r:embed="rId4"/>
                  <a:stretch>
                    <a:fillRect b="-54054"/>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B269C2B1-9D4F-A5EB-E1DB-7CE418931BF3}"/>
                    </a:ext>
                  </a:extLst>
                </p:cNvPr>
                <p:cNvSpPr txBox="1"/>
                <p:nvPr/>
              </p:nvSpPr>
              <p:spPr bwMode="auto">
                <a:xfrm>
                  <a:off x="2753574" y="4002568"/>
                  <a:ext cx="1019175" cy="2286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m:rPr>
                            <m:sty m:val="p"/>
                          </m:rPr>
                          <a:rPr lang="el-GR" i="0">
                            <a:solidFill>
                              <a:srgbClr val="000000"/>
                            </a:solidFill>
                            <a:latin typeface="Cambria Math" panose="02040503050406030204" pitchFamily="18" charset="0"/>
                          </a:rPr>
                          <m:t>a</m:t>
                        </m:r>
                        <m:r>
                          <a:rPr lang="el-GR" i="1">
                            <a:solidFill>
                              <a:srgbClr val="000000"/>
                            </a:solidFill>
                            <a:latin typeface="Cambria Math" panose="02040503050406030204" pitchFamily="18" charset="0"/>
                          </a:rPr>
                          <m:t>(</m:t>
                        </m:r>
                        <m:r>
                          <m:rPr>
                            <m:sty m:val="p"/>
                          </m:rPr>
                          <a:rPr lang="el-GR" i="0">
                            <a:solidFill>
                              <a:srgbClr val="000000"/>
                            </a:solidFill>
                            <a:latin typeface="Cambria Math" panose="02040503050406030204" pitchFamily="18" charset="0"/>
                          </a:rPr>
                          <m:t>t</m:t>
                        </m:r>
                        <m:r>
                          <a:rPr lang="el-GR" i="1">
                            <a:solidFill>
                              <a:srgbClr val="000000"/>
                            </a:solidFill>
                            <a:latin typeface="Cambria Math" panose="02040503050406030204" pitchFamily="18" charset="0"/>
                          </a:rPr>
                          <m:t>)</m:t>
                        </m:r>
                        <m:r>
                          <m:rPr>
                            <m:nor/>
                          </m:rPr>
                          <a:rPr lang="el-GR" i="0">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cos</m:t>
                        </m:r>
                        <m:d>
                          <m:dPr>
                            <m:ctrlPr>
                              <a:rPr lang="el-GR" i="1">
                                <a:solidFill>
                                  <a:srgbClr val="000000"/>
                                </a:solidFill>
                                <a:latin typeface="Cambria Math" panose="02040503050406030204" pitchFamily="18" charset="0"/>
                              </a:rPr>
                            </m:ctrlPr>
                          </m:dPr>
                          <m:e>
                            <m:sSub>
                              <m:sSubPr>
                                <m:ctrlPr>
                                  <a:rPr lang="el-GR" i="1">
                                    <a:solidFill>
                                      <a:srgbClr val="000000"/>
                                    </a:solidFill>
                                    <a:latin typeface="Cambria Math" panose="02040503050406030204" pitchFamily="18" charset="0"/>
                                  </a:rPr>
                                </m:ctrlPr>
                              </m:sSubPr>
                              <m:e>
                                <m:r>
                                  <a:rPr lang="el-GR" i="1">
                                    <a:solidFill>
                                      <a:srgbClr val="000000"/>
                                    </a:solidFill>
                                    <a:latin typeface="Cambria Math" panose="02040503050406030204" pitchFamily="18" charset="0"/>
                                  </a:rPr>
                                  <m:t>𝜔</m:t>
                                </m:r>
                              </m:e>
                              <m:sub>
                                <m:r>
                                  <m:rPr>
                                    <m:sty m:val="p"/>
                                  </m:rPr>
                                  <a:rPr lang="el-GR" i="0">
                                    <a:solidFill>
                                      <a:srgbClr val="000000"/>
                                    </a:solidFill>
                                    <a:latin typeface="Cambria Math" panose="02040503050406030204" pitchFamily="18" charset="0"/>
                                  </a:rPr>
                                  <m:t>c</m:t>
                                </m:r>
                              </m:sub>
                            </m:sSub>
                            <m:r>
                              <m:rPr>
                                <m:sty m:val="p"/>
                              </m:rPr>
                              <a:rPr lang="el-GR" i="0">
                                <a:solidFill>
                                  <a:srgbClr val="000000"/>
                                </a:solidFill>
                                <a:latin typeface="Cambria Math" panose="02040503050406030204" pitchFamily="18" charset="0"/>
                              </a:rPr>
                              <m:t>t</m:t>
                            </m:r>
                          </m:e>
                        </m:d>
                      </m:oMath>
                    </m:oMathPara>
                  </a14:m>
                  <a:endParaRPr lang="el-GR" dirty="0"/>
                </a:p>
              </p:txBody>
            </p:sp>
          </mc:Choice>
          <mc:Fallback xmlns="">
            <p:sp>
              <p:nvSpPr>
                <p:cNvPr id="5" name="Object 4">
                  <a:extLst>
                    <a:ext uri="{FF2B5EF4-FFF2-40B4-BE49-F238E27FC236}">
                      <a16:creationId xmlns:a16="http://schemas.microsoft.com/office/drawing/2014/main" id="{B269C2B1-9D4F-A5EB-E1DB-7CE418931BF3}"/>
                    </a:ext>
                  </a:extLst>
                </p:cNvPr>
                <p:cNvSpPr txBox="1">
                  <a:spLocks noRot="1" noChangeAspect="1" noMove="1" noResize="1" noEditPoints="1" noAdjustHandles="1" noChangeArrowheads="1" noChangeShapeType="1" noTextEdit="1"/>
                </p:cNvSpPr>
                <p:nvPr/>
              </p:nvSpPr>
              <p:spPr bwMode="auto">
                <a:xfrm>
                  <a:off x="2753574" y="4002568"/>
                  <a:ext cx="1019175" cy="228600"/>
                </a:xfrm>
                <a:prstGeom prst="rect">
                  <a:avLst/>
                </a:prstGeom>
                <a:blipFill>
                  <a:blip r:embed="rId5"/>
                  <a:stretch>
                    <a:fillRect r="-4192" b="-44737"/>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F9BFA5DD-64C9-CE45-F9E3-A31D55174AB6}"/>
                    </a:ext>
                  </a:extLst>
                </p:cNvPr>
                <p:cNvSpPr txBox="1"/>
                <p:nvPr/>
              </p:nvSpPr>
              <p:spPr bwMode="auto">
                <a:xfrm>
                  <a:off x="3376191" y="5258281"/>
                  <a:ext cx="5417820" cy="39052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m:rPr>
                            <m:sty m:val="p"/>
                          </m:rPr>
                          <a:rPr lang="el-GR" i="0">
                            <a:solidFill>
                              <a:srgbClr val="000000"/>
                            </a:solidFill>
                            <a:latin typeface="Cambria Math" panose="02040503050406030204" pitchFamily="18" charset="0"/>
                          </a:rPr>
                          <m:t>a</m:t>
                        </m:r>
                        <m:r>
                          <a:rPr lang="el-GR" i="1">
                            <a:solidFill>
                              <a:srgbClr val="000000"/>
                            </a:solidFill>
                            <a:latin typeface="Cambria Math" panose="02040503050406030204" pitchFamily="18" charset="0"/>
                          </a:rPr>
                          <m:t>(</m:t>
                        </m:r>
                        <m:r>
                          <m:rPr>
                            <m:sty m:val="p"/>
                          </m:rPr>
                          <a:rPr lang="el-GR" i="0">
                            <a:solidFill>
                              <a:srgbClr val="000000"/>
                            </a:solidFill>
                            <a:latin typeface="Cambria Math" panose="02040503050406030204" pitchFamily="18" charset="0"/>
                          </a:rPr>
                          <m:t>t</m:t>
                        </m:r>
                        <m:r>
                          <a:rPr lang="el-GR" i="1">
                            <a:solidFill>
                              <a:srgbClr val="000000"/>
                            </a:solidFill>
                            <a:latin typeface="Cambria Math" panose="02040503050406030204" pitchFamily="18" charset="0"/>
                          </a:rPr>
                          <m:t>)</m:t>
                        </m:r>
                        <m:r>
                          <m:rPr>
                            <m:nor/>
                          </m:rPr>
                          <a:rPr lang="el-GR" i="0">
                            <a:solidFill>
                              <a:srgbClr val="000000"/>
                            </a:solidFill>
                            <a:latin typeface="Cambria Math" panose="02040503050406030204" pitchFamily="18" charset="0"/>
                          </a:rPr>
                          <m:t>cos</m:t>
                        </m:r>
                        <m:d>
                          <m:dPr>
                            <m:ctrlPr>
                              <a:rPr lang="el-GR" i="1">
                                <a:solidFill>
                                  <a:srgbClr val="000000"/>
                                </a:solidFill>
                                <a:latin typeface="Cambria Math" panose="02040503050406030204" pitchFamily="18" charset="0"/>
                              </a:rPr>
                            </m:ctrlPr>
                          </m:dPr>
                          <m:e>
                            <m:sSub>
                              <m:sSubPr>
                                <m:ctrlPr>
                                  <a:rPr lang="el-GR" i="1">
                                    <a:solidFill>
                                      <a:srgbClr val="000000"/>
                                    </a:solidFill>
                                    <a:latin typeface="Cambria Math" panose="02040503050406030204" pitchFamily="18" charset="0"/>
                                  </a:rPr>
                                </m:ctrlPr>
                              </m:sSubPr>
                              <m:e>
                                <m:r>
                                  <a:rPr lang="el-GR" i="1">
                                    <a:solidFill>
                                      <a:srgbClr val="000000"/>
                                    </a:solidFill>
                                    <a:latin typeface="Cambria Math" panose="02040503050406030204" pitchFamily="18" charset="0"/>
                                  </a:rPr>
                                  <m:t>𝜔</m:t>
                                </m:r>
                              </m:e>
                              <m:sub>
                                <m:r>
                                  <m:rPr>
                                    <m:sty m:val="p"/>
                                  </m:rPr>
                                  <a:rPr lang="el-GR" i="0">
                                    <a:solidFill>
                                      <a:srgbClr val="000000"/>
                                    </a:solidFill>
                                    <a:latin typeface="Cambria Math" panose="02040503050406030204" pitchFamily="18" charset="0"/>
                                  </a:rPr>
                                  <m:t>c</m:t>
                                </m:r>
                              </m:sub>
                            </m:sSub>
                            <m:r>
                              <m:rPr>
                                <m:sty m:val="p"/>
                              </m:rPr>
                              <a:rPr lang="el-GR" i="0">
                                <a:solidFill>
                                  <a:srgbClr val="000000"/>
                                </a:solidFill>
                                <a:latin typeface="Cambria Math" panose="02040503050406030204" pitchFamily="18" charset="0"/>
                              </a:rPr>
                              <m:t>t</m:t>
                            </m:r>
                          </m:e>
                        </m:d>
                        <m:r>
                          <m:rPr>
                            <m:nor/>
                          </m:rPr>
                          <a:rPr lang="el-GR" i="0">
                            <a:solidFill>
                              <a:srgbClr val="000000"/>
                            </a:solidFill>
                            <a:latin typeface="Cambria Math" panose="02040503050406030204" pitchFamily="18" charset="0"/>
                          </a:rPr>
                          <m:t> </m:t>
                        </m:r>
                        <m:r>
                          <m:rPr>
                            <m:nor/>
                          </m:rPr>
                          <a:rPr lang="el-GR" i="0">
                            <a:solidFill>
                              <a:srgbClr val="000000"/>
                            </a:solidFill>
                            <a:latin typeface="Cambria Math" panose="02040503050406030204" pitchFamily="18" charset="0"/>
                          </a:rPr>
                          <m:t>cos</m:t>
                        </m:r>
                        <m:d>
                          <m:dPr>
                            <m:ctrlPr>
                              <a:rPr lang="el-GR" i="1">
                                <a:solidFill>
                                  <a:srgbClr val="000000"/>
                                </a:solidFill>
                                <a:latin typeface="Cambria Math" panose="02040503050406030204" pitchFamily="18" charset="0"/>
                              </a:rPr>
                            </m:ctrlPr>
                          </m:dPr>
                          <m:e>
                            <m:sSub>
                              <m:sSubPr>
                                <m:ctrlPr>
                                  <a:rPr lang="el-GR" i="1">
                                    <a:solidFill>
                                      <a:srgbClr val="000000"/>
                                    </a:solidFill>
                                    <a:latin typeface="Cambria Math" panose="02040503050406030204" pitchFamily="18" charset="0"/>
                                  </a:rPr>
                                </m:ctrlPr>
                              </m:sSubPr>
                              <m:e>
                                <m:r>
                                  <a:rPr lang="el-GR" i="1">
                                    <a:solidFill>
                                      <a:srgbClr val="000000"/>
                                    </a:solidFill>
                                    <a:latin typeface="Cambria Math" panose="02040503050406030204" pitchFamily="18" charset="0"/>
                                  </a:rPr>
                                  <m:t>𝜔</m:t>
                                </m:r>
                              </m:e>
                              <m:sub>
                                <m:r>
                                  <m:rPr>
                                    <m:sty m:val="p"/>
                                  </m:rPr>
                                  <a:rPr lang="el-GR" i="0">
                                    <a:solidFill>
                                      <a:srgbClr val="000000"/>
                                    </a:solidFill>
                                    <a:latin typeface="Cambria Math" panose="02040503050406030204" pitchFamily="18" charset="0"/>
                                  </a:rPr>
                                  <m:t>c</m:t>
                                </m:r>
                              </m:sub>
                            </m:sSub>
                            <m:r>
                              <m:rPr>
                                <m:sty m:val="p"/>
                              </m:rPr>
                              <a:rPr lang="el-GR" i="0">
                                <a:solidFill>
                                  <a:srgbClr val="000000"/>
                                </a:solidFill>
                                <a:latin typeface="Cambria Math" panose="02040503050406030204" pitchFamily="18" charset="0"/>
                              </a:rPr>
                              <m:t>t</m:t>
                            </m:r>
                            <m:r>
                              <a:rPr lang="el-GR" i="1">
                                <a:solidFill>
                                  <a:srgbClr val="000000"/>
                                </a:solidFill>
                                <a:latin typeface="Cambria Math" panose="02040503050406030204" pitchFamily="18" charset="0"/>
                              </a:rPr>
                              <m:t>+</m:t>
                            </m:r>
                            <m:r>
                              <a:rPr lang="el-GR" i="1">
                                <a:solidFill>
                                  <a:srgbClr val="000000"/>
                                </a:solidFill>
                                <a:latin typeface="Cambria Math" panose="02040503050406030204" pitchFamily="18" charset="0"/>
                              </a:rPr>
                              <m:t>𝜃</m:t>
                            </m:r>
                          </m:e>
                        </m:d>
                        <m:r>
                          <a:rPr lang="el-GR" i="1">
                            <a:solidFill>
                              <a:srgbClr val="000000"/>
                            </a:solidFill>
                            <a:latin typeface="Cambria Math" panose="02040503050406030204" pitchFamily="18" charset="0"/>
                          </a:rPr>
                          <m:t>=</m:t>
                        </m:r>
                        <m:f>
                          <m:fPr>
                            <m:ctrlPr>
                              <a:rPr lang="el-GR" i="1">
                                <a:solidFill>
                                  <a:srgbClr val="000000"/>
                                </a:solidFill>
                                <a:latin typeface="Cambria Math" panose="02040503050406030204" pitchFamily="18" charset="0"/>
                              </a:rPr>
                            </m:ctrlPr>
                          </m:fPr>
                          <m:num>
                            <m:r>
                              <a:rPr lang="el-GR" i="1">
                                <a:solidFill>
                                  <a:srgbClr val="000000"/>
                                </a:solidFill>
                                <a:latin typeface="Cambria Math" panose="02040503050406030204" pitchFamily="18" charset="0"/>
                              </a:rPr>
                              <m:t>1</m:t>
                            </m:r>
                          </m:num>
                          <m:den>
                            <m:r>
                              <a:rPr lang="el-GR" i="1">
                                <a:solidFill>
                                  <a:srgbClr val="000000"/>
                                </a:solidFill>
                                <a:latin typeface="Cambria Math" panose="02040503050406030204" pitchFamily="18" charset="0"/>
                              </a:rPr>
                              <m:t>2</m:t>
                            </m:r>
                          </m:den>
                        </m:f>
                        <m:r>
                          <m:rPr>
                            <m:sty m:val="p"/>
                          </m:rPr>
                          <a:rPr lang="el-GR" i="0">
                            <a:solidFill>
                              <a:srgbClr val="000000"/>
                            </a:solidFill>
                            <a:latin typeface="Cambria Math" panose="02040503050406030204" pitchFamily="18" charset="0"/>
                          </a:rPr>
                          <m:t>a</m:t>
                        </m:r>
                        <m:r>
                          <a:rPr lang="el-GR" i="1">
                            <a:solidFill>
                              <a:srgbClr val="000000"/>
                            </a:solidFill>
                            <a:latin typeface="Cambria Math" panose="02040503050406030204" pitchFamily="18" charset="0"/>
                          </a:rPr>
                          <m:t>(</m:t>
                        </m:r>
                        <m:r>
                          <m:rPr>
                            <m:sty m:val="p"/>
                          </m:rPr>
                          <a:rPr lang="el-GR" i="0">
                            <a:solidFill>
                              <a:srgbClr val="000000"/>
                            </a:solidFill>
                            <a:latin typeface="Cambria Math" panose="02040503050406030204" pitchFamily="18" charset="0"/>
                          </a:rPr>
                          <m:t>t</m:t>
                        </m:r>
                        <m:r>
                          <a:rPr lang="el-GR" i="1">
                            <a:solidFill>
                              <a:srgbClr val="000000"/>
                            </a:solidFill>
                            <a:latin typeface="Cambria Math" panose="02040503050406030204" pitchFamily="18" charset="0"/>
                          </a:rPr>
                          <m:t>)</m:t>
                        </m:r>
                        <m:r>
                          <m:rPr>
                            <m:nor/>
                          </m:rPr>
                          <a:rPr lang="el-GR" i="0">
                            <a:solidFill>
                              <a:srgbClr val="000000"/>
                            </a:solidFill>
                            <a:latin typeface="Cambria Math" panose="02040503050406030204" pitchFamily="18" charset="0"/>
                          </a:rPr>
                          <m:t>cos</m:t>
                        </m:r>
                        <m:d>
                          <m:dPr>
                            <m:ctrlPr>
                              <a:rPr lang="el-GR" i="1">
                                <a:solidFill>
                                  <a:srgbClr val="000000"/>
                                </a:solidFill>
                                <a:latin typeface="Cambria Math" panose="02040503050406030204" pitchFamily="18" charset="0"/>
                              </a:rPr>
                            </m:ctrlPr>
                          </m:dPr>
                          <m:e>
                            <m:r>
                              <a:rPr lang="el-GR" i="1">
                                <a:solidFill>
                                  <a:srgbClr val="000000"/>
                                </a:solidFill>
                                <a:latin typeface="Cambria Math" panose="02040503050406030204" pitchFamily="18" charset="0"/>
                              </a:rPr>
                              <m:t>𝜃</m:t>
                            </m:r>
                          </m:e>
                        </m:d>
                        <m:r>
                          <a:rPr lang="el-GR" i="1">
                            <a:solidFill>
                              <a:srgbClr val="000000"/>
                            </a:solidFill>
                            <a:latin typeface="Cambria Math" panose="02040503050406030204" pitchFamily="18" charset="0"/>
                          </a:rPr>
                          <m:t>+</m:t>
                        </m:r>
                        <m:f>
                          <m:fPr>
                            <m:ctrlPr>
                              <a:rPr lang="el-GR" i="1">
                                <a:solidFill>
                                  <a:srgbClr val="000000"/>
                                </a:solidFill>
                                <a:latin typeface="Cambria Math" panose="02040503050406030204" pitchFamily="18" charset="0"/>
                              </a:rPr>
                            </m:ctrlPr>
                          </m:fPr>
                          <m:num>
                            <m:r>
                              <a:rPr lang="el-GR" i="1">
                                <a:solidFill>
                                  <a:srgbClr val="000000"/>
                                </a:solidFill>
                                <a:latin typeface="Cambria Math" panose="02040503050406030204" pitchFamily="18" charset="0"/>
                              </a:rPr>
                              <m:t>1</m:t>
                            </m:r>
                          </m:num>
                          <m:den>
                            <m:r>
                              <a:rPr lang="el-GR" i="1">
                                <a:solidFill>
                                  <a:srgbClr val="000000"/>
                                </a:solidFill>
                                <a:latin typeface="Cambria Math" panose="02040503050406030204" pitchFamily="18" charset="0"/>
                              </a:rPr>
                              <m:t>2</m:t>
                            </m:r>
                          </m:den>
                        </m:f>
                        <m:r>
                          <m:rPr>
                            <m:sty m:val="p"/>
                          </m:rPr>
                          <a:rPr lang="el-GR" i="0">
                            <a:solidFill>
                              <a:srgbClr val="000000"/>
                            </a:solidFill>
                            <a:latin typeface="Cambria Math" panose="02040503050406030204" pitchFamily="18" charset="0"/>
                          </a:rPr>
                          <m:t>a</m:t>
                        </m:r>
                        <m:r>
                          <a:rPr lang="el-GR" i="1">
                            <a:solidFill>
                              <a:srgbClr val="000000"/>
                            </a:solidFill>
                            <a:latin typeface="Cambria Math" panose="02040503050406030204" pitchFamily="18" charset="0"/>
                          </a:rPr>
                          <m:t>(</m:t>
                        </m:r>
                        <m:r>
                          <m:rPr>
                            <m:sty m:val="p"/>
                          </m:rPr>
                          <a:rPr lang="el-GR" i="0">
                            <a:solidFill>
                              <a:srgbClr val="000000"/>
                            </a:solidFill>
                            <a:latin typeface="Cambria Math" panose="02040503050406030204" pitchFamily="18" charset="0"/>
                          </a:rPr>
                          <m:t>t</m:t>
                        </m:r>
                        <m:r>
                          <a:rPr lang="el-GR" i="1">
                            <a:solidFill>
                              <a:srgbClr val="000000"/>
                            </a:solidFill>
                            <a:latin typeface="Cambria Math" panose="02040503050406030204" pitchFamily="18" charset="0"/>
                          </a:rPr>
                          <m:t>)</m:t>
                        </m:r>
                        <m:r>
                          <m:rPr>
                            <m:nor/>
                          </m:rPr>
                          <a:rPr lang="el-GR" i="0">
                            <a:solidFill>
                              <a:srgbClr val="000000"/>
                            </a:solidFill>
                            <a:latin typeface="Cambria Math" panose="02040503050406030204" pitchFamily="18" charset="0"/>
                          </a:rPr>
                          <m:t>cos</m:t>
                        </m:r>
                        <m:d>
                          <m:dPr>
                            <m:ctrlPr>
                              <a:rPr lang="el-GR" i="1">
                                <a:solidFill>
                                  <a:srgbClr val="000000"/>
                                </a:solidFill>
                                <a:latin typeface="Cambria Math" panose="02040503050406030204" pitchFamily="18" charset="0"/>
                              </a:rPr>
                            </m:ctrlPr>
                          </m:dPr>
                          <m:e>
                            <m:r>
                              <a:rPr lang="el-GR" i="1">
                                <a:solidFill>
                                  <a:srgbClr val="000000"/>
                                </a:solidFill>
                                <a:latin typeface="Cambria Math" panose="02040503050406030204" pitchFamily="18" charset="0"/>
                              </a:rPr>
                              <m:t>2</m:t>
                            </m:r>
                            <m:sSub>
                              <m:sSubPr>
                                <m:ctrlPr>
                                  <a:rPr lang="el-GR" i="1">
                                    <a:solidFill>
                                      <a:srgbClr val="000000"/>
                                    </a:solidFill>
                                    <a:latin typeface="Cambria Math" panose="02040503050406030204" pitchFamily="18" charset="0"/>
                                  </a:rPr>
                                </m:ctrlPr>
                              </m:sSubPr>
                              <m:e>
                                <m:r>
                                  <a:rPr lang="el-GR" i="1">
                                    <a:solidFill>
                                      <a:srgbClr val="000000"/>
                                    </a:solidFill>
                                    <a:latin typeface="Cambria Math" panose="02040503050406030204" pitchFamily="18" charset="0"/>
                                  </a:rPr>
                                  <m:t>𝜔</m:t>
                                </m:r>
                              </m:e>
                              <m:sub>
                                <m:r>
                                  <m:rPr>
                                    <m:sty m:val="p"/>
                                  </m:rPr>
                                  <a:rPr lang="el-GR" i="0">
                                    <a:solidFill>
                                      <a:srgbClr val="000000"/>
                                    </a:solidFill>
                                    <a:latin typeface="Cambria Math" panose="02040503050406030204" pitchFamily="18" charset="0"/>
                                  </a:rPr>
                                  <m:t>c</m:t>
                                </m:r>
                              </m:sub>
                            </m:sSub>
                            <m:r>
                              <m:rPr>
                                <m:sty m:val="p"/>
                              </m:rPr>
                              <a:rPr lang="el-GR" i="0">
                                <a:solidFill>
                                  <a:srgbClr val="000000"/>
                                </a:solidFill>
                                <a:latin typeface="Cambria Math" panose="02040503050406030204" pitchFamily="18" charset="0"/>
                              </a:rPr>
                              <m:t>t</m:t>
                            </m:r>
                            <m:r>
                              <a:rPr lang="el-GR" i="1">
                                <a:solidFill>
                                  <a:srgbClr val="000000"/>
                                </a:solidFill>
                                <a:latin typeface="Cambria Math" panose="02040503050406030204" pitchFamily="18" charset="0"/>
                              </a:rPr>
                              <m:t>+</m:t>
                            </m:r>
                            <m:r>
                              <a:rPr lang="el-GR" i="1">
                                <a:solidFill>
                                  <a:srgbClr val="000000"/>
                                </a:solidFill>
                                <a:latin typeface="Cambria Math" panose="02040503050406030204" pitchFamily="18" charset="0"/>
                              </a:rPr>
                              <m:t>𝜃</m:t>
                            </m:r>
                          </m:e>
                        </m:d>
                      </m:oMath>
                    </m:oMathPara>
                  </a14:m>
                  <a:endParaRPr lang="el-GR" dirty="0"/>
                </a:p>
              </p:txBody>
            </p:sp>
          </mc:Choice>
          <mc:Fallback xmlns="">
            <p:sp>
              <p:nvSpPr>
                <p:cNvPr id="7" name="Object 6">
                  <a:extLst>
                    <a:ext uri="{FF2B5EF4-FFF2-40B4-BE49-F238E27FC236}">
                      <a16:creationId xmlns:a16="http://schemas.microsoft.com/office/drawing/2014/main" id="{F9BFA5DD-64C9-CE45-F9E3-A31D55174AB6}"/>
                    </a:ext>
                  </a:extLst>
                </p:cNvPr>
                <p:cNvSpPr txBox="1">
                  <a:spLocks noRot="1" noChangeAspect="1" noMove="1" noResize="1" noEditPoints="1" noAdjustHandles="1" noChangeArrowheads="1" noChangeShapeType="1" noTextEdit="1"/>
                </p:cNvSpPr>
                <p:nvPr/>
              </p:nvSpPr>
              <p:spPr bwMode="auto">
                <a:xfrm>
                  <a:off x="3376191" y="5258281"/>
                  <a:ext cx="5417820" cy="390525"/>
                </a:xfrm>
                <a:prstGeom prst="rect">
                  <a:avLst/>
                </a:prstGeom>
                <a:blipFill>
                  <a:blip r:embed="rId6"/>
                  <a:stretch>
                    <a:fillRect b="-29688"/>
                  </a:stretch>
                </a:blipFill>
              </p:spPr>
              <p:txBody>
                <a:bodyPr/>
                <a:lstStyle/>
                <a:p>
                  <a:r>
                    <a:rPr lang="el-GR">
                      <a:noFill/>
                    </a:rPr>
                    <a:t> </a:t>
                  </a:r>
                </a:p>
              </p:txBody>
            </p:sp>
          </mc:Fallback>
        </mc:AlternateContent>
        <p:cxnSp>
          <p:nvCxnSpPr>
            <p:cNvPr id="9" name="Straight Arrow Connector 8">
              <a:extLst>
                <a:ext uri="{FF2B5EF4-FFF2-40B4-BE49-F238E27FC236}">
                  <a16:creationId xmlns:a16="http://schemas.microsoft.com/office/drawing/2014/main" id="{CE66B0D3-F414-020B-27DB-2B3538A11279}"/>
                </a:ext>
              </a:extLst>
            </p:cNvPr>
            <p:cNvCxnSpPr/>
            <p:nvPr/>
          </p:nvCxnSpPr>
          <p:spPr bwMode="auto">
            <a:xfrm flipH="1" flipV="1">
              <a:off x="4629150" y="4305300"/>
              <a:ext cx="196850" cy="1136650"/>
            </a:xfrm>
            <a:prstGeom prst="straightConnector1">
              <a:avLst/>
            </a:prstGeom>
            <a:noFill/>
            <a:ln w="6350" cap="flat" cmpd="sng" algn="ctr">
              <a:solidFill>
                <a:srgbClr val="00000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60154982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3	ΨΗΦΙΑΚΗ ΔΙΑΜΟΡΦΩΣΗ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a:t>
            </a:r>
            <a:endParaRPr lang="en-GB" altLang="en-US" sz="2200">
              <a:latin typeface="Times New Roman" panose="02020603050405020304" pitchFamily="18" charset="0"/>
            </a:endParaRPr>
          </a:p>
        </p:txBody>
      </p:sp>
      <p:sp>
        <p:nvSpPr>
          <p:cNvPr id="7171" name="Text Box 4"/>
          <p:cNvSpPr txBox="1">
            <a:spLocks noChangeArrowheads="1"/>
          </p:cNvSpPr>
          <p:nvPr/>
        </p:nvSpPr>
        <p:spPr bwMode="auto">
          <a:xfrm>
            <a:off x="0" y="1054100"/>
            <a:ext cx="8953500"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Μαθηματική περιγραφή </a:t>
            </a:r>
            <a:r>
              <a:rPr lang="en-US" altLang="en-US" sz="2200" b="1" dirty="0">
                <a:solidFill>
                  <a:srgbClr val="990000"/>
                </a:solidFill>
                <a:latin typeface="Times New Roman" panose="02020603050405020304" pitchFamily="18" charset="0"/>
              </a:rPr>
              <a:t>B</a:t>
            </a:r>
            <a:r>
              <a:rPr lang="el-GR" altLang="en-US" sz="2200" b="1" dirty="0">
                <a:solidFill>
                  <a:srgbClr val="990000"/>
                </a:solidFill>
                <a:latin typeface="Times New Roman" panose="02020603050405020304" pitchFamily="18" charset="0"/>
              </a:rPr>
              <a:t>FSK</a:t>
            </a: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p:txBody>
      </p:sp>
      <p:pic>
        <p:nvPicPr>
          <p:cNvPr id="3" name="Εικόνα 2">
            <a:extLst>
              <a:ext uri="{FF2B5EF4-FFF2-40B4-BE49-F238E27FC236}">
                <a16:creationId xmlns:a16="http://schemas.microsoft.com/office/drawing/2014/main" id="{FB0FFEBC-8F83-58A5-15D4-C7409E30E1E2}"/>
              </a:ext>
            </a:extLst>
          </p:cNvPr>
          <p:cNvPicPr>
            <a:picLocks noChangeAspect="1"/>
          </p:cNvPicPr>
          <p:nvPr/>
        </p:nvPicPr>
        <p:blipFill>
          <a:blip r:embed="rId2"/>
          <a:stretch>
            <a:fillRect/>
          </a:stretch>
        </p:blipFill>
        <p:spPr>
          <a:xfrm>
            <a:off x="426198" y="2279008"/>
            <a:ext cx="8101103" cy="3402464"/>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7A0A3-AF6C-4EAC-5981-2EE2F370D66B}"/>
            </a:ext>
          </a:extLst>
        </p:cNvPr>
        <p:cNvGrpSpPr/>
        <p:nvPr/>
      </p:nvGrpSpPr>
      <p:grpSpPr>
        <a:xfrm>
          <a:off x="0" y="0"/>
          <a:ext cx="0" cy="0"/>
          <a:chOff x="0" y="0"/>
          <a:chExt cx="0" cy="0"/>
        </a:xfrm>
      </p:grpSpPr>
      <p:sp>
        <p:nvSpPr>
          <p:cNvPr id="7170" name="Text Box 3">
            <a:extLst>
              <a:ext uri="{FF2B5EF4-FFF2-40B4-BE49-F238E27FC236}">
                <a16:creationId xmlns:a16="http://schemas.microsoft.com/office/drawing/2014/main" id="{E03721B1-B8EC-2D47-9968-6D7CDDD1BAF3}"/>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3	ΨΗΦΙΑΚΗ ΔΙΑΜΟΡΦΩΣΗ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a:t>
            </a:r>
            <a:endParaRPr lang="en-GB" altLang="en-US" sz="2200">
              <a:latin typeface="Times New Roman" panose="02020603050405020304" pitchFamily="18" charset="0"/>
            </a:endParaRPr>
          </a:p>
        </p:txBody>
      </p:sp>
      <p:sp>
        <p:nvSpPr>
          <p:cNvPr id="7171" name="Text Box 4">
            <a:extLst>
              <a:ext uri="{FF2B5EF4-FFF2-40B4-BE49-F238E27FC236}">
                <a16:creationId xmlns:a16="http://schemas.microsoft.com/office/drawing/2014/main" id="{5BFF1901-9172-7CC4-0E04-7184D71D77AE}"/>
              </a:ext>
            </a:extLst>
          </p:cNvPr>
          <p:cNvSpPr txBox="1">
            <a:spLocks noChangeArrowheads="1"/>
          </p:cNvSpPr>
          <p:nvPr/>
        </p:nvSpPr>
        <p:spPr bwMode="auto">
          <a:xfrm>
            <a:off x="0" y="1054100"/>
            <a:ext cx="8953500"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Δημιουργία της διαμόρφωσης FSK</a:t>
            </a: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r>
              <a:rPr lang="el-GR" altLang="en-US" sz="2200" b="1">
                <a:solidFill>
                  <a:srgbClr val="990000"/>
                </a:solidFill>
                <a:latin typeface="Times New Roman" panose="02020603050405020304" pitchFamily="18" charset="0"/>
              </a:rPr>
              <a:t>1.  Παραγωγή </a:t>
            </a:r>
            <a:r>
              <a:rPr lang="en-US" altLang="en-US" sz="2200" b="1">
                <a:solidFill>
                  <a:srgbClr val="990000"/>
                </a:solidFill>
                <a:latin typeface="Times New Roman" panose="02020603050405020304" pitchFamily="18" charset="0"/>
              </a:rPr>
              <a:t>FSK</a:t>
            </a:r>
            <a:r>
              <a:rPr lang="el-GR" altLang="en-US" sz="2200" b="1">
                <a:solidFill>
                  <a:srgbClr val="990000"/>
                </a:solidFill>
                <a:latin typeface="Times New Roman" panose="02020603050405020304" pitchFamily="18" charset="0"/>
              </a:rPr>
              <a:t> με διακόπτη</a:t>
            </a:r>
            <a:r>
              <a:rPr lang="en-US" altLang="en-US" sz="2200" b="1">
                <a:solidFill>
                  <a:srgbClr val="990000"/>
                </a:solidFill>
                <a:latin typeface="Times New Roman" panose="02020603050405020304" pitchFamily="18" charset="0"/>
              </a:rPr>
              <a:t> </a:t>
            </a: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r>
              <a:rPr lang="el-GR" altLang="en-US" sz="2200" b="1">
                <a:solidFill>
                  <a:srgbClr val="990000"/>
                </a:solidFill>
                <a:latin typeface="Times New Roman" panose="02020603050405020304" pitchFamily="18" charset="0"/>
              </a:rPr>
              <a:t>2.  Παραγωγή </a:t>
            </a:r>
            <a:r>
              <a:rPr lang="en-US" altLang="en-US" sz="2200" b="1">
                <a:solidFill>
                  <a:srgbClr val="990000"/>
                </a:solidFill>
                <a:latin typeface="Times New Roman" panose="02020603050405020304" pitchFamily="18" charset="0"/>
              </a:rPr>
              <a:t>FSK</a:t>
            </a:r>
            <a:r>
              <a:rPr lang="el-GR" altLang="en-US" sz="2200" b="1">
                <a:solidFill>
                  <a:srgbClr val="990000"/>
                </a:solidFill>
                <a:latin typeface="Times New Roman" panose="02020603050405020304" pitchFamily="18" charset="0"/>
              </a:rPr>
              <a:t> με </a:t>
            </a:r>
            <a:r>
              <a:rPr lang="en-US" altLang="en-US" sz="2200" b="1">
                <a:solidFill>
                  <a:srgbClr val="990000"/>
                </a:solidFill>
                <a:latin typeface="Times New Roman" panose="02020603050405020304" pitchFamily="18" charset="0"/>
              </a:rPr>
              <a:t>VCO </a:t>
            </a: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p:txBody>
      </p:sp>
      <p:pic>
        <p:nvPicPr>
          <p:cNvPr id="7172" name="Picture 5" descr="fskgen1">
            <a:extLst>
              <a:ext uri="{FF2B5EF4-FFF2-40B4-BE49-F238E27FC236}">
                <a16:creationId xmlns:a16="http://schemas.microsoft.com/office/drawing/2014/main" id="{0D454D30-4BC6-5F9F-3373-A47EFCF071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038" y="2110994"/>
            <a:ext cx="3541712"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7" descr="fskgen2">
            <a:extLst>
              <a:ext uri="{FF2B5EF4-FFF2-40B4-BE49-F238E27FC236}">
                <a16:creationId xmlns:a16="http://schemas.microsoft.com/office/drawing/2014/main" id="{EF31B67C-C9EB-6BB8-1B73-8F5B609E38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7588" y="4290219"/>
            <a:ext cx="5254625" cy="12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9" descr="VCO_CHAR">
            <a:extLst>
              <a:ext uri="{FF2B5EF4-FFF2-40B4-BE49-F238E27FC236}">
                <a16:creationId xmlns:a16="http://schemas.microsoft.com/office/drawing/2014/main" id="{471E72C8-457C-7590-12F5-E44C6E519C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8" y="4176713"/>
            <a:ext cx="2122487"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6998BA1-D492-712C-C13E-9626D624C965}"/>
              </a:ext>
            </a:extLst>
          </p:cNvPr>
          <p:cNvSpPr txBox="1"/>
          <p:nvPr/>
        </p:nvSpPr>
        <p:spPr>
          <a:xfrm>
            <a:off x="4647438" y="2205742"/>
            <a:ext cx="4535424" cy="1323439"/>
          </a:xfrm>
          <a:prstGeom prst="rect">
            <a:avLst/>
          </a:prstGeom>
          <a:noFill/>
        </p:spPr>
        <p:txBody>
          <a:bodyPr wrap="square">
            <a:spAutoFit/>
          </a:bodyPr>
          <a:lstStyle/>
          <a:p>
            <a:pPr marL="171450" indent="-171450">
              <a:buFont typeface="Arial" panose="020B0604020202020204" pitchFamily="34" charset="0"/>
              <a:buChar char="•"/>
            </a:pPr>
            <a:r>
              <a:rPr lang="el-GR" sz="1600" b="1" dirty="0">
                <a:solidFill>
                  <a:srgbClr val="C00000"/>
                </a:solidFill>
              </a:rPr>
              <a:t>Διακριτές αλλαγές φάσης που προκαλούνται μέσω του διακόπτη, συνεπάγονται την ύπαρξη περισσότερων υψηλών συχνοτήτων, με άμεση ανάγκη αύξησης του διαθέσιμου εύρους ζώνης</a:t>
            </a:r>
          </a:p>
        </p:txBody>
      </p:sp>
      <p:sp>
        <p:nvSpPr>
          <p:cNvPr id="3" name="TextBox 2">
            <a:extLst>
              <a:ext uri="{FF2B5EF4-FFF2-40B4-BE49-F238E27FC236}">
                <a16:creationId xmlns:a16="http://schemas.microsoft.com/office/drawing/2014/main" id="{E0A0C3CD-EC75-321D-65E2-61EFD5DC5910}"/>
              </a:ext>
            </a:extLst>
          </p:cNvPr>
          <p:cNvSpPr txBox="1"/>
          <p:nvPr/>
        </p:nvSpPr>
        <p:spPr>
          <a:xfrm>
            <a:off x="4647438" y="5729861"/>
            <a:ext cx="4535424" cy="1077218"/>
          </a:xfrm>
          <a:prstGeom prst="rect">
            <a:avLst/>
          </a:prstGeom>
          <a:noFill/>
        </p:spPr>
        <p:txBody>
          <a:bodyPr wrap="square">
            <a:spAutoFit/>
          </a:bodyPr>
          <a:lstStyle/>
          <a:p>
            <a:pPr marL="171450" indent="-171450">
              <a:buFont typeface="Arial" panose="020B0604020202020204" pitchFamily="34" charset="0"/>
              <a:buChar char="•"/>
            </a:pPr>
            <a:r>
              <a:rPr lang="el-GR" sz="1600" b="1" dirty="0">
                <a:solidFill>
                  <a:srgbClr val="C00000"/>
                </a:solidFill>
              </a:rPr>
              <a:t>Ομαλές αλλαγές φάσης μπορούν να επιτευχθούν μέσω </a:t>
            </a:r>
            <a:r>
              <a:rPr lang="en-US" sz="1600" b="1" dirty="0">
                <a:solidFill>
                  <a:srgbClr val="C00000"/>
                </a:solidFill>
              </a:rPr>
              <a:t>voltage controlled oscillator (Continuous Phase FSK </a:t>
            </a:r>
            <a:r>
              <a:rPr lang="el-GR" sz="1600" b="1" dirty="0">
                <a:solidFill>
                  <a:srgbClr val="C00000"/>
                </a:solidFill>
              </a:rPr>
              <a:t>ή </a:t>
            </a:r>
            <a:r>
              <a:rPr lang="en-US" sz="1600" b="1" dirty="0">
                <a:solidFill>
                  <a:srgbClr val="C00000"/>
                </a:solidFill>
              </a:rPr>
              <a:t>CPFSK)</a:t>
            </a:r>
            <a:endParaRPr lang="el-GR" sz="1600" b="1" dirty="0">
              <a:solidFill>
                <a:srgbClr val="C00000"/>
              </a:solidFill>
            </a:endParaRPr>
          </a:p>
        </p:txBody>
      </p:sp>
    </p:spTree>
    <p:extLst>
      <p:ext uri="{BB962C8B-B14F-4D97-AF65-F5344CB8AC3E}">
        <p14:creationId xmlns:p14="http://schemas.microsoft.com/office/powerpoint/2010/main" val="416945947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3	ΨΗΦΙΑΚΗ ΔΙΑΜΟΡΦΩΣΗ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a:t>
            </a:r>
            <a:endParaRPr lang="en-GB" altLang="en-US" sz="2200">
              <a:latin typeface="Times New Roman" panose="02020603050405020304" pitchFamily="18" charset="0"/>
            </a:endParaRPr>
          </a:p>
        </p:txBody>
      </p:sp>
      <p:sp>
        <p:nvSpPr>
          <p:cNvPr id="8195" name="Text Box 3"/>
          <p:cNvSpPr txBox="1">
            <a:spLocks noChangeArrowheads="1"/>
          </p:cNvSpPr>
          <p:nvPr/>
        </p:nvSpPr>
        <p:spPr bwMode="auto">
          <a:xfrm>
            <a:off x="0" y="1054100"/>
            <a:ext cx="8953500"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Φιλτραρισμένη διαμόρφωση </a:t>
            </a:r>
            <a:r>
              <a:rPr lang="en-US" altLang="en-US" sz="2200" b="1">
                <a:solidFill>
                  <a:srgbClr val="990000"/>
                </a:solidFill>
                <a:latin typeface="Times New Roman" panose="02020603050405020304" pitchFamily="18" charset="0"/>
              </a:rPr>
              <a:t>FSK </a:t>
            </a: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r>
              <a:rPr lang="el-GR" altLang="en-US" sz="2200" b="1">
                <a:solidFill>
                  <a:srgbClr val="990000"/>
                </a:solidFill>
                <a:latin typeface="Times New Roman" panose="02020603050405020304" pitchFamily="18" charset="0"/>
              </a:rPr>
              <a:t>Φάσμα της διαμόρφωσης FSK</a:t>
            </a:r>
          </a:p>
        </p:txBody>
      </p:sp>
      <p:pic>
        <p:nvPicPr>
          <p:cNvPr id="8196" name="Picture 7" descr="FSKSP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25" y="3963988"/>
            <a:ext cx="4425950"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9" descr="FSKGEN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75" y="1487488"/>
            <a:ext cx="4112606"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7179ADE7-C3C0-A8A5-A7A3-B6A953B99305}"/>
              </a:ext>
            </a:extLst>
          </p:cNvPr>
          <p:cNvSpPr txBox="1"/>
          <p:nvPr/>
        </p:nvSpPr>
        <p:spPr>
          <a:xfrm>
            <a:off x="4418076" y="4268788"/>
            <a:ext cx="4535424" cy="2308324"/>
          </a:xfrm>
          <a:prstGeom prst="rect">
            <a:avLst/>
          </a:prstGeom>
          <a:noFill/>
        </p:spPr>
        <p:txBody>
          <a:bodyPr wrap="square">
            <a:spAutoFit/>
          </a:bodyPr>
          <a:lstStyle/>
          <a:p>
            <a:pPr marL="171450" indent="-171450">
              <a:buFont typeface="Arial" panose="020B0604020202020204" pitchFamily="34" charset="0"/>
              <a:buChar char="•"/>
            </a:pPr>
            <a:r>
              <a:rPr lang="el-GR" sz="1200" b="1" dirty="0">
                <a:solidFill>
                  <a:srgbClr val="C00000"/>
                </a:solidFill>
              </a:rPr>
              <a:t>Το φάσμα FSK είναι δύσκολο να υπολογιστεί, επειδή η διαδικασία παραγωγής FSK είναι μη γραμμική. Μια προσέγγιση μπορεί να ληφθεί με χάραξη των φασμάτων για δύο φάσματα ASK-1 και ASK-2.</a:t>
            </a:r>
            <a:endParaRPr lang="en-US" sz="1200" b="1" dirty="0">
              <a:solidFill>
                <a:srgbClr val="C00000"/>
              </a:solidFill>
            </a:endParaRPr>
          </a:p>
          <a:p>
            <a:pPr marL="171450" indent="-171450">
              <a:buFont typeface="Arial" panose="020B0604020202020204" pitchFamily="34" charset="0"/>
              <a:buChar char="•"/>
            </a:pPr>
            <a:endParaRPr lang="en-US" sz="1200" b="1" dirty="0">
              <a:solidFill>
                <a:srgbClr val="C00000"/>
              </a:solidFill>
            </a:endParaRPr>
          </a:p>
          <a:p>
            <a:pPr marL="171450" indent="-171450">
              <a:buFont typeface="Arial" panose="020B0604020202020204" pitchFamily="34" charset="0"/>
              <a:buChar char="•"/>
            </a:pPr>
            <a:r>
              <a:rPr lang="el-GR" sz="1200" b="1" dirty="0">
                <a:solidFill>
                  <a:srgbClr val="C00000"/>
                </a:solidFill>
              </a:rPr>
              <a:t>Το συνολικό εύρος ζώνης του σήματος FSK εξαρτάται από τον διαχωρισμό μεταξύ των συχνοτήτων των καταστάσεων συμβόλων.</a:t>
            </a:r>
            <a:endParaRPr lang="en-US" sz="1200" b="1" dirty="0">
              <a:solidFill>
                <a:srgbClr val="C00000"/>
              </a:solidFill>
            </a:endParaRPr>
          </a:p>
          <a:p>
            <a:pPr marL="171450" indent="-171450">
              <a:buFont typeface="Arial" panose="020B0604020202020204" pitchFamily="34" charset="0"/>
              <a:buChar char="•"/>
            </a:pPr>
            <a:endParaRPr lang="en-US" sz="1200" b="1" dirty="0">
              <a:solidFill>
                <a:srgbClr val="C00000"/>
              </a:solidFill>
            </a:endParaRPr>
          </a:p>
          <a:p>
            <a:pPr marL="171450" indent="-171450">
              <a:buFont typeface="Arial" panose="020B0604020202020204" pitchFamily="34" charset="0"/>
              <a:buChar char="•"/>
            </a:pPr>
            <a:r>
              <a:rPr lang="el-GR" sz="1200" b="1" dirty="0">
                <a:solidFill>
                  <a:srgbClr val="C00000"/>
                </a:solidFill>
              </a:rPr>
              <a:t>Ένα σύστημα FSK που χρησιμοποιεί συνεχείς μεταβάσεις φάσης θα έχει πολύ χαμηλότερη ενέργεια πλευρικού λοβού από την ασυνεχή περίπτωση.</a:t>
            </a:r>
          </a:p>
        </p:txBody>
      </p:sp>
      <p:sp>
        <p:nvSpPr>
          <p:cNvPr id="4" name="TextBox 3">
            <a:extLst>
              <a:ext uri="{FF2B5EF4-FFF2-40B4-BE49-F238E27FC236}">
                <a16:creationId xmlns:a16="http://schemas.microsoft.com/office/drawing/2014/main" id="{DDA88C60-1E2E-177E-85D1-4021FB1B8090}"/>
              </a:ext>
            </a:extLst>
          </p:cNvPr>
          <p:cNvSpPr txBox="1"/>
          <p:nvPr/>
        </p:nvSpPr>
        <p:spPr>
          <a:xfrm>
            <a:off x="4476750" y="1357313"/>
            <a:ext cx="4535424" cy="1938992"/>
          </a:xfrm>
          <a:prstGeom prst="rect">
            <a:avLst/>
          </a:prstGeom>
          <a:noFill/>
        </p:spPr>
        <p:txBody>
          <a:bodyPr wrap="square">
            <a:spAutoFit/>
          </a:bodyPr>
          <a:lstStyle/>
          <a:p>
            <a:pPr marL="171450" indent="-171450">
              <a:buFont typeface="Arial" panose="020B0604020202020204" pitchFamily="34" charset="0"/>
              <a:buChar char="•"/>
            </a:pPr>
            <a:r>
              <a:rPr lang="el-GR" sz="1200" b="1" dirty="0">
                <a:solidFill>
                  <a:srgbClr val="C00000"/>
                </a:solidFill>
              </a:rPr>
              <a:t>Επιδεικνύει εξαιρετική φασματική απόδοση προσεγγίζοντας την απόδοση της QPSK. </a:t>
            </a:r>
            <a:endParaRPr lang="en-US" sz="1200" b="1" dirty="0">
              <a:solidFill>
                <a:srgbClr val="C00000"/>
              </a:solidFill>
            </a:endParaRPr>
          </a:p>
          <a:p>
            <a:pPr marL="171450" indent="-171450">
              <a:buFont typeface="Arial" panose="020B0604020202020204" pitchFamily="34" charset="0"/>
              <a:buChar char="•"/>
            </a:pPr>
            <a:endParaRPr lang="en-US" sz="1200" b="1" dirty="0">
              <a:solidFill>
                <a:srgbClr val="C00000"/>
              </a:solidFill>
            </a:endParaRPr>
          </a:p>
          <a:p>
            <a:pPr marL="171450" indent="-171450">
              <a:buFont typeface="Arial" panose="020B0604020202020204" pitchFamily="34" charset="0"/>
              <a:buChar char="•"/>
            </a:pPr>
            <a:r>
              <a:rPr lang="el-GR" sz="1200" b="1" dirty="0">
                <a:solidFill>
                  <a:srgbClr val="C00000"/>
                </a:solidFill>
              </a:rPr>
              <a:t>Η εξαιρετική φασματική απόδοση της MSK μπορεί να βελτιωθεί ακόμα περισσότερο με τη χρήση φίλτρων μορφοποίησης παλμού πριν από το διαμορφωτή. </a:t>
            </a:r>
            <a:endParaRPr lang="en-US" sz="1200" b="1" dirty="0">
              <a:solidFill>
                <a:srgbClr val="C00000"/>
              </a:solidFill>
            </a:endParaRPr>
          </a:p>
          <a:p>
            <a:pPr marL="171450" indent="-171450">
              <a:buFont typeface="Arial" panose="020B0604020202020204" pitchFamily="34" charset="0"/>
              <a:buChar char="•"/>
            </a:pPr>
            <a:endParaRPr lang="en-US" sz="1200" b="1" dirty="0">
              <a:solidFill>
                <a:srgbClr val="C00000"/>
              </a:solidFill>
            </a:endParaRPr>
          </a:p>
          <a:p>
            <a:pPr marL="171450" indent="-171450">
              <a:buFont typeface="Arial" panose="020B0604020202020204" pitchFamily="34" charset="0"/>
              <a:buChar char="•"/>
            </a:pPr>
            <a:r>
              <a:rPr lang="el-GR" sz="1200" b="1" dirty="0">
                <a:solidFill>
                  <a:srgbClr val="C00000"/>
                </a:solidFill>
              </a:rPr>
              <a:t>Προσθήκη ενός </a:t>
            </a:r>
            <a:r>
              <a:rPr lang="el-GR" sz="1200" b="1" dirty="0" err="1">
                <a:solidFill>
                  <a:srgbClr val="C00000"/>
                </a:solidFill>
              </a:rPr>
              <a:t>Gaussian</a:t>
            </a:r>
            <a:r>
              <a:rPr lang="el-GR" sz="1200" b="1" dirty="0">
                <a:solidFill>
                  <a:srgbClr val="C00000"/>
                </a:solidFill>
              </a:rPr>
              <a:t> φίλτρου που αποκόπτει την περιοχή εκτός του κυρίου λοβού της MSK, παράγει τη διαμόρφωση </a:t>
            </a:r>
            <a:r>
              <a:rPr lang="el-GR" sz="1200" b="1" dirty="0" err="1">
                <a:solidFill>
                  <a:srgbClr val="C00000"/>
                </a:solidFill>
              </a:rPr>
              <a:t>Gaussian</a:t>
            </a:r>
            <a:r>
              <a:rPr lang="el-GR" sz="1200" b="1" dirty="0">
                <a:solidFill>
                  <a:srgbClr val="C00000"/>
                </a:solidFill>
              </a:rPr>
              <a:t> </a:t>
            </a:r>
            <a:r>
              <a:rPr lang="el-GR" sz="1200" b="1" dirty="0" err="1">
                <a:solidFill>
                  <a:srgbClr val="C00000"/>
                </a:solidFill>
              </a:rPr>
              <a:t>MinimumShiftKeying</a:t>
            </a:r>
            <a:r>
              <a:rPr lang="el-GR" sz="1200" b="1" dirty="0">
                <a:solidFill>
                  <a:srgbClr val="C00000"/>
                </a:solidFill>
              </a:rPr>
              <a:t> (GMSK). </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3	ΨΗΦΙΑΚΗ ΔΙΑΜΟΡΦΩΣΗ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a:t>
            </a:r>
            <a:endParaRPr lang="en-GB" altLang="en-US" sz="2200">
              <a:latin typeface="Times New Roman" panose="02020603050405020304" pitchFamily="18" charset="0"/>
            </a:endParaRPr>
          </a:p>
        </p:txBody>
      </p:sp>
      <p:sp>
        <p:nvSpPr>
          <p:cNvPr id="9219" name="Text Box 3"/>
          <p:cNvSpPr txBox="1">
            <a:spLocks noChangeArrowheads="1"/>
          </p:cNvSpPr>
          <p:nvPr/>
        </p:nvSpPr>
        <p:spPr bwMode="auto">
          <a:xfrm>
            <a:off x="0" y="1054100"/>
            <a:ext cx="8953500"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Φάσμα της διαμόρφωσης FSK</a:t>
            </a:r>
          </a:p>
          <a:p>
            <a:pPr algn="just">
              <a:lnSpc>
                <a:spcPct val="90000"/>
              </a:lnSpc>
            </a:pPr>
            <a:r>
              <a:rPr lang="en-US" altLang="en-US" sz="2200" b="1">
                <a:solidFill>
                  <a:srgbClr val="990000"/>
                </a:solidFill>
                <a:latin typeface="Times New Roman" panose="02020603050405020304" pitchFamily="18" charset="0"/>
              </a:rPr>
              <a:t>FSK</a:t>
            </a:r>
            <a:r>
              <a:rPr lang="el-GR" altLang="en-US" sz="2200" b="1">
                <a:solidFill>
                  <a:srgbClr val="990000"/>
                </a:solidFill>
                <a:latin typeface="Times New Roman" panose="02020603050405020304" pitchFamily="18" charset="0"/>
              </a:rPr>
              <a:t> κατά </a:t>
            </a:r>
            <a:r>
              <a:rPr lang="en-US" altLang="en-US" sz="2200" b="1">
                <a:solidFill>
                  <a:srgbClr val="990000"/>
                </a:solidFill>
                <a:latin typeface="Times New Roman" panose="02020603050405020304" pitchFamily="18" charset="0"/>
              </a:rPr>
              <a:t>Sunde</a:t>
            </a:r>
            <a:r>
              <a:rPr lang="el-GR" altLang="en-US" sz="2200" b="1">
                <a:solidFill>
                  <a:srgbClr val="990000"/>
                </a:solidFill>
                <a:latin typeface="Times New Roman" panose="02020603050405020304" pitchFamily="18" charset="0"/>
              </a:rPr>
              <a:t> (Sunde 's FSK): Δυαδική διαμόρφωση </a:t>
            </a:r>
            <a:r>
              <a:rPr lang="en-US" altLang="en-US" sz="2200" b="1">
                <a:solidFill>
                  <a:srgbClr val="990000"/>
                </a:solidFill>
                <a:latin typeface="Times New Roman" panose="02020603050405020304" pitchFamily="18" charset="0"/>
              </a:rPr>
              <a:t>FSK</a:t>
            </a:r>
            <a:r>
              <a:rPr lang="el-GR" altLang="en-US" sz="2200" b="1">
                <a:solidFill>
                  <a:srgbClr val="990000"/>
                </a:solidFill>
                <a:latin typeface="Times New Roman" panose="02020603050405020304" pitchFamily="18" charset="0"/>
              </a:rPr>
              <a:t> με απόσταση συχνότητας 1/</a:t>
            </a:r>
            <a:r>
              <a:rPr lang="en-US" altLang="en-US" sz="2200" b="1">
                <a:solidFill>
                  <a:srgbClr val="990000"/>
                </a:solidFill>
                <a:latin typeface="Times New Roman" panose="02020603050405020304" pitchFamily="18" charset="0"/>
              </a:rPr>
              <a:t>T</a:t>
            </a:r>
            <a:r>
              <a:rPr lang="en-US" altLang="en-US" sz="2200" b="1" baseline="-25000">
                <a:solidFill>
                  <a:srgbClr val="990000"/>
                </a:solidFill>
                <a:latin typeface="Times New Roman" panose="02020603050405020304" pitchFamily="18" charset="0"/>
              </a:rPr>
              <a:t>b</a:t>
            </a:r>
            <a:r>
              <a:rPr lang="el-GR" altLang="en-US" sz="2200" b="1">
                <a:solidFill>
                  <a:srgbClr val="990000"/>
                </a:solidFill>
                <a:latin typeface="Times New Roman" panose="02020603050405020304" pitchFamily="18" charset="0"/>
              </a:rPr>
              <a:t> χωρίς μορφοποίηση παλμών</a:t>
            </a: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endParaRPr lang="el-GR" altLang="en-US" sz="2200" b="1">
              <a:solidFill>
                <a:srgbClr val="990000"/>
              </a:solidFill>
              <a:latin typeface="Times New Roman" panose="02020603050405020304" pitchFamily="18" charset="0"/>
            </a:endParaRPr>
          </a:p>
          <a:p>
            <a:pPr algn="just">
              <a:lnSpc>
                <a:spcPct val="90000"/>
              </a:lnSpc>
            </a:pPr>
            <a:r>
              <a:rPr lang="en-US" altLang="en-US" sz="2200" b="1">
                <a:solidFill>
                  <a:srgbClr val="990000"/>
                </a:solidFill>
                <a:latin typeface="Times New Roman" panose="02020603050405020304" pitchFamily="18" charset="0"/>
              </a:rPr>
              <a:t>MSK</a:t>
            </a:r>
            <a:r>
              <a:rPr lang="el-GR" altLang="en-US" sz="2200" b="1">
                <a:solidFill>
                  <a:srgbClr val="990000"/>
                </a:solidFill>
                <a:latin typeface="Times New Roman" panose="02020603050405020304" pitchFamily="18" charset="0"/>
              </a:rPr>
              <a:t> (Minimum Shift Keying): Δυαδική διαμόρφωση </a:t>
            </a:r>
            <a:r>
              <a:rPr lang="en-US" altLang="en-US" sz="2200" b="1">
                <a:solidFill>
                  <a:srgbClr val="990000"/>
                </a:solidFill>
                <a:latin typeface="Times New Roman" panose="02020603050405020304" pitchFamily="18" charset="0"/>
              </a:rPr>
              <a:t>FSK</a:t>
            </a:r>
            <a:r>
              <a:rPr lang="el-GR" altLang="en-US" sz="2200" b="1">
                <a:solidFill>
                  <a:srgbClr val="990000"/>
                </a:solidFill>
                <a:latin typeface="Times New Roman" panose="02020603050405020304" pitchFamily="18" charset="0"/>
              </a:rPr>
              <a:t> συνεχούς φάσης (</a:t>
            </a:r>
            <a:r>
              <a:rPr lang="en-US" altLang="en-US" sz="2200" b="1">
                <a:solidFill>
                  <a:srgbClr val="990000"/>
                </a:solidFill>
                <a:latin typeface="Times New Roman" panose="02020603050405020304" pitchFamily="18" charset="0"/>
              </a:rPr>
              <a:t>CPFSK</a:t>
            </a:r>
            <a:r>
              <a:rPr lang="el-GR" altLang="en-US" sz="2200" b="1">
                <a:solidFill>
                  <a:srgbClr val="990000"/>
                </a:solidFill>
                <a:latin typeface="Times New Roman" panose="02020603050405020304" pitchFamily="18" charset="0"/>
              </a:rPr>
              <a:t>) με απόσταση συχνοτήτων 0.5/</a:t>
            </a:r>
            <a:r>
              <a:rPr lang="en-US" altLang="en-US" sz="2200" b="1">
                <a:solidFill>
                  <a:srgbClr val="990000"/>
                </a:solidFill>
                <a:latin typeface="Times New Roman" panose="02020603050405020304" pitchFamily="18" charset="0"/>
              </a:rPr>
              <a:t>T</a:t>
            </a:r>
            <a:r>
              <a:rPr lang="en-US" altLang="en-US" sz="2200" b="1" baseline="-25000">
                <a:solidFill>
                  <a:srgbClr val="990000"/>
                </a:solidFill>
                <a:latin typeface="Times New Roman" panose="02020603050405020304" pitchFamily="18" charset="0"/>
              </a:rPr>
              <a:t>b</a:t>
            </a:r>
            <a:r>
              <a:rPr lang="el-GR" altLang="en-US" sz="2200" b="1">
                <a:solidFill>
                  <a:srgbClr val="990000"/>
                </a:solidFill>
                <a:latin typeface="Times New Roman" panose="02020603050405020304" pitchFamily="18" charset="0"/>
              </a:rPr>
              <a:t> χωρίς μορφοποίηση παλμών</a:t>
            </a:r>
          </a:p>
        </p:txBody>
      </p:sp>
      <p:pic>
        <p:nvPicPr>
          <p:cNvPr id="9220" name="Picture 5" descr="cpfsk_s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0" y="3605213"/>
            <a:ext cx="4735513" cy="344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Rectangle 7"/>
          <p:cNvSpPr>
            <a:spLocks noChangeArrowheads="1"/>
          </p:cNvSpPr>
          <p:nvPr/>
        </p:nvSpPr>
        <p:spPr bwMode="auto">
          <a:xfrm>
            <a:off x="0" y="335756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graphicFrame>
        <p:nvGraphicFramePr>
          <p:cNvPr id="9222" name="Object 6"/>
          <p:cNvGraphicFramePr>
            <a:graphicFrameLocks noChangeAspect="1"/>
          </p:cNvGraphicFramePr>
          <p:nvPr/>
        </p:nvGraphicFramePr>
        <p:xfrm>
          <a:off x="111125" y="2036763"/>
          <a:ext cx="6297613" cy="811212"/>
        </p:xfrm>
        <a:graphic>
          <a:graphicData uri="http://schemas.openxmlformats.org/presentationml/2006/ole">
            <mc:AlternateContent xmlns:mc="http://schemas.openxmlformats.org/markup-compatibility/2006">
              <mc:Choice xmlns:v="urn:schemas-microsoft-com:vml" Requires="v">
                <p:oleObj name="Equation" r:id="rId4" imgW="4064000" imgH="520700" progId="Equation.3">
                  <p:embed/>
                </p:oleObj>
              </mc:Choice>
              <mc:Fallback>
                <p:oleObj name="Equation" r:id="rId4" imgW="4064000" imgH="520700" progId="Equation.3">
                  <p:embed/>
                  <p:pic>
                    <p:nvPicPr>
                      <p:cNvPr id="922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125" y="2036763"/>
                        <a:ext cx="6297613"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3" name="Rectangle 9"/>
          <p:cNvSpPr>
            <a:spLocks noChangeArrowheads="1"/>
          </p:cNvSpPr>
          <p:nvPr/>
        </p:nvSpPr>
        <p:spPr bwMode="auto">
          <a:xfrm>
            <a:off x="0" y="336708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graphicFrame>
        <p:nvGraphicFramePr>
          <p:cNvPr id="9224" name="Object 8"/>
          <p:cNvGraphicFramePr>
            <a:graphicFrameLocks noChangeAspect="1"/>
          </p:cNvGraphicFramePr>
          <p:nvPr>
            <p:extLst>
              <p:ext uri="{D42A27DB-BD31-4B8C-83A1-F6EECF244321}">
                <p14:modId xmlns:p14="http://schemas.microsoft.com/office/powerpoint/2010/main" val="858233314"/>
              </p:ext>
            </p:extLst>
          </p:nvPr>
        </p:nvGraphicFramePr>
        <p:xfrm>
          <a:off x="120649" y="3876675"/>
          <a:ext cx="3594177" cy="966788"/>
        </p:xfrm>
        <a:graphic>
          <a:graphicData uri="http://schemas.openxmlformats.org/presentationml/2006/ole">
            <mc:AlternateContent xmlns:mc="http://schemas.openxmlformats.org/markup-compatibility/2006">
              <mc:Choice xmlns:v="urn:schemas-microsoft-com:vml" Requires="v">
                <p:oleObj name="Equation" r:id="rId6" imgW="1879600" imgH="508000" progId="Equation.3">
                  <p:embed/>
                </p:oleObj>
              </mc:Choice>
              <mc:Fallback>
                <p:oleObj name="Equation" r:id="rId6" imgW="1879600" imgH="508000" progId="Equation.3">
                  <p:embed/>
                  <p:pic>
                    <p:nvPicPr>
                      <p:cNvPr id="922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649" y="3876675"/>
                        <a:ext cx="3594177" cy="966788"/>
                      </a:xfrm>
                      <a:prstGeom prst="rect">
                        <a:avLst/>
                      </a:prstGeom>
                      <a:noFill/>
                      <a:ln>
                        <a:noFill/>
                      </a:ln>
                    </p:spPr>
                  </p:pic>
                </p:oleObj>
              </mc:Fallback>
            </mc:AlternateContent>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3	ΨΗΦΙΑΚΗ ΔΙΑΜΟΡΦΩΣΗ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a:t>
            </a:r>
            <a:endParaRPr lang="en-GB" altLang="en-US" sz="2200">
              <a:latin typeface="Times New Roman" panose="02020603050405020304" pitchFamily="18" charset="0"/>
            </a:endParaRPr>
          </a:p>
        </p:txBody>
      </p:sp>
      <p:sp>
        <p:nvSpPr>
          <p:cNvPr id="10243" name="Text Box 3"/>
          <p:cNvSpPr txBox="1">
            <a:spLocks noChangeArrowheads="1"/>
          </p:cNvSpPr>
          <p:nvPr/>
        </p:nvSpPr>
        <p:spPr bwMode="auto">
          <a:xfrm>
            <a:off x="0" y="1054100"/>
            <a:ext cx="8953500"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err="1">
                <a:solidFill>
                  <a:srgbClr val="990000"/>
                </a:solidFill>
                <a:latin typeface="Times New Roman" panose="02020603050405020304" pitchFamily="18" charset="0"/>
              </a:rPr>
              <a:t>Αποδιαμόρφωση</a:t>
            </a:r>
            <a:r>
              <a:rPr lang="el-GR" altLang="en-US" sz="2200" b="1" dirty="0">
                <a:solidFill>
                  <a:srgbClr val="990000"/>
                </a:solidFill>
                <a:latin typeface="Times New Roman" panose="02020603050405020304" pitchFamily="18" charset="0"/>
              </a:rPr>
              <a:t> FSK</a:t>
            </a:r>
          </a:p>
          <a:p>
            <a:pPr algn="just">
              <a:lnSpc>
                <a:spcPct val="90000"/>
              </a:lnSpc>
            </a:pPr>
            <a:r>
              <a:rPr lang="el-GR" altLang="en-US" sz="2200" b="1" dirty="0">
                <a:solidFill>
                  <a:srgbClr val="990000"/>
                </a:solidFill>
                <a:latin typeface="Times New Roman" panose="02020603050405020304" pitchFamily="18" charset="0"/>
              </a:rPr>
              <a:t>1.  Ασύμφωνη ανίχνευση της διαμόρφωσης </a:t>
            </a:r>
            <a:r>
              <a:rPr lang="en-US" altLang="en-US" sz="2200" b="1" dirty="0">
                <a:solidFill>
                  <a:srgbClr val="990000"/>
                </a:solidFill>
                <a:latin typeface="Times New Roman" panose="02020603050405020304" pitchFamily="18" charset="0"/>
              </a:rPr>
              <a:t>FSK</a:t>
            </a:r>
            <a:endParaRPr lang="el-GR" altLang="en-US" sz="2200" b="1" dirty="0">
              <a:solidFill>
                <a:srgbClr val="990000"/>
              </a:solidFill>
              <a:latin typeface="Times New Roman" panose="02020603050405020304" pitchFamily="18" charset="0"/>
            </a:endParaRPr>
          </a:p>
          <a:p>
            <a:pPr algn="just">
              <a:lnSpc>
                <a:spcPct val="90000"/>
              </a:lnSpc>
            </a:pPr>
            <a:endParaRPr lang="el-GR" altLang="en-US" sz="20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Η απλούστερη ανίχνευση ΒFSK γίνεται μέσω της διέλευσης του διαμορφωμένου σήματος από δύο </a:t>
            </a:r>
            <a:r>
              <a:rPr lang="el-GR" altLang="en-US" sz="2000" b="1" dirty="0" err="1">
                <a:solidFill>
                  <a:srgbClr val="990000"/>
                </a:solidFill>
                <a:latin typeface="Times New Roman" panose="02020603050405020304" pitchFamily="18" charset="0"/>
              </a:rPr>
              <a:t>ζωνοδιαβατά</a:t>
            </a:r>
            <a:r>
              <a:rPr lang="el-GR" altLang="en-US" sz="2000" b="1" dirty="0">
                <a:solidFill>
                  <a:srgbClr val="990000"/>
                </a:solidFill>
                <a:latin typeface="Times New Roman" panose="02020603050405020304" pitchFamily="18" charset="0"/>
              </a:rPr>
              <a:t> φίλτρα συντονισμένα με τις δύο συχνότητες σηματοδοσίας. </a:t>
            </a:r>
            <a:endParaRPr lang="en-US" altLang="en-US" sz="20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Στην ουσία πρόκειται για ασύμφωνη μέθοδο ανίχνευσης </a:t>
            </a:r>
            <a:r>
              <a:rPr lang="el-GR" altLang="en-US" sz="2000" b="1" dirty="0" err="1">
                <a:solidFill>
                  <a:srgbClr val="990000"/>
                </a:solidFill>
                <a:latin typeface="Times New Roman" panose="02020603050405020304" pitchFamily="18" charset="0"/>
              </a:rPr>
              <a:t>περιβάλλουσας</a:t>
            </a:r>
            <a:r>
              <a:rPr lang="el-GR" altLang="en-US" sz="2000" b="1" dirty="0">
                <a:solidFill>
                  <a:srgbClr val="990000"/>
                </a:solidFill>
                <a:latin typeface="Times New Roman" panose="02020603050405020304" pitchFamily="18" charset="0"/>
              </a:rPr>
              <a:t> για το ισοδύναμα σήματα ASK με έναν </a:t>
            </a:r>
            <a:r>
              <a:rPr lang="el-GR" altLang="en-US" sz="2000" b="1" dirty="0" err="1">
                <a:solidFill>
                  <a:srgbClr val="990000"/>
                </a:solidFill>
                <a:latin typeface="Times New Roman" panose="02020603050405020304" pitchFamily="18" charset="0"/>
              </a:rPr>
              <a:t>συγκριτή</a:t>
            </a:r>
            <a:r>
              <a:rPr lang="el-GR" altLang="en-US" sz="2000" b="1" dirty="0">
                <a:solidFill>
                  <a:srgbClr val="990000"/>
                </a:solidFill>
                <a:latin typeface="Times New Roman" panose="02020603050405020304" pitchFamily="18" charset="0"/>
              </a:rPr>
              <a:t> στην έξοδο. </a:t>
            </a:r>
            <a:endParaRPr lang="en-US" altLang="en-US" sz="20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Υπάρχουν εναλλακτικές μέθοδοι για τη διάκριση μεταξύ των εισερχομένων συχνοτήτων: </a:t>
            </a:r>
            <a:endParaRPr lang="en-US" altLang="en-US" sz="2000" b="1" dirty="0">
              <a:solidFill>
                <a:srgbClr val="990000"/>
              </a:solidFill>
              <a:latin typeface="Times New Roman" panose="02020603050405020304" pitchFamily="18" charset="0"/>
            </a:endParaRPr>
          </a:p>
          <a:p>
            <a:pPr marL="1200150" lvl="1" indent="-457200" algn="just">
              <a:lnSpc>
                <a:spcPct val="90000"/>
              </a:lnSpc>
              <a:buFont typeface="+mj-lt"/>
              <a:buAutoNum type="arabicPeriod"/>
            </a:pPr>
            <a:r>
              <a:rPr lang="el-GR" altLang="en-US" sz="1800" b="1" dirty="0">
                <a:solidFill>
                  <a:srgbClr val="990000"/>
                </a:solidFill>
                <a:latin typeface="Times New Roman" panose="02020603050405020304" pitchFamily="18" charset="0"/>
              </a:rPr>
              <a:t>Μία απλή μέθοδος περιλαμβάνει την μέτρηση των μηδενικών διελεύσεων του φορέα κατά τη διάρκεια ενός συμβόλου και συνεπώς την άμεση εκτίμηση της συχνότητας. </a:t>
            </a:r>
            <a:endParaRPr lang="en-US" altLang="en-US" sz="1800" b="1" dirty="0">
              <a:solidFill>
                <a:srgbClr val="990000"/>
              </a:solidFill>
              <a:latin typeface="Times New Roman" panose="02020603050405020304" pitchFamily="18" charset="0"/>
            </a:endParaRPr>
          </a:p>
          <a:p>
            <a:pPr marL="1200150" lvl="1" indent="-457200" algn="just">
              <a:lnSpc>
                <a:spcPct val="90000"/>
              </a:lnSpc>
              <a:buFont typeface="+mj-lt"/>
              <a:buAutoNum type="arabicPeriod"/>
            </a:pPr>
            <a:r>
              <a:rPr lang="el-GR" altLang="en-US" sz="1800" b="1" dirty="0">
                <a:solidFill>
                  <a:srgbClr val="990000"/>
                </a:solidFill>
                <a:latin typeface="Times New Roman" panose="02020603050405020304" pitchFamily="18" charset="0"/>
              </a:rPr>
              <a:t>Μια άλλη μέθοδος περιλαμβάνει ένα βρόχο κλειδώματος φάσης (</a:t>
            </a:r>
            <a:r>
              <a:rPr lang="el-GR" altLang="en-US" sz="1800" b="1" dirty="0" err="1">
                <a:solidFill>
                  <a:srgbClr val="990000"/>
                </a:solidFill>
                <a:latin typeface="Times New Roman" panose="02020603050405020304" pitchFamily="18" charset="0"/>
              </a:rPr>
              <a:t>phase</a:t>
            </a:r>
            <a:r>
              <a:rPr lang="el-GR" altLang="en-US" sz="1800" b="1" dirty="0">
                <a:solidFill>
                  <a:srgbClr val="990000"/>
                </a:solidFill>
                <a:latin typeface="Times New Roman" panose="02020603050405020304" pitchFamily="18" charset="0"/>
              </a:rPr>
              <a:t> </a:t>
            </a:r>
            <a:r>
              <a:rPr lang="el-GR" altLang="en-US" sz="1800" b="1" dirty="0" err="1">
                <a:solidFill>
                  <a:srgbClr val="990000"/>
                </a:solidFill>
                <a:latin typeface="Times New Roman" panose="02020603050405020304" pitchFamily="18" charset="0"/>
              </a:rPr>
              <a:t>locked</a:t>
            </a:r>
            <a:r>
              <a:rPr lang="el-GR" altLang="en-US" sz="1800" b="1" dirty="0">
                <a:solidFill>
                  <a:srgbClr val="990000"/>
                </a:solidFill>
                <a:latin typeface="Times New Roman" panose="02020603050405020304" pitchFamily="18" charset="0"/>
              </a:rPr>
              <a:t> </a:t>
            </a:r>
            <a:r>
              <a:rPr lang="el-GR" altLang="en-US" sz="1800" b="1" dirty="0" err="1">
                <a:solidFill>
                  <a:srgbClr val="990000"/>
                </a:solidFill>
                <a:latin typeface="Times New Roman" panose="02020603050405020304" pitchFamily="18" charset="0"/>
              </a:rPr>
              <a:t>loop</a:t>
            </a:r>
            <a:r>
              <a:rPr lang="en-US" altLang="en-US" sz="1800" b="1" dirty="0">
                <a:solidFill>
                  <a:srgbClr val="990000"/>
                </a:solidFill>
                <a:latin typeface="Times New Roman" panose="02020603050405020304" pitchFamily="18" charset="0"/>
              </a:rPr>
              <a:t>-</a:t>
            </a:r>
            <a:r>
              <a:rPr lang="el-GR" altLang="en-US" sz="1800" b="1" dirty="0">
                <a:solidFill>
                  <a:srgbClr val="990000"/>
                </a:solidFill>
                <a:latin typeface="Times New Roman" panose="02020603050405020304" pitchFamily="18" charset="0"/>
              </a:rPr>
              <a:t>PLL).</a:t>
            </a: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a:p>
            <a:pPr algn="just">
              <a:lnSpc>
                <a:spcPct val="90000"/>
              </a:lnSpc>
            </a:pPr>
            <a:endParaRPr lang="el-GR" altLang="en-US" sz="2200" b="1" dirty="0">
              <a:solidFill>
                <a:srgbClr val="990000"/>
              </a:solidFill>
              <a:latin typeface="Times New Roman" panose="02020603050405020304" pitchFamily="18" charset="0"/>
            </a:endParaRPr>
          </a:p>
        </p:txBody>
      </p:sp>
      <p:sp>
        <p:nvSpPr>
          <p:cNvPr id="10244" name="Rectangle 5"/>
          <p:cNvSpPr>
            <a:spLocks noChangeArrowheads="1"/>
          </p:cNvSpPr>
          <p:nvPr/>
        </p:nvSpPr>
        <p:spPr bwMode="auto">
          <a:xfrm>
            <a:off x="0" y="335756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sp>
        <p:nvSpPr>
          <p:cNvPr id="10245" name="Rectangle 7"/>
          <p:cNvSpPr>
            <a:spLocks noChangeArrowheads="1"/>
          </p:cNvSpPr>
          <p:nvPr/>
        </p:nvSpPr>
        <p:spPr bwMode="auto">
          <a:xfrm>
            <a:off x="0" y="336708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pic>
        <p:nvPicPr>
          <p:cNvPr id="10246" name="Picture 11" descr="FSKDECT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9513" y="5136431"/>
            <a:ext cx="5234473" cy="1886097"/>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49867-3B78-27BB-BE14-A5B520CB9AB4}"/>
            </a:ext>
          </a:extLst>
        </p:cNvPr>
        <p:cNvGrpSpPr/>
        <p:nvPr/>
      </p:nvGrpSpPr>
      <p:grpSpPr>
        <a:xfrm>
          <a:off x="0" y="0"/>
          <a:ext cx="0" cy="0"/>
          <a:chOff x="0" y="0"/>
          <a:chExt cx="0" cy="0"/>
        </a:xfrm>
      </p:grpSpPr>
      <p:sp>
        <p:nvSpPr>
          <p:cNvPr id="10242" name="Text Box 2">
            <a:extLst>
              <a:ext uri="{FF2B5EF4-FFF2-40B4-BE49-F238E27FC236}">
                <a16:creationId xmlns:a16="http://schemas.microsoft.com/office/drawing/2014/main" id="{3ADCFA57-78A3-CC01-A3F8-3126C2F20962}"/>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3	ΨΗΦΙΑΚΗ ΔΙΑΜΟΡΦΩΣΗ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a:t>
            </a:r>
            <a:endParaRPr lang="en-GB" altLang="en-US" sz="2200">
              <a:latin typeface="Times New Roman" panose="02020603050405020304" pitchFamily="18" charset="0"/>
            </a:endParaRPr>
          </a:p>
        </p:txBody>
      </p:sp>
      <p:sp>
        <p:nvSpPr>
          <p:cNvPr id="10243" name="Text Box 3">
            <a:extLst>
              <a:ext uri="{FF2B5EF4-FFF2-40B4-BE49-F238E27FC236}">
                <a16:creationId xmlns:a16="http://schemas.microsoft.com/office/drawing/2014/main" id="{4B8E15C9-FB1C-317C-9079-D48E32C35463}"/>
              </a:ext>
            </a:extLst>
          </p:cNvPr>
          <p:cNvSpPr txBox="1">
            <a:spLocks noChangeArrowheads="1"/>
          </p:cNvSpPr>
          <p:nvPr/>
        </p:nvSpPr>
        <p:spPr bwMode="auto">
          <a:xfrm>
            <a:off x="0" y="1054100"/>
            <a:ext cx="8953500" cy="266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err="1">
                <a:solidFill>
                  <a:srgbClr val="990000"/>
                </a:solidFill>
                <a:latin typeface="Times New Roman" panose="02020603050405020304" pitchFamily="18" charset="0"/>
              </a:rPr>
              <a:t>Αποδιαμόρφωση</a:t>
            </a:r>
            <a:r>
              <a:rPr lang="el-GR" altLang="en-US" sz="2200" b="1" dirty="0">
                <a:solidFill>
                  <a:srgbClr val="990000"/>
                </a:solidFill>
                <a:latin typeface="Times New Roman" panose="02020603050405020304" pitchFamily="18" charset="0"/>
              </a:rPr>
              <a:t> FSK</a:t>
            </a:r>
          </a:p>
          <a:p>
            <a:pPr marL="457200" indent="-457200" algn="just">
              <a:lnSpc>
                <a:spcPct val="90000"/>
              </a:lnSpc>
              <a:buAutoNum type="arabicPeriod" startAt="2"/>
            </a:pPr>
            <a:r>
              <a:rPr lang="el-GR" altLang="en-US" sz="2200" b="1" dirty="0">
                <a:solidFill>
                  <a:srgbClr val="990000"/>
                </a:solidFill>
                <a:latin typeface="Times New Roman" panose="02020603050405020304" pitchFamily="18" charset="0"/>
              </a:rPr>
              <a:t>Σύμφωνη ανίχνευση της διαμόρφωσης </a:t>
            </a:r>
            <a:r>
              <a:rPr lang="en-US" altLang="en-US" sz="2200" b="1" dirty="0">
                <a:solidFill>
                  <a:srgbClr val="990000"/>
                </a:solidFill>
                <a:latin typeface="Times New Roman" panose="02020603050405020304" pitchFamily="18" charset="0"/>
              </a:rPr>
              <a:t>FSK </a:t>
            </a:r>
          </a:p>
          <a:p>
            <a:pPr algn="just">
              <a:lnSpc>
                <a:spcPct val="90000"/>
              </a:lnSpc>
            </a:pPr>
            <a:endParaRPr lang="el-GR" altLang="en-US" sz="22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Η σύμφωνη ανίχνευση της FSK είναι παρόμοια με της ASK, αλλά με δύο ανιχνευτές συντονισμένους με τις δύο φέρουσες συχνότητες.  </a:t>
            </a:r>
            <a:endParaRPr lang="en-US" altLang="en-US" sz="20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endParaRPr lang="en-US" altLang="en-US" sz="20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Όπως και στην ASK, η σύμφωνη ανίχνευση και το προσαρμοσμένο φιλτράρισμα (</a:t>
            </a:r>
            <a:r>
              <a:rPr lang="el-GR" altLang="en-US" sz="2000" b="1" dirty="0" err="1">
                <a:solidFill>
                  <a:srgbClr val="990000"/>
                </a:solidFill>
                <a:latin typeface="Times New Roman" panose="02020603050405020304" pitchFamily="18" charset="0"/>
              </a:rPr>
              <a:t>matched</a:t>
            </a:r>
            <a:r>
              <a:rPr lang="el-GR" altLang="en-US" sz="2000" b="1" dirty="0">
                <a:solidFill>
                  <a:srgbClr val="990000"/>
                </a:solidFill>
                <a:latin typeface="Times New Roman" panose="02020603050405020304" pitchFamily="18" charset="0"/>
              </a:rPr>
              <a:t> </a:t>
            </a:r>
            <a:r>
              <a:rPr lang="el-GR" altLang="en-US" sz="2000" b="1" dirty="0" err="1">
                <a:solidFill>
                  <a:srgbClr val="990000"/>
                </a:solidFill>
                <a:latin typeface="Times New Roman" panose="02020603050405020304" pitchFamily="18" charset="0"/>
              </a:rPr>
              <a:t>filtering</a:t>
            </a:r>
            <a:r>
              <a:rPr lang="el-GR" altLang="en-US" sz="2000" b="1" dirty="0">
                <a:solidFill>
                  <a:srgbClr val="990000"/>
                </a:solidFill>
                <a:latin typeface="Times New Roman" panose="02020603050405020304" pitchFamily="18" charset="0"/>
              </a:rPr>
              <a:t>) ελαχιστοποιούν την επίδραση του θορύβου στον δέκτη.</a:t>
            </a:r>
          </a:p>
        </p:txBody>
      </p:sp>
      <p:sp>
        <p:nvSpPr>
          <p:cNvPr id="10244" name="Rectangle 5">
            <a:extLst>
              <a:ext uri="{FF2B5EF4-FFF2-40B4-BE49-F238E27FC236}">
                <a16:creationId xmlns:a16="http://schemas.microsoft.com/office/drawing/2014/main" id="{53C6B988-29F5-BFEA-AF8F-0E0332EBB6F1}"/>
              </a:ext>
            </a:extLst>
          </p:cNvPr>
          <p:cNvSpPr>
            <a:spLocks noChangeArrowheads="1"/>
          </p:cNvSpPr>
          <p:nvPr/>
        </p:nvSpPr>
        <p:spPr bwMode="auto">
          <a:xfrm>
            <a:off x="0" y="335756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sp>
        <p:nvSpPr>
          <p:cNvPr id="10245" name="Rectangle 7">
            <a:extLst>
              <a:ext uri="{FF2B5EF4-FFF2-40B4-BE49-F238E27FC236}">
                <a16:creationId xmlns:a16="http://schemas.microsoft.com/office/drawing/2014/main" id="{9A8E895B-5B94-BB9A-F433-547C5988423A}"/>
              </a:ext>
            </a:extLst>
          </p:cNvPr>
          <p:cNvSpPr>
            <a:spLocks noChangeArrowheads="1"/>
          </p:cNvSpPr>
          <p:nvPr/>
        </p:nvSpPr>
        <p:spPr bwMode="auto">
          <a:xfrm>
            <a:off x="0" y="336708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pic>
        <p:nvPicPr>
          <p:cNvPr id="10248" name="Picture 15" descr="FSKDECT2">
            <a:extLst>
              <a:ext uri="{FF2B5EF4-FFF2-40B4-BE49-F238E27FC236}">
                <a16:creationId xmlns:a16="http://schemas.microsoft.com/office/drawing/2014/main" id="{6A7E3E93-3ACB-CBFC-AEF8-7FA729705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4000" y="3895675"/>
            <a:ext cx="4885499" cy="2906598"/>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567121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A946D-B75F-C1C0-FD5F-B56A5A7D9413}"/>
            </a:ext>
          </a:extLst>
        </p:cNvPr>
        <p:cNvGrpSpPr/>
        <p:nvPr/>
      </p:nvGrpSpPr>
      <p:grpSpPr>
        <a:xfrm>
          <a:off x="0" y="0"/>
          <a:ext cx="0" cy="0"/>
          <a:chOff x="0" y="0"/>
          <a:chExt cx="0" cy="0"/>
        </a:xfrm>
      </p:grpSpPr>
      <p:sp>
        <p:nvSpPr>
          <p:cNvPr id="10242" name="Text Box 2">
            <a:extLst>
              <a:ext uri="{FF2B5EF4-FFF2-40B4-BE49-F238E27FC236}">
                <a16:creationId xmlns:a16="http://schemas.microsoft.com/office/drawing/2014/main" id="{E5C2B02B-E855-C995-0DC9-4658ABEF6394}"/>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3	ΨΗΦΙΑΚΗ ΔΙΑΜΟΡΦΩΣΗ ΣΥΧΝΟΤΗΤΑΣ (</a:t>
            </a:r>
            <a:r>
              <a:rPr lang="en-US" altLang="en-US" sz="2200" b="1">
                <a:latin typeface="Times New Roman" panose="02020603050405020304" pitchFamily="18" charset="0"/>
                <a:cs typeface="Times New Roman" panose="02020603050405020304" pitchFamily="18" charset="0"/>
              </a:rPr>
              <a:t>FSK</a:t>
            </a:r>
            <a:r>
              <a:rPr lang="el-GR" altLang="en-US" sz="2200" b="1">
                <a:latin typeface="Times New Roman" panose="02020603050405020304" pitchFamily="18" charset="0"/>
                <a:cs typeface="Times New Roman" panose="02020603050405020304" pitchFamily="18" charset="0"/>
              </a:rPr>
              <a:t>)</a:t>
            </a:r>
            <a:endParaRPr lang="en-GB" altLang="en-US" sz="2200">
              <a:latin typeface="Times New Roman" panose="02020603050405020304" pitchFamily="18" charset="0"/>
            </a:endParaRPr>
          </a:p>
        </p:txBody>
      </p:sp>
      <p:sp>
        <p:nvSpPr>
          <p:cNvPr id="10243" name="Text Box 3">
            <a:extLst>
              <a:ext uri="{FF2B5EF4-FFF2-40B4-BE49-F238E27FC236}">
                <a16:creationId xmlns:a16="http://schemas.microsoft.com/office/drawing/2014/main" id="{60337F4F-4649-46EE-5800-DED41697957A}"/>
              </a:ext>
            </a:extLst>
          </p:cNvPr>
          <p:cNvSpPr txBox="1">
            <a:spLocks noChangeArrowheads="1"/>
          </p:cNvSpPr>
          <p:nvPr/>
        </p:nvSpPr>
        <p:spPr bwMode="auto">
          <a:xfrm>
            <a:off x="0" y="1054100"/>
            <a:ext cx="8953500" cy="4330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Πλεονεκτήματα FSK: </a:t>
            </a:r>
            <a:endParaRPr lang="en-US" altLang="en-US" sz="22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Επειδή η διαμόρφωση FSK είναι μια διαμόρφωση σταθερής </a:t>
            </a:r>
            <a:r>
              <a:rPr lang="el-GR" altLang="en-US" sz="2000" b="1" dirty="0" err="1">
                <a:solidFill>
                  <a:srgbClr val="990000"/>
                </a:solidFill>
                <a:latin typeface="Times New Roman" panose="02020603050405020304" pitchFamily="18" charset="0"/>
              </a:rPr>
              <a:t>περιβάλλουσας</a:t>
            </a:r>
            <a:r>
              <a:rPr lang="el-GR" altLang="en-US" sz="2000" b="1" dirty="0">
                <a:solidFill>
                  <a:srgbClr val="990000"/>
                </a:solidFill>
                <a:latin typeface="Times New Roman" panose="02020603050405020304" pitchFamily="18" charset="0"/>
              </a:rPr>
              <a:t>, είναι αναίσθητη στις μεταβολές πλάτους (δηλαδή απολαβής) που συμβαίνουν στο κανάλι και είναι συμβατή με συστήματα μη γραμμικών πομπών και δεκτών. </a:t>
            </a:r>
            <a:endParaRPr lang="en-US" altLang="en-US" sz="20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Η ανίχνευση της FSK μπορεί να στηριχτεί στις σχετικές μεταβολές συχνότητας μεταξύ των καταστάσεων συμβόλων και επομένως δεν απαιτεί απόλυτη ακρίβεια των τιμών συχνοτήτων που διαδίδονται στο κανάλι. </a:t>
            </a:r>
            <a:endParaRPr lang="en-US" altLang="en-US" sz="20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Άρα η FSK είναι σχετικά ανεκτική στην ολίσθηση συχνότητας του τοπικού ταλαντωτή και τη μετατόπιση συχνότητας λόγω φαινομένου </a:t>
            </a:r>
            <a:r>
              <a:rPr lang="el-GR" altLang="en-US" sz="2000" b="1" dirty="0" err="1">
                <a:solidFill>
                  <a:srgbClr val="990000"/>
                </a:solidFill>
                <a:latin typeface="Times New Roman" panose="02020603050405020304" pitchFamily="18" charset="0"/>
              </a:rPr>
              <a:t>Doppler</a:t>
            </a:r>
            <a:r>
              <a:rPr lang="el-GR" altLang="en-US" sz="2000" b="1" dirty="0">
                <a:solidFill>
                  <a:srgbClr val="990000"/>
                </a:solidFill>
                <a:latin typeface="Times New Roman" panose="02020603050405020304" pitchFamily="18" charset="0"/>
              </a:rPr>
              <a:t>. </a:t>
            </a:r>
            <a:endParaRPr lang="en-US" altLang="en-US" sz="2000" b="1" dirty="0">
              <a:solidFill>
                <a:srgbClr val="990000"/>
              </a:solidFill>
              <a:latin typeface="Times New Roman" panose="02020603050405020304" pitchFamily="18" charset="0"/>
            </a:endParaRPr>
          </a:p>
          <a:p>
            <a:pPr algn="just">
              <a:lnSpc>
                <a:spcPct val="90000"/>
              </a:lnSpc>
            </a:pPr>
            <a:endParaRPr lang="en-US" altLang="en-US" sz="2200" b="1" dirty="0">
              <a:solidFill>
                <a:srgbClr val="990000"/>
              </a:solidFill>
              <a:latin typeface="Times New Roman" panose="02020603050405020304" pitchFamily="18" charset="0"/>
            </a:endParaRPr>
          </a:p>
          <a:p>
            <a:pPr algn="just">
              <a:lnSpc>
                <a:spcPct val="90000"/>
              </a:lnSpc>
            </a:pPr>
            <a:r>
              <a:rPr lang="el-GR" altLang="en-US" sz="2200" b="1" dirty="0">
                <a:solidFill>
                  <a:srgbClr val="990000"/>
                </a:solidFill>
                <a:latin typeface="Times New Roman" panose="02020603050405020304" pitchFamily="18" charset="0"/>
              </a:rPr>
              <a:t>Μειονεκτήματα FSK: </a:t>
            </a:r>
            <a:endParaRPr lang="en-US" altLang="en-US" sz="22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Η FSK έχει σχετικά μικρότερη απόδοση εύρους ζώνης από τις ASK και PSK. </a:t>
            </a:r>
            <a:endParaRPr lang="en-US" altLang="en-US" sz="2000" b="1" dirty="0">
              <a:solidFill>
                <a:srgbClr val="990000"/>
              </a:solidFill>
              <a:latin typeface="Times New Roman" panose="02020603050405020304" pitchFamily="18" charset="0"/>
            </a:endParaRPr>
          </a:p>
          <a:p>
            <a:pPr marL="342900" indent="-342900" algn="just">
              <a:lnSpc>
                <a:spcPct val="90000"/>
              </a:lnSpc>
              <a:buFont typeface="Arial" panose="020B0604020202020204" pitchFamily="34" charset="0"/>
              <a:buChar char="•"/>
            </a:pPr>
            <a:r>
              <a:rPr lang="el-GR" altLang="en-US" sz="2000" b="1" dirty="0">
                <a:solidFill>
                  <a:srgbClr val="990000"/>
                </a:solidFill>
                <a:latin typeface="Times New Roman" panose="02020603050405020304" pitchFamily="18" charset="0"/>
              </a:rPr>
              <a:t>Ο ρυθμός εμφάνισης εσφαλμένων </a:t>
            </a:r>
            <a:r>
              <a:rPr lang="el-GR" altLang="en-US" sz="2000" b="1" dirty="0" err="1">
                <a:solidFill>
                  <a:srgbClr val="990000"/>
                </a:solidFill>
                <a:latin typeface="Times New Roman" panose="02020603050405020304" pitchFamily="18" charset="0"/>
              </a:rPr>
              <a:t>bit</a:t>
            </a:r>
            <a:r>
              <a:rPr lang="el-GR" altLang="en-US" sz="2000" b="1" dirty="0">
                <a:solidFill>
                  <a:srgbClr val="990000"/>
                </a:solidFill>
                <a:latin typeface="Times New Roman" panose="02020603050405020304" pitchFamily="18" charset="0"/>
              </a:rPr>
              <a:t> και συμβόλων της FSK είναι χειρότερος από της PSK.</a:t>
            </a:r>
          </a:p>
        </p:txBody>
      </p:sp>
      <p:sp>
        <p:nvSpPr>
          <p:cNvPr id="10244" name="Rectangle 5">
            <a:extLst>
              <a:ext uri="{FF2B5EF4-FFF2-40B4-BE49-F238E27FC236}">
                <a16:creationId xmlns:a16="http://schemas.microsoft.com/office/drawing/2014/main" id="{0BE0ECF3-2548-60EA-78E1-730318E12A54}"/>
              </a:ext>
            </a:extLst>
          </p:cNvPr>
          <p:cNvSpPr>
            <a:spLocks noChangeArrowheads="1"/>
          </p:cNvSpPr>
          <p:nvPr/>
        </p:nvSpPr>
        <p:spPr bwMode="auto">
          <a:xfrm>
            <a:off x="0" y="3357563"/>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sp>
        <p:nvSpPr>
          <p:cNvPr id="10245" name="Rectangle 7">
            <a:extLst>
              <a:ext uri="{FF2B5EF4-FFF2-40B4-BE49-F238E27FC236}">
                <a16:creationId xmlns:a16="http://schemas.microsoft.com/office/drawing/2014/main" id="{1E12F65A-FC07-0EC5-59A3-83250D4CA2BF}"/>
              </a:ext>
            </a:extLst>
          </p:cNvPr>
          <p:cNvSpPr>
            <a:spLocks noChangeArrowheads="1"/>
          </p:cNvSpPr>
          <p:nvPr/>
        </p:nvSpPr>
        <p:spPr bwMode="auto">
          <a:xfrm>
            <a:off x="0" y="3367088"/>
            <a:ext cx="89535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endParaRPr lang="el-GR" altLang="en-US"/>
          </a:p>
        </p:txBody>
      </p:sp>
    </p:spTree>
    <p:extLst>
      <p:ext uri="{BB962C8B-B14F-4D97-AF65-F5344CB8AC3E}">
        <p14:creationId xmlns:p14="http://schemas.microsoft.com/office/powerpoint/2010/main" val="85242765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4	ΨΗΦΙΑΚΗ ΔΙΑΜΟΡΦΩΣΗ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sp>
        <p:nvSpPr>
          <p:cNvPr id="11267" name="Text Box 4"/>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Δημιουργία της διαμόρφωσης </a:t>
            </a:r>
            <a:r>
              <a:rPr lang="en-US" altLang="en-US" sz="2200" b="1">
                <a:solidFill>
                  <a:srgbClr val="990000"/>
                </a:solidFill>
                <a:latin typeface="Times New Roman" panose="02020603050405020304" pitchFamily="18" charset="0"/>
              </a:rPr>
              <a:t>P</a:t>
            </a:r>
            <a:r>
              <a:rPr lang="el-GR" altLang="en-US" sz="2200" b="1">
                <a:solidFill>
                  <a:srgbClr val="990000"/>
                </a:solidFill>
                <a:latin typeface="Times New Roman" panose="02020603050405020304" pitchFamily="18" charset="0"/>
              </a:rPr>
              <a:t>SK</a:t>
            </a:r>
          </a:p>
        </p:txBody>
      </p:sp>
      <p:pic>
        <p:nvPicPr>
          <p:cNvPr id="11268" name="Picture 5" descr="pskgen1"/>
          <p:cNvPicPr>
            <a:picLocks noChangeAspect="1" noChangeArrowheads="1"/>
          </p:cNvPicPr>
          <p:nvPr/>
        </p:nvPicPr>
        <p:blipFill>
          <a:blip r:embed="rId2">
            <a:lum bright="-18000"/>
            <a:extLst>
              <a:ext uri="{28A0092B-C50C-407E-A947-70E740481C1C}">
                <a14:useLocalDpi xmlns:a14="http://schemas.microsoft.com/office/drawing/2010/main" val="0"/>
              </a:ext>
            </a:extLst>
          </a:blip>
          <a:srcRect/>
          <a:stretch>
            <a:fillRect/>
          </a:stretch>
        </p:blipFill>
        <p:spPr bwMode="auto">
          <a:xfrm>
            <a:off x="2299256" y="1718628"/>
            <a:ext cx="3691096" cy="152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02E8B44F-06F0-5BC0-ACE6-61E271998E36}"/>
              </a:ext>
            </a:extLst>
          </p:cNvPr>
          <p:cNvSpPr txBox="1"/>
          <p:nvPr/>
        </p:nvSpPr>
        <p:spPr>
          <a:xfrm>
            <a:off x="157163" y="3385784"/>
            <a:ext cx="7975282" cy="1938992"/>
          </a:xfrm>
          <a:prstGeom prst="rect">
            <a:avLst/>
          </a:prstGeom>
          <a:noFill/>
        </p:spPr>
        <p:txBody>
          <a:bodyPr wrap="square">
            <a:spAutoFit/>
          </a:bodyPr>
          <a:lstStyle/>
          <a:p>
            <a:pPr marL="342900" indent="-342900">
              <a:buFont typeface="Arial" panose="020B0604020202020204" pitchFamily="34" charset="0"/>
              <a:buChar char="•"/>
            </a:pPr>
            <a:r>
              <a:rPr lang="el-GR" sz="2000" b="1" dirty="0">
                <a:solidFill>
                  <a:srgbClr val="990000"/>
                </a:solidFill>
                <a:latin typeface="Times New Roman" panose="02020603050405020304" pitchFamily="18" charset="0"/>
              </a:rPr>
              <a:t>Φιλτράρισμα του ψηφιακού σήματος εισόδου με ένα φίλτρο μορφοποίησης παλμών (υψωμένου </a:t>
            </a:r>
            <a:r>
              <a:rPr lang="el-GR" sz="2000" b="1" dirty="0" err="1">
                <a:solidFill>
                  <a:srgbClr val="990000"/>
                </a:solidFill>
                <a:latin typeface="Times New Roman" panose="02020603050405020304" pitchFamily="18" charset="0"/>
              </a:rPr>
              <a:t>συνημιτόνου</a:t>
            </a:r>
            <a:r>
              <a:rPr lang="el-GR" sz="2000" b="1" dirty="0">
                <a:solidFill>
                  <a:srgbClr val="990000"/>
                </a:solidFill>
                <a:latin typeface="Times New Roman" panose="02020603050405020304" pitchFamily="18" charset="0"/>
              </a:rPr>
              <a:t> ), ώστε να περιοριστεί το εύρος ζώνης και να παραχθεί η ακολουθία δεδομένων βασικής ζώνης. </a:t>
            </a:r>
            <a:endParaRPr lang="en-US" sz="2000" b="1" dirty="0">
              <a:solidFill>
                <a:srgbClr val="990000"/>
              </a:solidFill>
              <a:latin typeface="Times New Roman" panose="02020603050405020304" pitchFamily="18" charset="0"/>
            </a:endParaRPr>
          </a:p>
          <a:p>
            <a:pPr marL="342900" indent="-342900">
              <a:buFont typeface="Arial" panose="020B0604020202020204" pitchFamily="34" charset="0"/>
              <a:buChar char="•"/>
            </a:pPr>
            <a:r>
              <a:rPr lang="el-GR" sz="2000" b="1" dirty="0">
                <a:solidFill>
                  <a:srgbClr val="990000"/>
                </a:solidFill>
                <a:latin typeface="Times New Roman" panose="02020603050405020304" pitchFamily="18" charset="0"/>
              </a:rPr>
              <a:t>Πολλαπλασιασμός φέροντος με την ακολουθία δεδομένων βασικής ζώνης, μέσω μίας γραμμικής διαμόρφωσης παλμών.</a:t>
            </a:r>
          </a:p>
        </p:txBody>
      </p:sp>
      <p:pic>
        <p:nvPicPr>
          <p:cNvPr id="4" name="Picture 6" descr="pskgen2">
            <a:extLst>
              <a:ext uri="{FF2B5EF4-FFF2-40B4-BE49-F238E27FC236}">
                <a16:creationId xmlns:a16="http://schemas.microsoft.com/office/drawing/2014/main" id="{F7AA739E-D83E-E398-D21A-0783C3C22457}"/>
              </a:ext>
            </a:extLst>
          </p:cNvPr>
          <p:cNvPicPr>
            <a:picLocks noChangeAspect="1" noChangeArrowheads="1"/>
          </p:cNvPicPr>
          <p:nvPr/>
        </p:nvPicPr>
        <p:blipFill>
          <a:blip r:embed="rId3">
            <a:lum bright="-24000"/>
            <a:extLst>
              <a:ext uri="{28A0092B-C50C-407E-A947-70E740481C1C}">
                <a14:useLocalDpi xmlns:a14="http://schemas.microsoft.com/office/drawing/2010/main" val="0"/>
              </a:ext>
            </a:extLst>
          </a:blip>
          <a:srcRect/>
          <a:stretch>
            <a:fillRect/>
          </a:stretch>
        </p:blipFill>
        <p:spPr bwMode="auto">
          <a:xfrm>
            <a:off x="1875155" y="5469219"/>
            <a:ext cx="3759835" cy="158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086B4-DA08-B6C1-7ED8-C0EDE9F7FF97}"/>
            </a:ext>
          </a:extLst>
        </p:cNvPr>
        <p:cNvGrpSpPr/>
        <p:nvPr/>
      </p:nvGrpSpPr>
      <p:grpSpPr>
        <a:xfrm>
          <a:off x="0" y="0"/>
          <a:ext cx="0" cy="0"/>
          <a:chOff x="0" y="0"/>
          <a:chExt cx="0" cy="0"/>
        </a:xfrm>
      </p:grpSpPr>
      <p:sp>
        <p:nvSpPr>
          <p:cNvPr id="11266" name="Text Box 3">
            <a:extLst>
              <a:ext uri="{FF2B5EF4-FFF2-40B4-BE49-F238E27FC236}">
                <a16:creationId xmlns:a16="http://schemas.microsoft.com/office/drawing/2014/main" id="{5CCD9F0F-3140-8F55-3B05-B7CF8F6ACB50}"/>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4	ΨΗΦΙΑΚΗ ΔΙΑΜΟΡΦΩΣΗ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sp>
        <p:nvSpPr>
          <p:cNvPr id="11267" name="Text Box 4">
            <a:extLst>
              <a:ext uri="{FF2B5EF4-FFF2-40B4-BE49-F238E27FC236}">
                <a16:creationId xmlns:a16="http://schemas.microsoft.com/office/drawing/2014/main" id="{A72F405C-606C-70F7-CCE0-FAF955DF613D}"/>
              </a:ext>
            </a:extLst>
          </p:cNvPr>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Δημιουργία της διαμόρφωσης </a:t>
            </a:r>
            <a:r>
              <a:rPr lang="en-US" altLang="en-US" sz="2200" b="1">
                <a:solidFill>
                  <a:srgbClr val="990000"/>
                </a:solidFill>
                <a:latin typeface="Times New Roman" panose="02020603050405020304" pitchFamily="18" charset="0"/>
              </a:rPr>
              <a:t>P</a:t>
            </a:r>
            <a:r>
              <a:rPr lang="el-GR" altLang="en-US" sz="2200" b="1">
                <a:solidFill>
                  <a:srgbClr val="990000"/>
                </a:solidFill>
                <a:latin typeface="Times New Roman" panose="02020603050405020304" pitchFamily="18" charset="0"/>
              </a:rPr>
              <a:t>SK</a:t>
            </a:r>
          </a:p>
        </p:txBody>
      </p:sp>
      <p:pic>
        <p:nvPicPr>
          <p:cNvPr id="11270" name="Picture 8" descr="PSKCONST">
            <a:extLst>
              <a:ext uri="{FF2B5EF4-FFF2-40B4-BE49-F238E27FC236}">
                <a16:creationId xmlns:a16="http://schemas.microsoft.com/office/drawing/2014/main" id="{223E4B67-3BD7-BB82-6CE3-E11C6D1B0CFE}"/>
              </a:ext>
            </a:extLst>
          </p:cNvPr>
          <p:cNvPicPr>
            <a:picLocks noChangeAspect="1" noChangeArrowheads="1"/>
          </p:cNvPicPr>
          <p:nvPr/>
        </p:nvPicPr>
        <p:blipFill>
          <a:blip r:embed="rId2">
            <a:lum bright="-24000" contrast="-6000"/>
            <a:extLst>
              <a:ext uri="{28A0092B-C50C-407E-A947-70E740481C1C}">
                <a14:useLocalDpi xmlns:a14="http://schemas.microsoft.com/office/drawing/2010/main" val="0"/>
              </a:ext>
            </a:extLst>
          </a:blip>
          <a:srcRect/>
          <a:stretch>
            <a:fillRect/>
          </a:stretch>
        </p:blipFill>
        <p:spPr bwMode="auto">
          <a:xfrm>
            <a:off x="2924810" y="4208622"/>
            <a:ext cx="2592388" cy="183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272B8F2-D7F8-07AA-EC7C-6DDF219AC54F}"/>
                  </a:ext>
                </a:extLst>
              </p:cNvPr>
              <p:cNvSpPr txBox="1"/>
              <p:nvPr/>
            </p:nvSpPr>
            <p:spPr>
              <a:xfrm>
                <a:off x="197168" y="2014715"/>
                <a:ext cx="8478202" cy="1015663"/>
              </a:xfrm>
              <a:prstGeom prst="rect">
                <a:avLst/>
              </a:prstGeom>
              <a:noFill/>
            </p:spPr>
            <p:txBody>
              <a:bodyPr wrap="square">
                <a:spAutoFit/>
              </a:bodyPr>
              <a:lstStyle/>
              <a:p>
                <a:r>
                  <a:rPr lang="el-GR" sz="2000" b="1" dirty="0">
                    <a:solidFill>
                      <a:srgbClr val="990000"/>
                    </a:solidFill>
                    <a:latin typeface="Times New Roman" panose="02020603050405020304" pitchFamily="18" charset="0"/>
                  </a:rPr>
                  <a:t>Το διάγραμμα αστερισμού της δυαδικής PSK εμφανίζει δύο σημεία συμμετρικά ως προς την αρχή των αξόνων (</a:t>
                </a:r>
                <a:r>
                  <a:rPr lang="el-GR" sz="2000" b="1" dirty="0" err="1">
                    <a:solidFill>
                      <a:srgbClr val="990000"/>
                    </a:solidFill>
                    <a:latin typeface="Times New Roman" panose="02020603050405020304" pitchFamily="18" charset="0"/>
                  </a:rPr>
                  <a:t>αντιποδική</a:t>
                </a:r>
                <a:r>
                  <a:rPr lang="el-GR" sz="2000" b="1" dirty="0">
                    <a:solidFill>
                      <a:srgbClr val="990000"/>
                    </a:solidFill>
                    <a:latin typeface="Times New Roman" panose="02020603050405020304" pitchFamily="18" charset="0"/>
                  </a:rPr>
                  <a:t> σηματοδοσία, </a:t>
                </a:r>
                <a:r>
                  <a:rPr lang="el-GR" sz="2000" b="1" dirty="0" err="1">
                    <a:solidFill>
                      <a:srgbClr val="990000"/>
                    </a:solidFill>
                    <a:latin typeface="Times New Roman" panose="02020603050405020304" pitchFamily="18" charset="0"/>
                  </a:rPr>
                  <a:t>antipodal</a:t>
                </a:r>
                <a:r>
                  <a:rPr lang="el-GR" sz="2000" b="1" dirty="0">
                    <a:solidFill>
                      <a:srgbClr val="990000"/>
                    </a:solidFill>
                    <a:latin typeface="Times New Roman" panose="02020603050405020304" pitchFamily="18" charset="0"/>
                  </a:rPr>
                  <a:t> </a:t>
                </a:r>
                <a:r>
                  <a:rPr lang="el-GR" sz="2000" b="1" dirty="0" err="1">
                    <a:solidFill>
                      <a:srgbClr val="990000"/>
                    </a:solidFill>
                    <a:latin typeface="Times New Roman" panose="02020603050405020304" pitchFamily="18" charset="0"/>
                  </a:rPr>
                  <a:t>signalling</a:t>
                </a:r>
                <a:r>
                  <a:rPr lang="el-GR" sz="2000" b="1" dirty="0">
                    <a:solidFill>
                      <a:srgbClr val="990000"/>
                    </a:solidFill>
                    <a:latin typeface="Times New Roman" panose="02020603050405020304" pitchFamily="18" charset="0"/>
                  </a:rPr>
                  <a:t>), δηλ. τα  </a:t>
                </a:r>
                <a14:m>
                  <m:oMath xmlns:m="http://schemas.openxmlformats.org/officeDocument/2006/math">
                    <m:r>
                      <a:rPr lang="en-US" sz="2000" b="1" i="1" dirty="0" smtClean="0">
                        <a:solidFill>
                          <a:srgbClr val="990000"/>
                        </a:solidFill>
                        <a:latin typeface="Cambria Math" panose="02040503050406030204" pitchFamily="18" charset="0"/>
                      </a:rPr>
                      <m:t>𝒂</m:t>
                    </m:r>
                    <m:r>
                      <a:rPr lang="en-US" sz="2000" b="1" i="1" dirty="0" smtClean="0">
                        <a:solidFill>
                          <a:srgbClr val="990000"/>
                        </a:solidFill>
                        <a:latin typeface="Cambria Math" panose="02040503050406030204" pitchFamily="18" charset="0"/>
                      </a:rPr>
                      <m:t>(</m:t>
                    </m:r>
                    <m:r>
                      <a:rPr lang="en-US" sz="2000" b="1" i="1" dirty="0" smtClean="0">
                        <a:solidFill>
                          <a:srgbClr val="990000"/>
                        </a:solidFill>
                        <a:latin typeface="Cambria Math" panose="02040503050406030204" pitchFamily="18" charset="0"/>
                      </a:rPr>
                      <m:t>𝒕</m:t>
                    </m:r>
                    <m:r>
                      <a:rPr lang="en-US" sz="2000" b="1" i="1" dirty="0" smtClean="0">
                        <a:solidFill>
                          <a:srgbClr val="990000"/>
                        </a:solidFill>
                        <a:latin typeface="Cambria Math" panose="02040503050406030204" pitchFamily="18" charset="0"/>
                      </a:rPr>
                      <m:t>) =−</m:t>
                    </m:r>
                    <m:r>
                      <a:rPr lang="el-GR" sz="2000" b="1" i="1" dirty="0" smtClean="0">
                        <a:solidFill>
                          <a:srgbClr val="990000"/>
                        </a:solidFill>
                        <a:latin typeface="Cambria Math" panose="02040503050406030204" pitchFamily="18" charset="0"/>
                      </a:rPr>
                      <m:t>𝑨𝒄𝒐𝒔</m:t>
                    </m:r>
                    <m:sSub>
                      <m:sSubPr>
                        <m:ctrlPr>
                          <a:rPr lang="en-US" sz="2000" b="1" i="1" dirty="0" smtClean="0">
                            <a:solidFill>
                              <a:srgbClr val="990000"/>
                            </a:solidFill>
                            <a:latin typeface="Cambria Math" panose="02040503050406030204" pitchFamily="18" charset="0"/>
                          </a:rPr>
                        </m:ctrlPr>
                      </m:sSubPr>
                      <m:e>
                        <m:r>
                          <a:rPr lang="el-GR" sz="2000" b="1" i="1" dirty="0" smtClean="0">
                            <a:solidFill>
                              <a:srgbClr val="990000"/>
                            </a:solidFill>
                            <a:latin typeface="Cambria Math" panose="02040503050406030204" pitchFamily="18" charset="0"/>
                          </a:rPr>
                          <m:t>𝝎</m:t>
                        </m:r>
                      </m:e>
                      <m:sub>
                        <m:r>
                          <a:rPr lang="el-GR" sz="2000" b="1" i="1" dirty="0" smtClean="0">
                            <a:solidFill>
                              <a:srgbClr val="990000"/>
                            </a:solidFill>
                            <a:latin typeface="Cambria Math" panose="02040503050406030204" pitchFamily="18" charset="0"/>
                          </a:rPr>
                          <m:t>𝒄</m:t>
                        </m:r>
                      </m:sub>
                    </m:sSub>
                    <m:r>
                      <a:rPr lang="el-GR" sz="2000" b="1" i="1" dirty="0" smtClean="0">
                        <a:solidFill>
                          <a:srgbClr val="990000"/>
                        </a:solidFill>
                        <a:latin typeface="Cambria Math" panose="02040503050406030204" pitchFamily="18" charset="0"/>
                      </a:rPr>
                      <m:t>𝒕</m:t>
                    </m:r>
                    <m:r>
                      <a:rPr lang="en-US" sz="2000" b="1" i="1" dirty="0">
                        <a:solidFill>
                          <a:srgbClr val="990000"/>
                        </a:solidFill>
                        <a:latin typeface="Cambria Math" panose="02040503050406030204" pitchFamily="18" charset="0"/>
                      </a:rPr>
                      <m:t> </m:t>
                    </m:r>
                  </m:oMath>
                </a14:m>
                <a:r>
                  <a:rPr lang="el-GR" sz="2000" b="1" dirty="0">
                    <a:solidFill>
                      <a:srgbClr val="990000"/>
                    </a:solidFill>
                    <a:latin typeface="Times New Roman" panose="02020603050405020304" pitchFamily="18" charset="0"/>
                  </a:rPr>
                  <a:t>και</a:t>
                </a:r>
                <a:r>
                  <a:rPr lang="en-US" sz="2000" b="1" dirty="0">
                    <a:solidFill>
                      <a:srgbClr val="990000"/>
                    </a:solidFill>
                    <a:latin typeface="Times New Roman" panose="02020603050405020304" pitchFamily="18" charset="0"/>
                  </a:rPr>
                  <a:t> </a:t>
                </a:r>
                <a14:m>
                  <m:oMath xmlns:m="http://schemas.openxmlformats.org/officeDocument/2006/math">
                    <m:r>
                      <a:rPr lang="el-GR" sz="2000" b="1" i="1" dirty="0" smtClean="0">
                        <a:solidFill>
                          <a:srgbClr val="990000"/>
                        </a:solidFill>
                        <a:latin typeface="Cambria Math" panose="02040503050406030204" pitchFamily="18" charset="0"/>
                      </a:rPr>
                      <m:t>𝜶</m:t>
                    </m:r>
                    <m:r>
                      <a:rPr lang="el-GR" sz="2000" b="1" i="1" dirty="0">
                        <a:solidFill>
                          <a:srgbClr val="990000"/>
                        </a:solidFill>
                        <a:latin typeface="Cambria Math" panose="02040503050406030204" pitchFamily="18" charset="0"/>
                      </a:rPr>
                      <m:t>(</m:t>
                    </m:r>
                    <m:r>
                      <a:rPr lang="el-GR" sz="2000" b="1" i="1" dirty="0">
                        <a:solidFill>
                          <a:srgbClr val="990000"/>
                        </a:solidFill>
                        <a:latin typeface="Cambria Math" panose="02040503050406030204" pitchFamily="18" charset="0"/>
                      </a:rPr>
                      <m:t>𝒕</m:t>
                    </m:r>
                    <m:r>
                      <a:rPr lang="el-GR" sz="2000" b="1" i="1" dirty="0">
                        <a:solidFill>
                          <a:srgbClr val="990000"/>
                        </a:solidFill>
                        <a:latin typeface="Cambria Math" panose="02040503050406030204" pitchFamily="18" charset="0"/>
                      </a:rPr>
                      <m:t>) = </m:t>
                    </m:r>
                    <m:r>
                      <a:rPr lang="el-GR" sz="2000" b="1" i="1" dirty="0" smtClean="0">
                        <a:solidFill>
                          <a:srgbClr val="990000"/>
                        </a:solidFill>
                        <a:latin typeface="Cambria Math" panose="02040503050406030204" pitchFamily="18" charset="0"/>
                      </a:rPr>
                      <m:t>𝑨𝒄𝒐𝒔</m:t>
                    </m:r>
                    <m:sSub>
                      <m:sSubPr>
                        <m:ctrlPr>
                          <a:rPr lang="en-US" sz="2000" b="1" i="1" dirty="0" smtClean="0">
                            <a:solidFill>
                              <a:srgbClr val="990000"/>
                            </a:solidFill>
                            <a:latin typeface="Cambria Math" panose="02040503050406030204" pitchFamily="18" charset="0"/>
                          </a:rPr>
                        </m:ctrlPr>
                      </m:sSubPr>
                      <m:e>
                        <m:r>
                          <a:rPr lang="el-GR" sz="2000" b="1" i="1" dirty="0" smtClean="0">
                            <a:solidFill>
                              <a:srgbClr val="990000"/>
                            </a:solidFill>
                            <a:latin typeface="Cambria Math" panose="02040503050406030204" pitchFamily="18" charset="0"/>
                          </a:rPr>
                          <m:t>𝝎</m:t>
                        </m:r>
                      </m:e>
                      <m:sub>
                        <m:r>
                          <a:rPr lang="el-GR" sz="2000" b="1" i="1" dirty="0" smtClean="0">
                            <a:solidFill>
                              <a:srgbClr val="990000"/>
                            </a:solidFill>
                            <a:latin typeface="Cambria Math" panose="02040503050406030204" pitchFamily="18" charset="0"/>
                          </a:rPr>
                          <m:t>𝒄</m:t>
                        </m:r>
                      </m:sub>
                    </m:sSub>
                    <m:r>
                      <a:rPr lang="el-GR" sz="2000" b="1" i="1" dirty="0" smtClean="0">
                        <a:solidFill>
                          <a:srgbClr val="990000"/>
                        </a:solidFill>
                        <a:latin typeface="Cambria Math" panose="02040503050406030204" pitchFamily="18" charset="0"/>
                      </a:rPr>
                      <m:t>𝒕</m:t>
                    </m:r>
                  </m:oMath>
                </a14:m>
                <a:r>
                  <a:rPr lang="el-GR" sz="2000" b="1" dirty="0">
                    <a:solidFill>
                      <a:srgbClr val="990000"/>
                    </a:solidFill>
                    <a:latin typeface="Times New Roman" panose="02020603050405020304" pitchFamily="18" charset="0"/>
                  </a:rPr>
                  <a:t>.</a:t>
                </a:r>
              </a:p>
            </p:txBody>
          </p:sp>
        </mc:Choice>
        <mc:Fallback xmlns="">
          <p:sp>
            <p:nvSpPr>
              <p:cNvPr id="3" name="TextBox 2">
                <a:extLst>
                  <a:ext uri="{FF2B5EF4-FFF2-40B4-BE49-F238E27FC236}">
                    <a16:creationId xmlns:a16="http://schemas.microsoft.com/office/drawing/2014/main" id="{7272B8F2-D7F8-07AA-EC7C-6DDF219AC54F}"/>
                  </a:ext>
                </a:extLst>
              </p:cNvPr>
              <p:cNvSpPr txBox="1">
                <a:spLocks noRot="1" noChangeAspect="1" noMove="1" noResize="1" noEditPoints="1" noAdjustHandles="1" noChangeArrowheads="1" noChangeShapeType="1" noTextEdit="1"/>
              </p:cNvSpPr>
              <p:nvPr/>
            </p:nvSpPr>
            <p:spPr>
              <a:xfrm>
                <a:off x="197168" y="2014715"/>
                <a:ext cx="8478202" cy="1015663"/>
              </a:xfrm>
              <a:prstGeom prst="rect">
                <a:avLst/>
              </a:prstGeom>
              <a:blipFill>
                <a:blip r:embed="rId3"/>
                <a:stretch>
                  <a:fillRect l="-719" t="-2994" b="-9581"/>
                </a:stretch>
              </a:blipFill>
            </p:spPr>
            <p:txBody>
              <a:bodyPr/>
              <a:lstStyle/>
              <a:p>
                <a:r>
                  <a:rPr lang="el-GR">
                    <a:noFill/>
                  </a:rPr>
                  <a:t> </a:t>
                </a:r>
              </a:p>
            </p:txBody>
          </p:sp>
        </mc:Fallback>
      </mc:AlternateContent>
    </p:spTree>
    <p:extLst>
      <p:ext uri="{BB962C8B-B14F-4D97-AF65-F5344CB8AC3E}">
        <p14:creationId xmlns:p14="http://schemas.microsoft.com/office/powerpoint/2010/main" val="333712610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BCF1C-B301-4B1D-9DBD-B4BF0392D4A3}"/>
            </a:ext>
          </a:extLst>
        </p:cNvPr>
        <p:cNvGrpSpPr/>
        <p:nvPr/>
      </p:nvGrpSpPr>
      <p:grpSpPr>
        <a:xfrm>
          <a:off x="0" y="0"/>
          <a:ext cx="0" cy="0"/>
          <a:chOff x="0" y="0"/>
          <a:chExt cx="0" cy="0"/>
        </a:xfrm>
      </p:grpSpPr>
      <p:sp>
        <p:nvSpPr>
          <p:cNvPr id="11266" name="Text Box 3">
            <a:extLst>
              <a:ext uri="{FF2B5EF4-FFF2-40B4-BE49-F238E27FC236}">
                <a16:creationId xmlns:a16="http://schemas.microsoft.com/office/drawing/2014/main" id="{5AFE9EB2-372C-7B70-1479-14AFF87CCC8D}"/>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4	ΨΗΦΙΑΚΗ ΔΙΑΜΟΡΦΩΣΗ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sp>
        <p:nvSpPr>
          <p:cNvPr id="11267" name="Text Box 4">
            <a:extLst>
              <a:ext uri="{FF2B5EF4-FFF2-40B4-BE49-F238E27FC236}">
                <a16:creationId xmlns:a16="http://schemas.microsoft.com/office/drawing/2014/main" id="{82ED5B08-A77A-4CE3-FBF9-BCC7235CFD78}"/>
              </a:ext>
            </a:extLst>
          </p:cNvPr>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Επίδραση φιλτραρίσματος</a:t>
            </a:r>
          </a:p>
        </p:txBody>
      </p:sp>
      <p:sp>
        <p:nvSpPr>
          <p:cNvPr id="3" name="TextBox 2">
            <a:extLst>
              <a:ext uri="{FF2B5EF4-FFF2-40B4-BE49-F238E27FC236}">
                <a16:creationId xmlns:a16="http://schemas.microsoft.com/office/drawing/2014/main" id="{7E26A020-1F8E-49F0-9116-689337988D83}"/>
              </a:ext>
            </a:extLst>
          </p:cNvPr>
          <p:cNvSpPr txBox="1"/>
          <p:nvPr/>
        </p:nvSpPr>
        <p:spPr>
          <a:xfrm>
            <a:off x="237648" y="1552575"/>
            <a:ext cx="8478202" cy="1938992"/>
          </a:xfrm>
          <a:prstGeom prst="rect">
            <a:avLst/>
          </a:prstGeom>
          <a:noFill/>
        </p:spPr>
        <p:txBody>
          <a:bodyPr wrap="square">
            <a:spAutoFit/>
          </a:bodyPr>
          <a:lstStyle/>
          <a:p>
            <a:r>
              <a:rPr lang="el-GR" sz="2000" b="1" dirty="0">
                <a:solidFill>
                  <a:srgbClr val="990000"/>
                </a:solidFill>
                <a:latin typeface="Times New Roman" panose="02020603050405020304" pitchFamily="18" charset="0"/>
              </a:rPr>
              <a:t>Η </a:t>
            </a:r>
            <a:r>
              <a:rPr lang="el-GR" sz="2000" b="1" dirty="0" err="1">
                <a:solidFill>
                  <a:srgbClr val="990000"/>
                </a:solidFill>
                <a:latin typeface="Times New Roman" panose="02020603050405020304" pitchFamily="18" charset="0"/>
              </a:rPr>
              <a:t>περιβάλλουσα</a:t>
            </a:r>
            <a:r>
              <a:rPr lang="el-GR" sz="2000" b="1" dirty="0">
                <a:solidFill>
                  <a:srgbClr val="990000"/>
                </a:solidFill>
                <a:latin typeface="Times New Roman" panose="02020603050405020304" pitchFamily="18" charset="0"/>
              </a:rPr>
              <a:t> ενός σήματος PSK το οποίο δεν έχει υποστεί φιλτράρισμα είναι σταθερή. Η εισαγωγή όμως φιλτραρίσματος για να περιοριστεί το εύρος ζώνης του διαμορφωμένου σήματος προκαλεί την εμφάνιση </a:t>
            </a:r>
            <a:r>
              <a:rPr lang="el-GR" sz="2000" b="1" dirty="0" err="1">
                <a:solidFill>
                  <a:srgbClr val="990000"/>
                </a:solidFill>
                <a:latin typeface="Times New Roman" panose="02020603050405020304" pitchFamily="18" charset="0"/>
              </a:rPr>
              <a:t>περιβάλλουσας</a:t>
            </a:r>
            <a:r>
              <a:rPr lang="el-GR" sz="2000" b="1" dirty="0">
                <a:solidFill>
                  <a:srgbClr val="990000"/>
                </a:solidFill>
                <a:latin typeface="Times New Roman" panose="02020603050405020304" pitchFamily="18" charset="0"/>
              </a:rPr>
              <a:t> στο σήμα PSK. Ο βαθμός της διαμόρφωσης αυτής της </a:t>
            </a:r>
            <a:r>
              <a:rPr lang="el-GR" sz="2000" b="1" dirty="0" err="1">
                <a:solidFill>
                  <a:srgbClr val="990000"/>
                </a:solidFill>
                <a:latin typeface="Times New Roman" panose="02020603050405020304" pitchFamily="18" charset="0"/>
              </a:rPr>
              <a:t>περιβάλλουσας</a:t>
            </a:r>
            <a:r>
              <a:rPr lang="el-GR" sz="2000" b="1" dirty="0">
                <a:solidFill>
                  <a:srgbClr val="990000"/>
                </a:solidFill>
                <a:latin typeface="Times New Roman" panose="02020603050405020304" pitchFamily="18" charset="0"/>
              </a:rPr>
              <a:t> είναι συνάρτηση του βαθμού μορφοποίησης που έχει επιβληθεί στους παλμούς.</a:t>
            </a:r>
          </a:p>
        </p:txBody>
      </p:sp>
      <p:pic>
        <p:nvPicPr>
          <p:cNvPr id="4" name="Εικόνα 3">
            <a:extLst>
              <a:ext uri="{FF2B5EF4-FFF2-40B4-BE49-F238E27FC236}">
                <a16:creationId xmlns:a16="http://schemas.microsoft.com/office/drawing/2014/main" id="{FFF118F7-5743-4D3B-DFA9-32DCF16DFA3B}"/>
              </a:ext>
            </a:extLst>
          </p:cNvPr>
          <p:cNvPicPr>
            <a:picLocks noChangeAspect="1"/>
          </p:cNvPicPr>
          <p:nvPr/>
        </p:nvPicPr>
        <p:blipFill>
          <a:blip r:embed="rId2"/>
          <a:stretch>
            <a:fillRect/>
          </a:stretch>
        </p:blipFill>
        <p:spPr>
          <a:xfrm>
            <a:off x="2333066" y="3644479"/>
            <a:ext cx="4287367" cy="2613744"/>
          </a:xfrm>
          <a:prstGeom prst="rect">
            <a:avLst/>
          </a:prstGeom>
        </p:spPr>
      </p:pic>
    </p:spTree>
    <p:extLst>
      <p:ext uri="{BB962C8B-B14F-4D97-AF65-F5344CB8AC3E}">
        <p14:creationId xmlns:p14="http://schemas.microsoft.com/office/powerpoint/2010/main" val="386691620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4	ΨΗΦΙΑΚΗ ΔΙΑΜΟΡΦΩΣΗ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sp>
        <p:nvSpPr>
          <p:cNvPr id="12291" name="Text Box 3"/>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a:solidFill>
                  <a:srgbClr val="990000"/>
                </a:solidFill>
                <a:latin typeface="Times New Roman" panose="02020603050405020304" pitchFamily="18" charset="0"/>
              </a:rPr>
              <a:t>Φάσμα της διαμόρφωσης </a:t>
            </a:r>
            <a:r>
              <a:rPr lang="en-US" altLang="en-US" sz="2200" b="1">
                <a:solidFill>
                  <a:srgbClr val="990000"/>
                </a:solidFill>
                <a:latin typeface="Times New Roman" panose="02020603050405020304" pitchFamily="18" charset="0"/>
              </a:rPr>
              <a:t>P</a:t>
            </a:r>
            <a:r>
              <a:rPr lang="el-GR" altLang="en-US" sz="2200" b="1">
                <a:solidFill>
                  <a:srgbClr val="990000"/>
                </a:solidFill>
                <a:latin typeface="Times New Roman" panose="02020603050405020304" pitchFamily="18" charset="0"/>
              </a:rPr>
              <a:t>SK</a:t>
            </a:r>
          </a:p>
        </p:txBody>
      </p:sp>
      <p:pic>
        <p:nvPicPr>
          <p:cNvPr id="12292" name="Picture 7" descr="PSKSP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38" y="1647825"/>
            <a:ext cx="3616325"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B60AA562-8F94-9C6D-2E66-4E8C94C62B78}"/>
              </a:ext>
            </a:extLst>
          </p:cNvPr>
          <p:cNvSpPr txBox="1"/>
          <p:nvPr/>
        </p:nvSpPr>
        <p:spPr>
          <a:xfrm>
            <a:off x="4093528" y="2661334"/>
            <a:ext cx="4534786" cy="646331"/>
          </a:xfrm>
          <a:prstGeom prst="rect">
            <a:avLst/>
          </a:prstGeom>
          <a:noFill/>
        </p:spPr>
        <p:txBody>
          <a:bodyPr wrap="square">
            <a:spAutoFit/>
          </a:bodyPr>
          <a:lstStyle/>
          <a:p>
            <a:r>
              <a:rPr lang="el-GR" sz="1800" b="1" dirty="0">
                <a:solidFill>
                  <a:srgbClr val="C00000"/>
                </a:solidFill>
                <a:latin typeface="Times New Roman" panose="02020603050405020304" pitchFamily="18" charset="0"/>
                <a:cs typeface="Times New Roman" panose="02020603050405020304" pitchFamily="18" charset="0"/>
              </a:rPr>
              <a:t>Η B</a:t>
            </a:r>
            <a:r>
              <a:rPr lang="en-US" sz="1800" b="1" dirty="0">
                <a:solidFill>
                  <a:srgbClr val="C00000"/>
                </a:solidFill>
                <a:latin typeface="Times New Roman" panose="02020603050405020304" pitchFamily="18" charset="0"/>
                <a:cs typeface="Times New Roman" panose="02020603050405020304" pitchFamily="18" charset="0"/>
              </a:rPr>
              <a:t>P</a:t>
            </a:r>
            <a:r>
              <a:rPr lang="el-GR" sz="1800" b="1" dirty="0">
                <a:solidFill>
                  <a:srgbClr val="C00000"/>
                </a:solidFill>
                <a:latin typeface="Times New Roman" panose="02020603050405020304" pitchFamily="18" charset="0"/>
                <a:cs typeface="Times New Roman" panose="02020603050405020304" pitchFamily="18" charset="0"/>
              </a:rPr>
              <a:t>SK απαιτεί διπλάσιο εύρος ζώνης  σε σχέση με το αρχικό σήμα βασικής ζώνης.</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7031-D973-90A5-CE48-8C50296C96FB}"/>
            </a:ext>
          </a:extLst>
        </p:cNvPr>
        <p:cNvGrpSpPr/>
        <p:nvPr/>
      </p:nvGrpSpPr>
      <p:grpSpPr>
        <a:xfrm>
          <a:off x="0" y="0"/>
          <a:ext cx="0" cy="0"/>
          <a:chOff x="0" y="0"/>
          <a:chExt cx="0" cy="0"/>
        </a:xfrm>
      </p:grpSpPr>
      <p:sp>
        <p:nvSpPr>
          <p:cNvPr id="13314" name="Text Box 2">
            <a:extLst>
              <a:ext uri="{FF2B5EF4-FFF2-40B4-BE49-F238E27FC236}">
                <a16:creationId xmlns:a16="http://schemas.microsoft.com/office/drawing/2014/main" id="{C2B6A96D-B25F-4055-3043-3BADADB947B1}"/>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4	ΨΗΦΙΑΚΗ ΔΙΑΜΟΡΦΩΣΗ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sp>
        <p:nvSpPr>
          <p:cNvPr id="13315" name="Text Box 3">
            <a:extLst>
              <a:ext uri="{FF2B5EF4-FFF2-40B4-BE49-F238E27FC236}">
                <a16:creationId xmlns:a16="http://schemas.microsoft.com/office/drawing/2014/main" id="{CF0783F0-C61E-A8EB-ECA4-447F93FB8CA7}"/>
              </a:ext>
            </a:extLst>
          </p:cNvPr>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Σύμφωνη Ανίχνευση</a:t>
            </a:r>
            <a:r>
              <a:rPr lang="en-US" altLang="en-US" sz="2200" b="1" dirty="0">
                <a:solidFill>
                  <a:srgbClr val="990000"/>
                </a:solidFill>
                <a:latin typeface="Times New Roman" panose="02020603050405020304" pitchFamily="18" charset="0"/>
              </a:rPr>
              <a:t> </a:t>
            </a:r>
            <a:r>
              <a:rPr lang="el-GR" altLang="en-US" sz="2200" b="1" dirty="0">
                <a:solidFill>
                  <a:srgbClr val="990000"/>
                </a:solidFill>
                <a:latin typeface="Times New Roman" panose="02020603050405020304" pitchFamily="18" charset="0"/>
              </a:rPr>
              <a:t>της διαμόρφωσης </a:t>
            </a:r>
            <a:r>
              <a:rPr lang="en-US" altLang="en-US" sz="2200" b="1" dirty="0">
                <a:solidFill>
                  <a:srgbClr val="990000"/>
                </a:solidFill>
                <a:latin typeface="Times New Roman" panose="02020603050405020304" pitchFamily="18" charset="0"/>
              </a:rPr>
              <a:t>P</a:t>
            </a:r>
            <a:r>
              <a:rPr lang="el-GR" altLang="en-US" sz="2200" b="1" dirty="0">
                <a:solidFill>
                  <a:srgbClr val="990000"/>
                </a:solidFill>
                <a:latin typeface="Times New Roman" panose="02020603050405020304" pitchFamily="18" charset="0"/>
              </a:rPr>
              <a:t>SK</a:t>
            </a:r>
          </a:p>
        </p:txBody>
      </p:sp>
      <p:pic>
        <p:nvPicPr>
          <p:cNvPr id="13316" name="Picture 5" descr="pskdect1">
            <a:extLst>
              <a:ext uri="{FF2B5EF4-FFF2-40B4-BE49-F238E27FC236}">
                <a16:creationId xmlns:a16="http://schemas.microsoft.com/office/drawing/2014/main" id="{27673C3D-0037-E1B7-47D9-36AD538F8B18}"/>
              </a:ext>
            </a:extLst>
          </p:cNvPr>
          <p:cNvPicPr>
            <a:picLocks noChangeAspect="1" noChangeArrowheads="1"/>
          </p:cNvPicPr>
          <p:nvPr/>
        </p:nvPicPr>
        <p:blipFill>
          <a:blip r:embed="rId2">
            <a:lum bright="-12000" contrast="30000"/>
            <a:extLst>
              <a:ext uri="{28A0092B-C50C-407E-A947-70E740481C1C}">
                <a14:useLocalDpi xmlns:a14="http://schemas.microsoft.com/office/drawing/2010/main" val="0"/>
              </a:ext>
            </a:extLst>
          </a:blip>
          <a:srcRect/>
          <a:stretch>
            <a:fillRect/>
          </a:stretch>
        </p:blipFill>
        <p:spPr bwMode="auto">
          <a:xfrm>
            <a:off x="153988" y="1519238"/>
            <a:ext cx="4525962" cy="169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5AC2408-5B72-3631-17FA-7FC2C0290E71}"/>
                  </a:ext>
                </a:extLst>
              </p:cNvPr>
              <p:cNvSpPr txBox="1"/>
              <p:nvPr/>
            </p:nvSpPr>
            <p:spPr>
              <a:xfrm>
                <a:off x="4679950" y="1374184"/>
                <a:ext cx="4119562" cy="1815882"/>
              </a:xfrm>
              <a:prstGeom prst="rect">
                <a:avLst/>
              </a:prstGeom>
              <a:noFill/>
            </p:spPr>
            <p:txBody>
              <a:bodyPr wrap="square">
                <a:spAutoFit/>
              </a:bodyPr>
              <a:lstStyle/>
              <a:p>
                <a:pPr marL="342900" indent="-342900">
                  <a:buAutoNum type="arabicPeriod"/>
                </a:pPr>
                <a:r>
                  <a:rPr lang="el-GR" sz="1600" b="1" dirty="0">
                    <a:solidFill>
                      <a:srgbClr val="990000"/>
                    </a:solidFill>
                    <a:latin typeface="Times New Roman" panose="02020603050405020304" pitchFamily="18" charset="0"/>
                  </a:rPr>
                  <a:t>Δεν υπάρχει ασύμφωνος τρόπος ανίχνευσης του σήματος BPSK, αλλά μόνο σύμφωνος. </a:t>
                </a:r>
                <a:endParaRPr lang="en-US" sz="1600" b="1" dirty="0">
                  <a:solidFill>
                    <a:srgbClr val="990000"/>
                  </a:solidFill>
                  <a:latin typeface="Times New Roman" panose="02020603050405020304" pitchFamily="18" charset="0"/>
                </a:endParaRPr>
              </a:p>
              <a:p>
                <a:pPr marL="342900" indent="-342900">
                  <a:buAutoNum type="arabicPeriod"/>
                </a:pPr>
                <a:endParaRPr lang="en-US" sz="1600" b="1" dirty="0">
                  <a:solidFill>
                    <a:srgbClr val="990000"/>
                  </a:solidFill>
                  <a:latin typeface="Times New Roman" panose="02020603050405020304" pitchFamily="18" charset="0"/>
                </a:endParaRPr>
              </a:p>
              <a:p>
                <a:r>
                  <a:rPr lang="en-US" sz="1600" b="1" dirty="0">
                    <a:solidFill>
                      <a:srgbClr val="990000"/>
                    </a:solidFill>
                    <a:latin typeface="Times New Roman" panose="02020603050405020304" pitchFamily="18" charset="0"/>
                  </a:rPr>
                  <a:t>2. </a:t>
                </a:r>
                <a:r>
                  <a:rPr lang="el-GR" sz="1600" b="1" dirty="0">
                    <a:solidFill>
                      <a:srgbClr val="990000"/>
                    </a:solidFill>
                    <a:latin typeface="Times New Roman" panose="02020603050405020304" pitchFamily="18" charset="0"/>
                  </a:rPr>
                  <a:t>Ένας ιδανικός ανιχνευτής απαιτεί την ακριβή γνώση της φάσης (δηλ. επιθυμητό Δ𝜃 = </a:t>
                </a:r>
                <a14:m>
                  <m:oMath xmlns:m="http://schemas.openxmlformats.org/officeDocument/2006/math">
                    <m:sSup>
                      <m:sSupPr>
                        <m:ctrlPr>
                          <a:rPr lang="en-US" sz="1600" b="1" i="1" dirty="0" smtClean="0">
                            <a:solidFill>
                              <a:srgbClr val="990000"/>
                            </a:solidFill>
                            <a:latin typeface="Cambria Math" panose="02040503050406030204" pitchFamily="18" charset="0"/>
                          </a:rPr>
                        </m:ctrlPr>
                      </m:sSupPr>
                      <m:e>
                        <m:r>
                          <a:rPr lang="el-GR" sz="1600" b="1" i="1" dirty="0" smtClean="0">
                            <a:solidFill>
                              <a:srgbClr val="990000"/>
                            </a:solidFill>
                            <a:latin typeface="Cambria Math" panose="02040503050406030204" pitchFamily="18" charset="0"/>
                          </a:rPr>
                          <m:t>𝟎</m:t>
                        </m:r>
                      </m:e>
                      <m:sup>
                        <m:r>
                          <a:rPr lang="el-GR" sz="1600" b="1" i="1" dirty="0" smtClean="0">
                            <a:solidFill>
                              <a:srgbClr val="990000"/>
                            </a:solidFill>
                            <a:latin typeface="Cambria Math" panose="02040503050406030204" pitchFamily="18" charset="0"/>
                          </a:rPr>
                          <m:t>𝜊</m:t>
                        </m:r>
                      </m:sup>
                    </m:sSup>
                  </m:oMath>
                </a14:m>
                <a:r>
                  <a:rPr lang="el-GR" sz="1600" b="1" dirty="0">
                    <a:solidFill>
                      <a:srgbClr val="990000"/>
                    </a:solidFill>
                    <a:latin typeface="Times New Roman" panose="02020603050405020304" pitchFamily="18" charset="0"/>
                  </a:rPr>
                  <a:t>) του αδιαμόρφωτου φορέα στο δέκτη. </a:t>
                </a:r>
              </a:p>
            </p:txBody>
          </p:sp>
        </mc:Choice>
        <mc:Fallback xmlns="">
          <p:sp>
            <p:nvSpPr>
              <p:cNvPr id="5" name="TextBox 4">
                <a:extLst>
                  <a:ext uri="{FF2B5EF4-FFF2-40B4-BE49-F238E27FC236}">
                    <a16:creationId xmlns:a16="http://schemas.microsoft.com/office/drawing/2014/main" id="{95AC2408-5B72-3631-17FA-7FC2C0290E71}"/>
                  </a:ext>
                </a:extLst>
              </p:cNvPr>
              <p:cNvSpPr txBox="1">
                <a:spLocks noRot="1" noChangeAspect="1" noMove="1" noResize="1" noEditPoints="1" noAdjustHandles="1" noChangeArrowheads="1" noChangeShapeType="1" noTextEdit="1"/>
              </p:cNvSpPr>
              <p:nvPr/>
            </p:nvSpPr>
            <p:spPr>
              <a:xfrm>
                <a:off x="4679950" y="1374184"/>
                <a:ext cx="4119562" cy="1815882"/>
              </a:xfrm>
              <a:prstGeom prst="rect">
                <a:avLst/>
              </a:prstGeom>
              <a:blipFill>
                <a:blip r:embed="rId4"/>
                <a:stretch>
                  <a:fillRect l="-889" t="-1007" r="-296" b="-3356"/>
                </a:stretch>
              </a:blipFill>
            </p:spPr>
            <p:txBody>
              <a:bodyPr/>
              <a:lstStyle/>
              <a:p>
                <a:r>
                  <a:rPr lang="el-GR">
                    <a:noFill/>
                  </a:rPr>
                  <a:t> </a:t>
                </a:r>
              </a:p>
            </p:txBody>
          </p:sp>
        </mc:Fallback>
      </mc:AlternateContent>
      <p:sp>
        <p:nvSpPr>
          <p:cNvPr id="4" name="TextBox 3">
            <a:extLst>
              <a:ext uri="{FF2B5EF4-FFF2-40B4-BE49-F238E27FC236}">
                <a16:creationId xmlns:a16="http://schemas.microsoft.com/office/drawing/2014/main" id="{E560E5A4-4536-B62A-8100-97FDB8A9FEBC}"/>
              </a:ext>
            </a:extLst>
          </p:cNvPr>
          <p:cNvSpPr txBox="1"/>
          <p:nvPr/>
        </p:nvSpPr>
        <p:spPr>
          <a:xfrm>
            <a:off x="595948" y="4201661"/>
            <a:ext cx="8168004" cy="1200329"/>
          </a:xfrm>
          <a:prstGeom prst="rect">
            <a:avLst/>
          </a:prstGeom>
          <a:noFill/>
        </p:spPr>
        <p:txBody>
          <a:bodyPr wrap="square">
            <a:spAutoFit/>
          </a:bodyPr>
          <a:lstStyle/>
          <a:p>
            <a:r>
              <a:rPr lang="el-GR" sz="1800" b="1" dirty="0">
                <a:solidFill>
                  <a:srgbClr val="990000"/>
                </a:solidFill>
                <a:latin typeface="Times New Roman" panose="02020603050405020304" pitchFamily="18" charset="0"/>
              </a:rPr>
              <a:t>Για να διασφαλίσουμε ότι η φάση του ανακτημένου φέροντος είναι σχεδόν 0°, είναι αναγκαίο είτε να εκπέμψουμε ένα σήμα αναφοράς φάσης φέροντος μαζί με το σήμα των δεδομένων, είτε να δημιουργήσουμε τη στάθμη αναφοράς από το εισερχόμενο σήμα των δεδομένων. </a:t>
            </a:r>
          </a:p>
        </p:txBody>
      </p:sp>
    </p:spTree>
    <p:extLst>
      <p:ext uri="{BB962C8B-B14F-4D97-AF65-F5344CB8AC3E}">
        <p14:creationId xmlns:p14="http://schemas.microsoft.com/office/powerpoint/2010/main" val="175601061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82A8A-C0DF-E3ED-EB01-E1511C43D3D1}"/>
            </a:ext>
          </a:extLst>
        </p:cNvPr>
        <p:cNvGrpSpPr/>
        <p:nvPr/>
      </p:nvGrpSpPr>
      <p:grpSpPr>
        <a:xfrm>
          <a:off x="0" y="0"/>
          <a:ext cx="0" cy="0"/>
          <a:chOff x="0" y="0"/>
          <a:chExt cx="0" cy="0"/>
        </a:xfrm>
      </p:grpSpPr>
      <p:sp>
        <p:nvSpPr>
          <p:cNvPr id="13314" name="Text Box 2">
            <a:extLst>
              <a:ext uri="{FF2B5EF4-FFF2-40B4-BE49-F238E27FC236}">
                <a16:creationId xmlns:a16="http://schemas.microsoft.com/office/drawing/2014/main" id="{54A3CCFB-7A9B-18C6-1B63-11F79E0904AC}"/>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4	ΨΗΦΙΑΚΗ ΔΙΑΜΟΡΦΩΣΗ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sp>
        <p:nvSpPr>
          <p:cNvPr id="13315" name="Text Box 3">
            <a:extLst>
              <a:ext uri="{FF2B5EF4-FFF2-40B4-BE49-F238E27FC236}">
                <a16:creationId xmlns:a16="http://schemas.microsoft.com/office/drawing/2014/main" id="{14B3F4C0-BF3A-5D03-8EA4-71AE2E3039F2}"/>
              </a:ext>
            </a:extLst>
          </p:cNvPr>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Σύμφωνη Ανίχνευση</a:t>
            </a:r>
            <a:r>
              <a:rPr lang="en-US" altLang="en-US" sz="2200" b="1" dirty="0">
                <a:solidFill>
                  <a:srgbClr val="990000"/>
                </a:solidFill>
                <a:latin typeface="Times New Roman" panose="02020603050405020304" pitchFamily="18" charset="0"/>
              </a:rPr>
              <a:t> </a:t>
            </a:r>
            <a:r>
              <a:rPr lang="el-GR" altLang="en-US" sz="2200" b="1" dirty="0">
                <a:solidFill>
                  <a:srgbClr val="990000"/>
                </a:solidFill>
                <a:latin typeface="Times New Roman" panose="02020603050405020304" pitchFamily="18" charset="0"/>
              </a:rPr>
              <a:t>της διαμόρφωσης </a:t>
            </a:r>
            <a:r>
              <a:rPr lang="en-US" altLang="en-US" sz="2200" b="1" dirty="0">
                <a:solidFill>
                  <a:srgbClr val="990000"/>
                </a:solidFill>
                <a:latin typeface="Times New Roman" panose="02020603050405020304" pitchFamily="18" charset="0"/>
              </a:rPr>
              <a:t>P</a:t>
            </a:r>
            <a:r>
              <a:rPr lang="el-GR" altLang="en-US" sz="2200" b="1" dirty="0">
                <a:solidFill>
                  <a:srgbClr val="990000"/>
                </a:solidFill>
                <a:latin typeface="Times New Roman" panose="02020603050405020304" pitchFamily="18" charset="0"/>
              </a:rPr>
              <a:t>SK</a:t>
            </a:r>
          </a:p>
        </p:txBody>
      </p:sp>
      <p:sp>
        <p:nvSpPr>
          <p:cNvPr id="13317" name="Text Box 7">
            <a:extLst>
              <a:ext uri="{FF2B5EF4-FFF2-40B4-BE49-F238E27FC236}">
                <a16:creationId xmlns:a16="http://schemas.microsoft.com/office/drawing/2014/main" id="{55219667-C27A-4A20-9AA0-049836677597}"/>
              </a:ext>
            </a:extLst>
          </p:cNvPr>
          <p:cNvSpPr txBox="1">
            <a:spLocks noChangeArrowheads="1"/>
          </p:cNvSpPr>
          <p:nvPr/>
        </p:nvSpPr>
        <p:spPr bwMode="auto">
          <a:xfrm>
            <a:off x="0" y="1823402"/>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Ανάκτηση φέροντος για τη σύμφωνη διαμόρφωση </a:t>
            </a:r>
            <a:r>
              <a:rPr lang="en-US" altLang="en-US" sz="2200" b="1" dirty="0">
                <a:solidFill>
                  <a:srgbClr val="990000"/>
                </a:solidFill>
                <a:latin typeface="Times New Roman" panose="02020603050405020304" pitchFamily="18" charset="0"/>
              </a:rPr>
              <a:t>P</a:t>
            </a:r>
            <a:r>
              <a:rPr lang="el-GR" altLang="en-US" sz="2200" b="1" dirty="0">
                <a:solidFill>
                  <a:srgbClr val="990000"/>
                </a:solidFill>
                <a:latin typeface="Times New Roman" panose="02020603050405020304" pitchFamily="18" charset="0"/>
              </a:rPr>
              <a:t>SK</a:t>
            </a:r>
          </a:p>
        </p:txBody>
      </p:sp>
      <p:pic>
        <p:nvPicPr>
          <p:cNvPr id="13318" name="Picture 8" descr="SQUARER">
            <a:extLst>
              <a:ext uri="{FF2B5EF4-FFF2-40B4-BE49-F238E27FC236}">
                <a16:creationId xmlns:a16="http://schemas.microsoft.com/office/drawing/2014/main" id="{7ECF6D2D-C034-331E-C70C-63D51F321D42}"/>
              </a:ext>
            </a:extLst>
          </p:cNvPr>
          <p:cNvPicPr>
            <a:picLocks noChangeAspect="1" noChangeArrowheads="1"/>
          </p:cNvPicPr>
          <p:nvPr/>
        </p:nvPicPr>
        <p:blipFill>
          <a:blip r:embed="rId3">
            <a:lum bright="-12000"/>
            <a:extLst>
              <a:ext uri="{28A0092B-C50C-407E-A947-70E740481C1C}">
                <a14:useLocalDpi xmlns:a14="http://schemas.microsoft.com/office/drawing/2010/main" val="0"/>
              </a:ext>
            </a:extLst>
          </a:blip>
          <a:srcRect/>
          <a:stretch>
            <a:fillRect/>
          </a:stretch>
        </p:blipFill>
        <p:spPr bwMode="auto">
          <a:xfrm>
            <a:off x="551622" y="2297112"/>
            <a:ext cx="448627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B81A3E6-E3D7-35BA-3A7C-B41001721F46}"/>
                  </a:ext>
                </a:extLst>
              </p:cNvPr>
              <p:cNvSpPr txBox="1"/>
              <p:nvPr/>
            </p:nvSpPr>
            <p:spPr>
              <a:xfrm>
                <a:off x="258252" y="4006236"/>
                <a:ext cx="8040756" cy="2031325"/>
              </a:xfrm>
              <a:prstGeom prst="rect">
                <a:avLst/>
              </a:prstGeom>
              <a:noFill/>
            </p:spPr>
            <p:txBody>
              <a:bodyPr wrap="square">
                <a:spAutoFit/>
              </a:bodyPr>
              <a:lstStyle/>
              <a:p>
                <a:r>
                  <a:rPr lang="en-US" sz="1800" b="1" dirty="0">
                    <a:solidFill>
                      <a:srgbClr val="990000"/>
                    </a:solidFill>
                    <a:latin typeface="Times New Roman" panose="02020603050405020304" pitchFamily="18" charset="0"/>
                  </a:rPr>
                  <a:t>1. </a:t>
                </a:r>
                <a:r>
                  <a:rPr lang="el-GR" sz="1800" b="1" dirty="0">
                    <a:solidFill>
                      <a:srgbClr val="990000"/>
                    </a:solidFill>
                    <a:latin typeface="Times New Roman" panose="02020603050405020304" pitchFamily="18" charset="0"/>
                  </a:rPr>
                  <a:t>Ύψωση του σήματος στο τετράγωνο κάνει τις φάσεις </a:t>
                </a:r>
                <a14:m>
                  <m:oMath xmlns:m="http://schemas.openxmlformats.org/officeDocument/2006/math">
                    <m:sSup>
                      <m:sSupPr>
                        <m:ctrlPr>
                          <a:rPr lang="en-US" sz="1800" b="1" i="1" dirty="0" smtClean="0">
                            <a:solidFill>
                              <a:srgbClr val="990000"/>
                            </a:solidFill>
                            <a:latin typeface="Cambria Math" panose="02040503050406030204" pitchFamily="18" charset="0"/>
                          </a:rPr>
                        </m:ctrlPr>
                      </m:sSupPr>
                      <m:e>
                        <m:r>
                          <a:rPr lang="el-GR" sz="1800" b="1" i="1" dirty="0" smtClean="0">
                            <a:solidFill>
                              <a:srgbClr val="990000"/>
                            </a:solidFill>
                            <a:latin typeface="Cambria Math" panose="02040503050406030204" pitchFamily="18" charset="0"/>
                          </a:rPr>
                          <m:t>𝟎</m:t>
                        </m:r>
                      </m:e>
                      <m:sup>
                        <m:r>
                          <a:rPr lang="el-GR" sz="1800" b="1" i="1" dirty="0" smtClean="0">
                            <a:solidFill>
                              <a:srgbClr val="990000"/>
                            </a:solidFill>
                            <a:latin typeface="Cambria Math" panose="02040503050406030204" pitchFamily="18" charset="0"/>
                          </a:rPr>
                          <m:t>𝝄</m:t>
                        </m:r>
                      </m:sup>
                    </m:sSup>
                  </m:oMath>
                </a14:m>
                <a:r>
                  <a:rPr lang="el-GR" sz="1800" b="1" dirty="0">
                    <a:solidFill>
                      <a:srgbClr val="990000"/>
                    </a:solidFill>
                    <a:latin typeface="Times New Roman" panose="02020603050405020304" pitchFamily="18" charset="0"/>
                  </a:rPr>
                  <a:t> και </a:t>
                </a:r>
                <a14:m>
                  <m:oMath xmlns:m="http://schemas.openxmlformats.org/officeDocument/2006/math">
                    <m:r>
                      <a:rPr lang="el-GR" sz="1800" b="1" i="1" dirty="0" smtClean="0">
                        <a:solidFill>
                          <a:srgbClr val="990000"/>
                        </a:solidFill>
                        <a:latin typeface="Cambria Math" panose="02040503050406030204" pitchFamily="18" charset="0"/>
                      </a:rPr>
                      <m:t>𝟏𝟖</m:t>
                    </m:r>
                    <m:sSup>
                      <m:sSupPr>
                        <m:ctrlPr>
                          <a:rPr lang="en-US" sz="1800" b="1" i="1" dirty="0" smtClean="0">
                            <a:solidFill>
                              <a:srgbClr val="990000"/>
                            </a:solidFill>
                            <a:latin typeface="Cambria Math" panose="02040503050406030204" pitchFamily="18" charset="0"/>
                          </a:rPr>
                        </m:ctrlPr>
                      </m:sSupPr>
                      <m:e>
                        <m:r>
                          <a:rPr lang="el-GR" sz="1800" b="1" i="1" dirty="0" smtClean="0">
                            <a:solidFill>
                              <a:srgbClr val="990000"/>
                            </a:solidFill>
                            <a:latin typeface="Cambria Math" panose="02040503050406030204" pitchFamily="18" charset="0"/>
                          </a:rPr>
                          <m:t>𝟎</m:t>
                        </m:r>
                      </m:e>
                      <m:sup>
                        <m:r>
                          <a:rPr lang="el-GR" sz="1800" b="1" i="1" dirty="0" smtClean="0">
                            <a:solidFill>
                              <a:srgbClr val="990000"/>
                            </a:solidFill>
                            <a:latin typeface="Cambria Math" panose="02040503050406030204" pitchFamily="18" charset="0"/>
                          </a:rPr>
                          <m:t>𝝄</m:t>
                        </m:r>
                      </m:sup>
                    </m:sSup>
                  </m:oMath>
                </a14:m>
                <a:r>
                  <a:rPr lang="el-GR" sz="1800" b="1" dirty="0">
                    <a:solidFill>
                      <a:srgbClr val="990000"/>
                    </a:solidFill>
                    <a:latin typeface="Times New Roman" panose="02020603050405020304" pitchFamily="18" charset="0"/>
                  </a:rPr>
                  <a:t> πολλαπλάσια του </a:t>
                </a:r>
                <a:r>
                  <a:rPr lang="el-GR" sz="1800" b="1" dirty="0" err="1">
                    <a:solidFill>
                      <a:srgbClr val="990000"/>
                    </a:solidFill>
                    <a:latin typeface="Times New Roman" panose="02020603050405020304" pitchFamily="18" charset="0"/>
                  </a:rPr>
                  <a:t>modulo</a:t>
                </a:r>
                <a:r>
                  <a:rPr lang="el-GR" sz="1800" b="1" dirty="0">
                    <a:solidFill>
                      <a:srgbClr val="990000"/>
                    </a:solidFill>
                    <a:latin typeface="Times New Roman" panose="02020603050405020304" pitchFamily="18" charset="0"/>
                  </a:rPr>
                  <a:t> 2π, άρα απομακρύνει τη διαμόρφωση και διπλασιάζει τη συχνότητα του φέροντος. </a:t>
                </a:r>
                <a:endParaRPr lang="en-US" sz="1800" b="1" dirty="0">
                  <a:solidFill>
                    <a:srgbClr val="990000"/>
                  </a:solidFill>
                  <a:latin typeface="Times New Roman" panose="02020603050405020304" pitchFamily="18" charset="0"/>
                </a:endParaRPr>
              </a:p>
              <a:p>
                <a:r>
                  <a:rPr lang="en-US" sz="1800" b="1" dirty="0">
                    <a:solidFill>
                      <a:srgbClr val="990000"/>
                    </a:solidFill>
                    <a:latin typeface="Times New Roman" panose="02020603050405020304" pitchFamily="18" charset="0"/>
                  </a:rPr>
                  <a:t>2. </a:t>
                </a:r>
                <a:r>
                  <a:rPr lang="el-GR" sz="1800" b="1" dirty="0">
                    <a:solidFill>
                      <a:srgbClr val="990000"/>
                    </a:solidFill>
                    <a:latin typeface="Times New Roman" panose="02020603050405020304" pitchFamily="18" charset="0"/>
                  </a:rPr>
                  <a:t>Ο όρος διπλάσιας συχνότητας απομακρύνεται με φιλτράρισμα ώστε να απομακρυνθεί και ο θόρυβος. </a:t>
                </a:r>
                <a:endParaRPr lang="en-US" sz="1800" b="1" dirty="0">
                  <a:solidFill>
                    <a:srgbClr val="990000"/>
                  </a:solidFill>
                  <a:latin typeface="Times New Roman" panose="02020603050405020304" pitchFamily="18" charset="0"/>
                </a:endParaRPr>
              </a:p>
              <a:p>
                <a:r>
                  <a:rPr lang="en-US" sz="1800" b="1" dirty="0">
                    <a:solidFill>
                      <a:srgbClr val="990000"/>
                    </a:solidFill>
                    <a:latin typeface="Times New Roman" panose="02020603050405020304" pitchFamily="18" charset="0"/>
                  </a:rPr>
                  <a:t>3. </a:t>
                </a:r>
                <a:r>
                  <a:rPr lang="el-GR" sz="1800" b="1" dirty="0">
                    <a:solidFill>
                      <a:srgbClr val="990000"/>
                    </a:solidFill>
                    <a:latin typeface="Times New Roman" panose="02020603050405020304" pitchFamily="18" charset="0"/>
                  </a:rPr>
                  <a:t>Η συχνότητα διαιρείται δια 2 ώστε να ληφθεί ο ζητούμενος όρος του φέροντος.</a:t>
                </a:r>
              </a:p>
            </p:txBody>
          </p:sp>
        </mc:Choice>
        <mc:Fallback xmlns="">
          <p:sp>
            <p:nvSpPr>
              <p:cNvPr id="3" name="TextBox 2">
                <a:extLst>
                  <a:ext uri="{FF2B5EF4-FFF2-40B4-BE49-F238E27FC236}">
                    <a16:creationId xmlns:a16="http://schemas.microsoft.com/office/drawing/2014/main" id="{3B81A3E6-E3D7-35BA-3A7C-B41001721F46}"/>
                  </a:ext>
                </a:extLst>
              </p:cNvPr>
              <p:cNvSpPr txBox="1">
                <a:spLocks noRot="1" noChangeAspect="1" noMove="1" noResize="1" noEditPoints="1" noAdjustHandles="1" noChangeArrowheads="1" noChangeShapeType="1" noTextEdit="1"/>
              </p:cNvSpPr>
              <p:nvPr/>
            </p:nvSpPr>
            <p:spPr>
              <a:xfrm>
                <a:off x="258252" y="4006236"/>
                <a:ext cx="8040756" cy="2031325"/>
              </a:xfrm>
              <a:prstGeom prst="rect">
                <a:avLst/>
              </a:prstGeom>
              <a:blipFill>
                <a:blip r:embed="rId4"/>
                <a:stretch>
                  <a:fillRect l="-607" t="-1502" b="-3904"/>
                </a:stretch>
              </a:blipFill>
            </p:spPr>
            <p:txBody>
              <a:bodyPr/>
              <a:lstStyle/>
              <a:p>
                <a:r>
                  <a:rPr lang="el-GR">
                    <a:noFill/>
                  </a:rPr>
                  <a:t> </a:t>
                </a:r>
              </a:p>
            </p:txBody>
          </p:sp>
        </mc:Fallback>
      </mc:AlternateContent>
    </p:spTree>
    <p:extLst>
      <p:ext uri="{BB962C8B-B14F-4D97-AF65-F5344CB8AC3E}">
        <p14:creationId xmlns:p14="http://schemas.microsoft.com/office/powerpoint/2010/main" val="129711427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4	ΨΗΦΙΑΚΗ ΔΙΑΜΟΡΦΩΣΗ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p:sp>
        <p:nvSpPr>
          <p:cNvPr id="13315" name="Text Box 3"/>
          <p:cNvSpPr txBox="1">
            <a:spLocks noChangeArrowheads="1"/>
          </p:cNvSpPr>
          <p:nvPr/>
        </p:nvSpPr>
        <p:spPr bwMode="auto">
          <a:xfrm>
            <a:off x="0" y="1054100"/>
            <a:ext cx="8953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pPr algn="just">
              <a:lnSpc>
                <a:spcPct val="90000"/>
              </a:lnSpc>
            </a:pPr>
            <a:r>
              <a:rPr lang="el-GR" altLang="en-US" sz="2200" b="1" dirty="0">
                <a:solidFill>
                  <a:srgbClr val="990000"/>
                </a:solidFill>
                <a:latin typeface="Times New Roman" panose="02020603050405020304" pitchFamily="18" charset="0"/>
              </a:rPr>
              <a:t>Βρόχος </a:t>
            </a:r>
            <a:r>
              <a:rPr lang="en-US" altLang="en-US" sz="2200" b="1" dirty="0">
                <a:solidFill>
                  <a:srgbClr val="990000"/>
                </a:solidFill>
                <a:latin typeface="Times New Roman" panose="02020603050405020304" pitchFamily="18" charset="0"/>
              </a:rPr>
              <a:t>Costas</a:t>
            </a:r>
            <a:endParaRPr lang="el-GR" altLang="en-US" sz="2200" b="1" dirty="0">
              <a:solidFill>
                <a:srgbClr val="990000"/>
              </a:solidFill>
              <a:latin typeface="Times New Roman" panose="02020603050405020304" pitchFamily="18" charset="0"/>
            </a:endParaRPr>
          </a:p>
        </p:txBody>
      </p:sp>
      <p:pic>
        <p:nvPicPr>
          <p:cNvPr id="13319" name="Picture 10" descr="COSTAS1"/>
          <p:cNvPicPr>
            <a:picLocks noChangeAspect="1" noChangeArrowheads="1"/>
          </p:cNvPicPr>
          <p:nvPr/>
        </p:nvPicPr>
        <p:blipFill>
          <a:blip r:embed="rId2">
            <a:lum bright="-12000"/>
            <a:extLst>
              <a:ext uri="{28A0092B-C50C-407E-A947-70E740481C1C}">
                <a14:useLocalDpi xmlns:a14="http://schemas.microsoft.com/office/drawing/2010/main" val="0"/>
              </a:ext>
            </a:extLst>
          </a:blip>
          <a:srcRect/>
          <a:stretch>
            <a:fillRect/>
          </a:stretch>
        </p:blipFill>
        <p:spPr bwMode="auto">
          <a:xfrm>
            <a:off x="876646" y="1660594"/>
            <a:ext cx="4702519" cy="2468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448A432-5856-5748-6172-49ACDFA98C13}"/>
                  </a:ext>
                </a:extLst>
              </p:cNvPr>
              <p:cNvSpPr txBox="1"/>
              <p:nvPr/>
            </p:nvSpPr>
            <p:spPr>
              <a:xfrm>
                <a:off x="374373" y="4342294"/>
                <a:ext cx="8199783" cy="2031325"/>
              </a:xfrm>
              <a:prstGeom prst="rect">
                <a:avLst/>
              </a:prstGeom>
              <a:noFill/>
            </p:spPr>
            <p:txBody>
              <a:bodyPr wrap="square">
                <a:spAutoFit/>
              </a:bodyPr>
              <a:lstStyle/>
              <a:p>
                <a:r>
                  <a:rPr lang="el-GR" sz="1800" b="1" dirty="0">
                    <a:solidFill>
                      <a:srgbClr val="990000"/>
                    </a:solidFill>
                    <a:latin typeface="Times New Roman" panose="02020603050405020304" pitchFamily="18" charset="0"/>
                  </a:rPr>
                  <a:t>Αποτελείται από δύο βρόχους κλειδωμένης φάσης (PLL) που λειτουργούν παράλληλα και VCO που δίνει </a:t>
                </a:r>
                <a:r>
                  <a:rPr lang="el-GR" sz="1800" b="1" dirty="0" err="1">
                    <a:solidFill>
                      <a:srgbClr val="990000"/>
                    </a:solidFill>
                    <a:latin typeface="Times New Roman" panose="02020603050405020304" pitchFamily="18" charset="0"/>
                  </a:rPr>
                  <a:t>ορθογωνικές</a:t>
                </a:r>
                <a:r>
                  <a:rPr lang="el-GR" sz="1800" b="1" dirty="0">
                    <a:solidFill>
                      <a:srgbClr val="990000"/>
                    </a:solidFill>
                    <a:latin typeface="Times New Roman" panose="02020603050405020304" pitchFamily="18" charset="0"/>
                  </a:rPr>
                  <a:t> εξόδους (</a:t>
                </a:r>
                <a14:m>
                  <m:oMath xmlns:m="http://schemas.openxmlformats.org/officeDocument/2006/math">
                    <m:r>
                      <a:rPr lang="el-GR" sz="1800" b="1" i="1" dirty="0" smtClean="0">
                        <a:solidFill>
                          <a:srgbClr val="990000"/>
                        </a:solidFill>
                        <a:latin typeface="Cambria Math" panose="02040503050406030204" pitchFamily="18" charset="0"/>
                      </a:rPr>
                      <m:t>𝟗</m:t>
                    </m:r>
                    <m:sSup>
                      <m:sSupPr>
                        <m:ctrlPr>
                          <a:rPr lang="en-US" sz="1800" b="1" i="1" dirty="0" smtClean="0">
                            <a:solidFill>
                              <a:srgbClr val="990000"/>
                            </a:solidFill>
                            <a:latin typeface="Cambria Math" panose="02040503050406030204" pitchFamily="18" charset="0"/>
                          </a:rPr>
                        </m:ctrlPr>
                      </m:sSupPr>
                      <m:e>
                        <m:r>
                          <a:rPr lang="el-GR" sz="1800" b="1" i="1" dirty="0" smtClean="0">
                            <a:solidFill>
                              <a:srgbClr val="990000"/>
                            </a:solidFill>
                            <a:latin typeface="Cambria Math" panose="02040503050406030204" pitchFamily="18" charset="0"/>
                          </a:rPr>
                          <m:t>𝟎</m:t>
                        </m:r>
                      </m:e>
                      <m:sup>
                        <m:r>
                          <a:rPr lang="el-GR" sz="1800" b="1" i="1" dirty="0" smtClean="0">
                            <a:solidFill>
                              <a:srgbClr val="990000"/>
                            </a:solidFill>
                            <a:latin typeface="Cambria Math" panose="02040503050406030204" pitchFamily="18" charset="0"/>
                          </a:rPr>
                          <m:t>𝝄</m:t>
                        </m:r>
                      </m:sup>
                    </m:sSup>
                  </m:oMath>
                </a14:m>
                <a:r>
                  <a:rPr lang="el-GR" sz="1800" b="1" dirty="0">
                    <a:solidFill>
                      <a:srgbClr val="990000"/>
                    </a:solidFill>
                    <a:latin typeface="Times New Roman" panose="02020603050405020304" pitchFamily="18" charset="0"/>
                  </a:rPr>
                  <a:t>) σε κάθε βρόχο.</a:t>
                </a:r>
                <a:endParaRPr lang="en-US" sz="1800" b="1" dirty="0">
                  <a:solidFill>
                    <a:srgbClr val="990000"/>
                  </a:solidFill>
                  <a:latin typeface="Times New Roman" panose="02020603050405020304" pitchFamily="18" charset="0"/>
                </a:endParaRPr>
              </a:p>
              <a:p>
                <a:endParaRPr lang="en-US" sz="1800" b="1" dirty="0">
                  <a:solidFill>
                    <a:srgbClr val="990000"/>
                  </a:solidFill>
                  <a:latin typeface="Times New Roman" panose="02020603050405020304" pitchFamily="18" charset="0"/>
                </a:endParaRPr>
              </a:p>
              <a:p>
                <a:r>
                  <a:rPr lang="el-GR" sz="1800" b="1" dirty="0">
                    <a:solidFill>
                      <a:srgbClr val="990000"/>
                    </a:solidFill>
                    <a:latin typeface="Times New Roman" panose="02020603050405020304" pitchFamily="18" charset="0"/>
                  </a:rPr>
                  <a:t>Πλεονεκτήματα:</a:t>
                </a:r>
                <a:endParaRPr lang="en-US" sz="1800" b="1" dirty="0">
                  <a:solidFill>
                    <a:srgbClr val="990000"/>
                  </a:solidFill>
                  <a:latin typeface="Times New Roman" panose="02020603050405020304" pitchFamily="18" charset="0"/>
                </a:endParaRPr>
              </a:p>
              <a:p>
                <a:pPr marL="342900" indent="-342900">
                  <a:buAutoNum type="arabicPeriod"/>
                </a:pPr>
                <a:r>
                  <a:rPr lang="el-GR" sz="1800" b="1" dirty="0">
                    <a:solidFill>
                      <a:srgbClr val="990000"/>
                    </a:solidFill>
                    <a:latin typeface="Times New Roman" panose="02020603050405020304" pitchFamily="18" charset="0"/>
                  </a:rPr>
                  <a:t>Δεν δημιουργεί συνιστώσα με συχνότητα διπλάσια του φέροντος. </a:t>
                </a:r>
                <a:endParaRPr lang="en-US" sz="1800" b="1" dirty="0">
                  <a:solidFill>
                    <a:srgbClr val="990000"/>
                  </a:solidFill>
                  <a:latin typeface="Times New Roman" panose="02020603050405020304" pitchFamily="18" charset="0"/>
                </a:endParaRPr>
              </a:p>
              <a:p>
                <a:pPr marL="342900" indent="-342900">
                  <a:buAutoNum type="arabicPeriod"/>
                </a:pPr>
                <a:r>
                  <a:rPr lang="el-GR" sz="1800" b="1" dirty="0">
                    <a:solidFill>
                      <a:srgbClr val="990000"/>
                    </a:solidFill>
                    <a:latin typeface="Times New Roman" panose="02020603050405020304" pitchFamily="18" charset="0"/>
                  </a:rPr>
                  <a:t>Εκτελεί τη σύμφωνη ανίχνευση των δεδομένων σε έναν από τους κλάδους του διπλού συστήματος PLL.</a:t>
                </a:r>
              </a:p>
            </p:txBody>
          </p:sp>
        </mc:Choice>
        <mc:Fallback xmlns="">
          <p:sp>
            <p:nvSpPr>
              <p:cNvPr id="3" name="TextBox 2">
                <a:extLst>
                  <a:ext uri="{FF2B5EF4-FFF2-40B4-BE49-F238E27FC236}">
                    <a16:creationId xmlns:a16="http://schemas.microsoft.com/office/drawing/2014/main" id="{3448A432-5856-5748-6172-49ACDFA98C13}"/>
                  </a:ext>
                </a:extLst>
              </p:cNvPr>
              <p:cNvSpPr txBox="1">
                <a:spLocks noRot="1" noChangeAspect="1" noMove="1" noResize="1" noEditPoints="1" noAdjustHandles="1" noChangeArrowheads="1" noChangeShapeType="1" noTextEdit="1"/>
              </p:cNvSpPr>
              <p:nvPr/>
            </p:nvSpPr>
            <p:spPr>
              <a:xfrm>
                <a:off x="374373" y="4342294"/>
                <a:ext cx="8199783" cy="2031325"/>
              </a:xfrm>
              <a:prstGeom prst="rect">
                <a:avLst/>
              </a:prstGeom>
              <a:blipFill>
                <a:blip r:embed="rId3"/>
                <a:stretch>
                  <a:fillRect l="-594" t="-1497" b="-3593"/>
                </a:stretch>
              </a:blipFill>
            </p:spPr>
            <p:txBody>
              <a:bodyPr/>
              <a:lstStyle/>
              <a:p>
                <a:r>
                  <a:rPr lang="el-GR">
                    <a:noFill/>
                  </a:rPr>
                  <a:t> </a:t>
                </a:r>
              </a:p>
            </p:txBody>
          </p:sp>
        </mc:Fallback>
      </mc:AlternateContent>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A24E9-3B1D-CFEB-F0C3-2129A454E039}"/>
            </a:ext>
          </a:extLst>
        </p:cNvPr>
        <p:cNvGrpSpPr/>
        <p:nvPr/>
      </p:nvGrpSpPr>
      <p:grpSpPr>
        <a:xfrm>
          <a:off x="0" y="0"/>
          <a:ext cx="0" cy="0"/>
          <a:chOff x="0" y="0"/>
          <a:chExt cx="0" cy="0"/>
        </a:xfrm>
      </p:grpSpPr>
      <p:sp>
        <p:nvSpPr>
          <p:cNvPr id="13314" name="Text Box 2">
            <a:extLst>
              <a:ext uri="{FF2B5EF4-FFF2-40B4-BE49-F238E27FC236}">
                <a16:creationId xmlns:a16="http://schemas.microsoft.com/office/drawing/2014/main" id="{BC1FE7B3-4C80-4912-DF6A-8564839DEDBC}"/>
              </a:ext>
            </a:extLst>
          </p:cNvPr>
          <p:cNvSpPr txBox="1">
            <a:spLocks noChangeArrowheads="1"/>
          </p:cNvSpPr>
          <p:nvPr/>
        </p:nvSpPr>
        <p:spPr bwMode="auto">
          <a:xfrm>
            <a:off x="0" y="496888"/>
            <a:ext cx="7839075" cy="452437"/>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4	ΨΗΦΙΑΚΗ ΔΙΑΜΟΡΦΩΣΗ ΦΑΣΗΣ (</a:t>
            </a:r>
            <a:r>
              <a:rPr lang="en-US" altLang="en-US" sz="2200" b="1">
                <a:latin typeface="Times New Roman" panose="02020603050405020304" pitchFamily="18" charset="0"/>
                <a:cs typeface="Times New Roman" panose="02020603050405020304" pitchFamily="18" charset="0"/>
              </a:rPr>
              <a:t>PSK</a:t>
            </a:r>
            <a:r>
              <a:rPr lang="el-GR" altLang="en-US" sz="2200"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rPr>
              <a:t> </a:t>
            </a:r>
            <a:r>
              <a:rPr lang="en-US" altLang="en-US" sz="2200">
                <a:latin typeface="Times New Roman" panose="02020603050405020304" pitchFamily="18" charset="0"/>
              </a:rPr>
              <a:t> </a:t>
            </a:r>
            <a:endParaRPr lang="en-GB" altLang="en-US" sz="220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89DDE1A-6113-366C-47F7-37454F3F768C}"/>
                  </a:ext>
                </a:extLst>
              </p:cNvPr>
              <p:cNvSpPr txBox="1"/>
              <p:nvPr/>
            </p:nvSpPr>
            <p:spPr>
              <a:xfrm>
                <a:off x="307180" y="1214378"/>
                <a:ext cx="7750969" cy="4862870"/>
              </a:xfrm>
              <a:prstGeom prst="rect">
                <a:avLst/>
              </a:prstGeom>
              <a:noFill/>
            </p:spPr>
            <p:txBody>
              <a:bodyPr wrap="square">
                <a:spAutoFit/>
              </a:bodyPr>
              <a:lstStyle/>
              <a:p>
                <a:r>
                  <a:rPr lang="el-GR" sz="2000" b="1" dirty="0">
                    <a:solidFill>
                      <a:srgbClr val="990000"/>
                    </a:solidFill>
                    <a:latin typeface="Times New Roman" panose="02020603050405020304" pitchFamily="18" charset="0"/>
                  </a:rPr>
                  <a:t>Αβεβαιότητα  φάσης κατά την ανάκτηση φέροντος στη διαμόρφωση BPSK </a:t>
                </a:r>
                <a:endParaRPr lang="en-US" sz="2000" b="1" dirty="0">
                  <a:solidFill>
                    <a:srgbClr val="990000"/>
                  </a:solidFill>
                  <a:latin typeface="Times New Roman" panose="02020603050405020304" pitchFamily="18" charset="0"/>
                </a:endParaRPr>
              </a:p>
              <a:p>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Η διαδικασία διαίρεσης συχνότητας εισάγει αβεβαιότητα </a:t>
                </a:r>
                <a14:m>
                  <m:oMath xmlns:m="http://schemas.openxmlformats.org/officeDocument/2006/math">
                    <m:r>
                      <a:rPr lang="el-GR" sz="1800" b="1" i="1" dirty="0" smtClean="0">
                        <a:solidFill>
                          <a:srgbClr val="990000"/>
                        </a:solidFill>
                        <a:latin typeface="Cambria Math" panose="02040503050406030204" pitchFamily="18" charset="0"/>
                      </a:rPr>
                      <m:t>𝟏𝟖</m:t>
                    </m:r>
                    <m:sSup>
                      <m:sSupPr>
                        <m:ctrlPr>
                          <a:rPr lang="en-US" sz="1800" b="1" i="1" dirty="0" smtClean="0">
                            <a:solidFill>
                              <a:srgbClr val="990000"/>
                            </a:solidFill>
                            <a:latin typeface="Cambria Math" panose="02040503050406030204" pitchFamily="18" charset="0"/>
                          </a:rPr>
                        </m:ctrlPr>
                      </m:sSupPr>
                      <m:e>
                        <m:r>
                          <a:rPr lang="el-GR" sz="1800" b="1" i="1" dirty="0" smtClean="0">
                            <a:solidFill>
                              <a:srgbClr val="990000"/>
                            </a:solidFill>
                            <a:latin typeface="Cambria Math" panose="02040503050406030204" pitchFamily="18" charset="0"/>
                          </a:rPr>
                          <m:t>𝟎</m:t>
                        </m:r>
                      </m:e>
                      <m:sup>
                        <m:r>
                          <a:rPr lang="el-GR" sz="1800" b="1" i="1" dirty="0" smtClean="0">
                            <a:solidFill>
                              <a:srgbClr val="990000"/>
                            </a:solidFill>
                            <a:latin typeface="Cambria Math" panose="02040503050406030204" pitchFamily="18" charset="0"/>
                          </a:rPr>
                          <m:t>𝝄</m:t>
                        </m:r>
                      </m:sup>
                    </m:sSup>
                  </m:oMath>
                </a14:m>
                <a:r>
                  <a:rPr lang="en-US" sz="1800" b="1" dirty="0">
                    <a:solidFill>
                      <a:srgbClr val="990000"/>
                    </a:solidFill>
                    <a:latin typeface="Times New Roman" panose="02020603050405020304" pitchFamily="18" charset="0"/>
                  </a:rPr>
                  <a:t> </a:t>
                </a:r>
                <a:r>
                  <a:rPr lang="el-GR" sz="1800" b="1" dirty="0">
                    <a:solidFill>
                      <a:srgbClr val="990000"/>
                    </a:solidFill>
                    <a:latin typeface="Times New Roman" panose="02020603050405020304" pitchFamily="18" charset="0"/>
                  </a:rPr>
                  <a:t>στη φάση του φέροντος. </a:t>
                </a:r>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Αυτό έχει ως αποτέλεσμα να αναγνωρίζονται λανθασμένα τα σύμβολα. </a:t>
                </a:r>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Το πρόβλημα λύνεται με την αποστολή μίας γνωστής ακολουθίας δοκιμής (</a:t>
                </a:r>
                <a:r>
                  <a:rPr lang="el-GR" sz="1800" b="1" dirty="0" err="1">
                    <a:solidFill>
                      <a:srgbClr val="990000"/>
                    </a:solidFill>
                    <a:latin typeface="Times New Roman" panose="02020603050405020304" pitchFamily="18" charset="0"/>
                  </a:rPr>
                  <a:t>training</a:t>
                </a:r>
                <a:r>
                  <a:rPr lang="el-GR" sz="1800" b="1" dirty="0">
                    <a:solidFill>
                      <a:srgbClr val="990000"/>
                    </a:solidFill>
                    <a:latin typeface="Times New Roman" panose="02020603050405020304" pitchFamily="18" charset="0"/>
                  </a:rPr>
                  <a:t> </a:t>
                </a:r>
                <a:r>
                  <a:rPr lang="el-GR" sz="1800" b="1" dirty="0" err="1">
                    <a:solidFill>
                      <a:srgbClr val="990000"/>
                    </a:solidFill>
                    <a:latin typeface="Times New Roman" panose="02020603050405020304" pitchFamily="18" charset="0"/>
                  </a:rPr>
                  <a:t>sequence</a:t>
                </a:r>
                <a:r>
                  <a:rPr lang="el-GR" sz="1800" b="1" dirty="0">
                    <a:solidFill>
                      <a:srgbClr val="990000"/>
                    </a:solidFill>
                    <a:latin typeface="Times New Roman" panose="02020603050405020304" pitchFamily="18" charset="0"/>
                  </a:rPr>
                  <a:t>) στο δέκτη, από την οποία θα μπορεί αυτός να συμπεράνει αν έχει συμβεί αντιστροφή φάσης ή όχι, και να διορθώσει κατάλληλα. </a:t>
                </a:r>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Σε πραγματικά κανάλια, π.χ. </a:t>
                </a:r>
                <a:r>
                  <a:rPr lang="el-GR" sz="1800" b="1" dirty="0" err="1">
                    <a:solidFill>
                      <a:srgbClr val="990000"/>
                    </a:solidFill>
                    <a:latin typeface="Times New Roman" panose="02020603050405020304" pitchFamily="18" charset="0"/>
                  </a:rPr>
                  <a:t>κυψελωτών</a:t>
                </a:r>
                <a:r>
                  <a:rPr lang="el-GR" sz="1800" b="1" dirty="0">
                    <a:solidFill>
                      <a:srgbClr val="990000"/>
                    </a:solidFill>
                    <a:latin typeface="Times New Roman" panose="02020603050405020304" pitchFamily="18" charset="0"/>
                  </a:rPr>
                  <a:t> επικοινωνιών, ούτε και αυτό είναι αποδοτικό, επειδή συμβαίνουν διακοπές στην επικοινωνία. </a:t>
                </a:r>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Κάθε φορά που επανέρχεται η αναφορά φέροντος θα υπάρχει μια νέα αβεβαιότητα φάσης, η οποία θα απαιτεί την εκ νέου αποστολή της ακολουθίας δοκιμής. </a:t>
                </a:r>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Το πρόβλημα της αβεβαιότητας φάσης παρουσιάζεται και στο βρόχο </a:t>
                </a:r>
                <a:r>
                  <a:rPr lang="el-GR" sz="1800" b="1" dirty="0" err="1">
                    <a:solidFill>
                      <a:srgbClr val="990000"/>
                    </a:solidFill>
                    <a:latin typeface="Times New Roman" panose="02020603050405020304" pitchFamily="18" charset="0"/>
                  </a:rPr>
                  <a:t>Costas</a:t>
                </a:r>
                <a:r>
                  <a:rPr lang="el-GR" sz="1800" b="1" dirty="0">
                    <a:solidFill>
                      <a:srgbClr val="990000"/>
                    </a:solidFill>
                    <a:latin typeface="Times New Roman" panose="02020603050405020304" pitchFamily="18" charset="0"/>
                  </a:rPr>
                  <a:t>.</a:t>
                </a:r>
              </a:p>
            </p:txBody>
          </p:sp>
        </mc:Choice>
        <mc:Fallback xmlns="">
          <p:sp>
            <p:nvSpPr>
              <p:cNvPr id="4" name="TextBox 3">
                <a:extLst>
                  <a:ext uri="{FF2B5EF4-FFF2-40B4-BE49-F238E27FC236}">
                    <a16:creationId xmlns:a16="http://schemas.microsoft.com/office/drawing/2014/main" id="{689DDE1A-6113-366C-47F7-37454F3F768C}"/>
                  </a:ext>
                </a:extLst>
              </p:cNvPr>
              <p:cNvSpPr txBox="1">
                <a:spLocks noRot="1" noChangeAspect="1" noMove="1" noResize="1" noEditPoints="1" noAdjustHandles="1" noChangeArrowheads="1" noChangeShapeType="1" noTextEdit="1"/>
              </p:cNvSpPr>
              <p:nvPr/>
            </p:nvSpPr>
            <p:spPr>
              <a:xfrm>
                <a:off x="307180" y="1214378"/>
                <a:ext cx="7750969" cy="4862870"/>
              </a:xfrm>
              <a:prstGeom prst="rect">
                <a:avLst/>
              </a:prstGeom>
              <a:blipFill>
                <a:blip r:embed="rId2"/>
                <a:stretch>
                  <a:fillRect l="-786" t="-627" b="-1003"/>
                </a:stretch>
              </a:blipFill>
            </p:spPr>
            <p:txBody>
              <a:bodyPr/>
              <a:lstStyle/>
              <a:p>
                <a:r>
                  <a:rPr lang="el-GR">
                    <a:noFill/>
                  </a:rPr>
                  <a:t> </a:t>
                </a:r>
              </a:p>
            </p:txBody>
          </p:sp>
        </mc:Fallback>
      </mc:AlternateContent>
      <p:sp>
        <p:nvSpPr>
          <p:cNvPr id="6" name="TextBox 5">
            <a:extLst>
              <a:ext uri="{FF2B5EF4-FFF2-40B4-BE49-F238E27FC236}">
                <a16:creationId xmlns:a16="http://schemas.microsoft.com/office/drawing/2014/main" id="{8A83C272-AE26-B0A2-C97E-56997ECCD9F2}"/>
              </a:ext>
            </a:extLst>
          </p:cNvPr>
          <p:cNvSpPr txBox="1"/>
          <p:nvPr/>
        </p:nvSpPr>
        <p:spPr>
          <a:xfrm>
            <a:off x="307180" y="6342301"/>
            <a:ext cx="7975282" cy="646331"/>
          </a:xfrm>
          <a:prstGeom prst="rect">
            <a:avLst/>
          </a:prstGeom>
          <a:noFill/>
        </p:spPr>
        <p:txBody>
          <a:bodyPr wrap="square">
            <a:spAutoFit/>
          </a:bodyPr>
          <a:lstStyle/>
          <a:p>
            <a:r>
              <a:rPr lang="el-GR" sz="1800" b="1" u="sng" dirty="0">
                <a:solidFill>
                  <a:srgbClr val="990000"/>
                </a:solidFill>
                <a:latin typeface="Times New Roman" panose="02020603050405020304" pitchFamily="18" charset="0"/>
              </a:rPr>
              <a:t>Εναλλακτική λύση: </a:t>
            </a:r>
            <a:r>
              <a:rPr lang="el-GR" sz="1800" b="1" dirty="0">
                <a:solidFill>
                  <a:srgbClr val="990000"/>
                </a:solidFill>
                <a:latin typeface="Times New Roman" panose="02020603050405020304" pitchFamily="18" charset="0"/>
              </a:rPr>
              <a:t>Διαφορικά Κωδικοποιημένη Ψηφιακή Διαμόρφωση Φάσης</a:t>
            </a:r>
            <a:r>
              <a:rPr lang="en-US" sz="1800" b="1" dirty="0">
                <a:solidFill>
                  <a:srgbClr val="990000"/>
                </a:solidFill>
                <a:latin typeface="Times New Roman" panose="02020603050405020304" pitchFamily="18" charset="0"/>
              </a:rPr>
              <a:t> (DEPSK) </a:t>
            </a:r>
            <a:r>
              <a:rPr lang="el-GR" sz="1800" b="1" dirty="0">
                <a:solidFill>
                  <a:srgbClr val="990000"/>
                </a:solidFill>
                <a:latin typeface="Times New Roman" panose="02020603050405020304" pitchFamily="18" charset="0"/>
              </a:rPr>
              <a:t>και Διαφορική Διαμόρφωση </a:t>
            </a:r>
            <a:r>
              <a:rPr lang="en-US" sz="1800" b="1" dirty="0">
                <a:solidFill>
                  <a:srgbClr val="990000"/>
                </a:solidFill>
                <a:latin typeface="Times New Roman" panose="02020603050405020304" pitchFamily="18" charset="0"/>
              </a:rPr>
              <a:t>PSK (DPSK)</a:t>
            </a:r>
            <a:endParaRPr lang="el-GR" sz="1800" b="1" dirty="0">
              <a:solidFill>
                <a:srgbClr val="990000"/>
              </a:solidFill>
              <a:latin typeface="Times New Roman" panose="02020603050405020304" pitchFamily="18" charset="0"/>
            </a:endParaRPr>
          </a:p>
        </p:txBody>
      </p:sp>
    </p:spTree>
    <p:extLst>
      <p:ext uri="{BB962C8B-B14F-4D97-AF65-F5344CB8AC3E}">
        <p14:creationId xmlns:p14="http://schemas.microsoft.com/office/powerpoint/2010/main" val="119832179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0" y="496888"/>
            <a:ext cx="7839075" cy="7874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5	ΡΥΘΜΟΣ ΕΜΦΑΝΙΣΗΣ ΕΣΦΑΛΜΕΝΩΝ BIT (BER) ΤΩΝ ΔΥΑΔΙΚΩΝ ΜΕΘΟΔΩΝ ΔΙΑΜΟΡΦΩΣΗΣ</a:t>
            </a:r>
            <a:r>
              <a:rPr lang="en-US" altLang="en-US" sz="2200" b="1">
                <a:latin typeface="Times New Roman" panose="02020603050405020304" pitchFamily="18" charset="0"/>
                <a:cs typeface="Times New Roman" panose="02020603050405020304" pitchFamily="18" charset="0"/>
              </a:rPr>
              <a:t> </a:t>
            </a:r>
            <a:endParaRPr lang="en-GB" altLang="en-US" sz="22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7650EF4-2C08-B179-6A4F-E5EE3C6CF82D}"/>
                  </a:ext>
                </a:extLst>
              </p:cNvPr>
              <p:cNvSpPr txBox="1"/>
              <p:nvPr/>
            </p:nvSpPr>
            <p:spPr>
              <a:xfrm>
                <a:off x="177164" y="2384967"/>
                <a:ext cx="5987416" cy="3087448"/>
              </a:xfrm>
              <a:prstGeom prst="rect">
                <a:avLst/>
              </a:prstGeom>
              <a:noFill/>
            </p:spPr>
            <p:txBody>
              <a:bodyPr wrap="square" rtlCol="0">
                <a:spAutoFit/>
              </a:bodyPr>
              <a:lstStyle/>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Σύμφωνη</a:t>
                </a:r>
                <a:r>
                  <a:rPr lang="el-GR" sz="1100" dirty="0"/>
                  <a:t> </a:t>
                </a:r>
                <a:r>
                  <a:rPr lang="el-GR" sz="1800" b="1" dirty="0">
                    <a:solidFill>
                      <a:srgbClr val="990000"/>
                    </a:solidFill>
                    <a:latin typeface="Times New Roman" panose="02020603050405020304" pitchFamily="18" charset="0"/>
                  </a:rPr>
                  <a:t>ανίχνευση (</a:t>
                </a:r>
                <a:r>
                  <a:rPr lang="en-US" sz="1800" b="1" dirty="0">
                    <a:solidFill>
                      <a:srgbClr val="990000"/>
                    </a:solidFill>
                    <a:latin typeface="Times New Roman" panose="02020603050405020304" pitchFamily="18" charset="0"/>
                  </a:rPr>
                  <a:t>COH-ASK)</a:t>
                </a:r>
              </a:p>
              <a:p>
                <a:endParaRPr lang="en-US" sz="1800" b="1" dirty="0">
                  <a:solidFill>
                    <a:srgbClr val="99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𝑷</m:t>
                          </m:r>
                        </m:e>
                        <m:sub>
                          <m:r>
                            <a:rPr lang="en-US" sz="1800" b="1" i="1" smtClean="0">
                              <a:solidFill>
                                <a:srgbClr val="990000"/>
                              </a:solidFill>
                              <a:latin typeface="Cambria Math" panose="02040503050406030204" pitchFamily="18" charset="0"/>
                            </a:rPr>
                            <m:t>𝒔</m:t>
                          </m:r>
                        </m:sub>
                      </m:sSub>
                      <m:r>
                        <a:rPr lang="en-US" sz="1800" b="1" i="1" smtClean="0">
                          <a:solidFill>
                            <a:srgbClr val="990000"/>
                          </a:solidFill>
                          <a:latin typeface="Cambria Math" panose="02040503050406030204" pitchFamily="18" charset="0"/>
                        </a:rPr>
                        <m:t>=</m:t>
                      </m:r>
                      <m:f>
                        <m:fPr>
                          <m:ctrlPr>
                            <a:rPr lang="en-US" sz="1800" b="1" i="1" smtClean="0">
                              <a:solidFill>
                                <a:srgbClr val="990000"/>
                              </a:solidFill>
                              <a:latin typeface="Cambria Math" panose="02040503050406030204" pitchFamily="18" charset="0"/>
                            </a:rPr>
                          </m:ctrlPr>
                        </m:fPr>
                        <m:num>
                          <m:r>
                            <a:rPr lang="en-US" sz="1800" b="1" i="1" smtClean="0">
                              <a:solidFill>
                                <a:srgbClr val="990000"/>
                              </a:solidFill>
                              <a:latin typeface="Cambria Math" panose="02040503050406030204" pitchFamily="18" charset="0"/>
                            </a:rPr>
                            <m:t>𝟏</m:t>
                          </m:r>
                        </m:num>
                        <m:den>
                          <m:r>
                            <a:rPr lang="en-US" sz="1800" b="1" i="1" smtClean="0">
                              <a:solidFill>
                                <a:srgbClr val="990000"/>
                              </a:solidFill>
                              <a:latin typeface="Cambria Math" panose="02040503050406030204" pitchFamily="18" charset="0"/>
                            </a:rPr>
                            <m:t>𝟐</m:t>
                          </m:r>
                        </m:den>
                      </m:f>
                      <m:r>
                        <a:rPr lang="en-US" sz="1800" b="1" i="1" smtClean="0">
                          <a:solidFill>
                            <a:srgbClr val="990000"/>
                          </a:solidFill>
                          <a:latin typeface="Cambria Math" panose="02040503050406030204" pitchFamily="18" charset="0"/>
                        </a:rPr>
                        <m:t>𝒆𝒓𝒇𝒄</m:t>
                      </m:r>
                      <m:d>
                        <m:dPr>
                          <m:ctrlPr>
                            <a:rPr lang="en-US" sz="1800" b="1" i="1" smtClean="0">
                              <a:solidFill>
                                <a:srgbClr val="990000"/>
                              </a:solidFill>
                              <a:latin typeface="Cambria Math" panose="02040503050406030204" pitchFamily="18" charset="0"/>
                            </a:rPr>
                          </m:ctrlPr>
                        </m:dPr>
                        <m:e>
                          <m:rad>
                            <m:radPr>
                              <m:degHide m:val="on"/>
                              <m:ctrlPr>
                                <a:rPr lang="en-US" sz="1800" b="1" i="1">
                                  <a:solidFill>
                                    <a:srgbClr val="990000"/>
                                  </a:solidFill>
                                  <a:latin typeface="Cambria Math" panose="02040503050406030204" pitchFamily="18" charset="0"/>
                                </a:rPr>
                              </m:ctrlPr>
                            </m:radPr>
                            <m:deg/>
                            <m:e>
                              <m:f>
                                <m:fPr>
                                  <m:ctrlPr>
                                    <a:rPr lang="en-US" sz="1800" b="1" i="1">
                                      <a:solidFill>
                                        <a:srgbClr val="990000"/>
                                      </a:solidFill>
                                      <a:latin typeface="Cambria Math" panose="02040503050406030204" pitchFamily="18" charset="0"/>
                                    </a:rPr>
                                  </m:ctrlPr>
                                </m:fPr>
                                <m:num>
                                  <m:sSub>
                                    <m:sSubPr>
                                      <m:ctrlPr>
                                        <a:rPr lang="en-US" sz="1800" b="1" i="1">
                                          <a:solidFill>
                                            <a:srgbClr val="990000"/>
                                          </a:solidFill>
                                          <a:latin typeface="Cambria Math" panose="02040503050406030204" pitchFamily="18" charset="0"/>
                                        </a:rPr>
                                      </m:ctrlPr>
                                    </m:sSubPr>
                                    <m:e>
                                      <m:r>
                                        <a:rPr lang="en-US" sz="1800" b="1" i="1">
                                          <a:solidFill>
                                            <a:srgbClr val="990000"/>
                                          </a:solidFill>
                                          <a:latin typeface="Cambria Math" panose="02040503050406030204" pitchFamily="18" charset="0"/>
                                        </a:rPr>
                                        <m:t>𝑬</m:t>
                                      </m:r>
                                    </m:e>
                                    <m:sub>
                                      <m:r>
                                        <a:rPr lang="en-US" sz="1800" b="1" i="1">
                                          <a:solidFill>
                                            <a:srgbClr val="990000"/>
                                          </a:solidFill>
                                          <a:latin typeface="Cambria Math" panose="02040503050406030204" pitchFamily="18" charset="0"/>
                                        </a:rPr>
                                        <m:t>𝒃</m:t>
                                      </m:r>
                                    </m:sub>
                                  </m:sSub>
                                </m:num>
                                <m:den>
                                  <m:sSub>
                                    <m:sSubPr>
                                      <m:ctrlPr>
                                        <a:rPr lang="en-US" sz="1800" b="1" i="1">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𝟐</m:t>
                                      </m:r>
                                      <m:r>
                                        <a:rPr lang="en-US" sz="1800" b="1" i="1">
                                          <a:solidFill>
                                            <a:srgbClr val="990000"/>
                                          </a:solidFill>
                                          <a:latin typeface="Cambria Math" panose="02040503050406030204" pitchFamily="18" charset="0"/>
                                        </a:rPr>
                                        <m:t>𝑵</m:t>
                                      </m:r>
                                    </m:e>
                                    <m:sub>
                                      <m:r>
                                        <a:rPr lang="en-US" sz="1800" b="1" i="1">
                                          <a:solidFill>
                                            <a:srgbClr val="990000"/>
                                          </a:solidFill>
                                          <a:latin typeface="Cambria Math" panose="02040503050406030204" pitchFamily="18" charset="0"/>
                                        </a:rPr>
                                        <m:t>𝟎</m:t>
                                      </m:r>
                                    </m:sub>
                                  </m:sSub>
                                </m:den>
                              </m:f>
                            </m:e>
                          </m:rad>
                        </m:e>
                      </m:d>
                    </m:oMath>
                  </m:oMathPara>
                </a14:m>
                <a:endParaRPr lang="en-US" sz="1800" b="1" dirty="0">
                  <a:solidFill>
                    <a:srgbClr val="990000"/>
                  </a:solidFill>
                  <a:latin typeface="Times New Roman" panose="02020603050405020304" pitchFamily="18" charset="0"/>
                </a:endParaRPr>
              </a:p>
              <a:p>
                <a:endParaRPr lang="en-US" sz="1800" b="1" dirty="0">
                  <a:solidFill>
                    <a:srgbClr val="990000"/>
                  </a:solidFill>
                  <a:latin typeface="Times New Roman" panose="02020603050405020304" pitchFamily="18" charset="0"/>
                </a:endParaRPr>
              </a:p>
              <a:p>
                <a:pPr marL="342900" indent="-342900">
                  <a:buFont typeface="Arial" panose="020B0604020202020204" pitchFamily="34" charset="0"/>
                  <a:buChar char="•"/>
                </a:pPr>
                <a:r>
                  <a:rPr lang="el-GR" sz="1800" b="1" dirty="0">
                    <a:solidFill>
                      <a:srgbClr val="990000"/>
                    </a:solidFill>
                    <a:latin typeface="Times New Roman" panose="02020603050405020304" pitchFamily="18" charset="0"/>
                  </a:rPr>
                  <a:t>Ασύμφωνη ανίχνευση (</a:t>
                </a:r>
                <a:r>
                  <a:rPr lang="en-US" sz="1800" b="1" dirty="0">
                    <a:solidFill>
                      <a:srgbClr val="990000"/>
                    </a:solidFill>
                    <a:latin typeface="Times New Roman" panose="02020603050405020304" pitchFamily="18" charset="0"/>
                  </a:rPr>
                  <a:t>NONC-ASK)</a:t>
                </a:r>
              </a:p>
              <a:p>
                <a:pPr marL="342900" indent="-342900">
                  <a:buFont typeface="Arial" panose="020B0604020202020204" pitchFamily="34" charset="0"/>
                  <a:buChar char="•"/>
                </a:pPr>
                <a:endParaRPr lang="en-US" sz="1800" b="1" dirty="0">
                  <a:solidFill>
                    <a:srgbClr val="99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𝑷</m:t>
                          </m:r>
                        </m:e>
                        <m:sub>
                          <m:r>
                            <a:rPr lang="en-US" sz="1800" b="1" i="1" smtClean="0">
                              <a:solidFill>
                                <a:srgbClr val="990000"/>
                              </a:solidFill>
                              <a:latin typeface="Cambria Math" panose="02040503050406030204" pitchFamily="18" charset="0"/>
                            </a:rPr>
                            <m:t>𝒔</m:t>
                          </m:r>
                        </m:sub>
                      </m:sSub>
                      <m:r>
                        <a:rPr lang="en-US" sz="1800" b="1" i="1" smtClean="0">
                          <a:solidFill>
                            <a:srgbClr val="990000"/>
                          </a:solidFill>
                          <a:latin typeface="Cambria Math" panose="02040503050406030204" pitchFamily="18" charset="0"/>
                        </a:rPr>
                        <m:t>=</m:t>
                      </m:r>
                      <m:f>
                        <m:fPr>
                          <m:ctrlPr>
                            <a:rPr lang="en-US" sz="1800" b="1" i="1" smtClean="0">
                              <a:solidFill>
                                <a:srgbClr val="990000"/>
                              </a:solidFill>
                              <a:latin typeface="Cambria Math" panose="02040503050406030204" pitchFamily="18" charset="0"/>
                            </a:rPr>
                          </m:ctrlPr>
                        </m:fPr>
                        <m:num>
                          <m:r>
                            <a:rPr lang="en-US" sz="1800" b="1" i="1" smtClean="0">
                              <a:solidFill>
                                <a:srgbClr val="990000"/>
                              </a:solidFill>
                              <a:latin typeface="Cambria Math" panose="02040503050406030204" pitchFamily="18" charset="0"/>
                            </a:rPr>
                            <m:t>𝟏</m:t>
                          </m:r>
                        </m:num>
                        <m:den>
                          <m:r>
                            <a:rPr lang="en-US" sz="1800" b="1" i="1" smtClean="0">
                              <a:solidFill>
                                <a:srgbClr val="990000"/>
                              </a:solidFill>
                              <a:latin typeface="Cambria Math" panose="02040503050406030204" pitchFamily="18" charset="0"/>
                            </a:rPr>
                            <m:t>𝟐</m:t>
                          </m:r>
                        </m:den>
                      </m:f>
                      <m:d>
                        <m:dPr>
                          <m:begChr m:val="["/>
                          <m:endChr m:val="]"/>
                          <m:ctrlPr>
                            <a:rPr lang="en-US" sz="1800" b="1" i="1" smtClean="0">
                              <a:solidFill>
                                <a:srgbClr val="990000"/>
                              </a:solidFill>
                              <a:latin typeface="Cambria Math" panose="02040503050406030204" pitchFamily="18" charset="0"/>
                            </a:rPr>
                          </m:ctrlPr>
                        </m:dPr>
                        <m:e>
                          <m:sSup>
                            <m:sSupPr>
                              <m:ctrlPr>
                                <a:rPr lang="en-US" sz="1800" b="1" i="1" smtClean="0">
                                  <a:solidFill>
                                    <a:srgbClr val="990000"/>
                                  </a:solidFill>
                                  <a:latin typeface="Cambria Math" panose="02040503050406030204" pitchFamily="18" charset="0"/>
                                </a:rPr>
                              </m:ctrlPr>
                            </m:sSupPr>
                            <m:e>
                              <m:r>
                                <a:rPr lang="en-US" sz="1800" b="1" i="1" smtClean="0">
                                  <a:solidFill>
                                    <a:srgbClr val="990000"/>
                                  </a:solidFill>
                                  <a:latin typeface="Cambria Math" panose="02040503050406030204" pitchFamily="18" charset="0"/>
                                </a:rPr>
                                <m:t>𝒆</m:t>
                              </m:r>
                            </m:e>
                            <m:sup>
                              <m:r>
                                <a:rPr lang="en-US" sz="1800" b="1" i="1" smtClean="0">
                                  <a:solidFill>
                                    <a:srgbClr val="990000"/>
                                  </a:solidFill>
                                  <a:latin typeface="Cambria Math" panose="02040503050406030204" pitchFamily="18" charset="0"/>
                                </a:rPr>
                                <m:t>−</m:t>
                              </m:r>
                              <m:f>
                                <m:fPr>
                                  <m:ctrlPr>
                                    <a:rPr lang="en-US" sz="1800" b="1" i="1" smtClean="0">
                                      <a:solidFill>
                                        <a:srgbClr val="990000"/>
                                      </a:solidFill>
                                      <a:latin typeface="Cambria Math" panose="02040503050406030204" pitchFamily="18" charset="0"/>
                                    </a:rPr>
                                  </m:ctrlPr>
                                </m:fPr>
                                <m:num>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𝑬</m:t>
                                      </m:r>
                                    </m:e>
                                    <m:sub>
                                      <m:r>
                                        <a:rPr lang="en-US" sz="1800" b="1" i="1" smtClean="0">
                                          <a:solidFill>
                                            <a:srgbClr val="990000"/>
                                          </a:solidFill>
                                          <a:latin typeface="Cambria Math" panose="02040503050406030204" pitchFamily="18" charset="0"/>
                                        </a:rPr>
                                        <m:t>𝒃</m:t>
                                      </m:r>
                                    </m:sub>
                                  </m:sSub>
                                </m:num>
                                <m:den>
                                  <m:r>
                                    <a:rPr lang="en-US" sz="1800" b="1" i="1" smtClean="0">
                                      <a:solidFill>
                                        <a:srgbClr val="990000"/>
                                      </a:solidFill>
                                      <a:latin typeface="Cambria Math" panose="02040503050406030204" pitchFamily="18" charset="0"/>
                                    </a:rPr>
                                    <m:t>𝟒</m:t>
                                  </m:r>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𝑵</m:t>
                                      </m:r>
                                    </m:e>
                                    <m:sub>
                                      <m:r>
                                        <a:rPr lang="en-US" sz="1800" b="1" i="1" smtClean="0">
                                          <a:solidFill>
                                            <a:srgbClr val="990000"/>
                                          </a:solidFill>
                                          <a:latin typeface="Cambria Math" panose="02040503050406030204" pitchFamily="18" charset="0"/>
                                        </a:rPr>
                                        <m:t>𝟎</m:t>
                                      </m:r>
                                    </m:sub>
                                  </m:sSub>
                                </m:den>
                              </m:f>
                            </m:sup>
                          </m:sSup>
                          <m:r>
                            <a:rPr lang="en-US" sz="1800" b="1" i="1" smtClean="0">
                              <a:solidFill>
                                <a:srgbClr val="990000"/>
                              </a:solidFill>
                              <a:latin typeface="Cambria Math" panose="02040503050406030204" pitchFamily="18" charset="0"/>
                            </a:rPr>
                            <m:t>𝒆𝒓𝒇𝒄</m:t>
                          </m:r>
                          <m:d>
                            <m:dPr>
                              <m:ctrlPr>
                                <a:rPr lang="en-US" sz="1800" b="1" i="1" smtClean="0">
                                  <a:solidFill>
                                    <a:srgbClr val="990000"/>
                                  </a:solidFill>
                                  <a:latin typeface="Cambria Math" panose="02040503050406030204" pitchFamily="18" charset="0"/>
                                </a:rPr>
                              </m:ctrlPr>
                            </m:dPr>
                            <m:e>
                              <m:f>
                                <m:fPr>
                                  <m:ctrlPr>
                                    <a:rPr lang="en-US" sz="1800" b="1" i="1" smtClean="0">
                                      <a:solidFill>
                                        <a:srgbClr val="990000"/>
                                      </a:solidFill>
                                      <a:latin typeface="Cambria Math" panose="02040503050406030204" pitchFamily="18" charset="0"/>
                                    </a:rPr>
                                  </m:ctrlPr>
                                </m:fPr>
                                <m:num>
                                  <m:rad>
                                    <m:radPr>
                                      <m:degHide m:val="on"/>
                                      <m:ctrlPr>
                                        <a:rPr lang="en-US" sz="1800" b="1" i="1" smtClean="0">
                                          <a:solidFill>
                                            <a:srgbClr val="990000"/>
                                          </a:solidFill>
                                          <a:latin typeface="Cambria Math" panose="02040503050406030204" pitchFamily="18" charset="0"/>
                                        </a:rPr>
                                      </m:ctrlPr>
                                    </m:radPr>
                                    <m:deg/>
                                    <m:e>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𝑬</m:t>
                                          </m:r>
                                        </m:e>
                                        <m:sub>
                                          <m:r>
                                            <a:rPr lang="en-US" sz="1800" b="1" i="1" smtClean="0">
                                              <a:solidFill>
                                                <a:srgbClr val="990000"/>
                                              </a:solidFill>
                                              <a:latin typeface="Cambria Math" panose="02040503050406030204" pitchFamily="18" charset="0"/>
                                            </a:rPr>
                                            <m:t>𝒃</m:t>
                                          </m:r>
                                        </m:sub>
                                      </m:sSub>
                                    </m:e>
                                  </m:rad>
                                </m:num>
                                <m:den>
                                  <m:r>
                                    <a:rPr lang="en-US" sz="1800" b="1" i="1" smtClean="0">
                                      <a:solidFill>
                                        <a:srgbClr val="990000"/>
                                      </a:solidFill>
                                      <a:latin typeface="Cambria Math" panose="02040503050406030204" pitchFamily="18" charset="0"/>
                                    </a:rPr>
                                    <m:t>𝟐</m:t>
                                  </m:r>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𝑵</m:t>
                                      </m:r>
                                    </m:e>
                                    <m:sub>
                                      <m:r>
                                        <a:rPr lang="en-US" sz="1800" b="1" i="1" smtClean="0">
                                          <a:solidFill>
                                            <a:srgbClr val="990000"/>
                                          </a:solidFill>
                                          <a:latin typeface="Cambria Math" panose="02040503050406030204" pitchFamily="18" charset="0"/>
                                        </a:rPr>
                                        <m:t>𝟎</m:t>
                                      </m:r>
                                    </m:sub>
                                  </m:sSub>
                                </m:den>
                              </m:f>
                            </m:e>
                          </m:d>
                        </m:e>
                      </m:d>
                    </m:oMath>
                  </m:oMathPara>
                </a14:m>
                <a:endParaRPr lang="el-GR" sz="1800" b="1" dirty="0">
                  <a:solidFill>
                    <a:srgbClr val="990000"/>
                  </a:solidFill>
                  <a:latin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67650EF4-2C08-B179-6A4F-E5EE3C6CF82D}"/>
                  </a:ext>
                </a:extLst>
              </p:cNvPr>
              <p:cNvSpPr txBox="1">
                <a:spLocks noRot="1" noChangeAspect="1" noMove="1" noResize="1" noEditPoints="1" noAdjustHandles="1" noChangeArrowheads="1" noChangeShapeType="1" noTextEdit="1"/>
              </p:cNvSpPr>
              <p:nvPr/>
            </p:nvSpPr>
            <p:spPr>
              <a:xfrm>
                <a:off x="177164" y="2384967"/>
                <a:ext cx="5987416" cy="3087448"/>
              </a:xfrm>
              <a:prstGeom prst="rect">
                <a:avLst/>
              </a:prstGeom>
              <a:blipFill>
                <a:blip r:embed="rId2"/>
                <a:stretch>
                  <a:fillRect l="-611" t="-986"/>
                </a:stretch>
              </a:blipFill>
            </p:spPr>
            <p:txBody>
              <a:bodyPr/>
              <a:lstStyle/>
              <a:p>
                <a:r>
                  <a:rPr lang="el-GR">
                    <a:noFill/>
                  </a:rPr>
                  <a:t> </a:t>
                </a:r>
              </a:p>
            </p:txBody>
          </p:sp>
        </mc:Fallback>
      </mc:AlternateContent>
      <p:pic>
        <p:nvPicPr>
          <p:cNvPr id="5" name="Εικόνα 4">
            <a:extLst>
              <a:ext uri="{FF2B5EF4-FFF2-40B4-BE49-F238E27FC236}">
                <a16:creationId xmlns:a16="http://schemas.microsoft.com/office/drawing/2014/main" id="{FE115FF8-B117-6B74-042B-A520899497E0}"/>
              </a:ext>
            </a:extLst>
          </p:cNvPr>
          <p:cNvPicPr>
            <a:picLocks noChangeAspect="1"/>
          </p:cNvPicPr>
          <p:nvPr/>
        </p:nvPicPr>
        <p:blipFill>
          <a:blip r:embed="rId3"/>
          <a:stretch>
            <a:fillRect/>
          </a:stretch>
        </p:blipFill>
        <p:spPr>
          <a:xfrm>
            <a:off x="5104263" y="2236719"/>
            <a:ext cx="3672073" cy="3208128"/>
          </a:xfrm>
          <a:prstGeom prst="rect">
            <a:avLst/>
          </a:prstGeom>
        </p:spPr>
      </p:pic>
      <p:sp>
        <p:nvSpPr>
          <p:cNvPr id="8" name="TextBox 7">
            <a:extLst>
              <a:ext uri="{FF2B5EF4-FFF2-40B4-BE49-F238E27FC236}">
                <a16:creationId xmlns:a16="http://schemas.microsoft.com/office/drawing/2014/main" id="{BFD817F4-11E8-FED2-C79D-1978B47B1E1B}"/>
              </a:ext>
            </a:extLst>
          </p:cNvPr>
          <p:cNvSpPr txBox="1"/>
          <p:nvPr/>
        </p:nvSpPr>
        <p:spPr>
          <a:xfrm>
            <a:off x="515302" y="6074111"/>
            <a:ext cx="8261033" cy="707886"/>
          </a:xfrm>
          <a:prstGeom prst="rect">
            <a:avLst/>
          </a:prstGeom>
          <a:noFill/>
        </p:spPr>
        <p:txBody>
          <a:bodyPr wrap="square">
            <a:spAutoFit/>
          </a:bodyPr>
          <a:lstStyle/>
          <a:p>
            <a:r>
              <a:rPr lang="el-GR" sz="2000" b="1" dirty="0">
                <a:solidFill>
                  <a:srgbClr val="990000"/>
                </a:solidFill>
                <a:latin typeface="Times New Roman" panose="02020603050405020304" pitchFamily="18" charset="0"/>
              </a:rPr>
              <a:t>Παρατηρούμε ότι</a:t>
            </a:r>
            <a:r>
              <a:rPr lang="en-US" sz="2000" b="1" dirty="0">
                <a:solidFill>
                  <a:srgbClr val="990000"/>
                </a:solidFill>
                <a:latin typeface="Times New Roman" panose="02020603050405020304" pitchFamily="18" charset="0"/>
              </a:rPr>
              <a:t> </a:t>
            </a:r>
            <a:r>
              <a:rPr lang="el-GR" sz="2000" b="1" dirty="0">
                <a:solidFill>
                  <a:srgbClr val="990000"/>
                </a:solidFill>
                <a:latin typeface="Times New Roman" panose="02020603050405020304" pitchFamily="18" charset="0"/>
              </a:rPr>
              <a:t>η σύμφωνη</a:t>
            </a:r>
            <a:r>
              <a:rPr lang="en-US" sz="2000" b="1" dirty="0">
                <a:solidFill>
                  <a:srgbClr val="990000"/>
                </a:solidFill>
                <a:latin typeface="Times New Roman" panose="02020603050405020304" pitchFamily="18" charset="0"/>
              </a:rPr>
              <a:t> </a:t>
            </a:r>
            <a:r>
              <a:rPr lang="el-GR" sz="2000" b="1" dirty="0">
                <a:solidFill>
                  <a:srgbClr val="990000"/>
                </a:solidFill>
                <a:latin typeface="Times New Roman" panose="02020603050405020304" pitchFamily="18" charset="0"/>
              </a:rPr>
              <a:t>ανίχνευση</a:t>
            </a:r>
            <a:r>
              <a:rPr lang="en-US" sz="2000" b="1" dirty="0">
                <a:solidFill>
                  <a:srgbClr val="990000"/>
                </a:solidFill>
                <a:latin typeface="Times New Roman" panose="02020603050405020304" pitchFamily="18" charset="0"/>
              </a:rPr>
              <a:t> ASK </a:t>
            </a:r>
            <a:r>
              <a:rPr lang="el-GR" sz="2000" b="1" dirty="0">
                <a:solidFill>
                  <a:srgbClr val="990000"/>
                </a:solidFill>
                <a:latin typeface="Times New Roman" panose="02020603050405020304" pitchFamily="18" charset="0"/>
              </a:rPr>
              <a:t>έχει</a:t>
            </a:r>
            <a:r>
              <a:rPr lang="en-US" sz="2000" b="1" dirty="0">
                <a:solidFill>
                  <a:srgbClr val="990000"/>
                </a:solidFill>
                <a:latin typeface="Times New Roman" panose="02020603050405020304" pitchFamily="18" charset="0"/>
              </a:rPr>
              <a:t> </a:t>
            </a:r>
            <a:r>
              <a:rPr lang="el-GR" sz="2000" b="1" dirty="0">
                <a:solidFill>
                  <a:srgbClr val="990000"/>
                </a:solidFill>
                <a:latin typeface="Times New Roman" panose="02020603050405020304" pitchFamily="18" charset="0"/>
              </a:rPr>
              <a:t>μεγαλύτερη</a:t>
            </a:r>
            <a:r>
              <a:rPr lang="en-US" sz="2000" b="1" dirty="0">
                <a:solidFill>
                  <a:srgbClr val="990000"/>
                </a:solidFill>
                <a:latin typeface="Times New Roman" panose="02020603050405020304" pitchFamily="18" charset="0"/>
              </a:rPr>
              <a:t> </a:t>
            </a:r>
            <a:r>
              <a:rPr lang="el-GR" sz="2000" b="1" dirty="0">
                <a:solidFill>
                  <a:srgbClr val="990000"/>
                </a:solidFill>
                <a:latin typeface="Times New Roman" panose="02020603050405020304" pitchFamily="18" charset="0"/>
              </a:rPr>
              <a:t>αντοχή</a:t>
            </a:r>
            <a:r>
              <a:rPr lang="en-US" sz="2000" b="1" dirty="0">
                <a:solidFill>
                  <a:srgbClr val="990000"/>
                </a:solidFill>
                <a:latin typeface="Times New Roman" panose="02020603050405020304" pitchFamily="18" charset="0"/>
              </a:rPr>
              <a:t> </a:t>
            </a:r>
            <a:r>
              <a:rPr lang="el-GR" sz="2000" b="1" dirty="0">
                <a:solidFill>
                  <a:srgbClr val="990000"/>
                </a:solidFill>
                <a:latin typeface="Times New Roman" panose="02020603050405020304" pitchFamily="18" charset="0"/>
              </a:rPr>
              <a:t>στον</a:t>
            </a:r>
            <a:r>
              <a:rPr lang="en-US" sz="2000" b="1" dirty="0">
                <a:solidFill>
                  <a:srgbClr val="990000"/>
                </a:solidFill>
                <a:latin typeface="Times New Roman" panose="02020603050405020304" pitchFamily="18" charset="0"/>
              </a:rPr>
              <a:t> </a:t>
            </a:r>
            <a:r>
              <a:rPr lang="el-GR" sz="2000" b="1" dirty="0">
                <a:solidFill>
                  <a:srgbClr val="990000"/>
                </a:solidFill>
                <a:latin typeface="Times New Roman" panose="02020603050405020304" pitchFamily="18" charset="0"/>
              </a:rPr>
              <a:t>θόρυβο</a:t>
            </a:r>
            <a:r>
              <a:rPr lang="en-US" sz="2000" b="1" dirty="0">
                <a:solidFill>
                  <a:srgbClr val="990000"/>
                </a:solidFill>
                <a:latin typeface="Times New Roman" panose="02020603050405020304" pitchFamily="18" charset="0"/>
              </a:rPr>
              <a:t> (</a:t>
            </a:r>
            <a:r>
              <a:rPr lang="el-GR" sz="2000" b="1" dirty="0">
                <a:solidFill>
                  <a:srgbClr val="990000"/>
                </a:solidFill>
                <a:latin typeface="Times New Roman" panose="02020603050405020304" pitchFamily="18" charset="0"/>
              </a:rPr>
              <a:t>διαφορά </a:t>
            </a:r>
            <a:r>
              <a:rPr lang="en-US" sz="2000" b="1" dirty="0">
                <a:solidFill>
                  <a:srgbClr val="990000"/>
                </a:solidFill>
                <a:latin typeface="Times New Roman" panose="02020603050405020304" pitchFamily="18" charset="0"/>
              </a:rPr>
              <a:t>3dB </a:t>
            </a:r>
            <a:r>
              <a:rPr lang="el-GR" sz="2000" b="1" dirty="0">
                <a:solidFill>
                  <a:srgbClr val="990000"/>
                </a:solidFill>
                <a:latin typeface="Times New Roman" panose="02020603050405020304" pitchFamily="18" charset="0"/>
              </a:rPr>
              <a:t>μεταξύ σύμφωνης και ασύμφωνης ανίχνευσης).</a:t>
            </a:r>
            <a:r>
              <a:rPr lang="en-US" sz="2000" b="1" dirty="0">
                <a:solidFill>
                  <a:srgbClr val="990000"/>
                </a:solidFill>
                <a:latin typeface="Times New Roman" panose="02020603050405020304" pitchFamily="18" charset="0"/>
              </a:rPr>
              <a:t> </a:t>
            </a:r>
            <a:endParaRPr lang="el-GR" sz="2000" b="1" dirty="0">
              <a:solidFill>
                <a:srgbClr val="990000"/>
              </a:solidFill>
              <a:latin typeface="Times New Roman" panose="02020603050405020304" pitchFamily="18" charset="0"/>
            </a:endParaRPr>
          </a:p>
        </p:txBody>
      </p:sp>
      <p:sp>
        <p:nvSpPr>
          <p:cNvPr id="9" name="TextBox 8">
            <a:extLst>
              <a:ext uri="{FF2B5EF4-FFF2-40B4-BE49-F238E27FC236}">
                <a16:creationId xmlns:a16="http://schemas.microsoft.com/office/drawing/2014/main" id="{2D3274BD-B4B6-E17B-4C87-0D1A7348FE4D}"/>
              </a:ext>
            </a:extLst>
          </p:cNvPr>
          <p:cNvSpPr txBox="1"/>
          <p:nvPr/>
        </p:nvSpPr>
        <p:spPr>
          <a:xfrm>
            <a:off x="515303" y="1401344"/>
            <a:ext cx="8412480" cy="707886"/>
          </a:xfrm>
          <a:prstGeom prst="rect">
            <a:avLst/>
          </a:prstGeom>
          <a:noFill/>
        </p:spPr>
        <p:txBody>
          <a:bodyPr wrap="square" rtlCol="0">
            <a:spAutoFit/>
          </a:bodyPr>
          <a:lstStyle/>
          <a:p>
            <a:r>
              <a:rPr lang="el-GR" sz="2000" b="1" dirty="0">
                <a:solidFill>
                  <a:srgbClr val="990000"/>
                </a:solidFill>
                <a:latin typeface="Times New Roman" panose="02020603050405020304" pitchFamily="18" charset="0"/>
              </a:rPr>
              <a:t>Πιθανότητα εμφάνισης λανθασμένων συμβόλων 𝑷𝒔 για διέλευση σε κανάλι με προσθετικό λευκό </a:t>
            </a:r>
            <a:r>
              <a:rPr lang="el-GR" sz="2000" b="1" dirty="0" err="1">
                <a:solidFill>
                  <a:srgbClr val="990000"/>
                </a:solidFill>
                <a:latin typeface="Times New Roman" panose="02020603050405020304" pitchFamily="18" charset="0"/>
              </a:rPr>
              <a:t>γκαουσσιανό</a:t>
            </a:r>
            <a:r>
              <a:rPr lang="el-GR" sz="2000" b="1" dirty="0">
                <a:solidFill>
                  <a:srgbClr val="990000"/>
                </a:solidFill>
                <a:latin typeface="Times New Roman" panose="02020603050405020304" pitchFamily="18" charset="0"/>
              </a:rPr>
              <a:t> θόρυβο (AWGN).</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7EAAB-ACA4-86C1-FA1E-2750B477B4CF}"/>
            </a:ext>
          </a:extLst>
        </p:cNvPr>
        <p:cNvGrpSpPr/>
        <p:nvPr/>
      </p:nvGrpSpPr>
      <p:grpSpPr>
        <a:xfrm>
          <a:off x="0" y="0"/>
          <a:ext cx="0" cy="0"/>
          <a:chOff x="0" y="0"/>
          <a:chExt cx="0" cy="0"/>
        </a:xfrm>
      </p:grpSpPr>
      <p:sp>
        <p:nvSpPr>
          <p:cNvPr id="15363" name="Text Box 2">
            <a:extLst>
              <a:ext uri="{FF2B5EF4-FFF2-40B4-BE49-F238E27FC236}">
                <a16:creationId xmlns:a16="http://schemas.microsoft.com/office/drawing/2014/main" id="{B26ED0AB-347B-6195-0313-2453E2555E18}"/>
              </a:ext>
            </a:extLst>
          </p:cNvPr>
          <p:cNvSpPr txBox="1">
            <a:spLocks noChangeArrowheads="1"/>
          </p:cNvSpPr>
          <p:nvPr/>
        </p:nvSpPr>
        <p:spPr bwMode="auto">
          <a:xfrm>
            <a:off x="0" y="496888"/>
            <a:ext cx="7839075" cy="7874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5	ΡΥΘΜΟΣ ΕΜΦΑΝΙΣΗΣ ΕΣΦΑΛΜΕΝΩΝ BIT (BER) ΤΩΝ ΔΥΑΔΙΚΩΝ ΜΕΘΟΔΩΝ ΔΙΑΜΟΡΦΩΣΗΣ</a:t>
            </a:r>
            <a:r>
              <a:rPr lang="en-US" altLang="en-US" sz="2200" b="1">
                <a:latin typeface="Times New Roman" panose="02020603050405020304" pitchFamily="18" charset="0"/>
                <a:cs typeface="Times New Roman" panose="02020603050405020304" pitchFamily="18" charset="0"/>
              </a:rPr>
              <a:t> </a:t>
            </a:r>
            <a:endParaRPr lang="en-GB" altLang="en-US" sz="22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3477751-113D-77DC-3B50-E164E818F745}"/>
                  </a:ext>
                </a:extLst>
              </p:cNvPr>
              <p:cNvSpPr txBox="1"/>
              <p:nvPr/>
            </p:nvSpPr>
            <p:spPr>
              <a:xfrm>
                <a:off x="177164" y="2384967"/>
                <a:ext cx="5987416" cy="2916248"/>
              </a:xfrm>
              <a:prstGeom prst="rect">
                <a:avLst/>
              </a:prstGeom>
              <a:noFill/>
            </p:spPr>
            <p:txBody>
              <a:bodyPr wrap="square" rtlCol="0">
                <a:spAutoFit/>
              </a:bodyPr>
              <a:lstStyle/>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Σύμφωνη</a:t>
                </a:r>
                <a:r>
                  <a:rPr lang="el-GR" sz="1100" dirty="0"/>
                  <a:t> </a:t>
                </a:r>
                <a:r>
                  <a:rPr lang="el-GR" sz="1800" b="1" dirty="0">
                    <a:solidFill>
                      <a:srgbClr val="990000"/>
                    </a:solidFill>
                    <a:latin typeface="Times New Roman" panose="02020603050405020304" pitchFamily="18" charset="0"/>
                  </a:rPr>
                  <a:t>ανίχνευση (</a:t>
                </a:r>
                <a:r>
                  <a:rPr lang="en-US" sz="1800" b="1" dirty="0">
                    <a:solidFill>
                      <a:srgbClr val="990000"/>
                    </a:solidFill>
                    <a:latin typeface="Times New Roman" panose="02020603050405020304" pitchFamily="18" charset="0"/>
                  </a:rPr>
                  <a:t>COH-FSK)</a:t>
                </a:r>
              </a:p>
              <a:p>
                <a:endParaRPr lang="en-US" sz="1800" b="1" dirty="0">
                  <a:solidFill>
                    <a:srgbClr val="99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𝑷</m:t>
                          </m:r>
                        </m:e>
                        <m:sub>
                          <m:r>
                            <a:rPr lang="en-US" sz="1800" b="1" i="1" smtClean="0">
                              <a:solidFill>
                                <a:srgbClr val="990000"/>
                              </a:solidFill>
                              <a:latin typeface="Cambria Math" panose="02040503050406030204" pitchFamily="18" charset="0"/>
                            </a:rPr>
                            <m:t>𝒔</m:t>
                          </m:r>
                        </m:sub>
                      </m:sSub>
                      <m:r>
                        <a:rPr lang="en-US" sz="1800" b="1" i="1" smtClean="0">
                          <a:solidFill>
                            <a:srgbClr val="990000"/>
                          </a:solidFill>
                          <a:latin typeface="Cambria Math" panose="02040503050406030204" pitchFamily="18" charset="0"/>
                        </a:rPr>
                        <m:t>=</m:t>
                      </m:r>
                      <m:f>
                        <m:fPr>
                          <m:ctrlPr>
                            <a:rPr lang="en-US" sz="1800" b="1" i="1" smtClean="0">
                              <a:solidFill>
                                <a:srgbClr val="990000"/>
                              </a:solidFill>
                              <a:latin typeface="Cambria Math" panose="02040503050406030204" pitchFamily="18" charset="0"/>
                            </a:rPr>
                          </m:ctrlPr>
                        </m:fPr>
                        <m:num>
                          <m:r>
                            <a:rPr lang="en-US" sz="1800" b="1" i="1" smtClean="0">
                              <a:solidFill>
                                <a:srgbClr val="990000"/>
                              </a:solidFill>
                              <a:latin typeface="Cambria Math" panose="02040503050406030204" pitchFamily="18" charset="0"/>
                            </a:rPr>
                            <m:t>𝟏</m:t>
                          </m:r>
                        </m:num>
                        <m:den>
                          <m:r>
                            <a:rPr lang="en-US" sz="1800" b="1" i="1" smtClean="0">
                              <a:solidFill>
                                <a:srgbClr val="990000"/>
                              </a:solidFill>
                              <a:latin typeface="Cambria Math" panose="02040503050406030204" pitchFamily="18" charset="0"/>
                            </a:rPr>
                            <m:t>𝟐</m:t>
                          </m:r>
                        </m:den>
                      </m:f>
                      <m:r>
                        <a:rPr lang="en-US" sz="1800" b="1" i="1" smtClean="0">
                          <a:solidFill>
                            <a:srgbClr val="990000"/>
                          </a:solidFill>
                          <a:latin typeface="Cambria Math" panose="02040503050406030204" pitchFamily="18" charset="0"/>
                        </a:rPr>
                        <m:t>𝒆𝒓𝒇𝒄</m:t>
                      </m:r>
                      <m:d>
                        <m:dPr>
                          <m:ctrlPr>
                            <a:rPr lang="en-US" sz="1800" b="1" i="1" smtClean="0">
                              <a:solidFill>
                                <a:srgbClr val="990000"/>
                              </a:solidFill>
                              <a:latin typeface="Cambria Math" panose="02040503050406030204" pitchFamily="18" charset="0"/>
                            </a:rPr>
                          </m:ctrlPr>
                        </m:dPr>
                        <m:e>
                          <m:rad>
                            <m:radPr>
                              <m:degHide m:val="on"/>
                              <m:ctrlPr>
                                <a:rPr lang="en-US" sz="1800" b="1" i="1">
                                  <a:solidFill>
                                    <a:srgbClr val="990000"/>
                                  </a:solidFill>
                                  <a:latin typeface="Cambria Math" panose="02040503050406030204" pitchFamily="18" charset="0"/>
                                </a:rPr>
                              </m:ctrlPr>
                            </m:radPr>
                            <m:deg/>
                            <m:e>
                              <m:f>
                                <m:fPr>
                                  <m:ctrlPr>
                                    <a:rPr lang="en-US" sz="1800" b="1" i="1">
                                      <a:solidFill>
                                        <a:srgbClr val="990000"/>
                                      </a:solidFill>
                                      <a:latin typeface="Cambria Math" panose="02040503050406030204" pitchFamily="18" charset="0"/>
                                    </a:rPr>
                                  </m:ctrlPr>
                                </m:fPr>
                                <m:num>
                                  <m:sSub>
                                    <m:sSubPr>
                                      <m:ctrlPr>
                                        <a:rPr lang="en-US" sz="1800" b="1" i="1">
                                          <a:solidFill>
                                            <a:srgbClr val="990000"/>
                                          </a:solidFill>
                                          <a:latin typeface="Cambria Math" panose="02040503050406030204" pitchFamily="18" charset="0"/>
                                        </a:rPr>
                                      </m:ctrlPr>
                                    </m:sSubPr>
                                    <m:e>
                                      <m:r>
                                        <a:rPr lang="en-US" sz="1800" b="1" i="1">
                                          <a:solidFill>
                                            <a:srgbClr val="990000"/>
                                          </a:solidFill>
                                          <a:latin typeface="Cambria Math" panose="02040503050406030204" pitchFamily="18" charset="0"/>
                                        </a:rPr>
                                        <m:t>𝑬</m:t>
                                      </m:r>
                                    </m:e>
                                    <m:sub>
                                      <m:r>
                                        <a:rPr lang="en-US" sz="1800" b="1" i="1">
                                          <a:solidFill>
                                            <a:srgbClr val="990000"/>
                                          </a:solidFill>
                                          <a:latin typeface="Cambria Math" panose="02040503050406030204" pitchFamily="18" charset="0"/>
                                        </a:rPr>
                                        <m:t>𝒃</m:t>
                                      </m:r>
                                    </m:sub>
                                  </m:sSub>
                                </m:num>
                                <m:den>
                                  <m:sSub>
                                    <m:sSubPr>
                                      <m:ctrlPr>
                                        <a:rPr lang="en-US" sz="1800" b="1" i="1">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𝟐</m:t>
                                      </m:r>
                                      <m:r>
                                        <a:rPr lang="en-US" sz="1800" b="1" i="1">
                                          <a:solidFill>
                                            <a:srgbClr val="990000"/>
                                          </a:solidFill>
                                          <a:latin typeface="Cambria Math" panose="02040503050406030204" pitchFamily="18" charset="0"/>
                                        </a:rPr>
                                        <m:t>𝑵</m:t>
                                      </m:r>
                                    </m:e>
                                    <m:sub>
                                      <m:r>
                                        <a:rPr lang="en-US" sz="1800" b="1" i="1">
                                          <a:solidFill>
                                            <a:srgbClr val="990000"/>
                                          </a:solidFill>
                                          <a:latin typeface="Cambria Math" panose="02040503050406030204" pitchFamily="18" charset="0"/>
                                        </a:rPr>
                                        <m:t>𝟎</m:t>
                                      </m:r>
                                    </m:sub>
                                  </m:sSub>
                                </m:den>
                              </m:f>
                            </m:e>
                          </m:rad>
                        </m:e>
                      </m:d>
                    </m:oMath>
                  </m:oMathPara>
                </a14:m>
                <a:endParaRPr lang="en-US" sz="1800" b="1" dirty="0">
                  <a:solidFill>
                    <a:srgbClr val="990000"/>
                  </a:solidFill>
                  <a:latin typeface="Times New Roman" panose="02020603050405020304" pitchFamily="18" charset="0"/>
                </a:endParaRPr>
              </a:p>
              <a:p>
                <a:endParaRPr lang="en-US" sz="1800" b="1" dirty="0">
                  <a:solidFill>
                    <a:srgbClr val="990000"/>
                  </a:solidFill>
                  <a:latin typeface="Times New Roman" panose="02020603050405020304" pitchFamily="18" charset="0"/>
                </a:endParaRPr>
              </a:p>
              <a:p>
                <a:pPr marL="342900" indent="-342900">
                  <a:buFont typeface="Arial" panose="020B0604020202020204" pitchFamily="34" charset="0"/>
                  <a:buChar char="•"/>
                </a:pPr>
                <a:r>
                  <a:rPr lang="el-GR" sz="1800" b="1" dirty="0">
                    <a:solidFill>
                      <a:srgbClr val="990000"/>
                    </a:solidFill>
                    <a:latin typeface="Times New Roman" panose="02020603050405020304" pitchFamily="18" charset="0"/>
                  </a:rPr>
                  <a:t>Ασύμφωνη ανίχνευση (</a:t>
                </a:r>
                <a:r>
                  <a:rPr lang="en-US" sz="1800" b="1" dirty="0">
                    <a:solidFill>
                      <a:srgbClr val="990000"/>
                    </a:solidFill>
                    <a:latin typeface="Times New Roman" panose="02020603050405020304" pitchFamily="18" charset="0"/>
                  </a:rPr>
                  <a:t>NONC-FSK)</a:t>
                </a:r>
              </a:p>
              <a:p>
                <a:pPr marL="342900" indent="-342900">
                  <a:buFont typeface="Arial" panose="020B0604020202020204" pitchFamily="34" charset="0"/>
                  <a:buChar char="•"/>
                </a:pPr>
                <a:endParaRPr lang="en-US" sz="1800" b="1" dirty="0">
                  <a:solidFill>
                    <a:srgbClr val="99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𝑷</m:t>
                          </m:r>
                        </m:e>
                        <m:sub>
                          <m:r>
                            <a:rPr lang="en-US" sz="1800" b="1" i="1" smtClean="0">
                              <a:solidFill>
                                <a:srgbClr val="990000"/>
                              </a:solidFill>
                              <a:latin typeface="Cambria Math" panose="02040503050406030204" pitchFamily="18" charset="0"/>
                            </a:rPr>
                            <m:t>𝒔</m:t>
                          </m:r>
                        </m:sub>
                      </m:sSub>
                      <m:r>
                        <a:rPr lang="en-US" sz="1800" b="1" i="1" smtClean="0">
                          <a:solidFill>
                            <a:srgbClr val="990000"/>
                          </a:solidFill>
                          <a:latin typeface="Cambria Math" panose="02040503050406030204" pitchFamily="18" charset="0"/>
                        </a:rPr>
                        <m:t>=</m:t>
                      </m:r>
                      <m:f>
                        <m:fPr>
                          <m:ctrlPr>
                            <a:rPr lang="en-US" sz="1800" b="1" i="1" smtClean="0">
                              <a:solidFill>
                                <a:srgbClr val="990000"/>
                              </a:solidFill>
                              <a:latin typeface="Cambria Math" panose="02040503050406030204" pitchFamily="18" charset="0"/>
                            </a:rPr>
                          </m:ctrlPr>
                        </m:fPr>
                        <m:num>
                          <m:r>
                            <a:rPr lang="en-US" sz="1800" b="1" i="1" smtClean="0">
                              <a:solidFill>
                                <a:srgbClr val="990000"/>
                              </a:solidFill>
                              <a:latin typeface="Cambria Math" panose="02040503050406030204" pitchFamily="18" charset="0"/>
                            </a:rPr>
                            <m:t>𝟏</m:t>
                          </m:r>
                        </m:num>
                        <m:den>
                          <m:r>
                            <a:rPr lang="en-US" sz="1800" b="1" i="1" smtClean="0">
                              <a:solidFill>
                                <a:srgbClr val="990000"/>
                              </a:solidFill>
                              <a:latin typeface="Cambria Math" panose="02040503050406030204" pitchFamily="18" charset="0"/>
                            </a:rPr>
                            <m:t>𝟐</m:t>
                          </m:r>
                        </m:den>
                      </m:f>
                      <m:sSup>
                        <m:sSupPr>
                          <m:ctrlPr>
                            <a:rPr lang="en-US" sz="1800" b="1" i="1">
                              <a:solidFill>
                                <a:srgbClr val="990000"/>
                              </a:solidFill>
                              <a:latin typeface="Cambria Math" panose="02040503050406030204" pitchFamily="18" charset="0"/>
                            </a:rPr>
                          </m:ctrlPr>
                        </m:sSupPr>
                        <m:e>
                          <m:r>
                            <a:rPr lang="en-US" sz="1800" b="1" i="1">
                              <a:solidFill>
                                <a:srgbClr val="990000"/>
                              </a:solidFill>
                              <a:latin typeface="Cambria Math" panose="02040503050406030204" pitchFamily="18" charset="0"/>
                            </a:rPr>
                            <m:t>𝒆</m:t>
                          </m:r>
                        </m:e>
                        <m:sup>
                          <m:r>
                            <a:rPr lang="en-US" sz="1800" b="1" i="1">
                              <a:solidFill>
                                <a:srgbClr val="990000"/>
                              </a:solidFill>
                              <a:latin typeface="Cambria Math" panose="02040503050406030204" pitchFamily="18" charset="0"/>
                            </a:rPr>
                            <m:t>−</m:t>
                          </m:r>
                          <m:f>
                            <m:fPr>
                              <m:ctrlPr>
                                <a:rPr lang="en-US" sz="1800" b="1" i="1">
                                  <a:solidFill>
                                    <a:srgbClr val="990000"/>
                                  </a:solidFill>
                                  <a:latin typeface="Cambria Math" panose="02040503050406030204" pitchFamily="18" charset="0"/>
                                </a:rPr>
                              </m:ctrlPr>
                            </m:fPr>
                            <m:num>
                              <m:sSub>
                                <m:sSubPr>
                                  <m:ctrlPr>
                                    <a:rPr lang="en-US" sz="1800" b="1" i="1">
                                      <a:solidFill>
                                        <a:srgbClr val="990000"/>
                                      </a:solidFill>
                                      <a:latin typeface="Cambria Math" panose="02040503050406030204" pitchFamily="18" charset="0"/>
                                    </a:rPr>
                                  </m:ctrlPr>
                                </m:sSubPr>
                                <m:e>
                                  <m:r>
                                    <a:rPr lang="en-US" sz="1800" b="1" i="1">
                                      <a:solidFill>
                                        <a:srgbClr val="990000"/>
                                      </a:solidFill>
                                      <a:latin typeface="Cambria Math" panose="02040503050406030204" pitchFamily="18" charset="0"/>
                                    </a:rPr>
                                    <m:t>𝑬</m:t>
                                  </m:r>
                                </m:e>
                                <m:sub>
                                  <m:r>
                                    <a:rPr lang="en-US" sz="1800" b="1" i="1">
                                      <a:solidFill>
                                        <a:srgbClr val="990000"/>
                                      </a:solidFill>
                                      <a:latin typeface="Cambria Math" panose="02040503050406030204" pitchFamily="18" charset="0"/>
                                    </a:rPr>
                                    <m:t>𝒃</m:t>
                                  </m:r>
                                </m:sub>
                              </m:sSub>
                            </m:num>
                            <m:den>
                              <m:r>
                                <a:rPr lang="en-US" sz="1800" b="1" i="1">
                                  <a:solidFill>
                                    <a:srgbClr val="990000"/>
                                  </a:solidFill>
                                  <a:latin typeface="Cambria Math" panose="02040503050406030204" pitchFamily="18" charset="0"/>
                                </a:rPr>
                                <m:t>𝟐</m:t>
                              </m:r>
                              <m:sSub>
                                <m:sSubPr>
                                  <m:ctrlPr>
                                    <a:rPr lang="en-US" sz="1800" b="1" i="1">
                                      <a:solidFill>
                                        <a:srgbClr val="990000"/>
                                      </a:solidFill>
                                      <a:latin typeface="Cambria Math" panose="02040503050406030204" pitchFamily="18" charset="0"/>
                                    </a:rPr>
                                  </m:ctrlPr>
                                </m:sSubPr>
                                <m:e>
                                  <m:r>
                                    <a:rPr lang="en-US" sz="1800" b="1" i="1">
                                      <a:solidFill>
                                        <a:srgbClr val="990000"/>
                                      </a:solidFill>
                                      <a:latin typeface="Cambria Math" panose="02040503050406030204" pitchFamily="18" charset="0"/>
                                    </a:rPr>
                                    <m:t>𝑵</m:t>
                                  </m:r>
                                </m:e>
                                <m:sub>
                                  <m:r>
                                    <a:rPr lang="en-US" sz="1800" b="1" i="1">
                                      <a:solidFill>
                                        <a:srgbClr val="990000"/>
                                      </a:solidFill>
                                      <a:latin typeface="Cambria Math" panose="02040503050406030204" pitchFamily="18" charset="0"/>
                                    </a:rPr>
                                    <m:t>𝟎</m:t>
                                  </m:r>
                                </m:sub>
                              </m:sSub>
                            </m:den>
                          </m:f>
                        </m:sup>
                      </m:sSup>
                    </m:oMath>
                  </m:oMathPara>
                </a14:m>
                <a:endParaRPr lang="el-GR" sz="1800" b="1" dirty="0">
                  <a:solidFill>
                    <a:srgbClr val="990000"/>
                  </a:solidFill>
                  <a:latin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43477751-113D-77DC-3B50-E164E818F745}"/>
                  </a:ext>
                </a:extLst>
              </p:cNvPr>
              <p:cNvSpPr txBox="1">
                <a:spLocks noRot="1" noChangeAspect="1" noMove="1" noResize="1" noEditPoints="1" noAdjustHandles="1" noChangeArrowheads="1" noChangeShapeType="1" noTextEdit="1"/>
              </p:cNvSpPr>
              <p:nvPr/>
            </p:nvSpPr>
            <p:spPr>
              <a:xfrm>
                <a:off x="177164" y="2384967"/>
                <a:ext cx="5987416" cy="2916248"/>
              </a:xfrm>
              <a:prstGeom prst="rect">
                <a:avLst/>
              </a:prstGeom>
              <a:blipFill>
                <a:blip r:embed="rId2"/>
                <a:stretch>
                  <a:fillRect l="-611" t="-1044"/>
                </a:stretch>
              </a:blipFill>
            </p:spPr>
            <p:txBody>
              <a:bodyPr/>
              <a:lstStyle/>
              <a:p>
                <a:r>
                  <a:rPr lang="el-GR">
                    <a:noFill/>
                  </a:rPr>
                  <a:t> </a:t>
                </a:r>
              </a:p>
            </p:txBody>
          </p:sp>
        </mc:Fallback>
      </mc:AlternateContent>
      <p:sp>
        <p:nvSpPr>
          <p:cNvPr id="8" name="TextBox 7">
            <a:extLst>
              <a:ext uri="{FF2B5EF4-FFF2-40B4-BE49-F238E27FC236}">
                <a16:creationId xmlns:a16="http://schemas.microsoft.com/office/drawing/2014/main" id="{162E3350-BE7F-6C57-7514-69B6CDAF6C9B}"/>
              </a:ext>
            </a:extLst>
          </p:cNvPr>
          <p:cNvSpPr txBox="1"/>
          <p:nvPr/>
        </p:nvSpPr>
        <p:spPr>
          <a:xfrm>
            <a:off x="515303" y="6074111"/>
            <a:ext cx="7323772" cy="1015663"/>
          </a:xfrm>
          <a:prstGeom prst="rect">
            <a:avLst/>
          </a:prstGeom>
          <a:noFill/>
        </p:spPr>
        <p:txBody>
          <a:bodyPr wrap="square">
            <a:spAutoFit/>
          </a:bodyPr>
          <a:lstStyle/>
          <a:p>
            <a:r>
              <a:rPr lang="el-GR" sz="2000" b="1" dirty="0">
                <a:solidFill>
                  <a:srgbClr val="990000"/>
                </a:solidFill>
                <a:latin typeface="Times New Roman" panose="02020603050405020304" pitchFamily="18" charset="0"/>
              </a:rPr>
              <a:t>Παρατηρούμε ότι η ασύμφωνη FSK (NONC-FSK) έχει μικρή υστέρηση στον θόρυβο σε σχέση με την σύμφωνη FSK (COH-FSK).</a:t>
            </a:r>
          </a:p>
        </p:txBody>
      </p:sp>
      <p:sp>
        <p:nvSpPr>
          <p:cNvPr id="2" name="TextBox 1">
            <a:extLst>
              <a:ext uri="{FF2B5EF4-FFF2-40B4-BE49-F238E27FC236}">
                <a16:creationId xmlns:a16="http://schemas.microsoft.com/office/drawing/2014/main" id="{4336D314-1113-C660-87D3-3BE846119A7F}"/>
              </a:ext>
            </a:extLst>
          </p:cNvPr>
          <p:cNvSpPr txBox="1"/>
          <p:nvPr/>
        </p:nvSpPr>
        <p:spPr>
          <a:xfrm>
            <a:off x="515303" y="1401344"/>
            <a:ext cx="8412480" cy="707886"/>
          </a:xfrm>
          <a:prstGeom prst="rect">
            <a:avLst/>
          </a:prstGeom>
          <a:noFill/>
        </p:spPr>
        <p:txBody>
          <a:bodyPr wrap="square" rtlCol="0">
            <a:spAutoFit/>
          </a:bodyPr>
          <a:lstStyle/>
          <a:p>
            <a:r>
              <a:rPr lang="el-GR" sz="2000" b="1" dirty="0">
                <a:solidFill>
                  <a:srgbClr val="990000"/>
                </a:solidFill>
                <a:latin typeface="Times New Roman" panose="02020603050405020304" pitchFamily="18" charset="0"/>
              </a:rPr>
              <a:t>Πιθανότητα εμφάνισης λανθασμένων συμβόλων 𝑷𝒔 για διέλευση σε κανάλι με προσθετικό λευκό </a:t>
            </a:r>
            <a:r>
              <a:rPr lang="el-GR" sz="2000" b="1" dirty="0" err="1">
                <a:solidFill>
                  <a:srgbClr val="990000"/>
                </a:solidFill>
                <a:latin typeface="Times New Roman" panose="02020603050405020304" pitchFamily="18" charset="0"/>
              </a:rPr>
              <a:t>γκαουσσιανό</a:t>
            </a:r>
            <a:r>
              <a:rPr lang="el-GR" sz="2000" b="1" dirty="0">
                <a:solidFill>
                  <a:srgbClr val="990000"/>
                </a:solidFill>
                <a:latin typeface="Times New Roman" panose="02020603050405020304" pitchFamily="18" charset="0"/>
              </a:rPr>
              <a:t> θόρυβο (AWGN).</a:t>
            </a:r>
          </a:p>
        </p:txBody>
      </p:sp>
      <p:pic>
        <p:nvPicPr>
          <p:cNvPr id="6" name="Εικόνα 5">
            <a:extLst>
              <a:ext uri="{FF2B5EF4-FFF2-40B4-BE49-F238E27FC236}">
                <a16:creationId xmlns:a16="http://schemas.microsoft.com/office/drawing/2014/main" id="{5C26150A-9E45-FD5F-5764-EEEDC343156E}"/>
              </a:ext>
            </a:extLst>
          </p:cNvPr>
          <p:cNvPicPr>
            <a:picLocks noChangeAspect="1"/>
          </p:cNvPicPr>
          <p:nvPr/>
        </p:nvPicPr>
        <p:blipFill>
          <a:blip r:embed="rId3"/>
          <a:stretch>
            <a:fillRect/>
          </a:stretch>
        </p:blipFill>
        <p:spPr>
          <a:xfrm>
            <a:off x="4983363" y="2420812"/>
            <a:ext cx="3371967" cy="2980322"/>
          </a:xfrm>
          <a:prstGeom prst="rect">
            <a:avLst/>
          </a:prstGeom>
        </p:spPr>
      </p:pic>
    </p:spTree>
    <p:extLst>
      <p:ext uri="{BB962C8B-B14F-4D97-AF65-F5344CB8AC3E}">
        <p14:creationId xmlns:p14="http://schemas.microsoft.com/office/powerpoint/2010/main" val="171371961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60E24-8F11-E834-8BF4-621CD717BB10}"/>
            </a:ext>
          </a:extLst>
        </p:cNvPr>
        <p:cNvGrpSpPr/>
        <p:nvPr/>
      </p:nvGrpSpPr>
      <p:grpSpPr>
        <a:xfrm>
          <a:off x="0" y="0"/>
          <a:ext cx="0" cy="0"/>
          <a:chOff x="0" y="0"/>
          <a:chExt cx="0" cy="0"/>
        </a:xfrm>
      </p:grpSpPr>
      <p:sp>
        <p:nvSpPr>
          <p:cNvPr id="15363" name="Text Box 2">
            <a:extLst>
              <a:ext uri="{FF2B5EF4-FFF2-40B4-BE49-F238E27FC236}">
                <a16:creationId xmlns:a16="http://schemas.microsoft.com/office/drawing/2014/main" id="{10EFFBC6-FA29-5E8C-3251-3F3F00A29EDF}"/>
              </a:ext>
            </a:extLst>
          </p:cNvPr>
          <p:cNvSpPr txBox="1">
            <a:spLocks noChangeArrowheads="1"/>
          </p:cNvSpPr>
          <p:nvPr/>
        </p:nvSpPr>
        <p:spPr bwMode="auto">
          <a:xfrm>
            <a:off x="0" y="496888"/>
            <a:ext cx="7839075" cy="7874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5	ΡΥΘΜΟΣ ΕΜΦΑΝΙΣΗΣ ΕΣΦΑΛΜΕΝΩΝ BIT (BER) ΤΩΝ ΔΥΑΔΙΚΩΝ ΜΕΘΟΔΩΝ ΔΙΑΜΟΡΦΩΣΗΣ</a:t>
            </a:r>
            <a:r>
              <a:rPr lang="en-US" altLang="en-US" sz="2200" b="1">
                <a:latin typeface="Times New Roman" panose="02020603050405020304" pitchFamily="18" charset="0"/>
                <a:cs typeface="Times New Roman" panose="02020603050405020304" pitchFamily="18" charset="0"/>
              </a:rPr>
              <a:t> </a:t>
            </a:r>
            <a:endParaRPr lang="en-GB" altLang="en-US" sz="22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152354B-E352-4232-A90A-A80C3D417FE6}"/>
                  </a:ext>
                </a:extLst>
              </p:cNvPr>
              <p:cNvSpPr txBox="1"/>
              <p:nvPr/>
            </p:nvSpPr>
            <p:spPr>
              <a:xfrm>
                <a:off x="177164" y="2384967"/>
                <a:ext cx="5987416" cy="2916248"/>
              </a:xfrm>
              <a:prstGeom prst="rect">
                <a:avLst/>
              </a:prstGeom>
              <a:noFill/>
            </p:spPr>
            <p:txBody>
              <a:bodyPr wrap="square" rtlCol="0">
                <a:spAutoFit/>
              </a:bodyPr>
              <a:lstStyle/>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Σύμφωνη</a:t>
                </a:r>
                <a:r>
                  <a:rPr lang="el-GR" sz="1100" dirty="0"/>
                  <a:t> </a:t>
                </a:r>
                <a:r>
                  <a:rPr lang="el-GR" sz="1800" b="1" dirty="0">
                    <a:solidFill>
                      <a:srgbClr val="990000"/>
                    </a:solidFill>
                    <a:latin typeface="Times New Roman" panose="02020603050405020304" pitchFamily="18" charset="0"/>
                  </a:rPr>
                  <a:t>ανίχνευση (</a:t>
                </a:r>
                <a:r>
                  <a:rPr lang="en-US" sz="1800" b="1" dirty="0">
                    <a:solidFill>
                      <a:srgbClr val="990000"/>
                    </a:solidFill>
                    <a:latin typeface="Times New Roman" panose="02020603050405020304" pitchFamily="18" charset="0"/>
                  </a:rPr>
                  <a:t>COH-FSK)</a:t>
                </a:r>
              </a:p>
              <a:p>
                <a:endParaRPr lang="en-US" sz="1800" b="1" dirty="0">
                  <a:solidFill>
                    <a:srgbClr val="99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𝑷</m:t>
                          </m:r>
                        </m:e>
                        <m:sub>
                          <m:r>
                            <a:rPr lang="en-US" sz="1800" b="1" i="1" smtClean="0">
                              <a:solidFill>
                                <a:srgbClr val="990000"/>
                              </a:solidFill>
                              <a:latin typeface="Cambria Math" panose="02040503050406030204" pitchFamily="18" charset="0"/>
                            </a:rPr>
                            <m:t>𝒔</m:t>
                          </m:r>
                        </m:sub>
                      </m:sSub>
                      <m:r>
                        <a:rPr lang="en-US" sz="1800" b="1" i="1" smtClean="0">
                          <a:solidFill>
                            <a:srgbClr val="990000"/>
                          </a:solidFill>
                          <a:latin typeface="Cambria Math" panose="02040503050406030204" pitchFamily="18" charset="0"/>
                        </a:rPr>
                        <m:t>=</m:t>
                      </m:r>
                      <m:f>
                        <m:fPr>
                          <m:ctrlPr>
                            <a:rPr lang="en-US" sz="1800" b="1" i="1" smtClean="0">
                              <a:solidFill>
                                <a:srgbClr val="990000"/>
                              </a:solidFill>
                              <a:latin typeface="Cambria Math" panose="02040503050406030204" pitchFamily="18" charset="0"/>
                            </a:rPr>
                          </m:ctrlPr>
                        </m:fPr>
                        <m:num>
                          <m:r>
                            <a:rPr lang="en-US" sz="1800" b="1" i="1" smtClean="0">
                              <a:solidFill>
                                <a:srgbClr val="990000"/>
                              </a:solidFill>
                              <a:latin typeface="Cambria Math" panose="02040503050406030204" pitchFamily="18" charset="0"/>
                            </a:rPr>
                            <m:t>𝟏</m:t>
                          </m:r>
                        </m:num>
                        <m:den>
                          <m:r>
                            <a:rPr lang="en-US" sz="1800" b="1" i="1" smtClean="0">
                              <a:solidFill>
                                <a:srgbClr val="990000"/>
                              </a:solidFill>
                              <a:latin typeface="Cambria Math" panose="02040503050406030204" pitchFamily="18" charset="0"/>
                            </a:rPr>
                            <m:t>𝟐</m:t>
                          </m:r>
                        </m:den>
                      </m:f>
                      <m:r>
                        <a:rPr lang="en-US" sz="1800" b="1" i="1" smtClean="0">
                          <a:solidFill>
                            <a:srgbClr val="990000"/>
                          </a:solidFill>
                          <a:latin typeface="Cambria Math" panose="02040503050406030204" pitchFamily="18" charset="0"/>
                        </a:rPr>
                        <m:t>𝒆𝒓𝒇𝒄</m:t>
                      </m:r>
                      <m:d>
                        <m:dPr>
                          <m:ctrlPr>
                            <a:rPr lang="en-US" sz="1800" b="1" i="1" smtClean="0">
                              <a:solidFill>
                                <a:srgbClr val="990000"/>
                              </a:solidFill>
                              <a:latin typeface="Cambria Math" panose="02040503050406030204" pitchFamily="18" charset="0"/>
                            </a:rPr>
                          </m:ctrlPr>
                        </m:dPr>
                        <m:e>
                          <m:rad>
                            <m:radPr>
                              <m:degHide m:val="on"/>
                              <m:ctrlPr>
                                <a:rPr lang="en-US" sz="1800" b="1" i="1" smtClean="0">
                                  <a:solidFill>
                                    <a:srgbClr val="990000"/>
                                  </a:solidFill>
                                  <a:latin typeface="Cambria Math" panose="02040503050406030204" pitchFamily="18" charset="0"/>
                                </a:rPr>
                              </m:ctrlPr>
                            </m:radPr>
                            <m:deg/>
                            <m:e>
                              <m:f>
                                <m:fPr>
                                  <m:ctrlPr>
                                    <a:rPr lang="en-US" sz="1800" b="1" i="1" smtClean="0">
                                      <a:solidFill>
                                        <a:srgbClr val="990000"/>
                                      </a:solidFill>
                                      <a:latin typeface="Cambria Math" panose="02040503050406030204" pitchFamily="18" charset="0"/>
                                    </a:rPr>
                                  </m:ctrlPr>
                                </m:fPr>
                                <m:num>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𝑬</m:t>
                                      </m:r>
                                    </m:e>
                                    <m:sub>
                                      <m:r>
                                        <a:rPr lang="en-US" sz="1800" b="1" i="1" smtClean="0">
                                          <a:solidFill>
                                            <a:srgbClr val="990000"/>
                                          </a:solidFill>
                                          <a:latin typeface="Cambria Math" panose="02040503050406030204" pitchFamily="18" charset="0"/>
                                        </a:rPr>
                                        <m:t>𝒃</m:t>
                                      </m:r>
                                    </m:sub>
                                  </m:sSub>
                                </m:num>
                                <m:den>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𝑵</m:t>
                                      </m:r>
                                    </m:e>
                                    <m:sub>
                                      <m:r>
                                        <a:rPr lang="en-US" sz="1800" b="1" i="1" smtClean="0">
                                          <a:solidFill>
                                            <a:srgbClr val="990000"/>
                                          </a:solidFill>
                                          <a:latin typeface="Cambria Math" panose="02040503050406030204" pitchFamily="18" charset="0"/>
                                        </a:rPr>
                                        <m:t>𝟎</m:t>
                                      </m:r>
                                    </m:sub>
                                  </m:sSub>
                                </m:den>
                              </m:f>
                            </m:e>
                          </m:rad>
                        </m:e>
                      </m:d>
                    </m:oMath>
                  </m:oMathPara>
                </a14:m>
                <a:endParaRPr lang="en-US" sz="1800" b="1" dirty="0">
                  <a:solidFill>
                    <a:srgbClr val="990000"/>
                  </a:solidFill>
                  <a:latin typeface="Times New Roman" panose="02020603050405020304" pitchFamily="18" charset="0"/>
                </a:endParaRPr>
              </a:p>
              <a:p>
                <a:endParaRPr lang="en-US" sz="1800" b="1" dirty="0">
                  <a:solidFill>
                    <a:srgbClr val="990000"/>
                  </a:solidFill>
                  <a:latin typeface="Times New Roman" panose="02020603050405020304" pitchFamily="18" charset="0"/>
                </a:endParaRPr>
              </a:p>
              <a:p>
                <a:pPr marL="342900" indent="-342900">
                  <a:buFont typeface="Arial" panose="020B0604020202020204" pitchFamily="34" charset="0"/>
                  <a:buChar char="•"/>
                </a:pPr>
                <a:r>
                  <a:rPr lang="el-GR" sz="1800" b="1" dirty="0">
                    <a:solidFill>
                      <a:srgbClr val="990000"/>
                    </a:solidFill>
                    <a:latin typeface="Times New Roman" panose="02020603050405020304" pitchFamily="18" charset="0"/>
                  </a:rPr>
                  <a:t>Ασύμφωνη ανίχνευση (</a:t>
                </a:r>
                <a:r>
                  <a:rPr lang="en-US" sz="1800" b="1" dirty="0">
                    <a:solidFill>
                      <a:srgbClr val="990000"/>
                    </a:solidFill>
                    <a:latin typeface="Times New Roman" panose="02020603050405020304" pitchFamily="18" charset="0"/>
                  </a:rPr>
                  <a:t>NONC-FSK)</a:t>
                </a:r>
              </a:p>
              <a:p>
                <a:pPr marL="342900" indent="-342900">
                  <a:buFont typeface="Arial" panose="020B0604020202020204" pitchFamily="34" charset="0"/>
                  <a:buChar char="•"/>
                </a:pPr>
                <a:endParaRPr lang="en-US" sz="1800" b="1" dirty="0">
                  <a:solidFill>
                    <a:srgbClr val="99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b="1" i="1" smtClean="0">
                              <a:solidFill>
                                <a:srgbClr val="990000"/>
                              </a:solidFill>
                              <a:latin typeface="Cambria Math" panose="02040503050406030204" pitchFamily="18" charset="0"/>
                            </a:rPr>
                          </m:ctrlPr>
                        </m:sSubPr>
                        <m:e>
                          <m:r>
                            <a:rPr lang="en-US" sz="1800" b="1" i="1" smtClean="0">
                              <a:solidFill>
                                <a:srgbClr val="990000"/>
                              </a:solidFill>
                              <a:latin typeface="Cambria Math" panose="02040503050406030204" pitchFamily="18" charset="0"/>
                            </a:rPr>
                            <m:t>𝑷</m:t>
                          </m:r>
                        </m:e>
                        <m:sub>
                          <m:r>
                            <a:rPr lang="en-US" sz="1800" b="1" i="1" smtClean="0">
                              <a:solidFill>
                                <a:srgbClr val="990000"/>
                              </a:solidFill>
                              <a:latin typeface="Cambria Math" panose="02040503050406030204" pitchFamily="18" charset="0"/>
                            </a:rPr>
                            <m:t>𝒔</m:t>
                          </m:r>
                        </m:sub>
                      </m:sSub>
                      <m:r>
                        <a:rPr lang="en-US" sz="1800" b="1" i="1" smtClean="0">
                          <a:solidFill>
                            <a:srgbClr val="990000"/>
                          </a:solidFill>
                          <a:latin typeface="Cambria Math" panose="02040503050406030204" pitchFamily="18" charset="0"/>
                        </a:rPr>
                        <m:t>=</m:t>
                      </m:r>
                      <m:f>
                        <m:fPr>
                          <m:ctrlPr>
                            <a:rPr lang="en-US" sz="1800" b="1" i="1" smtClean="0">
                              <a:solidFill>
                                <a:srgbClr val="990000"/>
                              </a:solidFill>
                              <a:latin typeface="Cambria Math" panose="02040503050406030204" pitchFamily="18" charset="0"/>
                            </a:rPr>
                          </m:ctrlPr>
                        </m:fPr>
                        <m:num>
                          <m:r>
                            <a:rPr lang="en-US" sz="1800" b="1" i="1" smtClean="0">
                              <a:solidFill>
                                <a:srgbClr val="990000"/>
                              </a:solidFill>
                              <a:latin typeface="Cambria Math" panose="02040503050406030204" pitchFamily="18" charset="0"/>
                            </a:rPr>
                            <m:t>𝟏</m:t>
                          </m:r>
                        </m:num>
                        <m:den>
                          <m:r>
                            <a:rPr lang="en-US" sz="1800" b="1" i="1" smtClean="0">
                              <a:solidFill>
                                <a:srgbClr val="990000"/>
                              </a:solidFill>
                              <a:latin typeface="Cambria Math" panose="02040503050406030204" pitchFamily="18" charset="0"/>
                            </a:rPr>
                            <m:t>𝟐</m:t>
                          </m:r>
                        </m:den>
                      </m:f>
                      <m:sSup>
                        <m:sSupPr>
                          <m:ctrlPr>
                            <a:rPr lang="en-US" sz="1800" b="1" i="1">
                              <a:solidFill>
                                <a:srgbClr val="990000"/>
                              </a:solidFill>
                              <a:latin typeface="Cambria Math" panose="02040503050406030204" pitchFamily="18" charset="0"/>
                            </a:rPr>
                          </m:ctrlPr>
                        </m:sSupPr>
                        <m:e>
                          <m:r>
                            <a:rPr lang="en-US" sz="1800" b="1" i="1">
                              <a:solidFill>
                                <a:srgbClr val="990000"/>
                              </a:solidFill>
                              <a:latin typeface="Cambria Math" panose="02040503050406030204" pitchFamily="18" charset="0"/>
                            </a:rPr>
                            <m:t>𝒆</m:t>
                          </m:r>
                        </m:e>
                        <m:sup>
                          <m:r>
                            <a:rPr lang="en-US" sz="1800" b="1" i="1">
                              <a:solidFill>
                                <a:srgbClr val="990000"/>
                              </a:solidFill>
                              <a:latin typeface="Cambria Math" panose="02040503050406030204" pitchFamily="18" charset="0"/>
                            </a:rPr>
                            <m:t>−</m:t>
                          </m:r>
                          <m:f>
                            <m:fPr>
                              <m:ctrlPr>
                                <a:rPr lang="en-US" sz="1800" b="1" i="1">
                                  <a:solidFill>
                                    <a:srgbClr val="990000"/>
                                  </a:solidFill>
                                  <a:latin typeface="Cambria Math" panose="02040503050406030204" pitchFamily="18" charset="0"/>
                                </a:rPr>
                              </m:ctrlPr>
                            </m:fPr>
                            <m:num>
                              <m:sSub>
                                <m:sSubPr>
                                  <m:ctrlPr>
                                    <a:rPr lang="en-US" sz="1800" b="1" i="1">
                                      <a:solidFill>
                                        <a:srgbClr val="990000"/>
                                      </a:solidFill>
                                      <a:latin typeface="Cambria Math" panose="02040503050406030204" pitchFamily="18" charset="0"/>
                                    </a:rPr>
                                  </m:ctrlPr>
                                </m:sSubPr>
                                <m:e>
                                  <m:r>
                                    <a:rPr lang="en-US" sz="1800" b="1" i="1">
                                      <a:solidFill>
                                        <a:srgbClr val="990000"/>
                                      </a:solidFill>
                                      <a:latin typeface="Cambria Math" panose="02040503050406030204" pitchFamily="18" charset="0"/>
                                    </a:rPr>
                                    <m:t>𝑬</m:t>
                                  </m:r>
                                </m:e>
                                <m:sub>
                                  <m:r>
                                    <a:rPr lang="en-US" sz="1800" b="1" i="1">
                                      <a:solidFill>
                                        <a:srgbClr val="990000"/>
                                      </a:solidFill>
                                      <a:latin typeface="Cambria Math" panose="02040503050406030204" pitchFamily="18" charset="0"/>
                                    </a:rPr>
                                    <m:t>𝒃</m:t>
                                  </m:r>
                                </m:sub>
                              </m:sSub>
                            </m:num>
                            <m:den>
                              <m:sSub>
                                <m:sSubPr>
                                  <m:ctrlPr>
                                    <a:rPr lang="en-US" sz="1800" b="1" i="1">
                                      <a:solidFill>
                                        <a:srgbClr val="990000"/>
                                      </a:solidFill>
                                      <a:latin typeface="Cambria Math" panose="02040503050406030204" pitchFamily="18" charset="0"/>
                                    </a:rPr>
                                  </m:ctrlPr>
                                </m:sSubPr>
                                <m:e>
                                  <m:r>
                                    <a:rPr lang="en-US" sz="1800" b="1" i="1">
                                      <a:solidFill>
                                        <a:srgbClr val="990000"/>
                                      </a:solidFill>
                                      <a:latin typeface="Cambria Math" panose="02040503050406030204" pitchFamily="18" charset="0"/>
                                    </a:rPr>
                                    <m:t>𝑵</m:t>
                                  </m:r>
                                </m:e>
                                <m:sub>
                                  <m:r>
                                    <a:rPr lang="en-US" sz="1800" b="1" i="1">
                                      <a:solidFill>
                                        <a:srgbClr val="990000"/>
                                      </a:solidFill>
                                      <a:latin typeface="Cambria Math" panose="02040503050406030204" pitchFamily="18" charset="0"/>
                                    </a:rPr>
                                    <m:t>𝟎</m:t>
                                  </m:r>
                                </m:sub>
                              </m:sSub>
                            </m:den>
                          </m:f>
                        </m:sup>
                      </m:sSup>
                    </m:oMath>
                  </m:oMathPara>
                </a14:m>
                <a:endParaRPr lang="el-GR" sz="1800" b="1" dirty="0">
                  <a:solidFill>
                    <a:srgbClr val="990000"/>
                  </a:solidFill>
                  <a:latin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0152354B-E352-4232-A90A-A80C3D417FE6}"/>
                  </a:ext>
                </a:extLst>
              </p:cNvPr>
              <p:cNvSpPr txBox="1">
                <a:spLocks noRot="1" noChangeAspect="1" noMove="1" noResize="1" noEditPoints="1" noAdjustHandles="1" noChangeArrowheads="1" noChangeShapeType="1" noTextEdit="1"/>
              </p:cNvSpPr>
              <p:nvPr/>
            </p:nvSpPr>
            <p:spPr>
              <a:xfrm>
                <a:off x="177164" y="2384967"/>
                <a:ext cx="5987416" cy="2916248"/>
              </a:xfrm>
              <a:prstGeom prst="rect">
                <a:avLst/>
              </a:prstGeom>
              <a:blipFill>
                <a:blip r:embed="rId2"/>
                <a:stretch>
                  <a:fillRect l="-611" t="-1044"/>
                </a:stretch>
              </a:blipFill>
            </p:spPr>
            <p:txBody>
              <a:bodyPr/>
              <a:lstStyle/>
              <a:p>
                <a:r>
                  <a:rPr lang="el-GR">
                    <a:noFill/>
                  </a:rPr>
                  <a:t> </a:t>
                </a:r>
              </a:p>
            </p:txBody>
          </p:sp>
        </mc:Fallback>
      </mc:AlternateContent>
      <p:sp>
        <p:nvSpPr>
          <p:cNvPr id="8" name="TextBox 7">
            <a:extLst>
              <a:ext uri="{FF2B5EF4-FFF2-40B4-BE49-F238E27FC236}">
                <a16:creationId xmlns:a16="http://schemas.microsoft.com/office/drawing/2014/main" id="{5B2C674F-D436-4812-C944-D5DA6B967577}"/>
              </a:ext>
            </a:extLst>
          </p:cNvPr>
          <p:cNvSpPr txBox="1"/>
          <p:nvPr/>
        </p:nvSpPr>
        <p:spPr>
          <a:xfrm>
            <a:off x="515303" y="6074111"/>
            <a:ext cx="7323772" cy="707886"/>
          </a:xfrm>
          <a:prstGeom prst="rect">
            <a:avLst/>
          </a:prstGeom>
          <a:noFill/>
        </p:spPr>
        <p:txBody>
          <a:bodyPr wrap="square">
            <a:spAutoFit/>
          </a:bodyPr>
          <a:lstStyle/>
          <a:p>
            <a:r>
              <a:rPr lang="el-GR" sz="2000" b="1" dirty="0">
                <a:solidFill>
                  <a:srgbClr val="990000"/>
                </a:solidFill>
                <a:latin typeface="Times New Roman" panose="02020603050405020304" pitchFamily="18" charset="0"/>
              </a:rPr>
              <a:t>Παρατηρούμε ότι η απλούστερη στην υλοποίηση διαφορική PSK έχει μικρή υστέρηση στον θόρυβο σε σχέση με την σύμφωνη PSK.</a:t>
            </a:r>
          </a:p>
        </p:txBody>
      </p:sp>
      <p:sp>
        <p:nvSpPr>
          <p:cNvPr id="2" name="TextBox 1">
            <a:extLst>
              <a:ext uri="{FF2B5EF4-FFF2-40B4-BE49-F238E27FC236}">
                <a16:creationId xmlns:a16="http://schemas.microsoft.com/office/drawing/2014/main" id="{CF47A8B7-7157-320A-1D3F-C823E4F6E9B1}"/>
              </a:ext>
            </a:extLst>
          </p:cNvPr>
          <p:cNvSpPr txBox="1"/>
          <p:nvPr/>
        </p:nvSpPr>
        <p:spPr>
          <a:xfrm>
            <a:off x="515303" y="1401344"/>
            <a:ext cx="8412480" cy="707886"/>
          </a:xfrm>
          <a:prstGeom prst="rect">
            <a:avLst/>
          </a:prstGeom>
          <a:noFill/>
        </p:spPr>
        <p:txBody>
          <a:bodyPr wrap="square" rtlCol="0">
            <a:spAutoFit/>
          </a:bodyPr>
          <a:lstStyle/>
          <a:p>
            <a:r>
              <a:rPr lang="el-GR" sz="2000" b="1" dirty="0">
                <a:solidFill>
                  <a:srgbClr val="990000"/>
                </a:solidFill>
                <a:latin typeface="Times New Roman" panose="02020603050405020304" pitchFamily="18" charset="0"/>
              </a:rPr>
              <a:t>Πιθανότητα εμφάνισης λανθασμένων συμβόλων 𝑷𝒔 για διέλευση σε κανάλι με προσθετικό λευκό </a:t>
            </a:r>
            <a:r>
              <a:rPr lang="el-GR" sz="2000" b="1" dirty="0" err="1">
                <a:solidFill>
                  <a:srgbClr val="990000"/>
                </a:solidFill>
                <a:latin typeface="Times New Roman" panose="02020603050405020304" pitchFamily="18" charset="0"/>
              </a:rPr>
              <a:t>γκαουσσιανό</a:t>
            </a:r>
            <a:r>
              <a:rPr lang="el-GR" sz="2000" b="1" dirty="0">
                <a:solidFill>
                  <a:srgbClr val="990000"/>
                </a:solidFill>
                <a:latin typeface="Times New Roman" panose="02020603050405020304" pitchFamily="18" charset="0"/>
              </a:rPr>
              <a:t> θόρυβο (AWGN).</a:t>
            </a:r>
          </a:p>
        </p:txBody>
      </p:sp>
      <p:pic>
        <p:nvPicPr>
          <p:cNvPr id="5" name="Εικόνα 4">
            <a:extLst>
              <a:ext uri="{FF2B5EF4-FFF2-40B4-BE49-F238E27FC236}">
                <a16:creationId xmlns:a16="http://schemas.microsoft.com/office/drawing/2014/main" id="{BC1D4511-EA2F-5B4A-8E28-6FB218A43280}"/>
              </a:ext>
            </a:extLst>
          </p:cNvPr>
          <p:cNvPicPr>
            <a:picLocks noChangeAspect="1"/>
          </p:cNvPicPr>
          <p:nvPr/>
        </p:nvPicPr>
        <p:blipFill>
          <a:blip r:embed="rId3"/>
          <a:stretch>
            <a:fillRect/>
          </a:stretch>
        </p:blipFill>
        <p:spPr>
          <a:xfrm>
            <a:off x="4827144" y="2233002"/>
            <a:ext cx="3779646" cy="3393767"/>
          </a:xfrm>
          <a:prstGeom prst="rect">
            <a:avLst/>
          </a:prstGeom>
        </p:spPr>
      </p:pic>
    </p:spTree>
    <p:extLst>
      <p:ext uri="{BB962C8B-B14F-4D97-AF65-F5344CB8AC3E}">
        <p14:creationId xmlns:p14="http://schemas.microsoft.com/office/powerpoint/2010/main" val="191101090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D0627-B434-B841-2813-C160A56C6F3E}"/>
            </a:ext>
          </a:extLst>
        </p:cNvPr>
        <p:cNvGrpSpPr/>
        <p:nvPr/>
      </p:nvGrpSpPr>
      <p:grpSpPr>
        <a:xfrm>
          <a:off x="0" y="0"/>
          <a:ext cx="0" cy="0"/>
          <a:chOff x="0" y="0"/>
          <a:chExt cx="0" cy="0"/>
        </a:xfrm>
      </p:grpSpPr>
      <p:sp>
        <p:nvSpPr>
          <p:cNvPr id="15363" name="Text Box 2">
            <a:extLst>
              <a:ext uri="{FF2B5EF4-FFF2-40B4-BE49-F238E27FC236}">
                <a16:creationId xmlns:a16="http://schemas.microsoft.com/office/drawing/2014/main" id="{9E542C81-615E-647E-B8A1-632657F71241}"/>
              </a:ext>
            </a:extLst>
          </p:cNvPr>
          <p:cNvSpPr txBox="1">
            <a:spLocks noChangeArrowheads="1"/>
          </p:cNvSpPr>
          <p:nvPr/>
        </p:nvSpPr>
        <p:spPr bwMode="auto">
          <a:xfrm>
            <a:off x="0" y="496888"/>
            <a:ext cx="7839075" cy="787400"/>
          </a:xfrm>
          <a:prstGeom prst="rect">
            <a:avLst/>
          </a:prstGeom>
          <a:solidFill>
            <a:srgbClr val="DADADA"/>
          </a:solidFill>
          <a:ln w="25400">
            <a:solidFill>
              <a:srgbClr val="003366"/>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n-US" altLang="en-US" sz="2200" b="1">
                <a:latin typeface="Times New Roman" panose="02020603050405020304" pitchFamily="18" charset="0"/>
              </a:rPr>
              <a:t>5</a:t>
            </a:r>
            <a:r>
              <a:rPr lang="en-US" altLang="en-US" sz="2200" b="1">
                <a:latin typeface="Times New Roman" panose="02020603050405020304" pitchFamily="18" charset="0"/>
                <a:cs typeface="Times New Roman" panose="02020603050405020304" pitchFamily="18" charset="0"/>
              </a:rPr>
              <a:t>.</a:t>
            </a:r>
            <a:r>
              <a:rPr lang="el-GR" altLang="en-US" sz="2200" b="1">
                <a:latin typeface="Times New Roman" panose="02020603050405020304" pitchFamily="18" charset="0"/>
                <a:cs typeface="Times New Roman" panose="02020603050405020304" pitchFamily="18" charset="0"/>
              </a:rPr>
              <a:t>5	ΡΥΘΜΟΣ ΕΜΦΑΝΙΣΗΣ ΕΣΦΑΛΜΕΝΩΝ BIT (BER) ΤΩΝ ΔΥΑΔΙΚΩΝ ΜΕΘΟΔΩΝ ΔΙΑΜΟΡΦΩΣΗΣ</a:t>
            </a:r>
            <a:r>
              <a:rPr lang="en-US" altLang="en-US" sz="2200" b="1">
                <a:latin typeface="Times New Roman" panose="02020603050405020304" pitchFamily="18" charset="0"/>
                <a:cs typeface="Times New Roman" panose="02020603050405020304" pitchFamily="18" charset="0"/>
              </a:rPr>
              <a:t> </a:t>
            </a:r>
            <a:endParaRPr lang="en-GB" altLang="en-US" sz="2200" b="1">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4840186-7BBF-A8BA-D4B9-183B5F9BAD6F}"/>
              </a:ext>
            </a:extLst>
          </p:cNvPr>
          <p:cNvSpPr txBox="1"/>
          <p:nvPr/>
        </p:nvSpPr>
        <p:spPr>
          <a:xfrm>
            <a:off x="200024" y="1911340"/>
            <a:ext cx="4966336" cy="3693319"/>
          </a:xfrm>
          <a:prstGeom prst="rect">
            <a:avLst/>
          </a:prstGeom>
          <a:noFill/>
        </p:spPr>
        <p:txBody>
          <a:bodyPr wrap="square" rtlCol="0">
            <a:spAutoFit/>
          </a:bodyPr>
          <a:lstStyle/>
          <a:p>
            <a:r>
              <a:rPr lang="el-GR" sz="1800" b="1" dirty="0">
                <a:solidFill>
                  <a:srgbClr val="990000"/>
                </a:solidFill>
                <a:latin typeface="Times New Roman" panose="02020603050405020304" pitchFamily="18" charset="0"/>
              </a:rPr>
              <a:t>Η απόδοση σφάλματος </a:t>
            </a:r>
            <a:r>
              <a:rPr lang="el-GR" sz="1800" b="1" dirty="0" err="1">
                <a:solidFill>
                  <a:srgbClr val="990000"/>
                </a:solidFill>
                <a:latin typeface="Times New Roman" panose="02020603050405020304" pitchFamily="18" charset="0"/>
              </a:rPr>
              <a:t>bit</a:t>
            </a:r>
            <a:r>
              <a:rPr lang="el-GR" sz="1800" b="1" dirty="0">
                <a:solidFill>
                  <a:srgbClr val="990000"/>
                </a:solidFill>
                <a:latin typeface="Times New Roman" panose="02020603050405020304" pitchFamily="18" charset="0"/>
              </a:rPr>
              <a:t> ως προς την μέση ενέργεια των συμβόλων, για τα κυριότερα δυαδικά συστήματα διαμόρφωσης, δείχνει ότι: </a:t>
            </a:r>
            <a:endParaRPr lang="en-US" sz="1800" b="1" dirty="0">
              <a:solidFill>
                <a:srgbClr val="990000"/>
              </a:solidFill>
              <a:latin typeface="Times New Roman" panose="02020603050405020304" pitchFamily="18" charset="0"/>
            </a:endParaRPr>
          </a:p>
          <a:p>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Η οικογένεια PSK έχει την βέλτιστη απόδοση.</a:t>
            </a:r>
            <a:endParaRPr lang="en-US" sz="1800" b="1" dirty="0">
              <a:solidFill>
                <a:srgbClr val="990000"/>
              </a:solidFill>
              <a:latin typeface="Times New Roman" panose="02020603050405020304" pitchFamily="18" charset="0"/>
            </a:endParaRPr>
          </a:p>
          <a:p>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Η σύμφωνη FSK με ορθογώνια σηματοδότηση είναι η επόμενη καλύτερη μαζί με τη σύμφωνη ASK, </a:t>
            </a:r>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endParaRPr lang="en-US" sz="1800" b="1" dirty="0">
              <a:solidFill>
                <a:srgbClr val="990000"/>
              </a:solidFill>
              <a:latin typeface="Times New Roman" panose="02020603050405020304" pitchFamily="18" charset="0"/>
            </a:endParaRPr>
          </a:p>
          <a:p>
            <a:pPr marL="285750" indent="-285750">
              <a:buFont typeface="Arial" panose="020B0604020202020204" pitchFamily="34" charset="0"/>
              <a:buChar char="•"/>
            </a:pPr>
            <a:r>
              <a:rPr lang="el-GR" sz="1800" b="1" dirty="0">
                <a:solidFill>
                  <a:srgbClr val="990000"/>
                </a:solidFill>
                <a:latin typeface="Times New Roman" panose="02020603050405020304" pitchFamily="18" charset="0"/>
              </a:rPr>
              <a:t>Όλα αυτά τα δυαδικά συστήματα επιδεικνύουν μία θεωρητική μέγιστη φασματική απόδοση ίση με 1 </a:t>
            </a:r>
            <a:r>
              <a:rPr lang="el-GR" sz="1800" b="1" dirty="0" err="1">
                <a:solidFill>
                  <a:srgbClr val="990000"/>
                </a:solidFill>
                <a:latin typeface="Times New Roman" panose="02020603050405020304" pitchFamily="18" charset="0"/>
              </a:rPr>
              <a:t>bit</a:t>
            </a:r>
            <a:r>
              <a:rPr lang="el-GR" sz="1800" b="1" dirty="0">
                <a:solidFill>
                  <a:srgbClr val="990000"/>
                </a:solidFill>
                <a:latin typeface="Times New Roman" panose="02020603050405020304" pitchFamily="18" charset="0"/>
              </a:rPr>
              <a:t>/s/</a:t>
            </a:r>
            <a:r>
              <a:rPr lang="el-GR" sz="1800" b="1" dirty="0" err="1">
                <a:solidFill>
                  <a:srgbClr val="990000"/>
                </a:solidFill>
                <a:latin typeface="Times New Roman" panose="02020603050405020304" pitchFamily="18" charset="0"/>
              </a:rPr>
              <a:t>Hz</a:t>
            </a:r>
            <a:r>
              <a:rPr lang="el-GR" sz="1800" b="1" dirty="0">
                <a:solidFill>
                  <a:srgbClr val="990000"/>
                </a:solidFill>
                <a:latin typeface="Times New Roman" panose="02020603050405020304" pitchFamily="18" charset="0"/>
              </a:rPr>
              <a:t>.</a:t>
            </a:r>
          </a:p>
        </p:txBody>
      </p:sp>
      <p:grpSp>
        <p:nvGrpSpPr>
          <p:cNvPr id="9" name="Ομάδα 8">
            <a:extLst>
              <a:ext uri="{FF2B5EF4-FFF2-40B4-BE49-F238E27FC236}">
                <a16:creationId xmlns:a16="http://schemas.microsoft.com/office/drawing/2014/main" id="{3144B4DA-D47F-727E-9BDE-6CF0C9AEB211}"/>
              </a:ext>
            </a:extLst>
          </p:cNvPr>
          <p:cNvGrpSpPr/>
          <p:nvPr/>
        </p:nvGrpSpPr>
        <p:grpSpPr>
          <a:xfrm>
            <a:off x="5166360" y="2004098"/>
            <a:ext cx="3623248" cy="3507802"/>
            <a:chOff x="5330252" y="2004098"/>
            <a:chExt cx="3623248" cy="3507802"/>
          </a:xfrm>
        </p:grpSpPr>
        <p:pic>
          <p:nvPicPr>
            <p:cNvPr id="6" name="Εικόνα 5">
              <a:extLst>
                <a:ext uri="{FF2B5EF4-FFF2-40B4-BE49-F238E27FC236}">
                  <a16:creationId xmlns:a16="http://schemas.microsoft.com/office/drawing/2014/main" id="{51D9B8AF-F607-C21C-D076-24C1F3A2AE6F}"/>
                </a:ext>
              </a:extLst>
            </p:cNvPr>
            <p:cNvPicPr>
              <a:picLocks noChangeAspect="1"/>
            </p:cNvPicPr>
            <p:nvPr/>
          </p:nvPicPr>
          <p:blipFill>
            <a:blip r:embed="rId2"/>
            <a:stretch>
              <a:fillRect/>
            </a:stretch>
          </p:blipFill>
          <p:spPr>
            <a:xfrm>
              <a:off x="5330252" y="2004098"/>
              <a:ext cx="3623248" cy="3507802"/>
            </a:xfrm>
            <a:prstGeom prst="rect">
              <a:avLst/>
            </a:prstGeom>
          </p:spPr>
        </p:pic>
        <p:sp>
          <p:nvSpPr>
            <p:cNvPr id="7" name="Ορθογώνιο 6">
              <a:extLst>
                <a:ext uri="{FF2B5EF4-FFF2-40B4-BE49-F238E27FC236}">
                  <a16:creationId xmlns:a16="http://schemas.microsoft.com/office/drawing/2014/main" id="{09EF9EFB-09F7-94F2-A91E-36D21351E470}"/>
                </a:ext>
              </a:extLst>
            </p:cNvPr>
            <p:cNvSpPr/>
            <p:nvPr/>
          </p:nvSpPr>
          <p:spPr bwMode="auto">
            <a:xfrm>
              <a:off x="8309610" y="5234940"/>
              <a:ext cx="354330" cy="276960"/>
            </a:xfrm>
            <a:prstGeom prst="rect">
              <a:avLst/>
            </a:prstGeom>
            <a:solidFill>
              <a:schemeClr val="bg1"/>
            </a:solidFill>
            <a:ln w="6350" cap="flat" cmpd="sng" algn="ctr">
              <a:noFill/>
              <a:prstDash val="solid"/>
              <a:round/>
              <a:headEnd type="none" w="sm" len="sm"/>
              <a:tailEnd type="none" w="med"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l-GR" sz="1400" b="0" i="0" u="none" strike="noStrike" cap="none" normalizeH="0" baseline="0">
                <a:ln>
                  <a:noFill/>
                </a:ln>
                <a:solidFill>
                  <a:srgbClr val="000000"/>
                </a:solidFill>
                <a:effectLst/>
                <a:latin typeface="Helvetica" charset="-95"/>
              </a:endParaRPr>
            </a:p>
          </p:txBody>
        </p:sp>
      </p:grpSp>
    </p:spTree>
    <p:extLst>
      <p:ext uri="{BB962C8B-B14F-4D97-AF65-F5344CB8AC3E}">
        <p14:creationId xmlns:p14="http://schemas.microsoft.com/office/powerpoint/2010/main" val="68682465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50D4-1082-4A65-9137-D4F87DCC2626}"/>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42D92009-AE61-6FF9-9091-69E1AED90161}"/>
              </a:ext>
            </a:extLst>
          </p:cNvPr>
          <p:cNvSpPr>
            <a:spLocks noChangeArrowheads="1"/>
          </p:cNvSpPr>
          <p:nvPr/>
        </p:nvSpPr>
        <p:spPr bwMode="auto">
          <a:xfrm>
            <a:off x="0" y="732343"/>
            <a:ext cx="89535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Ένα </a:t>
            </a:r>
            <a:r>
              <a:rPr lang="el-GR" altLang="en-US" sz="2400" dirty="0" err="1">
                <a:solidFill>
                  <a:schemeClr val="bg2"/>
                </a:solidFill>
                <a:latin typeface="Times New Roman" panose="02020603050405020304" pitchFamily="18" charset="0"/>
              </a:rPr>
              <a:t>οκταδικό</a:t>
            </a:r>
            <a:r>
              <a:rPr lang="el-GR" altLang="en-US" sz="2400" dirty="0">
                <a:solidFill>
                  <a:schemeClr val="bg2"/>
                </a:solidFill>
                <a:latin typeface="Times New Roman" panose="02020603050405020304" pitchFamily="18" charset="0"/>
              </a:rPr>
              <a:t> σύστημα διαμόρφωσης ASK εκπέμπει σε ένα κανάλι με ρυθμό 2.400 𝑏𝑎𝑢𝑑. Ποιο είναι το εύρος ζώνης που καταλαμβάνεται από το διαμορφωμένο σήμα, θεωρώντας ότι το σήμα φιλτράρεται από ένα ιδανικό ορθογώνιο φίλτρο; Αν χρησιμοποιηθεί φίλτρο υψωμένου </a:t>
            </a:r>
            <a:r>
              <a:rPr lang="el-GR" altLang="en-US" sz="2400" dirty="0" err="1">
                <a:solidFill>
                  <a:schemeClr val="bg2"/>
                </a:solidFill>
                <a:latin typeface="Times New Roman" panose="02020603050405020304" pitchFamily="18" charset="0"/>
              </a:rPr>
              <a:t>συνημιτόνου</a:t>
            </a:r>
            <a:r>
              <a:rPr lang="el-GR" altLang="en-US" sz="2400" dirty="0">
                <a:solidFill>
                  <a:schemeClr val="bg2"/>
                </a:solidFill>
                <a:latin typeface="Times New Roman" panose="02020603050405020304" pitchFamily="18" charset="0"/>
              </a:rPr>
              <a:t> με 𝛼 = 0,5 ποιο θα είναι τότε το καταλαμβανόμενο εύρος ζώνης;</a:t>
            </a:r>
          </a:p>
        </p:txBody>
      </p:sp>
    </p:spTree>
    <p:extLst>
      <p:ext uri="{BB962C8B-B14F-4D97-AF65-F5344CB8AC3E}">
        <p14:creationId xmlns:p14="http://schemas.microsoft.com/office/powerpoint/2010/main" val="11086463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2152-0276-7C34-7681-43CD1553234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34" name="Rectangle 2">
                <a:extLst>
                  <a:ext uri="{FF2B5EF4-FFF2-40B4-BE49-F238E27FC236}">
                    <a16:creationId xmlns:a16="http://schemas.microsoft.com/office/drawing/2014/main" id="{5785A08D-153B-4225-8BA3-0F0488FDF5BA}"/>
                  </a:ext>
                </a:extLst>
              </p:cNvPr>
              <p:cNvSpPr>
                <a:spLocks noChangeArrowheads="1"/>
              </p:cNvSpPr>
              <p:nvPr/>
            </p:nvSpPr>
            <p:spPr bwMode="auto">
              <a:xfrm>
                <a:off x="0" y="732343"/>
                <a:ext cx="8953500" cy="3046988"/>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Ένα σύμφωνο, δυαδικό σύστημα διαμόρφωσης ASK εμφανίζει σφάλμα φάσης ίσο με </a:t>
                </a:r>
                <a14:m>
                  <m:oMath xmlns:m="http://schemas.openxmlformats.org/officeDocument/2006/math">
                    <m:sSup>
                      <m:sSupPr>
                        <m:ctrlPr>
                          <a:rPr lang="en-US" altLang="en-US" sz="2400" b="0" i="1" dirty="0" smtClean="0">
                            <a:solidFill>
                              <a:schemeClr val="bg2"/>
                            </a:solidFill>
                            <a:latin typeface="Cambria Math" panose="02040503050406030204" pitchFamily="18" charset="0"/>
                          </a:rPr>
                        </m:ctrlPr>
                      </m:sSupPr>
                      <m:e>
                        <m:r>
                          <a:rPr lang="el-GR" altLang="en-US" sz="2400" i="1" dirty="0" smtClean="0">
                            <a:solidFill>
                              <a:schemeClr val="bg2"/>
                            </a:solidFill>
                            <a:latin typeface="Cambria Math" panose="02040503050406030204" pitchFamily="18" charset="0"/>
                          </a:rPr>
                          <m:t>25</m:t>
                        </m:r>
                      </m:e>
                      <m:sup>
                        <m:r>
                          <a:rPr lang="el-GR" altLang="en-US" sz="2400" i="1" dirty="0" smtClean="0">
                            <a:solidFill>
                              <a:schemeClr val="bg2"/>
                            </a:solidFill>
                            <a:latin typeface="Cambria Math" panose="02040503050406030204" pitchFamily="18" charset="0"/>
                          </a:rPr>
                          <m:t>𝜊</m:t>
                        </m:r>
                      </m:sup>
                    </m:sSup>
                  </m:oMath>
                </a14:m>
                <a:r>
                  <a:rPr lang="el-GR" altLang="en-US" sz="2400" dirty="0">
                    <a:solidFill>
                      <a:schemeClr val="bg2"/>
                    </a:solidFill>
                    <a:latin typeface="Times New Roman" panose="02020603050405020304" pitchFamily="18" charset="0"/>
                  </a:rPr>
                  <a:t> στο ανακτημένο σήμα φέροντος. Ποια θα είναι η επί τοις εκατό μείωση στην τάση των συμβόλων εξόδου που δίνει ο </a:t>
                </a:r>
                <a:r>
                  <a:rPr lang="el-GR" altLang="en-US" sz="2400" dirty="0" err="1">
                    <a:solidFill>
                      <a:schemeClr val="bg2"/>
                    </a:solidFill>
                    <a:latin typeface="Times New Roman" panose="02020603050405020304" pitchFamily="18" charset="0"/>
                  </a:rPr>
                  <a:t>μίκτης</a:t>
                </a:r>
                <a:r>
                  <a:rPr lang="el-GR" altLang="en-US" sz="2400" dirty="0">
                    <a:solidFill>
                      <a:schemeClr val="bg2"/>
                    </a:solidFill>
                    <a:latin typeface="Times New Roman" panose="02020603050405020304" pitchFamily="18" charset="0"/>
                  </a:rPr>
                  <a:t> ανιχνευτής και πόσο πρέπει να αυξηθεί η ενέργεια των εισερχόμενων συμβόλων ώστε να αντισταθμίσει την απώλεια λόγω του σφάλματος στο φέρον;</a:t>
                </a:r>
              </a:p>
            </p:txBody>
          </p:sp>
        </mc:Choice>
        <mc:Fallback xmlns="">
          <p:sp>
            <p:nvSpPr>
              <p:cNvPr id="18434" name="Rectangle 2">
                <a:extLst>
                  <a:ext uri="{FF2B5EF4-FFF2-40B4-BE49-F238E27FC236}">
                    <a16:creationId xmlns:a16="http://schemas.microsoft.com/office/drawing/2014/main" id="{5785A08D-153B-4225-8BA3-0F0488FDF5BA}"/>
                  </a:ext>
                </a:extLst>
              </p:cNvPr>
              <p:cNvSpPr>
                <a:spLocks noRot="1" noChangeAspect="1" noMove="1" noResize="1" noEditPoints="1" noAdjustHandles="1" noChangeArrowheads="1" noChangeShapeType="1" noTextEdit="1"/>
              </p:cNvSpPr>
              <p:nvPr/>
            </p:nvSpPr>
            <p:spPr bwMode="auto">
              <a:xfrm>
                <a:off x="0" y="732343"/>
                <a:ext cx="8953500" cy="3046988"/>
              </a:xfrm>
              <a:prstGeom prst="rect">
                <a:avLst/>
              </a:prstGeom>
              <a:blipFill>
                <a:blip r:embed="rId2"/>
                <a:stretch>
                  <a:fillRect l="-1021" t="-1000" r="-1770" b="-42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spTree>
    <p:extLst>
      <p:ext uri="{BB962C8B-B14F-4D97-AF65-F5344CB8AC3E}">
        <p14:creationId xmlns:p14="http://schemas.microsoft.com/office/powerpoint/2010/main" val="2712705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BDE17-D047-21CE-7F09-79AF9228732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34" name="Rectangle 2">
                <a:extLst>
                  <a:ext uri="{FF2B5EF4-FFF2-40B4-BE49-F238E27FC236}">
                    <a16:creationId xmlns:a16="http://schemas.microsoft.com/office/drawing/2014/main" id="{BB1721BB-9D57-E190-8378-0A21331700AE}"/>
                  </a:ext>
                </a:extLst>
              </p:cNvPr>
              <p:cNvSpPr>
                <a:spLocks noChangeArrowheads="1"/>
              </p:cNvSpPr>
              <p:nvPr/>
            </p:nvSpPr>
            <p:spPr bwMode="auto">
              <a:xfrm>
                <a:off x="0" y="1101675"/>
                <a:ext cx="8953500" cy="2308324"/>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Σχεδιάστε το διάγραμμα αστερισμού για μία διαμόρφωση ASK τεσσάρων επιπέδων χρησιμοποιώντας ένα φέρον της μορφής </a:t>
                </a:r>
                <a14:m>
                  <m:oMath xmlns:m="http://schemas.openxmlformats.org/officeDocument/2006/math">
                    <m:r>
                      <a:rPr lang="el-GR" altLang="en-US" sz="2400" i="1" dirty="0" smtClean="0">
                        <a:solidFill>
                          <a:schemeClr val="bg2"/>
                        </a:solidFill>
                        <a:latin typeface="Cambria Math" panose="02040503050406030204" pitchFamily="18" charset="0"/>
                      </a:rPr>
                      <m:t>𝑠𝑖𝑛</m:t>
                    </m:r>
                    <m:sSub>
                      <m:sSubPr>
                        <m:ctrlPr>
                          <a:rPr lang="en-US" altLang="en-US" sz="2400" b="0" i="1" dirty="0" smtClean="0">
                            <a:solidFill>
                              <a:schemeClr val="bg2"/>
                            </a:solidFill>
                            <a:latin typeface="Cambria Math" panose="02040503050406030204" pitchFamily="18" charset="0"/>
                          </a:rPr>
                        </m:ctrlPr>
                      </m:sSubPr>
                      <m:e>
                        <m:r>
                          <a:rPr lang="el-GR" altLang="en-US" sz="2400" i="1" dirty="0" smtClean="0">
                            <a:solidFill>
                              <a:schemeClr val="bg2"/>
                            </a:solidFill>
                            <a:latin typeface="Cambria Math" panose="02040503050406030204" pitchFamily="18" charset="0"/>
                          </a:rPr>
                          <m:t>𝜔</m:t>
                        </m:r>
                      </m:e>
                      <m:sub>
                        <m:r>
                          <a:rPr lang="el-GR" altLang="en-US" sz="2400" i="1" dirty="0" smtClean="0">
                            <a:solidFill>
                              <a:schemeClr val="bg2"/>
                            </a:solidFill>
                            <a:latin typeface="Cambria Math" panose="02040503050406030204" pitchFamily="18" charset="0"/>
                          </a:rPr>
                          <m:t>𝑐</m:t>
                        </m:r>
                      </m:sub>
                    </m:sSub>
                    <m:r>
                      <a:rPr lang="el-GR" altLang="en-US" sz="2400" i="1" dirty="0" smtClean="0">
                        <a:solidFill>
                          <a:schemeClr val="bg2"/>
                        </a:solidFill>
                        <a:latin typeface="Cambria Math" panose="02040503050406030204" pitchFamily="18" charset="0"/>
                      </a:rPr>
                      <m:t>𝑡</m:t>
                    </m:r>
                  </m:oMath>
                </a14:m>
                <a:r>
                  <a:rPr lang="el-GR" altLang="en-US" sz="2400" dirty="0">
                    <a:solidFill>
                      <a:schemeClr val="bg2"/>
                    </a:solidFill>
                    <a:latin typeface="Times New Roman" panose="02020603050405020304" pitchFamily="18" charset="0"/>
                  </a:rPr>
                  <a:t>, όταν η είσοδος του διαμορφωτή είναι: (α) ένα μονοπολικό σήμα τεσσάρων επιπέδων (β) ένα διπολικό σήμα τεσσάρων επιπέδων</a:t>
                </a:r>
              </a:p>
            </p:txBody>
          </p:sp>
        </mc:Choice>
        <mc:Fallback xmlns="">
          <p:sp>
            <p:nvSpPr>
              <p:cNvPr id="18434" name="Rectangle 2">
                <a:extLst>
                  <a:ext uri="{FF2B5EF4-FFF2-40B4-BE49-F238E27FC236}">
                    <a16:creationId xmlns:a16="http://schemas.microsoft.com/office/drawing/2014/main" id="{BB1721BB-9D57-E190-8378-0A21331700AE}"/>
                  </a:ext>
                </a:extLst>
              </p:cNvPr>
              <p:cNvSpPr>
                <a:spLocks noRot="1" noChangeAspect="1" noMove="1" noResize="1" noEditPoints="1" noAdjustHandles="1" noChangeArrowheads="1" noChangeShapeType="1" noTextEdit="1"/>
              </p:cNvSpPr>
              <p:nvPr/>
            </p:nvSpPr>
            <p:spPr bwMode="auto">
              <a:xfrm>
                <a:off x="0" y="1101675"/>
                <a:ext cx="8953500" cy="2308324"/>
              </a:xfrm>
              <a:prstGeom prst="rect">
                <a:avLst/>
              </a:prstGeom>
              <a:blipFill>
                <a:blip r:embed="rId2"/>
                <a:stretch>
                  <a:fillRect l="-1021" t="-1587" b="-58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spTree>
    <p:extLst>
      <p:ext uri="{BB962C8B-B14F-4D97-AF65-F5344CB8AC3E}">
        <p14:creationId xmlns:p14="http://schemas.microsoft.com/office/powerpoint/2010/main" val="9583873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EA1C3-A113-7554-A571-6F820BA0371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34" name="Rectangle 2">
                <a:extLst>
                  <a:ext uri="{FF2B5EF4-FFF2-40B4-BE49-F238E27FC236}">
                    <a16:creationId xmlns:a16="http://schemas.microsoft.com/office/drawing/2014/main" id="{A9D66B60-7AEA-6DF9-70F7-02460244DBDE}"/>
                  </a:ext>
                </a:extLst>
              </p:cNvPr>
              <p:cNvSpPr>
                <a:spLocks noChangeArrowheads="1"/>
              </p:cNvSpPr>
              <p:nvPr/>
            </p:nvSpPr>
            <p:spPr bwMode="auto">
              <a:xfrm>
                <a:off x="0" y="1271339"/>
                <a:ext cx="8953500" cy="2677656"/>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Ποια είναι η πιθανότητα εμφάνισης εσφαλμένων </a:t>
                </a:r>
                <a:r>
                  <a:rPr lang="el-GR" altLang="en-US" sz="2400" dirty="0" err="1">
                    <a:solidFill>
                      <a:schemeClr val="bg2"/>
                    </a:solidFill>
                    <a:latin typeface="Times New Roman" panose="02020603050405020304" pitchFamily="18" charset="0"/>
                  </a:rPr>
                  <a:t>bit</a:t>
                </a:r>
                <a:r>
                  <a:rPr lang="el-GR" altLang="en-US" sz="2400" dirty="0">
                    <a:solidFill>
                      <a:schemeClr val="bg2"/>
                    </a:solidFill>
                    <a:latin typeface="Times New Roman" panose="02020603050405020304" pitchFamily="18" charset="0"/>
                  </a:rPr>
                  <a:t> στην περίπτωση ασύμφωνης δυαδικής διαμόρφωσης FSK όταν ο λόγος </a:t>
                </a:r>
                <a14:m>
                  <m:oMath xmlns:m="http://schemas.openxmlformats.org/officeDocument/2006/math">
                    <m:r>
                      <a:rPr lang="el-GR" altLang="en-US" sz="2400" i="1" dirty="0" smtClean="0">
                        <a:solidFill>
                          <a:schemeClr val="bg2"/>
                        </a:solidFill>
                        <a:latin typeface="Cambria Math" panose="02040503050406030204" pitchFamily="18" charset="0"/>
                      </a:rPr>
                      <m:t>𝐸𝑏</m:t>
                    </m:r>
                    <m:r>
                      <a:rPr lang="en-US" altLang="en-US" sz="2400" i="1" dirty="0" smtClean="0">
                        <a:solidFill>
                          <a:schemeClr val="bg2"/>
                        </a:solidFill>
                        <a:latin typeface="Cambria Math" panose="02040503050406030204" pitchFamily="18" charset="0"/>
                      </a:rPr>
                      <m:t>/</m:t>
                    </m:r>
                    <m:sSub>
                      <m:sSubPr>
                        <m:ctrlPr>
                          <a:rPr lang="en-US" altLang="en-US" sz="2400" b="0" i="1" dirty="0" smtClean="0">
                            <a:solidFill>
                              <a:schemeClr val="bg2"/>
                            </a:solidFill>
                            <a:latin typeface="Cambria Math" panose="02040503050406030204" pitchFamily="18" charset="0"/>
                          </a:rPr>
                        </m:ctrlPr>
                      </m:sSubPr>
                      <m:e>
                        <m:r>
                          <a:rPr lang="el-GR" altLang="en-US" sz="2400" i="1" dirty="0" smtClean="0">
                            <a:solidFill>
                              <a:schemeClr val="bg2"/>
                            </a:solidFill>
                            <a:latin typeface="Cambria Math" panose="02040503050406030204" pitchFamily="18" charset="0"/>
                          </a:rPr>
                          <m:t>𝑁</m:t>
                        </m:r>
                      </m:e>
                      <m:sub>
                        <m:r>
                          <a:rPr lang="el-GR" altLang="en-US" sz="2400" i="1" dirty="0" smtClean="0">
                            <a:solidFill>
                              <a:schemeClr val="bg2"/>
                            </a:solidFill>
                            <a:latin typeface="Cambria Math" panose="02040503050406030204" pitchFamily="18" charset="0"/>
                          </a:rPr>
                          <m:t>0</m:t>
                        </m:r>
                      </m:sub>
                    </m:sSub>
                    <m:r>
                      <a:rPr lang="en-US" altLang="en-US" sz="2400" i="1" dirty="0" smtClean="0">
                        <a:solidFill>
                          <a:schemeClr val="bg2"/>
                        </a:solidFill>
                        <a:latin typeface="Cambria Math" panose="02040503050406030204" pitchFamily="18" charset="0"/>
                      </a:rPr>
                      <m:t> </m:t>
                    </m:r>
                  </m:oMath>
                </a14:m>
                <a:r>
                  <a:rPr lang="el-GR" altLang="en-US" sz="2400" dirty="0">
                    <a:solidFill>
                      <a:schemeClr val="bg2"/>
                    </a:solidFill>
                    <a:latin typeface="Times New Roman" panose="02020603050405020304" pitchFamily="18" charset="0"/>
                  </a:rPr>
                  <a:t>έχει την τιμή 10 </a:t>
                </a:r>
                <a:r>
                  <a:rPr lang="el-GR" altLang="en-US" sz="2400" dirty="0" err="1">
                    <a:solidFill>
                      <a:schemeClr val="bg2"/>
                    </a:solidFill>
                    <a:latin typeface="Times New Roman" panose="02020603050405020304" pitchFamily="18" charset="0"/>
                  </a:rPr>
                  <a:t>dB</a:t>
                </a:r>
                <a:r>
                  <a:rPr lang="el-GR" altLang="en-US" sz="2400" dirty="0">
                    <a:solidFill>
                      <a:schemeClr val="bg2"/>
                    </a:solidFill>
                    <a:latin typeface="Times New Roman" panose="02020603050405020304" pitchFamily="18" charset="0"/>
                  </a:rPr>
                  <a:t>; Ποια πρέπει να είναι η απαιτούμενη προσεγγιστική τιμή του λόγου αυτού, ώστε να επιτευχθεί η ίδια πιθανότητα εμφάνισης εσφαλμένων </a:t>
                </a:r>
                <a:r>
                  <a:rPr lang="el-GR" altLang="en-US" sz="2400" dirty="0" err="1">
                    <a:solidFill>
                      <a:schemeClr val="bg2"/>
                    </a:solidFill>
                    <a:latin typeface="Times New Roman" panose="02020603050405020304" pitchFamily="18" charset="0"/>
                  </a:rPr>
                  <a:t>bit</a:t>
                </a:r>
                <a:r>
                  <a:rPr lang="el-GR" altLang="en-US" sz="2400" dirty="0">
                    <a:solidFill>
                      <a:schemeClr val="bg2"/>
                    </a:solidFill>
                    <a:latin typeface="Times New Roman" panose="02020603050405020304" pitchFamily="18" charset="0"/>
                  </a:rPr>
                  <a:t> στις περιπτώσεις σύμφωνης FSK και σύμφωνης ASK;</a:t>
                </a:r>
              </a:p>
            </p:txBody>
          </p:sp>
        </mc:Choice>
        <mc:Fallback xmlns="">
          <p:sp>
            <p:nvSpPr>
              <p:cNvPr id="18434" name="Rectangle 2">
                <a:extLst>
                  <a:ext uri="{FF2B5EF4-FFF2-40B4-BE49-F238E27FC236}">
                    <a16:creationId xmlns:a16="http://schemas.microsoft.com/office/drawing/2014/main" id="{A9D66B60-7AEA-6DF9-70F7-02460244DBDE}"/>
                  </a:ext>
                </a:extLst>
              </p:cNvPr>
              <p:cNvSpPr>
                <a:spLocks noRot="1" noChangeAspect="1" noMove="1" noResize="1" noEditPoints="1" noAdjustHandles="1" noChangeArrowheads="1" noChangeShapeType="1" noTextEdit="1"/>
              </p:cNvSpPr>
              <p:nvPr/>
            </p:nvSpPr>
            <p:spPr bwMode="auto">
              <a:xfrm>
                <a:off x="0" y="1271339"/>
                <a:ext cx="8953500" cy="2677656"/>
              </a:xfrm>
              <a:prstGeom prst="rect">
                <a:avLst/>
              </a:prstGeom>
              <a:blipFill>
                <a:blip r:embed="rId2"/>
                <a:stretch>
                  <a:fillRect l="-1021" t="-1367" r="-408" b="-478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pic>
        <p:nvPicPr>
          <p:cNvPr id="3" name="Εικόνα 2">
            <a:extLst>
              <a:ext uri="{FF2B5EF4-FFF2-40B4-BE49-F238E27FC236}">
                <a16:creationId xmlns:a16="http://schemas.microsoft.com/office/drawing/2014/main" id="{E4DDAFEB-B4A0-14F6-231C-E7CEA6FED290}"/>
              </a:ext>
            </a:extLst>
          </p:cNvPr>
          <p:cNvPicPr>
            <a:picLocks noChangeAspect="1"/>
          </p:cNvPicPr>
          <p:nvPr/>
        </p:nvPicPr>
        <p:blipFill>
          <a:blip r:embed="rId3"/>
          <a:stretch>
            <a:fillRect/>
          </a:stretch>
        </p:blipFill>
        <p:spPr>
          <a:xfrm>
            <a:off x="506604" y="4058491"/>
            <a:ext cx="3276725" cy="2910708"/>
          </a:xfrm>
          <a:prstGeom prst="rect">
            <a:avLst/>
          </a:prstGeom>
        </p:spPr>
      </p:pic>
      <p:pic>
        <p:nvPicPr>
          <p:cNvPr id="4" name="Εικόνα 3">
            <a:extLst>
              <a:ext uri="{FF2B5EF4-FFF2-40B4-BE49-F238E27FC236}">
                <a16:creationId xmlns:a16="http://schemas.microsoft.com/office/drawing/2014/main" id="{7B3144BD-3B61-FA8A-8521-1F9BF28125C4}"/>
              </a:ext>
            </a:extLst>
          </p:cNvPr>
          <p:cNvPicPr>
            <a:picLocks noChangeAspect="1"/>
          </p:cNvPicPr>
          <p:nvPr/>
        </p:nvPicPr>
        <p:blipFill>
          <a:blip r:embed="rId4"/>
          <a:stretch>
            <a:fillRect/>
          </a:stretch>
        </p:blipFill>
        <p:spPr>
          <a:xfrm>
            <a:off x="4476750" y="4058491"/>
            <a:ext cx="3223965" cy="2910708"/>
          </a:xfrm>
          <a:prstGeom prst="rect">
            <a:avLst/>
          </a:prstGeom>
        </p:spPr>
      </p:pic>
    </p:spTree>
    <p:extLst>
      <p:ext uri="{BB962C8B-B14F-4D97-AF65-F5344CB8AC3E}">
        <p14:creationId xmlns:p14="http://schemas.microsoft.com/office/powerpoint/2010/main" val="822762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67170-BBD8-C8C9-2590-3E787A4346D8}"/>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8B5A9224-93FE-45EC-739B-50D7625AB761}"/>
              </a:ext>
            </a:extLst>
          </p:cNvPr>
          <p:cNvSpPr>
            <a:spLocks noChangeArrowheads="1"/>
          </p:cNvSpPr>
          <p:nvPr/>
        </p:nvSpPr>
        <p:spPr bwMode="auto">
          <a:xfrm>
            <a:off x="0" y="1705679"/>
            <a:ext cx="89535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Ένας σχεδιαστής πρέπει να κατασκευάσει ένα </a:t>
            </a:r>
            <a:r>
              <a:rPr lang="el-GR" altLang="en-US" sz="2400" dirty="0" err="1">
                <a:solidFill>
                  <a:schemeClr val="bg2"/>
                </a:solidFill>
                <a:latin typeface="Times New Roman" panose="02020603050405020304" pitchFamily="18" charset="0"/>
              </a:rPr>
              <a:t>modem</a:t>
            </a:r>
            <a:r>
              <a:rPr lang="el-GR" altLang="en-US" sz="2400" dirty="0">
                <a:solidFill>
                  <a:schemeClr val="bg2"/>
                </a:solidFill>
                <a:latin typeface="Times New Roman" panose="02020603050405020304" pitchFamily="18" charset="0"/>
              </a:rPr>
              <a:t> δεδομένων που πρέπει να εμφανίζει ανοχή στην απόκλιση συχνότητας στο σύστημα του δέκτη. Δεν τον ενδιαφέρει τόσο η ανοχή του </a:t>
            </a:r>
            <a:r>
              <a:rPr lang="el-GR" altLang="en-US" sz="2400" dirty="0" err="1">
                <a:solidFill>
                  <a:schemeClr val="bg2"/>
                </a:solidFill>
                <a:latin typeface="Times New Roman" panose="02020603050405020304" pitchFamily="18" charset="0"/>
              </a:rPr>
              <a:t>modem</a:t>
            </a:r>
            <a:r>
              <a:rPr lang="el-GR" altLang="en-US" sz="2400" dirty="0">
                <a:solidFill>
                  <a:schemeClr val="bg2"/>
                </a:solidFill>
                <a:latin typeface="Times New Roman" panose="02020603050405020304" pitchFamily="18" charset="0"/>
              </a:rPr>
              <a:t> στο θόρυβο. Ποια μέθοδο διαμόρφωσης, την ASK</a:t>
            </a:r>
            <a:r>
              <a:rPr lang="en-US" altLang="en-US" sz="2400" dirty="0">
                <a:solidFill>
                  <a:schemeClr val="bg2"/>
                </a:solidFill>
                <a:latin typeface="Times New Roman" panose="02020603050405020304" pitchFamily="18" charset="0"/>
              </a:rPr>
              <a:t> </a:t>
            </a:r>
            <a:r>
              <a:rPr lang="el-GR" altLang="en-US" sz="2400" dirty="0">
                <a:solidFill>
                  <a:schemeClr val="bg2"/>
                </a:solidFill>
                <a:latin typeface="Times New Roman" panose="02020603050405020304" pitchFamily="18" charset="0"/>
              </a:rPr>
              <a:t>ή την FSK θα συστήνατε για το σκοπό αυτό;</a:t>
            </a:r>
          </a:p>
        </p:txBody>
      </p:sp>
    </p:spTree>
    <p:extLst>
      <p:ext uri="{BB962C8B-B14F-4D97-AF65-F5344CB8AC3E}">
        <p14:creationId xmlns:p14="http://schemas.microsoft.com/office/powerpoint/2010/main" val="4270093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B6259-99E9-9100-2BF5-8A6516D934C2}"/>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2B03DDF3-4DA4-EA97-B076-E448ACEF2514}"/>
              </a:ext>
            </a:extLst>
          </p:cNvPr>
          <p:cNvSpPr>
            <a:spLocks noChangeArrowheads="1"/>
          </p:cNvSpPr>
          <p:nvPr/>
        </p:nvSpPr>
        <p:spPr bwMode="auto">
          <a:xfrm>
            <a:off x="0" y="1151681"/>
            <a:ext cx="89535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Χρησιμοποιείται η μέθοδος ASK για τη μετάδοση δεδομένων με ρυθμό 28,8 </a:t>
            </a:r>
            <a:r>
              <a:rPr lang="el-GR" altLang="en-US" sz="2400" dirty="0" err="1">
                <a:solidFill>
                  <a:schemeClr val="bg2"/>
                </a:solidFill>
                <a:latin typeface="Times New Roman" panose="02020603050405020304" pitchFamily="18" charset="0"/>
              </a:rPr>
              <a:t>kbps</a:t>
            </a:r>
            <a:r>
              <a:rPr lang="el-GR" altLang="en-US" sz="2400" dirty="0">
                <a:solidFill>
                  <a:schemeClr val="bg2"/>
                </a:solidFill>
                <a:latin typeface="Times New Roman" panose="02020603050405020304" pitchFamily="18" charset="0"/>
              </a:rPr>
              <a:t> σε ένα τηλεφωνικό κανάλι με εύρος ζώνης από 300 έως 3.400 </a:t>
            </a:r>
            <a:r>
              <a:rPr lang="el-GR" altLang="en-US" sz="2400" dirty="0" err="1">
                <a:solidFill>
                  <a:schemeClr val="bg2"/>
                </a:solidFill>
                <a:latin typeface="Times New Roman" panose="02020603050405020304" pitchFamily="18" charset="0"/>
              </a:rPr>
              <a:t>Hz</a:t>
            </a:r>
            <a:r>
              <a:rPr lang="el-GR" altLang="en-US" sz="2400" dirty="0">
                <a:solidFill>
                  <a:schemeClr val="bg2"/>
                </a:solidFill>
                <a:latin typeface="Times New Roman" panose="02020603050405020304" pitchFamily="18" charset="0"/>
              </a:rPr>
              <a:t>. (α) Πόσες καταστάσεις συμβόλων απαιτούνται για να επιτευχθεί αυτός ο ρυθμός; (β) Ποιος θα ήταν ο απαιτούμενος αριθμός καταστάσεων συμβόλων αν η ζώνη διέλευσης του καναλιού εκτεινόταν από τα 0 έως τα 3.100 </a:t>
            </a:r>
            <a:r>
              <a:rPr lang="el-GR" altLang="en-US" sz="2400" dirty="0" err="1">
                <a:solidFill>
                  <a:schemeClr val="bg2"/>
                </a:solidFill>
                <a:latin typeface="Times New Roman" panose="02020603050405020304" pitchFamily="18" charset="0"/>
              </a:rPr>
              <a:t>Hz</a:t>
            </a:r>
            <a:r>
              <a:rPr lang="el-GR" altLang="en-US" sz="2400" dirty="0">
                <a:solidFill>
                  <a:schemeClr val="bg2"/>
                </a:solidFill>
                <a:latin typeface="Times New Roman" panose="02020603050405020304" pitchFamily="18" charset="0"/>
              </a:rPr>
              <a:t> και χρησιμοποιούνται Μ-</a:t>
            </a:r>
            <a:r>
              <a:rPr lang="el-GR" altLang="en-US" sz="2400" dirty="0" err="1">
                <a:solidFill>
                  <a:schemeClr val="bg2"/>
                </a:solidFill>
                <a:latin typeface="Times New Roman" panose="02020603050405020304" pitchFamily="18" charset="0"/>
              </a:rPr>
              <a:t>αδική</a:t>
            </a:r>
            <a:r>
              <a:rPr lang="el-GR" altLang="en-US" sz="2400" dirty="0">
                <a:solidFill>
                  <a:schemeClr val="bg2"/>
                </a:solidFill>
                <a:latin typeface="Times New Roman" panose="02020603050405020304" pitchFamily="18" charset="0"/>
              </a:rPr>
              <a:t> σηματοδοσία βασικής ζώνης; (γ) Ποια είναι η θεωρητική χωρητικότητα του συστήματος ASK αν S/N=33 </a:t>
            </a:r>
            <a:r>
              <a:rPr lang="el-GR" altLang="en-US" sz="2400" dirty="0" err="1">
                <a:solidFill>
                  <a:schemeClr val="bg2"/>
                </a:solidFill>
                <a:latin typeface="Times New Roman" panose="02020603050405020304" pitchFamily="18" charset="0"/>
              </a:rPr>
              <a:t>dB</a:t>
            </a:r>
            <a:r>
              <a:rPr lang="el-GR" altLang="en-US" sz="2400" dirty="0">
                <a:solidFill>
                  <a:schemeClr val="bg2"/>
                </a:solidFill>
                <a:latin typeface="Times New Roman" panose="02020603050405020304" pitchFamily="18" charset="0"/>
              </a:rPr>
              <a:t>;</a:t>
            </a:r>
          </a:p>
        </p:txBody>
      </p:sp>
    </p:spTree>
    <p:extLst>
      <p:ext uri="{BB962C8B-B14F-4D97-AF65-F5344CB8AC3E}">
        <p14:creationId xmlns:p14="http://schemas.microsoft.com/office/powerpoint/2010/main" val="1425621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085CA-A18E-7824-5EE6-B7A402F74A6A}"/>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F2A08BC9-95A4-271B-8EF3-3BBA83D59365}"/>
              </a:ext>
            </a:extLst>
          </p:cNvPr>
          <p:cNvSpPr>
            <a:spLocks noChangeArrowheads="1"/>
          </p:cNvSpPr>
          <p:nvPr/>
        </p:nvSpPr>
        <p:spPr bwMode="auto">
          <a:xfrm>
            <a:off x="0" y="1825337"/>
            <a:ext cx="89535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Ποια είναι η φασματική απόδοση ενός </a:t>
            </a:r>
            <a:r>
              <a:rPr lang="el-GR" altLang="en-US" sz="2400" dirty="0" err="1">
                <a:solidFill>
                  <a:schemeClr val="bg2"/>
                </a:solidFill>
                <a:latin typeface="Times New Roman" panose="02020603050405020304" pitchFamily="18" charset="0"/>
              </a:rPr>
              <a:t>modem</a:t>
            </a:r>
            <a:r>
              <a:rPr lang="el-GR" altLang="en-US" sz="2400" dirty="0">
                <a:solidFill>
                  <a:schemeClr val="bg2"/>
                </a:solidFill>
                <a:latin typeface="Times New Roman" panose="02020603050405020304" pitchFamily="18" charset="0"/>
              </a:rPr>
              <a:t> διαμόρφωσης BPSK που έχει φίλτρο μορφοποίησης παλμών με 𝛼 = 0,5;</a:t>
            </a:r>
          </a:p>
        </p:txBody>
      </p:sp>
    </p:spTree>
    <p:extLst>
      <p:ext uri="{BB962C8B-B14F-4D97-AF65-F5344CB8AC3E}">
        <p14:creationId xmlns:p14="http://schemas.microsoft.com/office/powerpoint/2010/main" val="7424183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18277-1390-8089-C6B9-CCDC57579EA4}"/>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C4862C7A-4ACE-F818-C0FC-ACB70CE4096E}"/>
              </a:ext>
            </a:extLst>
          </p:cNvPr>
          <p:cNvSpPr>
            <a:spLocks noChangeArrowheads="1"/>
          </p:cNvSpPr>
          <p:nvPr/>
        </p:nvSpPr>
        <p:spPr bwMode="auto">
          <a:xfrm>
            <a:off x="0" y="1456005"/>
            <a:ext cx="89535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Ένα </a:t>
            </a:r>
            <a:r>
              <a:rPr lang="el-GR" altLang="en-US" sz="2400" dirty="0" err="1">
                <a:solidFill>
                  <a:schemeClr val="bg2"/>
                </a:solidFill>
                <a:latin typeface="Times New Roman" panose="02020603050405020304" pitchFamily="18" charset="0"/>
              </a:rPr>
              <a:t>modem</a:t>
            </a:r>
            <a:r>
              <a:rPr lang="en-US" altLang="en-US" sz="2400" dirty="0">
                <a:solidFill>
                  <a:schemeClr val="bg2"/>
                </a:solidFill>
                <a:latin typeface="Times New Roman" panose="02020603050405020304" pitchFamily="18" charset="0"/>
              </a:rPr>
              <a:t> </a:t>
            </a:r>
            <a:r>
              <a:rPr lang="el-GR" altLang="en-US" sz="2400" dirty="0">
                <a:solidFill>
                  <a:schemeClr val="bg2"/>
                </a:solidFill>
                <a:latin typeface="Times New Roman" panose="02020603050405020304" pitchFamily="18" charset="0"/>
              </a:rPr>
              <a:t>δυαδικής διαμόρφωσης PSK σχεδιάζεται ώστε να καταλαμβάνει εύρος ζώνης 8𝑘𝐻𝑧.</a:t>
            </a:r>
            <a:r>
              <a:rPr lang="en-US" altLang="en-US" sz="2400" dirty="0">
                <a:solidFill>
                  <a:schemeClr val="bg2"/>
                </a:solidFill>
                <a:latin typeface="Times New Roman" panose="02020603050405020304" pitchFamily="18" charset="0"/>
              </a:rPr>
              <a:t> </a:t>
            </a:r>
            <a:r>
              <a:rPr lang="el-GR" altLang="en-US" sz="2400" dirty="0">
                <a:solidFill>
                  <a:schemeClr val="bg2"/>
                </a:solidFill>
                <a:latin typeface="Times New Roman" panose="02020603050405020304" pitchFamily="18" charset="0"/>
              </a:rPr>
              <a:t>Ποιος είναι ο μέγιστος ρυθμός δεδομένων που μπορεί να μεταδίδεται αν χρησιμοποιηθεί ένα φίλτρο υψωμένου </a:t>
            </a:r>
            <a:r>
              <a:rPr lang="el-GR" altLang="en-US" sz="2400" dirty="0" err="1">
                <a:solidFill>
                  <a:schemeClr val="bg2"/>
                </a:solidFill>
                <a:latin typeface="Times New Roman" panose="02020603050405020304" pitchFamily="18" charset="0"/>
              </a:rPr>
              <a:t>συνημιτόνου</a:t>
            </a:r>
            <a:r>
              <a:rPr lang="el-GR" altLang="en-US" sz="2400" dirty="0">
                <a:solidFill>
                  <a:schemeClr val="bg2"/>
                </a:solidFill>
                <a:latin typeface="Times New Roman" panose="02020603050405020304" pitchFamily="18" charset="0"/>
              </a:rPr>
              <a:t> με 𝛼 = 1;</a:t>
            </a:r>
          </a:p>
        </p:txBody>
      </p:sp>
    </p:spTree>
    <p:extLst>
      <p:ext uri="{BB962C8B-B14F-4D97-AF65-F5344CB8AC3E}">
        <p14:creationId xmlns:p14="http://schemas.microsoft.com/office/powerpoint/2010/main" val="9665494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76F7-BC3A-583E-C5EB-684D8913F4E3}"/>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0DEB79B3-628C-A759-910C-5A69AF804948}"/>
              </a:ext>
            </a:extLst>
          </p:cNvPr>
          <p:cNvSpPr>
            <a:spLocks noChangeArrowheads="1"/>
          </p:cNvSpPr>
          <p:nvPr/>
        </p:nvSpPr>
        <p:spPr bwMode="auto">
          <a:xfrm>
            <a:off x="0" y="1667817"/>
            <a:ext cx="89535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n-US"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Η απόδοση ενός δέκτη ραδιοσυχνοτήτων περιορίζεται από το θερμικό θόρυβο στη βαθμίδα εισόδου του. Ο δέκτης μπορεί να αποκωδικοποιεί τόσο σύμφωνα δυαδικά σήματα ASK, όσο και σύμφωνα δυαδικά σήματα PSK. Αν η μέση ισχύς του πομπού είναι σταθερή όταν στέλνει σήματα ASK και PSK, ποια από τις δύο μεθόδους κωδικοποίησης είναι προτιμότερη αν θέλουμε η εκπομπή να γίνεται με το μέγιστο δυνατό ρυθμό για δεδομένη πιθανότητα εμφάνισης εσφαλμένων </a:t>
            </a:r>
            <a:r>
              <a:rPr lang="el-GR" altLang="en-US" sz="2400" dirty="0" err="1">
                <a:solidFill>
                  <a:schemeClr val="bg2"/>
                </a:solidFill>
                <a:latin typeface="Times New Roman" panose="02020603050405020304" pitchFamily="18" charset="0"/>
              </a:rPr>
              <a:t>bi</a:t>
            </a:r>
            <a:r>
              <a:rPr lang="en-US" altLang="en-US" sz="2400" dirty="0">
                <a:solidFill>
                  <a:schemeClr val="bg2"/>
                </a:solidFill>
                <a:latin typeface="Times New Roman" panose="02020603050405020304" pitchFamily="18" charset="0"/>
              </a:rPr>
              <a:t>t</a:t>
            </a:r>
            <a:r>
              <a:rPr lang="el-GR" altLang="en-US" sz="2400" dirty="0">
                <a:solidFill>
                  <a:schemeClr val="bg2"/>
                </a:solidFill>
                <a:latin typeface="Times New Roman" panose="02020603050405020304" pitchFamily="18" charset="0"/>
              </a:rPr>
              <a:t>;</a:t>
            </a:r>
          </a:p>
        </p:txBody>
      </p:sp>
    </p:spTree>
    <p:extLst>
      <p:ext uri="{BB962C8B-B14F-4D97-AF65-F5344CB8AC3E}">
        <p14:creationId xmlns:p14="http://schemas.microsoft.com/office/powerpoint/2010/main" val="11339460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A9D75-0B1D-264B-75EA-9B7F9B0C0F1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34" name="Rectangle 2">
                <a:extLst>
                  <a:ext uri="{FF2B5EF4-FFF2-40B4-BE49-F238E27FC236}">
                    <a16:creationId xmlns:a16="http://schemas.microsoft.com/office/drawing/2014/main" id="{8079C863-B9E8-C515-9788-558D94BF4B19}"/>
                  </a:ext>
                </a:extLst>
              </p:cNvPr>
              <p:cNvSpPr>
                <a:spLocks noChangeArrowheads="1"/>
              </p:cNvSpPr>
              <p:nvPr/>
            </p:nvSpPr>
            <p:spPr bwMode="auto">
              <a:xfrm>
                <a:off x="0" y="1101675"/>
                <a:ext cx="8953500" cy="2308324"/>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cs typeface="Times New Roman" panose="02020603050405020304" pitchFamily="18" charset="0"/>
                  </a:rPr>
                  <a:t>Να σχεδιάσετε το διάγραμμα αστερισμού για </a:t>
                </a:r>
                <a:r>
                  <a:rPr lang="el-GR" altLang="en-US" sz="2400" dirty="0" err="1">
                    <a:solidFill>
                      <a:schemeClr val="bg2"/>
                    </a:solidFill>
                    <a:latin typeface="Times New Roman" panose="02020603050405020304" pitchFamily="18" charset="0"/>
                    <a:cs typeface="Times New Roman" panose="02020603050405020304" pitchFamily="18" charset="0"/>
                  </a:rPr>
                  <a:t>οκταδική</a:t>
                </a:r>
                <a:r>
                  <a:rPr lang="el-GR" altLang="en-US" sz="2400" dirty="0">
                    <a:solidFill>
                      <a:schemeClr val="bg2"/>
                    </a:solidFill>
                    <a:latin typeface="Times New Roman" panose="02020603050405020304" pitchFamily="18" charset="0"/>
                    <a:cs typeface="Times New Roman" panose="02020603050405020304" pitchFamily="18" charset="0"/>
                  </a:rPr>
                  <a:t> διαμόρφωση ASK με διπολικό διαμορφώνων σήμα και φέρον της μορφής </a:t>
                </a:r>
                <a14:m>
                  <m:oMath xmlns:m="http://schemas.openxmlformats.org/officeDocument/2006/math">
                    <m:r>
                      <m:rPr>
                        <m:sty m:val="p"/>
                      </m:rPr>
                      <a:rPr lang="el-GR" altLang="en-US" sz="2400" i="0" dirty="0" smtClean="0">
                        <a:solidFill>
                          <a:schemeClr val="bg2"/>
                        </a:solidFill>
                        <a:latin typeface="Cambria Math" panose="02040503050406030204" pitchFamily="18" charset="0"/>
                        <a:cs typeface="Times New Roman" panose="02020603050405020304" pitchFamily="18" charset="0"/>
                      </a:rPr>
                      <m:t>cos</m:t>
                    </m:r>
                    <m:r>
                      <a:rPr lang="el-GR" altLang="en-US" sz="2400" b="0" i="1" dirty="0" smtClean="0">
                        <a:solidFill>
                          <a:schemeClr val="bg2"/>
                        </a:solidFill>
                        <a:latin typeface="Cambria Math" panose="02040503050406030204" pitchFamily="18" charset="0"/>
                        <a:cs typeface="Times New Roman" panose="02020603050405020304" pitchFamily="18" charset="0"/>
                      </a:rPr>
                      <m:t>⁡(</m:t>
                    </m:r>
                    <m:sSub>
                      <m:sSubPr>
                        <m:ctrlPr>
                          <a:rPr lang="en-US" altLang="en-US" sz="2400" b="0" i="1" dirty="0" smtClean="0">
                            <a:solidFill>
                              <a:schemeClr val="bg2"/>
                            </a:solidFill>
                            <a:latin typeface="Cambria Math" panose="02040503050406030204" pitchFamily="18" charset="0"/>
                            <a:cs typeface="Times New Roman" panose="02020603050405020304" pitchFamily="18" charset="0"/>
                          </a:rPr>
                        </m:ctrlPr>
                      </m:sSubPr>
                      <m:e>
                        <m:r>
                          <a:rPr lang="el-GR" altLang="en-US" sz="2400" i="1" dirty="0" smtClean="0">
                            <a:solidFill>
                              <a:schemeClr val="bg2"/>
                            </a:solidFill>
                            <a:latin typeface="Cambria Math" panose="02040503050406030204" pitchFamily="18" charset="0"/>
                            <a:cs typeface="Times New Roman" panose="02020603050405020304" pitchFamily="18" charset="0"/>
                          </a:rPr>
                          <m:t>𝜔</m:t>
                        </m:r>
                      </m:e>
                      <m:sub>
                        <m:r>
                          <a:rPr lang="el-GR" altLang="en-US" sz="2400" i="1" dirty="0" smtClean="0">
                            <a:solidFill>
                              <a:schemeClr val="bg2"/>
                            </a:solidFill>
                            <a:latin typeface="Cambria Math" panose="02040503050406030204" pitchFamily="18" charset="0"/>
                            <a:cs typeface="Times New Roman" panose="02020603050405020304" pitchFamily="18" charset="0"/>
                          </a:rPr>
                          <m:t>𝑐</m:t>
                        </m:r>
                      </m:sub>
                    </m:sSub>
                    <m:r>
                      <a:rPr lang="el-GR" altLang="en-US" sz="2400" i="1" dirty="0" smtClean="0">
                        <a:solidFill>
                          <a:schemeClr val="bg2"/>
                        </a:solidFill>
                        <a:latin typeface="Cambria Math" panose="02040503050406030204" pitchFamily="18" charset="0"/>
                        <a:cs typeface="Times New Roman" panose="02020603050405020304" pitchFamily="18" charset="0"/>
                      </a:rPr>
                      <m:t>𝑡</m:t>
                    </m:r>
                    <m:r>
                      <a:rPr lang="el-GR" altLang="en-US" sz="2400" i="1" dirty="0" smtClean="0">
                        <a:solidFill>
                          <a:schemeClr val="bg2"/>
                        </a:solidFill>
                        <a:latin typeface="Cambria Math" panose="02040503050406030204" pitchFamily="18" charset="0"/>
                        <a:cs typeface="Times New Roman" panose="02020603050405020304" pitchFamily="18" charset="0"/>
                      </a:rPr>
                      <m:t> + </m:t>
                    </m:r>
                    <m:sSup>
                      <m:sSupPr>
                        <m:ctrlPr>
                          <a:rPr lang="el-GR" altLang="en-US" sz="2400" b="0" i="1" dirty="0" smtClean="0">
                            <a:solidFill>
                              <a:schemeClr val="bg2"/>
                            </a:solidFill>
                            <a:latin typeface="Cambria Math" panose="02040503050406030204" pitchFamily="18" charset="0"/>
                            <a:cs typeface="Times New Roman" panose="02020603050405020304" pitchFamily="18" charset="0"/>
                          </a:rPr>
                        </m:ctrlPr>
                      </m:sSupPr>
                      <m:e>
                        <m:r>
                          <a:rPr lang="el-GR" altLang="en-US" sz="2400" i="1" dirty="0" smtClean="0">
                            <a:solidFill>
                              <a:schemeClr val="bg2"/>
                            </a:solidFill>
                            <a:latin typeface="Cambria Math" panose="02040503050406030204" pitchFamily="18" charset="0"/>
                            <a:cs typeface="Times New Roman" panose="02020603050405020304" pitchFamily="18" charset="0"/>
                          </a:rPr>
                          <m:t>45</m:t>
                        </m:r>
                      </m:e>
                      <m:sup>
                        <m:r>
                          <a:rPr lang="el-GR" altLang="en-US" sz="2400" i="1" dirty="0" smtClean="0">
                            <a:solidFill>
                              <a:schemeClr val="bg2"/>
                            </a:solidFill>
                            <a:latin typeface="Cambria Math" panose="02040503050406030204" pitchFamily="18" charset="0"/>
                            <a:cs typeface="Times New Roman" panose="02020603050405020304" pitchFamily="18" charset="0"/>
                          </a:rPr>
                          <m:t>𝜊</m:t>
                        </m:r>
                      </m:sup>
                    </m:sSup>
                    <m:r>
                      <a:rPr lang="el-GR" altLang="en-US" sz="2400" b="0" i="1" dirty="0" smtClean="0">
                        <a:solidFill>
                          <a:schemeClr val="bg2"/>
                        </a:solidFill>
                        <a:latin typeface="Cambria Math" panose="02040503050406030204" pitchFamily="18" charset="0"/>
                        <a:cs typeface="Times New Roman" panose="02020603050405020304" pitchFamily="18" charset="0"/>
                      </a:rPr>
                      <m:t>)</m:t>
                    </m:r>
                  </m:oMath>
                </a14:m>
                <a:r>
                  <a:rPr lang="el-GR" altLang="en-US" sz="2400" dirty="0">
                    <a:solidFill>
                      <a:schemeClr val="bg2"/>
                    </a:solidFill>
                    <a:latin typeface="Times New Roman" panose="02020603050405020304" pitchFamily="18" charset="0"/>
                    <a:cs typeface="Times New Roman" panose="02020603050405020304" pitchFamily="18" charset="0"/>
                  </a:rPr>
                  <a:t>. Ποια θα είναι η έξοδος ενός ασύμφωνου </a:t>
                </a:r>
                <a:r>
                  <a:rPr lang="el-GR" altLang="en-US" sz="2400" dirty="0" err="1">
                    <a:solidFill>
                      <a:schemeClr val="bg2"/>
                    </a:solidFill>
                    <a:latin typeface="Times New Roman" panose="02020603050405020304" pitchFamily="18" charset="0"/>
                    <a:cs typeface="Times New Roman" panose="02020603050405020304" pitchFamily="18" charset="0"/>
                  </a:rPr>
                  <a:t>αποδιαμορφωτή</a:t>
                </a:r>
                <a:r>
                  <a:rPr lang="el-GR" altLang="en-US" sz="2400" dirty="0">
                    <a:solidFill>
                      <a:schemeClr val="bg2"/>
                    </a:solidFill>
                    <a:latin typeface="Times New Roman" panose="02020603050405020304" pitchFamily="18" charset="0"/>
                    <a:cs typeface="Times New Roman" panose="02020603050405020304" pitchFamily="18" charset="0"/>
                  </a:rPr>
                  <a:t> για αυτή τη διαμόρφωση;</a:t>
                </a:r>
                <a:endParaRPr lang="el-GR" altLang="en-US" sz="800" dirty="0">
                  <a:solidFill>
                    <a:schemeClr val="bg2"/>
                  </a:solidFill>
                  <a:latin typeface="Times New Roman" panose="02020603050405020304" pitchFamily="18" charset="0"/>
                </a:endParaRPr>
              </a:p>
            </p:txBody>
          </p:sp>
        </mc:Choice>
        <mc:Fallback xmlns="">
          <p:sp>
            <p:nvSpPr>
              <p:cNvPr id="18434" name="Rectangle 2">
                <a:extLst>
                  <a:ext uri="{FF2B5EF4-FFF2-40B4-BE49-F238E27FC236}">
                    <a16:creationId xmlns:a16="http://schemas.microsoft.com/office/drawing/2014/main" id="{8079C863-B9E8-C515-9788-558D94BF4B19}"/>
                  </a:ext>
                </a:extLst>
              </p:cNvPr>
              <p:cNvSpPr>
                <a:spLocks noRot="1" noChangeAspect="1" noMove="1" noResize="1" noEditPoints="1" noAdjustHandles="1" noChangeArrowheads="1" noChangeShapeType="1" noTextEdit="1"/>
              </p:cNvSpPr>
              <p:nvPr/>
            </p:nvSpPr>
            <p:spPr bwMode="auto">
              <a:xfrm>
                <a:off x="0" y="1101675"/>
                <a:ext cx="8953500" cy="2308324"/>
              </a:xfrm>
              <a:prstGeom prst="rect">
                <a:avLst/>
              </a:prstGeom>
              <a:blipFill>
                <a:blip r:embed="rId2"/>
                <a:stretch>
                  <a:fillRect l="-1021" t="-1587" b="-58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spTree>
    <p:extLst>
      <p:ext uri="{BB962C8B-B14F-4D97-AF65-F5344CB8AC3E}">
        <p14:creationId xmlns:p14="http://schemas.microsoft.com/office/powerpoint/2010/main" val="16126939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63CA7-DE8F-A4FB-58C9-B8B9AEC06BA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34" name="Rectangle 2">
                <a:extLst>
                  <a:ext uri="{FF2B5EF4-FFF2-40B4-BE49-F238E27FC236}">
                    <a16:creationId xmlns:a16="http://schemas.microsoft.com/office/drawing/2014/main" id="{A1269917-46D4-04E5-E7AB-C3AB4809E9FD}"/>
                  </a:ext>
                </a:extLst>
              </p:cNvPr>
              <p:cNvSpPr>
                <a:spLocks noChangeArrowheads="1"/>
              </p:cNvSpPr>
              <p:nvPr/>
            </p:nvSpPr>
            <p:spPr bwMode="auto">
              <a:xfrm>
                <a:off x="0" y="732343"/>
                <a:ext cx="8953500" cy="3046988"/>
              </a:xfrm>
              <a:prstGeom prst="rect">
                <a:avLst/>
              </a:prstGeom>
              <a:noFill/>
              <a:ln>
                <a:noFill/>
              </a:ln>
              <a:effectLst/>
              <a:extLst>
                <a:ext uri="{909E8E84-426E-40DD-AFC4-6F175D3DCCD1}">
                  <a14:hiddenFill>
                    <a:solidFill>
                      <a:schemeClr val="accent1"/>
                    </a:solidFill>
                  </a14:hiddenFill>
                </a:ext>
                <a:ext uri="{91240B29-F687-4F45-9708-019B960494DF}">
                  <a14:hiddenLine w="6350">
                    <a:solidFill>
                      <a:srgbClr val="000000"/>
                    </a:solidFill>
                    <a:miter lim="800000"/>
                    <a:headEnd type="none" w="sm" len="sm"/>
                    <a:tailEnd type="none" w="med" len="lg"/>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1400">
                    <a:solidFill>
                      <a:srgbClr val="000000"/>
                    </a:solidFill>
                    <a:latin typeface="Helvetica" panose="020B0604020202020204" pitchFamily="34" charset="0"/>
                  </a:defRPr>
                </a:lvl1pPr>
                <a:lvl2pPr marL="742950" indent="-285750">
                  <a:defRPr sz="1400">
                    <a:solidFill>
                      <a:srgbClr val="000000"/>
                    </a:solidFill>
                    <a:latin typeface="Helvetica" panose="020B0604020202020204" pitchFamily="34" charset="0"/>
                  </a:defRPr>
                </a:lvl2pPr>
                <a:lvl3pPr marL="1143000" indent="-228600">
                  <a:defRPr sz="1400">
                    <a:solidFill>
                      <a:srgbClr val="000000"/>
                    </a:solidFill>
                    <a:latin typeface="Helvetica" panose="020B0604020202020204" pitchFamily="34" charset="0"/>
                  </a:defRPr>
                </a:lvl3pPr>
                <a:lvl4pPr marL="1600200" indent="-228600">
                  <a:defRPr sz="1400">
                    <a:solidFill>
                      <a:srgbClr val="000000"/>
                    </a:solidFill>
                    <a:latin typeface="Helvetica" panose="020B0604020202020204" pitchFamily="34" charset="0"/>
                  </a:defRPr>
                </a:lvl4pPr>
                <a:lvl5pPr marL="2057400" indent="-228600">
                  <a:defRPr sz="1400">
                    <a:solidFill>
                      <a:srgbClr val="000000"/>
                    </a:solidFill>
                    <a:latin typeface="Helvetica" panose="020B0604020202020204" pitchFamily="34" charset="0"/>
                  </a:defRPr>
                </a:lvl5pPr>
                <a:lvl6pPr marL="2514600" indent="-228600" eaLnBrk="0" fontAlgn="base" hangingPunct="0">
                  <a:spcBef>
                    <a:spcPct val="0"/>
                  </a:spcBef>
                  <a:spcAft>
                    <a:spcPct val="0"/>
                  </a:spcAft>
                  <a:defRPr sz="1400">
                    <a:solidFill>
                      <a:srgbClr val="000000"/>
                    </a:solidFill>
                    <a:latin typeface="Helvetica" panose="020B0604020202020204" pitchFamily="34" charset="0"/>
                  </a:defRPr>
                </a:lvl6pPr>
                <a:lvl7pPr marL="2971800" indent="-228600" eaLnBrk="0" fontAlgn="base" hangingPunct="0">
                  <a:spcBef>
                    <a:spcPct val="0"/>
                  </a:spcBef>
                  <a:spcAft>
                    <a:spcPct val="0"/>
                  </a:spcAft>
                  <a:defRPr sz="1400">
                    <a:solidFill>
                      <a:srgbClr val="000000"/>
                    </a:solidFill>
                    <a:latin typeface="Helvetica" panose="020B0604020202020204" pitchFamily="34" charset="0"/>
                  </a:defRPr>
                </a:lvl7pPr>
                <a:lvl8pPr marL="3429000" indent="-228600" eaLnBrk="0" fontAlgn="base" hangingPunct="0">
                  <a:spcBef>
                    <a:spcPct val="0"/>
                  </a:spcBef>
                  <a:spcAft>
                    <a:spcPct val="0"/>
                  </a:spcAft>
                  <a:defRPr sz="1400">
                    <a:solidFill>
                      <a:srgbClr val="000000"/>
                    </a:solidFill>
                    <a:latin typeface="Helvetica" panose="020B0604020202020204" pitchFamily="34" charset="0"/>
                  </a:defRPr>
                </a:lvl8pPr>
                <a:lvl9pPr marL="3886200" indent="-228600" eaLnBrk="0" fontAlgn="base" hangingPunct="0">
                  <a:spcBef>
                    <a:spcPct val="0"/>
                  </a:spcBef>
                  <a:spcAft>
                    <a:spcPct val="0"/>
                  </a:spcAft>
                  <a:defRPr sz="1400">
                    <a:solidFill>
                      <a:srgbClr val="000000"/>
                    </a:solidFill>
                    <a:latin typeface="Helvetica" panose="020B0604020202020204" pitchFamily="34" charset="0"/>
                  </a:defRPr>
                </a:lvl9pPr>
              </a:lstStyle>
              <a:p>
                <a:r>
                  <a:rPr lang="el-GR" altLang="en-US" sz="2400" b="1" dirty="0">
                    <a:solidFill>
                      <a:schemeClr val="bg2"/>
                    </a:solidFill>
                    <a:latin typeface="Times New Roman" panose="02020603050405020304" pitchFamily="18" charset="0"/>
                    <a:cs typeface="Times New Roman" panose="02020603050405020304" pitchFamily="18" charset="0"/>
                  </a:rPr>
                  <a:t>ΠΑΡΑΔΕΙΓΜΑ</a:t>
                </a:r>
                <a:endParaRPr lang="el-GR" altLang="en-US" sz="2400" dirty="0">
                  <a:solidFill>
                    <a:schemeClr val="bg2"/>
                  </a:solidFill>
                  <a:latin typeface="Times New Roman" panose="02020603050405020304" pitchFamily="18" charset="0"/>
                </a:endParaRPr>
              </a:p>
              <a:p>
                <a:endParaRPr lang="el-GR" altLang="en-US" sz="2400" dirty="0">
                  <a:solidFill>
                    <a:schemeClr val="bg2"/>
                  </a:solidFill>
                  <a:latin typeface="Times New Roman" panose="02020603050405020304" pitchFamily="18" charset="0"/>
                </a:endParaRPr>
              </a:p>
              <a:p>
                <a:r>
                  <a:rPr lang="el-GR" altLang="en-US" sz="2400" dirty="0">
                    <a:solidFill>
                      <a:schemeClr val="bg2"/>
                    </a:solidFill>
                    <a:latin typeface="Times New Roman" panose="02020603050405020304" pitchFamily="18" charset="0"/>
                  </a:rPr>
                  <a:t>Ένα </a:t>
                </a:r>
                <a:r>
                  <a:rPr lang="el-GR" altLang="en-US" sz="2400" dirty="0" err="1">
                    <a:solidFill>
                      <a:schemeClr val="bg2"/>
                    </a:solidFill>
                    <a:latin typeface="Times New Roman" panose="02020603050405020304" pitchFamily="18" charset="0"/>
                  </a:rPr>
                  <a:t>modem</a:t>
                </a:r>
                <a:r>
                  <a:rPr lang="el-GR" altLang="en-US" sz="2400" dirty="0">
                    <a:solidFill>
                      <a:schemeClr val="bg2"/>
                    </a:solidFill>
                    <a:latin typeface="Times New Roman" panose="02020603050405020304" pitchFamily="18" charset="0"/>
                  </a:rPr>
                  <a:t> δυαδικής διαμόρφωσης ASK χρησιμοποιεί ασύμφωνη ανίχνευση. (α) Με βάση τις καμπύλες πιθανότητας εμφάνισης εσφαλμένων </a:t>
                </a:r>
                <a:r>
                  <a:rPr lang="el-GR" altLang="en-US" sz="2400" dirty="0" err="1">
                    <a:solidFill>
                      <a:schemeClr val="bg2"/>
                    </a:solidFill>
                    <a:latin typeface="Times New Roman" panose="02020603050405020304" pitchFamily="18" charset="0"/>
                  </a:rPr>
                  <a:t>bit</a:t>
                </a:r>
                <a:r>
                  <a:rPr lang="el-GR" altLang="en-US" sz="2400" dirty="0">
                    <a:solidFill>
                      <a:schemeClr val="bg2"/>
                    </a:solidFill>
                    <a:latin typeface="Times New Roman" panose="02020603050405020304" pitchFamily="18" charset="0"/>
                  </a:rPr>
                  <a:t> να προσδιορίσετε την τιμή που πρέπει να έχει ο λόγος </a:t>
                </a:r>
                <a14:m>
                  <m:oMath xmlns:m="http://schemas.openxmlformats.org/officeDocument/2006/math">
                    <m:r>
                      <a:rPr lang="el-GR" altLang="en-US" sz="2400" i="1" dirty="0" smtClean="0">
                        <a:solidFill>
                          <a:schemeClr val="bg2"/>
                        </a:solidFill>
                        <a:latin typeface="Cambria Math" panose="02040503050406030204" pitchFamily="18" charset="0"/>
                      </a:rPr>
                      <m:t>𝐸𝑏</m:t>
                    </m:r>
                    <m:r>
                      <a:rPr lang="el-GR" altLang="en-US" sz="2400" i="1" dirty="0" smtClean="0">
                        <a:solidFill>
                          <a:schemeClr val="bg2"/>
                        </a:solidFill>
                        <a:latin typeface="Cambria Math" panose="02040503050406030204" pitchFamily="18" charset="0"/>
                      </a:rPr>
                      <m:t>/</m:t>
                    </m:r>
                    <m:sSub>
                      <m:sSubPr>
                        <m:ctrlPr>
                          <a:rPr lang="el-GR" altLang="en-US" sz="2400" b="0" i="1" dirty="0" smtClean="0">
                            <a:solidFill>
                              <a:schemeClr val="bg2"/>
                            </a:solidFill>
                            <a:latin typeface="Cambria Math" panose="02040503050406030204" pitchFamily="18" charset="0"/>
                          </a:rPr>
                        </m:ctrlPr>
                      </m:sSubPr>
                      <m:e>
                        <m:r>
                          <a:rPr lang="el-GR" altLang="en-US" sz="2400" i="1" dirty="0" smtClean="0">
                            <a:solidFill>
                              <a:schemeClr val="bg2"/>
                            </a:solidFill>
                            <a:latin typeface="Cambria Math" panose="02040503050406030204" pitchFamily="18" charset="0"/>
                          </a:rPr>
                          <m:t>𝑁</m:t>
                        </m:r>
                      </m:e>
                      <m:sub>
                        <m:r>
                          <a:rPr lang="el-GR" altLang="en-US" sz="2400" i="1" dirty="0" smtClean="0">
                            <a:solidFill>
                              <a:schemeClr val="bg2"/>
                            </a:solidFill>
                            <a:latin typeface="Cambria Math" panose="02040503050406030204" pitchFamily="18" charset="0"/>
                          </a:rPr>
                          <m:t>0</m:t>
                        </m:r>
                      </m:sub>
                    </m:sSub>
                  </m:oMath>
                </a14:m>
                <a:r>
                  <a:rPr lang="el-GR" altLang="en-US" sz="2400" dirty="0">
                    <a:solidFill>
                      <a:schemeClr val="bg2"/>
                    </a:solidFill>
                    <a:latin typeface="Times New Roman" panose="02020603050405020304" pitchFamily="18" charset="0"/>
                  </a:rPr>
                  <a:t>, ώστε να επιτευχθεί πιθανότητα σφάλματος μικρότερη από 1 προς </a:t>
                </a:r>
                <a14:m>
                  <m:oMath xmlns:m="http://schemas.openxmlformats.org/officeDocument/2006/math">
                    <m:sSup>
                      <m:sSupPr>
                        <m:ctrlPr>
                          <a:rPr lang="el-GR" altLang="en-US" sz="2400" i="1" dirty="0" smtClean="0">
                            <a:solidFill>
                              <a:schemeClr val="bg2"/>
                            </a:solidFill>
                            <a:latin typeface="Cambria Math" panose="02040503050406030204" pitchFamily="18" charset="0"/>
                          </a:rPr>
                        </m:ctrlPr>
                      </m:sSupPr>
                      <m:e>
                        <m:r>
                          <a:rPr lang="el-GR" altLang="en-US" sz="2400" i="1" dirty="0" smtClean="0">
                            <a:solidFill>
                              <a:schemeClr val="bg2"/>
                            </a:solidFill>
                            <a:latin typeface="Cambria Math" panose="02040503050406030204" pitchFamily="18" charset="0"/>
                          </a:rPr>
                          <m:t>10</m:t>
                        </m:r>
                      </m:e>
                      <m:sup>
                        <m:r>
                          <a:rPr lang="el-GR" altLang="en-US" sz="2400" i="1" dirty="0" smtClean="0">
                            <a:solidFill>
                              <a:schemeClr val="bg2"/>
                            </a:solidFill>
                            <a:latin typeface="Cambria Math" panose="02040503050406030204" pitchFamily="18" charset="0"/>
                          </a:rPr>
                          <m:t>2</m:t>
                        </m:r>
                      </m:sup>
                    </m:sSup>
                  </m:oMath>
                </a14:m>
                <a:r>
                  <a:rPr lang="el-GR" altLang="en-US" sz="2400" dirty="0">
                    <a:solidFill>
                      <a:schemeClr val="bg2"/>
                    </a:solidFill>
                    <a:latin typeface="Times New Roman" panose="02020603050405020304" pitchFamily="18" charset="0"/>
                  </a:rPr>
                  <a:t>. (β) Ποια είναι η ισοδύναμη απόδοση ενός συστήματος σύμφωνης διαμόρφωσης ASK για αυτήν την τιμή του λόγου </a:t>
                </a:r>
                <a14:m>
                  <m:oMath xmlns:m="http://schemas.openxmlformats.org/officeDocument/2006/math">
                    <m:r>
                      <a:rPr lang="el-GR" altLang="en-US" sz="2400" i="1" dirty="0" smtClean="0">
                        <a:solidFill>
                          <a:schemeClr val="bg2"/>
                        </a:solidFill>
                        <a:latin typeface="Cambria Math" panose="02040503050406030204" pitchFamily="18" charset="0"/>
                      </a:rPr>
                      <m:t>𝐸𝑏</m:t>
                    </m:r>
                    <m:r>
                      <a:rPr lang="el-GR" altLang="en-US" sz="2400" i="1" dirty="0" smtClean="0">
                        <a:solidFill>
                          <a:schemeClr val="bg2"/>
                        </a:solidFill>
                        <a:latin typeface="Cambria Math" panose="02040503050406030204" pitchFamily="18" charset="0"/>
                      </a:rPr>
                      <m:t>/</m:t>
                    </m:r>
                    <m:sSub>
                      <m:sSubPr>
                        <m:ctrlPr>
                          <a:rPr lang="el-GR" altLang="en-US" sz="2400" b="0" i="1" dirty="0" smtClean="0">
                            <a:solidFill>
                              <a:schemeClr val="bg2"/>
                            </a:solidFill>
                            <a:latin typeface="Cambria Math" panose="02040503050406030204" pitchFamily="18" charset="0"/>
                          </a:rPr>
                        </m:ctrlPr>
                      </m:sSubPr>
                      <m:e>
                        <m:r>
                          <a:rPr lang="el-GR" altLang="en-US" sz="2400" i="1" dirty="0" smtClean="0">
                            <a:solidFill>
                              <a:schemeClr val="bg2"/>
                            </a:solidFill>
                            <a:latin typeface="Cambria Math" panose="02040503050406030204" pitchFamily="18" charset="0"/>
                          </a:rPr>
                          <m:t>𝑁</m:t>
                        </m:r>
                      </m:e>
                      <m:sub>
                        <m:r>
                          <a:rPr lang="el-GR" altLang="en-US" sz="2400" i="1" dirty="0" smtClean="0">
                            <a:solidFill>
                              <a:schemeClr val="bg2"/>
                            </a:solidFill>
                            <a:latin typeface="Cambria Math" panose="02040503050406030204" pitchFamily="18" charset="0"/>
                          </a:rPr>
                          <m:t>0</m:t>
                        </m:r>
                      </m:sub>
                    </m:sSub>
                  </m:oMath>
                </a14:m>
                <a:r>
                  <a:rPr lang="el-GR" altLang="en-US" sz="2400" dirty="0">
                    <a:solidFill>
                      <a:schemeClr val="bg2"/>
                    </a:solidFill>
                    <a:latin typeface="Times New Roman" panose="02020603050405020304" pitchFamily="18" charset="0"/>
                  </a:rPr>
                  <a:t>;</a:t>
                </a:r>
              </a:p>
            </p:txBody>
          </p:sp>
        </mc:Choice>
        <mc:Fallback xmlns="">
          <p:sp>
            <p:nvSpPr>
              <p:cNvPr id="18434" name="Rectangle 2">
                <a:extLst>
                  <a:ext uri="{FF2B5EF4-FFF2-40B4-BE49-F238E27FC236}">
                    <a16:creationId xmlns:a16="http://schemas.microsoft.com/office/drawing/2014/main" id="{A1269917-46D4-04E5-E7AB-C3AB4809E9FD}"/>
                  </a:ext>
                </a:extLst>
              </p:cNvPr>
              <p:cNvSpPr>
                <a:spLocks noRot="1" noChangeAspect="1" noMove="1" noResize="1" noEditPoints="1" noAdjustHandles="1" noChangeArrowheads="1" noChangeShapeType="1" noTextEdit="1"/>
              </p:cNvSpPr>
              <p:nvPr/>
            </p:nvSpPr>
            <p:spPr bwMode="auto">
              <a:xfrm>
                <a:off x="0" y="732343"/>
                <a:ext cx="8953500" cy="3046988"/>
              </a:xfrm>
              <a:prstGeom prst="rect">
                <a:avLst/>
              </a:prstGeom>
              <a:blipFill>
                <a:blip r:embed="rId2"/>
                <a:stretch>
                  <a:fillRect l="-1021" t="-1000" r="-204" b="-42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l-GR">
                    <a:noFill/>
                  </a:rPr>
                  <a:t> </a:t>
                </a:r>
              </a:p>
            </p:txBody>
          </p:sp>
        </mc:Fallback>
      </mc:AlternateContent>
      <p:pic>
        <p:nvPicPr>
          <p:cNvPr id="3" name="Εικόνα 2">
            <a:extLst>
              <a:ext uri="{FF2B5EF4-FFF2-40B4-BE49-F238E27FC236}">
                <a16:creationId xmlns:a16="http://schemas.microsoft.com/office/drawing/2014/main" id="{4EEF4B07-B0AA-C825-3AB1-969142B1793B}"/>
              </a:ext>
            </a:extLst>
          </p:cNvPr>
          <p:cNvPicPr>
            <a:picLocks noChangeAspect="1"/>
          </p:cNvPicPr>
          <p:nvPr/>
        </p:nvPicPr>
        <p:blipFill>
          <a:blip r:embed="rId3"/>
          <a:stretch>
            <a:fillRect/>
          </a:stretch>
        </p:blipFill>
        <p:spPr>
          <a:xfrm>
            <a:off x="5097780" y="3930748"/>
            <a:ext cx="3387292" cy="2919311"/>
          </a:xfrm>
          <a:prstGeom prst="rect">
            <a:avLst/>
          </a:prstGeom>
        </p:spPr>
      </p:pic>
    </p:spTree>
    <p:extLst>
      <p:ext uri="{BB962C8B-B14F-4D97-AF65-F5344CB8AC3E}">
        <p14:creationId xmlns:p14="http://schemas.microsoft.com/office/powerpoint/2010/main" val="2732090283"/>
      </p:ext>
    </p:extLst>
  </p:cSld>
  <p:clrMapOvr>
    <a:masterClrMapping/>
  </p:clrMapOvr>
</p:sld>
</file>

<file path=ppt/theme/theme1.xml><?xml version="1.0" encoding="utf-8"?>
<a:theme xmlns:a="http://schemas.openxmlformats.org/drawingml/2006/main" name="ti">
  <a:themeElements>
    <a:clrScheme name="">
      <a:dk1>
        <a:srgbClr val="FFFFFF"/>
      </a:dk1>
      <a:lt1>
        <a:srgbClr val="FFFFFF"/>
      </a:lt1>
      <a:dk2>
        <a:srgbClr val="FFFF00"/>
      </a:dk2>
      <a:lt2>
        <a:srgbClr val="081D58"/>
      </a:lt2>
      <a:accent1>
        <a:srgbClr val="FF8000"/>
      </a:accent1>
      <a:accent2>
        <a:srgbClr val="00FF00"/>
      </a:accent2>
      <a:accent3>
        <a:srgbClr val="FFFFFF"/>
      </a:accent3>
      <a:accent4>
        <a:srgbClr val="DADADA"/>
      </a:accent4>
      <a:accent5>
        <a:srgbClr val="FFC0AA"/>
      </a:accent5>
      <a:accent6>
        <a:srgbClr val="00E700"/>
      </a:accent6>
      <a:hlink>
        <a:srgbClr val="FF0000"/>
      </a:hlink>
      <a:folHlink>
        <a:srgbClr val="8080FF"/>
      </a:folHlink>
    </a:clrScheme>
    <a:fontScheme name="t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6350" cap="flat" cmpd="sng" algn="ctr">
          <a:solidFill>
            <a:srgbClr val="000000"/>
          </a:solidFill>
          <a:prstDash val="solid"/>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rgbClr val="000000"/>
            </a:solidFill>
            <a:effectLst/>
            <a:latin typeface="Helvetica" charset="-95"/>
          </a:defRPr>
        </a:defPPr>
      </a:lstStyle>
    </a:spDef>
    <a:lnDef>
      <a:spPr bwMode="auto">
        <a:xfrm>
          <a:off x="0" y="0"/>
          <a:ext cx="1" cy="1"/>
        </a:xfrm>
        <a:custGeom>
          <a:avLst/>
          <a:gdLst/>
          <a:ahLst/>
          <a:cxnLst/>
          <a:rect l="0" t="0" r="0" b="0"/>
          <a:pathLst/>
        </a:custGeom>
        <a:noFill/>
        <a:ln w="6350" cap="flat" cmpd="sng" algn="ctr">
          <a:solidFill>
            <a:srgbClr val="000000"/>
          </a:solidFill>
          <a:prstDash val="solid"/>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rgbClr val="000000"/>
            </a:solidFill>
            <a:effectLst/>
            <a:latin typeface="Helvetica" charset="-95"/>
          </a:defRPr>
        </a:defPPr>
      </a:lstStyle>
    </a:lnDef>
  </a:objectDefaults>
  <a:extraClrSchemeLst>
    <a:extraClrScheme>
      <a:clrScheme name="ti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i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i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i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i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i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d:\msoffice\powerpnt\template\clrovrhd\ti.ppt</Template>
  <TotalTime>1066</TotalTime>
  <Pages>14</Pages>
  <Words>3079</Words>
  <Application>Microsoft Office PowerPoint</Application>
  <PresentationFormat>Προσαρμογή</PresentationFormat>
  <Paragraphs>302</Paragraphs>
  <Slides>42</Slides>
  <Notes>9</Notes>
  <HiddenSlides>0</HiddenSlides>
  <MMClips>0</MMClips>
  <ScaleCrop>false</ScaleCrop>
  <HeadingPairs>
    <vt:vector size="8" baseType="variant">
      <vt:variant>
        <vt:lpstr>Γραμματοσειρές που χρησιμοποιούνται</vt:lpstr>
      </vt:variant>
      <vt:variant>
        <vt:i4>6</vt:i4>
      </vt:variant>
      <vt:variant>
        <vt:lpstr>Θέμα</vt:lpstr>
      </vt:variant>
      <vt:variant>
        <vt:i4>1</vt:i4>
      </vt:variant>
      <vt:variant>
        <vt:lpstr>Ενσωματωμένοι διακομιστές OLE</vt:lpstr>
      </vt:variant>
      <vt:variant>
        <vt:i4>1</vt:i4>
      </vt:variant>
      <vt:variant>
        <vt:lpstr>Τίτλοι διαφανειών</vt:lpstr>
      </vt:variant>
      <vt:variant>
        <vt:i4>42</vt:i4>
      </vt:variant>
    </vt:vector>
  </HeadingPairs>
  <TitlesOfParts>
    <vt:vector size="50" baseType="lpstr">
      <vt:lpstr>Arial</vt:lpstr>
      <vt:lpstr>Book Antiqua</vt:lpstr>
      <vt:lpstr>Cambria Math</vt:lpstr>
      <vt:lpstr>Helvetica</vt:lpstr>
      <vt:lpstr>Monotype Sorts</vt:lpstr>
      <vt:lpstr>Times New Roman</vt:lpstr>
      <vt:lpstr>ti</vt:lpstr>
      <vt:lpstr>Equation</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DSP?</dc:title>
  <dc:subject/>
  <dc:creator>m b akhan</dc:creator>
  <cp:keywords/>
  <dc:description/>
  <cp:lastModifiedBy>Nikos Piperigkos</cp:lastModifiedBy>
  <cp:revision>296</cp:revision>
  <cp:lastPrinted>1998-03-17T19:32:38Z</cp:lastPrinted>
  <dcterms:created xsi:type="dcterms:W3CDTF">1995-10-24T16:03:36Z</dcterms:created>
  <dcterms:modified xsi:type="dcterms:W3CDTF">2024-12-11T11:44:04Z</dcterms:modified>
</cp:coreProperties>
</file>
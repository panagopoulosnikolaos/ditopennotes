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3"/>
  </p:notesMasterIdLst>
  <p:handoutMasterIdLst>
    <p:handoutMasterId r:id="rId24"/>
  </p:handoutMasterIdLst>
  <p:sldIdLst>
    <p:sldId id="337" r:id="rId2"/>
    <p:sldId id="338" r:id="rId3"/>
    <p:sldId id="340" r:id="rId4"/>
    <p:sldId id="339" r:id="rId5"/>
    <p:sldId id="352" r:id="rId6"/>
    <p:sldId id="358" r:id="rId7"/>
    <p:sldId id="342" r:id="rId8"/>
    <p:sldId id="341" r:id="rId9"/>
    <p:sldId id="357" r:id="rId10"/>
    <p:sldId id="343" r:id="rId11"/>
    <p:sldId id="344" r:id="rId12"/>
    <p:sldId id="351" r:id="rId13"/>
    <p:sldId id="346" r:id="rId14"/>
    <p:sldId id="347" r:id="rId15"/>
    <p:sldId id="348" r:id="rId16"/>
    <p:sldId id="349" r:id="rId17"/>
    <p:sldId id="350" r:id="rId18"/>
    <p:sldId id="353" r:id="rId19"/>
    <p:sldId id="354" r:id="rId20"/>
    <p:sldId id="355" r:id="rId21"/>
    <p:sldId id="356" r:id="rId22"/>
  </p:sldIdLst>
  <p:sldSz cx="8953500" cy="7239000"/>
  <p:notesSz cx="6985000" cy="9282113"/>
  <p:defaultTextStyle>
    <a:defPPr>
      <a:defRPr lang="en-US"/>
    </a:defPPr>
    <a:lvl1pPr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1pPr>
    <a:lvl2pPr marL="457200"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2pPr>
    <a:lvl3pPr marL="914400"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3pPr>
    <a:lvl4pPr marL="1371600"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4pPr>
    <a:lvl5pPr marL="1828800"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5pPr>
    <a:lvl6pPr marL="2286000" algn="l" defTabSz="914400" rtl="0" eaLnBrk="1" latinLnBrk="0" hangingPunct="1">
      <a:defRPr sz="1400" kern="1200">
        <a:solidFill>
          <a:srgbClr val="000000"/>
        </a:solidFill>
        <a:latin typeface="Helvetica" panose="020B0604020202020204" pitchFamily="34" charset="0"/>
        <a:ea typeface="+mn-ea"/>
        <a:cs typeface="+mn-cs"/>
      </a:defRPr>
    </a:lvl6pPr>
    <a:lvl7pPr marL="2743200" algn="l" defTabSz="914400" rtl="0" eaLnBrk="1" latinLnBrk="0" hangingPunct="1">
      <a:defRPr sz="1400" kern="1200">
        <a:solidFill>
          <a:srgbClr val="000000"/>
        </a:solidFill>
        <a:latin typeface="Helvetica" panose="020B0604020202020204" pitchFamily="34" charset="0"/>
        <a:ea typeface="+mn-ea"/>
        <a:cs typeface="+mn-cs"/>
      </a:defRPr>
    </a:lvl7pPr>
    <a:lvl8pPr marL="3200400" algn="l" defTabSz="914400" rtl="0" eaLnBrk="1" latinLnBrk="0" hangingPunct="1">
      <a:defRPr sz="1400" kern="1200">
        <a:solidFill>
          <a:srgbClr val="000000"/>
        </a:solidFill>
        <a:latin typeface="Helvetica" panose="020B0604020202020204" pitchFamily="34" charset="0"/>
        <a:ea typeface="+mn-ea"/>
        <a:cs typeface="+mn-cs"/>
      </a:defRPr>
    </a:lvl8pPr>
    <a:lvl9pPr marL="3657600" algn="l" defTabSz="914400" rtl="0" eaLnBrk="1" latinLnBrk="0" hangingPunct="1">
      <a:defRPr sz="1400" kern="1200">
        <a:solidFill>
          <a:srgbClr val="000000"/>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4511">
          <p15:clr>
            <a:srgbClr val="A4A3A4"/>
          </p15:clr>
        </p15:guide>
        <p15:guide id="2" pos="16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99"/>
    <a:srgbClr val="003399"/>
    <a:srgbClr val="EAEAEA"/>
    <a:srgbClr val="000000"/>
    <a:srgbClr val="FFFFFF"/>
    <a:srgbClr val="676767"/>
    <a:srgbClr val="CC3300"/>
    <a:srgbClr val="C9C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438AE5-336C-4CB7-A33B-C92169EF32BD}" v="278" dt="2024-11-14T11:28:15.6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40" autoAdjust="0"/>
    <p:restoredTop sz="82745" autoAdjust="0"/>
  </p:normalViewPr>
  <p:slideViewPr>
    <p:cSldViewPr snapToGrid="0">
      <p:cViewPr varScale="1">
        <p:scale>
          <a:sx n="64" d="100"/>
          <a:sy n="64" d="100"/>
        </p:scale>
        <p:origin x="2285" y="77"/>
      </p:cViewPr>
      <p:guideLst>
        <p:guide orient="horz" pos="4511"/>
        <p:guide pos="165"/>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os Piperigkos" userId="b361276a-3497-4fae-9245-3cd0ad5fb2cd" providerId="ADAL" clId="{1E438AE5-336C-4CB7-A33B-C92169EF32BD}"/>
    <pc:docChg chg="undo redo custSel addSld delSld modSld sldOrd">
      <pc:chgData name="Nikos Piperigkos" userId="b361276a-3497-4fae-9245-3cd0ad5fb2cd" providerId="ADAL" clId="{1E438AE5-336C-4CB7-A33B-C92169EF32BD}" dt="2024-11-14T11:31:11.031" v="1271" actId="113"/>
      <pc:docMkLst>
        <pc:docMk/>
      </pc:docMkLst>
      <pc:sldChg chg="modSp mod">
        <pc:chgData name="Nikos Piperigkos" userId="b361276a-3497-4fae-9245-3cd0ad5fb2cd" providerId="ADAL" clId="{1E438AE5-336C-4CB7-A33B-C92169EF32BD}" dt="2024-11-07T12:38:34.674" v="799"/>
        <pc:sldMkLst>
          <pc:docMk/>
          <pc:sldMk cId="0" sldId="339"/>
        </pc:sldMkLst>
        <pc:spChg chg="mod">
          <ac:chgData name="Nikos Piperigkos" userId="b361276a-3497-4fae-9245-3cd0ad5fb2cd" providerId="ADAL" clId="{1E438AE5-336C-4CB7-A33B-C92169EF32BD}" dt="2024-11-07T12:38:34.674" v="799"/>
          <ac:spMkLst>
            <pc:docMk/>
            <pc:sldMk cId="0" sldId="339"/>
            <ac:spMk id="7170" creationId="{00000000-0000-0000-0000-000000000000}"/>
          </ac:spMkLst>
        </pc:spChg>
        <pc:spChg chg="mod">
          <ac:chgData name="Nikos Piperigkos" userId="b361276a-3497-4fae-9245-3cd0ad5fb2cd" providerId="ADAL" clId="{1E438AE5-336C-4CB7-A33B-C92169EF32BD}" dt="2024-11-07T12:38:16.661" v="798" actId="113"/>
          <ac:spMkLst>
            <pc:docMk/>
            <pc:sldMk cId="0" sldId="339"/>
            <ac:spMk id="7171" creationId="{00000000-0000-0000-0000-000000000000}"/>
          </ac:spMkLst>
        </pc:spChg>
      </pc:sldChg>
      <pc:sldChg chg="modSp mod">
        <pc:chgData name="Nikos Piperigkos" userId="b361276a-3497-4fae-9245-3cd0ad5fb2cd" providerId="ADAL" clId="{1E438AE5-336C-4CB7-A33B-C92169EF32BD}" dt="2024-11-04T18:00:59.420" v="220" actId="20577"/>
        <pc:sldMkLst>
          <pc:docMk/>
          <pc:sldMk cId="0" sldId="340"/>
        </pc:sldMkLst>
        <pc:spChg chg="mod">
          <ac:chgData name="Nikos Piperigkos" userId="b361276a-3497-4fae-9245-3cd0ad5fb2cd" providerId="ADAL" clId="{1E438AE5-336C-4CB7-A33B-C92169EF32BD}" dt="2024-11-04T18:00:59.420" v="220" actId="20577"/>
          <ac:spMkLst>
            <pc:docMk/>
            <pc:sldMk cId="0" sldId="340"/>
            <ac:spMk id="6148" creationId="{00000000-0000-0000-0000-000000000000}"/>
          </ac:spMkLst>
        </pc:spChg>
      </pc:sldChg>
      <pc:sldChg chg="del">
        <pc:chgData name="Nikos Piperigkos" userId="b361276a-3497-4fae-9245-3cd0ad5fb2cd" providerId="ADAL" clId="{1E438AE5-336C-4CB7-A33B-C92169EF32BD}" dt="2024-11-04T16:53:24.233" v="0" actId="47"/>
        <pc:sldMkLst>
          <pc:docMk/>
          <pc:sldMk cId="0" sldId="345"/>
        </pc:sldMkLst>
      </pc:sldChg>
      <pc:sldChg chg="addSp delSp modSp mod modNotesTx">
        <pc:chgData name="Nikos Piperigkos" userId="b361276a-3497-4fae-9245-3cd0ad5fb2cd" providerId="ADAL" clId="{1E438AE5-336C-4CB7-A33B-C92169EF32BD}" dt="2024-11-07T12:54:34.503" v="813" actId="20577"/>
        <pc:sldMkLst>
          <pc:docMk/>
          <pc:sldMk cId="0" sldId="346"/>
        </pc:sldMkLst>
        <pc:graphicFrameChg chg="add del mod">
          <ac:chgData name="Nikos Piperigkos" userId="b361276a-3497-4fae-9245-3cd0ad5fb2cd" providerId="ADAL" clId="{1E438AE5-336C-4CB7-A33B-C92169EF32BD}" dt="2024-11-04T17:39:11.744" v="4" actId="21"/>
          <ac:graphicFrameMkLst>
            <pc:docMk/>
            <pc:sldMk cId="0" sldId="346"/>
            <ac:graphicFrameMk id="2" creationId="{00000000-0000-0000-0000-000000000000}"/>
          </ac:graphicFrameMkLst>
        </pc:graphicFrameChg>
        <pc:graphicFrameChg chg="add del mod">
          <ac:chgData name="Nikos Piperigkos" userId="b361276a-3497-4fae-9245-3cd0ad5fb2cd" providerId="ADAL" clId="{1E438AE5-336C-4CB7-A33B-C92169EF32BD}" dt="2024-11-04T17:41:12.755" v="8" actId="478"/>
          <ac:graphicFrameMkLst>
            <pc:docMk/>
            <pc:sldMk cId="0" sldId="346"/>
            <ac:graphicFrameMk id="4" creationId="{00000000-0000-0000-0000-000000000000}"/>
          </ac:graphicFrameMkLst>
        </pc:graphicFrameChg>
        <pc:graphicFrameChg chg="add del mod">
          <ac:chgData name="Nikos Piperigkos" userId="b361276a-3497-4fae-9245-3cd0ad5fb2cd" providerId="ADAL" clId="{1E438AE5-336C-4CB7-A33B-C92169EF32BD}" dt="2024-11-04T17:41:12.199" v="7" actId="478"/>
          <ac:graphicFrameMkLst>
            <pc:docMk/>
            <pc:sldMk cId="0" sldId="346"/>
            <ac:graphicFrameMk id="5" creationId="{00000000-0000-0000-0000-000000000000}"/>
          </ac:graphicFrameMkLst>
        </pc:graphicFrameChg>
        <pc:graphicFrameChg chg="del">
          <ac:chgData name="Nikos Piperigkos" userId="b361276a-3497-4fae-9245-3cd0ad5fb2cd" providerId="ADAL" clId="{1E438AE5-336C-4CB7-A33B-C92169EF32BD}" dt="2024-11-04T17:39:02.216" v="1" actId="21"/>
          <ac:graphicFrameMkLst>
            <pc:docMk/>
            <pc:sldMk cId="0" sldId="346"/>
            <ac:graphicFrameMk id="12292" creationId="{00000000-0000-0000-0000-000000000000}"/>
          </ac:graphicFrameMkLst>
        </pc:graphicFrameChg>
        <pc:graphicFrameChg chg="del">
          <ac:chgData name="Nikos Piperigkos" userId="b361276a-3497-4fae-9245-3cd0ad5fb2cd" providerId="ADAL" clId="{1E438AE5-336C-4CB7-A33B-C92169EF32BD}" dt="2024-11-04T17:39:02.216" v="1" actId="21"/>
          <ac:graphicFrameMkLst>
            <pc:docMk/>
            <pc:sldMk cId="0" sldId="346"/>
            <ac:graphicFrameMk id="12295" creationId="{00000000-0000-0000-0000-000000000000}"/>
          </ac:graphicFrameMkLst>
        </pc:graphicFrameChg>
        <pc:picChg chg="add del mod">
          <ac:chgData name="Nikos Piperigkos" userId="b361276a-3497-4fae-9245-3cd0ad5fb2cd" providerId="ADAL" clId="{1E438AE5-336C-4CB7-A33B-C92169EF32BD}" dt="2024-11-04T17:41:13.289" v="9" actId="478"/>
          <ac:picMkLst>
            <pc:docMk/>
            <pc:sldMk cId="0" sldId="346"/>
            <ac:picMk id="3" creationId="{00000000-0000-0000-0000-000000000000}"/>
          </ac:picMkLst>
        </pc:picChg>
        <pc:picChg chg="del">
          <ac:chgData name="Nikos Piperigkos" userId="b361276a-3497-4fae-9245-3cd0ad5fb2cd" providerId="ADAL" clId="{1E438AE5-336C-4CB7-A33B-C92169EF32BD}" dt="2024-11-04T17:39:02.216" v="1" actId="21"/>
          <ac:picMkLst>
            <pc:docMk/>
            <pc:sldMk cId="0" sldId="346"/>
            <ac:picMk id="12293" creationId="{00000000-0000-0000-0000-000000000000}"/>
          </ac:picMkLst>
        </pc:picChg>
      </pc:sldChg>
      <pc:sldChg chg="addSp delSp modSp mod modNotesTx">
        <pc:chgData name="Nikos Piperigkos" userId="b361276a-3497-4fae-9245-3cd0ad5fb2cd" providerId="ADAL" clId="{1E438AE5-336C-4CB7-A33B-C92169EF32BD}" dt="2024-11-04T17:42:05.930" v="27" actId="478"/>
        <pc:sldMkLst>
          <pc:docMk/>
          <pc:sldMk cId="1698744230" sldId="347"/>
        </pc:sldMkLst>
        <pc:spChg chg="add mod">
          <ac:chgData name="Nikos Piperigkos" userId="b361276a-3497-4fae-9245-3cd0ad5fb2cd" providerId="ADAL" clId="{1E438AE5-336C-4CB7-A33B-C92169EF32BD}" dt="2024-11-04T17:41:35.183" v="14" actId="21"/>
          <ac:spMkLst>
            <pc:docMk/>
            <pc:sldMk cId="1698744230" sldId="347"/>
            <ac:spMk id="4" creationId="{00000000-0000-0000-0000-000000000000}"/>
          </ac:spMkLst>
        </pc:spChg>
        <pc:spChg chg="add del">
          <ac:chgData name="Nikos Piperigkos" userId="b361276a-3497-4fae-9245-3cd0ad5fb2cd" providerId="ADAL" clId="{1E438AE5-336C-4CB7-A33B-C92169EF32BD}" dt="2024-11-04T17:42:03.756" v="26" actId="478"/>
          <ac:spMkLst>
            <pc:docMk/>
            <pc:sldMk cId="1698744230" sldId="347"/>
            <ac:spMk id="6" creationId="{00000000-0000-0000-0000-000000000000}"/>
          </ac:spMkLst>
        </pc:spChg>
        <pc:spChg chg="add del mod">
          <ac:chgData name="Nikos Piperigkos" userId="b361276a-3497-4fae-9245-3cd0ad5fb2cd" providerId="ADAL" clId="{1E438AE5-336C-4CB7-A33B-C92169EF32BD}" dt="2024-11-04T17:42:05.930" v="27" actId="478"/>
          <ac:spMkLst>
            <pc:docMk/>
            <pc:sldMk cId="1698744230" sldId="347"/>
            <ac:spMk id="9" creationId="{00000000-0000-0000-0000-000000000000}"/>
          </ac:spMkLst>
        </pc:spChg>
        <pc:graphicFrameChg chg="del mod replId">
          <ac:chgData name="Nikos Piperigkos" userId="b361276a-3497-4fae-9245-3cd0ad5fb2cd" providerId="ADAL" clId="{1E438AE5-336C-4CB7-A33B-C92169EF32BD}" dt="2024-11-04T17:41:30.466" v="12"/>
          <ac:graphicFrameMkLst>
            <pc:docMk/>
            <pc:sldMk cId="1698744230" sldId="347"/>
            <ac:graphicFrameMk id="2" creationId="{00000000-0000-0000-0000-000000000000}"/>
          </ac:graphicFrameMkLst>
        </pc:graphicFrameChg>
        <pc:graphicFrameChg chg="del mod replId">
          <ac:chgData name="Nikos Piperigkos" userId="b361276a-3497-4fae-9245-3cd0ad5fb2cd" providerId="ADAL" clId="{1E438AE5-336C-4CB7-A33B-C92169EF32BD}" dt="2024-11-04T17:41:51.494" v="21"/>
          <ac:graphicFrameMkLst>
            <pc:docMk/>
            <pc:sldMk cId="1698744230" sldId="347"/>
            <ac:graphicFrameMk id="10" creationId="{00000000-0000-0000-0000-000000000000}"/>
          </ac:graphicFrameMkLst>
        </pc:graphicFrameChg>
      </pc:sldChg>
      <pc:sldChg chg="addSp delSp modSp mod modNotesTx">
        <pc:chgData name="Nikos Piperigkos" userId="b361276a-3497-4fae-9245-3cd0ad5fb2cd" providerId="ADAL" clId="{1E438AE5-336C-4CB7-A33B-C92169EF32BD}" dt="2024-11-04T17:42:51.449" v="46" actId="478"/>
        <pc:sldMkLst>
          <pc:docMk/>
          <pc:sldMk cId="3876281825" sldId="348"/>
        </pc:sldMkLst>
        <pc:spChg chg="del mod">
          <ac:chgData name="Nikos Piperigkos" userId="b361276a-3497-4fae-9245-3cd0ad5fb2cd" providerId="ADAL" clId="{1E438AE5-336C-4CB7-A33B-C92169EF32BD}" dt="2024-11-04T17:42:31.826" v="39"/>
          <ac:spMkLst>
            <pc:docMk/>
            <pc:sldMk cId="3876281825" sldId="348"/>
            <ac:spMk id="3" creationId="{00000000-0000-0000-0000-000000000000}"/>
          </ac:spMkLst>
        </pc:spChg>
        <pc:spChg chg="add del">
          <ac:chgData name="Nikos Piperigkos" userId="b361276a-3497-4fae-9245-3cd0ad5fb2cd" providerId="ADAL" clId="{1E438AE5-336C-4CB7-A33B-C92169EF32BD}" dt="2024-11-04T17:42:50.583" v="43" actId="478"/>
          <ac:spMkLst>
            <pc:docMk/>
            <pc:sldMk cId="3876281825" sldId="348"/>
            <ac:spMk id="11" creationId="{00000000-0000-0000-0000-000000000000}"/>
          </ac:spMkLst>
        </pc:spChg>
        <pc:spChg chg="del mod">
          <ac:chgData name="Nikos Piperigkos" userId="b361276a-3497-4fae-9245-3cd0ad5fb2cd" providerId="ADAL" clId="{1E438AE5-336C-4CB7-A33B-C92169EF32BD}" dt="2024-11-04T17:42:51.449" v="46" actId="478"/>
          <ac:spMkLst>
            <pc:docMk/>
            <pc:sldMk cId="3876281825" sldId="348"/>
            <ac:spMk id="13" creationId="{00000000-0000-0000-0000-000000000000}"/>
          </ac:spMkLst>
        </pc:spChg>
        <pc:spChg chg="del mod">
          <ac:chgData name="Nikos Piperigkos" userId="b361276a-3497-4fae-9245-3cd0ad5fb2cd" providerId="ADAL" clId="{1E438AE5-336C-4CB7-A33B-C92169EF32BD}" dt="2024-11-04T17:42:50.585" v="45"/>
          <ac:spMkLst>
            <pc:docMk/>
            <pc:sldMk cId="3876281825" sldId="348"/>
            <ac:spMk id="14" creationId="{00000000-0000-0000-0000-000000000000}"/>
          </ac:spMkLst>
        </pc:spChg>
        <pc:spChg chg="add mod">
          <ac:chgData name="Nikos Piperigkos" userId="b361276a-3497-4fae-9245-3cd0ad5fb2cd" providerId="ADAL" clId="{1E438AE5-336C-4CB7-A33B-C92169EF32BD}" dt="2024-11-04T17:42:25.966" v="36" actId="21"/>
          <ac:spMkLst>
            <pc:docMk/>
            <pc:sldMk cId="3876281825" sldId="348"/>
            <ac:spMk id="19" creationId="{00000000-0000-0000-0000-000000000000}"/>
          </ac:spMkLst>
        </pc:spChg>
        <pc:graphicFrameChg chg="del mod replId">
          <ac:chgData name="Nikos Piperigkos" userId="b361276a-3497-4fae-9245-3cd0ad5fb2cd" providerId="ADAL" clId="{1E438AE5-336C-4CB7-A33B-C92169EF32BD}" dt="2024-11-04T17:42:14.714" v="31"/>
          <ac:graphicFrameMkLst>
            <pc:docMk/>
            <pc:sldMk cId="3876281825" sldId="348"/>
            <ac:graphicFrameMk id="4" creationId="{00000000-0000-0000-0000-000000000000}"/>
          </ac:graphicFrameMkLst>
        </pc:graphicFrameChg>
        <pc:graphicFrameChg chg="del mod replId">
          <ac:chgData name="Nikos Piperigkos" userId="b361276a-3497-4fae-9245-3cd0ad5fb2cd" providerId="ADAL" clId="{1E438AE5-336C-4CB7-A33B-C92169EF32BD}" dt="2024-11-04T17:42:22.899" v="35"/>
          <ac:graphicFrameMkLst>
            <pc:docMk/>
            <pc:sldMk cId="3876281825" sldId="348"/>
            <ac:graphicFrameMk id="6" creationId="{00000000-0000-0000-0000-000000000000}"/>
          </ac:graphicFrameMkLst>
        </pc:graphicFrameChg>
      </pc:sldChg>
      <pc:sldChg chg="delSp modSp mod modNotesTx">
        <pc:chgData name="Nikos Piperigkos" userId="b361276a-3497-4fae-9245-3cd0ad5fb2cd" providerId="ADAL" clId="{1E438AE5-336C-4CB7-A33B-C92169EF32BD}" dt="2024-11-04T17:43:00.787" v="49" actId="478"/>
        <pc:sldMkLst>
          <pc:docMk/>
          <pc:sldMk cId="2206061122" sldId="349"/>
        </pc:sldMkLst>
        <pc:spChg chg="del mod">
          <ac:chgData name="Nikos Piperigkos" userId="b361276a-3497-4fae-9245-3cd0ad5fb2cd" providerId="ADAL" clId="{1E438AE5-336C-4CB7-A33B-C92169EF32BD}" dt="2024-11-04T17:43:00.787" v="49" actId="478"/>
          <ac:spMkLst>
            <pc:docMk/>
            <pc:sldMk cId="2206061122" sldId="349"/>
            <ac:spMk id="3" creationId="{00000000-0000-0000-0000-000000000000}"/>
          </ac:spMkLst>
        </pc:spChg>
      </pc:sldChg>
      <pc:sldChg chg="addSp delSp modSp mod modNotesTx">
        <pc:chgData name="Nikos Piperigkos" userId="b361276a-3497-4fae-9245-3cd0ad5fb2cd" providerId="ADAL" clId="{1E438AE5-336C-4CB7-A33B-C92169EF32BD}" dt="2024-11-04T17:43:57.824" v="68" actId="478"/>
        <pc:sldMkLst>
          <pc:docMk/>
          <pc:sldMk cId="82996121" sldId="350"/>
        </pc:sldMkLst>
        <pc:spChg chg="del">
          <ac:chgData name="Nikos Piperigkos" userId="b361276a-3497-4fae-9245-3cd0ad5fb2cd" providerId="ADAL" clId="{1E438AE5-336C-4CB7-A33B-C92169EF32BD}" dt="2024-11-04T17:43:57.824" v="68" actId="478"/>
          <ac:spMkLst>
            <pc:docMk/>
            <pc:sldMk cId="82996121" sldId="350"/>
            <ac:spMk id="3" creationId="{00000000-0000-0000-0000-000000000000}"/>
          </ac:spMkLst>
        </pc:spChg>
        <pc:spChg chg="add mod">
          <ac:chgData name="Nikos Piperigkos" userId="b361276a-3497-4fae-9245-3cd0ad5fb2cd" providerId="ADAL" clId="{1E438AE5-336C-4CB7-A33B-C92169EF32BD}" dt="2024-11-04T17:43:15.825" v="53" actId="21"/>
          <ac:spMkLst>
            <pc:docMk/>
            <pc:sldMk cId="82996121" sldId="350"/>
            <ac:spMk id="5" creationId="{00000000-0000-0000-0000-000000000000}"/>
          </ac:spMkLst>
        </pc:spChg>
        <pc:spChg chg="add mod">
          <ac:chgData name="Nikos Piperigkos" userId="b361276a-3497-4fae-9245-3cd0ad5fb2cd" providerId="ADAL" clId="{1E438AE5-336C-4CB7-A33B-C92169EF32BD}" dt="2024-11-04T17:43:22.730" v="57" actId="21"/>
          <ac:spMkLst>
            <pc:docMk/>
            <pc:sldMk cId="82996121" sldId="350"/>
            <ac:spMk id="9" creationId="{00000000-0000-0000-0000-000000000000}"/>
          </ac:spMkLst>
        </pc:spChg>
        <pc:spChg chg="add mod">
          <ac:chgData name="Nikos Piperigkos" userId="b361276a-3497-4fae-9245-3cd0ad5fb2cd" providerId="ADAL" clId="{1E438AE5-336C-4CB7-A33B-C92169EF32BD}" dt="2024-11-04T17:43:42.008" v="61" actId="21"/>
          <ac:spMkLst>
            <pc:docMk/>
            <pc:sldMk cId="82996121" sldId="350"/>
            <ac:spMk id="15" creationId="{00000000-0000-0000-0000-000000000000}"/>
          </ac:spMkLst>
        </pc:spChg>
        <pc:spChg chg="del">
          <ac:chgData name="Nikos Piperigkos" userId="b361276a-3497-4fae-9245-3cd0ad5fb2cd" providerId="ADAL" clId="{1E438AE5-336C-4CB7-A33B-C92169EF32BD}" dt="2024-11-04T17:43:54.761" v="64" actId="478"/>
          <ac:spMkLst>
            <pc:docMk/>
            <pc:sldMk cId="82996121" sldId="350"/>
            <ac:spMk id="17" creationId="{00000000-0000-0000-0000-000000000000}"/>
          </ac:spMkLst>
        </pc:spChg>
        <pc:spChg chg="del">
          <ac:chgData name="Nikos Piperigkos" userId="b361276a-3497-4fae-9245-3cd0ad5fb2cd" providerId="ADAL" clId="{1E438AE5-336C-4CB7-A33B-C92169EF32BD}" dt="2024-11-04T17:43:56.202" v="66" actId="478"/>
          <ac:spMkLst>
            <pc:docMk/>
            <pc:sldMk cId="82996121" sldId="350"/>
            <ac:spMk id="19" creationId="{00000000-0000-0000-0000-000000000000}"/>
          </ac:spMkLst>
        </pc:spChg>
        <pc:spChg chg="del">
          <ac:chgData name="Nikos Piperigkos" userId="b361276a-3497-4fae-9245-3cd0ad5fb2cd" providerId="ADAL" clId="{1E438AE5-336C-4CB7-A33B-C92169EF32BD}" dt="2024-11-04T17:43:55.374" v="65" actId="478"/>
          <ac:spMkLst>
            <pc:docMk/>
            <pc:sldMk cId="82996121" sldId="350"/>
            <ac:spMk id="20" creationId="{00000000-0000-0000-0000-000000000000}"/>
          </ac:spMkLst>
        </pc:spChg>
        <pc:spChg chg="del">
          <ac:chgData name="Nikos Piperigkos" userId="b361276a-3497-4fae-9245-3cd0ad5fb2cd" providerId="ADAL" clId="{1E438AE5-336C-4CB7-A33B-C92169EF32BD}" dt="2024-11-04T17:43:57.207" v="67" actId="478"/>
          <ac:spMkLst>
            <pc:docMk/>
            <pc:sldMk cId="82996121" sldId="350"/>
            <ac:spMk id="21" creationId="{00000000-0000-0000-0000-000000000000}"/>
          </ac:spMkLst>
        </pc:spChg>
        <pc:graphicFrameChg chg="del mod replId">
          <ac:chgData name="Nikos Piperigkos" userId="b361276a-3497-4fae-9245-3cd0ad5fb2cd" providerId="ADAL" clId="{1E438AE5-336C-4CB7-A33B-C92169EF32BD}" dt="2024-11-04T17:43:06.937" v="51"/>
          <ac:graphicFrameMkLst>
            <pc:docMk/>
            <pc:sldMk cId="82996121" sldId="350"/>
            <ac:graphicFrameMk id="4" creationId="{00000000-0000-0000-0000-000000000000}"/>
          </ac:graphicFrameMkLst>
        </pc:graphicFrameChg>
        <pc:graphicFrameChg chg="del mod replId">
          <ac:chgData name="Nikos Piperigkos" userId="b361276a-3497-4fae-9245-3cd0ad5fb2cd" providerId="ADAL" clId="{1E438AE5-336C-4CB7-A33B-C92169EF32BD}" dt="2024-11-04T17:43:20.224" v="56"/>
          <ac:graphicFrameMkLst>
            <pc:docMk/>
            <pc:sldMk cId="82996121" sldId="350"/>
            <ac:graphicFrameMk id="8" creationId="{00000000-0000-0000-0000-000000000000}"/>
          </ac:graphicFrameMkLst>
        </pc:graphicFrameChg>
        <pc:graphicFrameChg chg="del mod replId">
          <ac:chgData name="Nikos Piperigkos" userId="b361276a-3497-4fae-9245-3cd0ad5fb2cd" providerId="ADAL" clId="{1E438AE5-336C-4CB7-A33B-C92169EF32BD}" dt="2024-11-04T17:43:36.013" v="60"/>
          <ac:graphicFrameMkLst>
            <pc:docMk/>
            <pc:sldMk cId="82996121" sldId="350"/>
            <ac:graphicFrameMk id="12" creationId="{00000000-0000-0000-0000-000000000000}"/>
          </ac:graphicFrameMkLst>
        </pc:graphicFrameChg>
        <pc:picChg chg="del">
          <ac:chgData name="Nikos Piperigkos" userId="b361276a-3497-4fae-9245-3cd0ad5fb2cd" providerId="ADAL" clId="{1E438AE5-336C-4CB7-A33B-C92169EF32BD}" dt="2024-11-04T17:43:53.812" v="63" actId="478"/>
          <ac:picMkLst>
            <pc:docMk/>
            <pc:sldMk cId="82996121" sldId="350"/>
            <ac:picMk id="11" creationId="{00000000-0000-0000-0000-000000000000}"/>
          </ac:picMkLst>
        </pc:picChg>
      </pc:sldChg>
      <pc:sldChg chg="modSp add mod ord">
        <pc:chgData name="Nikos Piperigkos" userId="b361276a-3497-4fae-9245-3cd0ad5fb2cd" providerId="ADAL" clId="{1E438AE5-336C-4CB7-A33B-C92169EF32BD}" dt="2024-11-04T17:48:11.788" v="203" actId="20577"/>
        <pc:sldMkLst>
          <pc:docMk/>
          <pc:sldMk cId="3339947933" sldId="351"/>
        </pc:sldMkLst>
        <pc:spChg chg="mod">
          <ac:chgData name="Nikos Piperigkos" userId="b361276a-3497-4fae-9245-3cd0ad5fb2cd" providerId="ADAL" clId="{1E438AE5-336C-4CB7-A33B-C92169EF32BD}" dt="2024-11-04T17:48:11.788" v="203" actId="20577"/>
          <ac:spMkLst>
            <pc:docMk/>
            <pc:sldMk cId="3339947933" sldId="351"/>
            <ac:spMk id="12290" creationId="{337196D2-A39C-CA41-EBCD-9B2FDE35B75F}"/>
          </ac:spMkLst>
        </pc:spChg>
      </pc:sldChg>
      <pc:sldChg chg="addSp delSp modSp add mod">
        <pc:chgData name="Nikos Piperigkos" userId="b361276a-3497-4fae-9245-3cd0ad5fb2cd" providerId="ADAL" clId="{1E438AE5-336C-4CB7-A33B-C92169EF32BD}" dt="2024-11-14T11:29:26.221" v="1270" actId="255"/>
        <pc:sldMkLst>
          <pc:docMk/>
          <pc:sldMk cId="2427393291" sldId="352"/>
        </pc:sldMkLst>
        <pc:spChg chg="add del">
          <ac:chgData name="Nikos Piperigkos" userId="b361276a-3497-4fae-9245-3cd0ad5fb2cd" providerId="ADAL" clId="{1E438AE5-336C-4CB7-A33B-C92169EF32BD}" dt="2024-11-14T11:25:23.158" v="1225" actId="22"/>
          <ac:spMkLst>
            <pc:docMk/>
            <pc:sldMk cId="2427393291" sldId="352"/>
            <ac:spMk id="3" creationId="{10BD68B9-4DAB-27A2-10BA-1B758074E858}"/>
          </ac:spMkLst>
        </pc:spChg>
        <pc:spChg chg="add del">
          <ac:chgData name="Nikos Piperigkos" userId="b361276a-3497-4fae-9245-3cd0ad5fb2cd" providerId="ADAL" clId="{1E438AE5-336C-4CB7-A33B-C92169EF32BD}" dt="2024-11-14T11:25:24.824" v="1227" actId="22"/>
          <ac:spMkLst>
            <pc:docMk/>
            <pc:sldMk cId="2427393291" sldId="352"/>
            <ac:spMk id="5" creationId="{8C8E99D5-D288-BB13-3535-DB6A405FB18E}"/>
          </ac:spMkLst>
        </pc:spChg>
        <pc:spChg chg="add mod">
          <ac:chgData name="Nikos Piperigkos" userId="b361276a-3497-4fae-9245-3cd0ad5fb2cd" providerId="ADAL" clId="{1E438AE5-336C-4CB7-A33B-C92169EF32BD}" dt="2024-11-14T11:26:16.188" v="1249" actId="1076"/>
          <ac:spMkLst>
            <pc:docMk/>
            <pc:sldMk cId="2427393291" sldId="352"/>
            <ac:spMk id="7" creationId="{7A87B67C-1440-7EB5-3F04-533905457AB5}"/>
          </ac:spMkLst>
        </pc:spChg>
        <pc:spChg chg="add mod">
          <ac:chgData name="Nikos Piperigkos" userId="b361276a-3497-4fae-9245-3cd0ad5fb2cd" providerId="ADAL" clId="{1E438AE5-336C-4CB7-A33B-C92169EF32BD}" dt="2024-11-14T11:29:26.221" v="1270" actId="255"/>
          <ac:spMkLst>
            <pc:docMk/>
            <pc:sldMk cId="2427393291" sldId="352"/>
            <ac:spMk id="9" creationId="{0C231B4B-2913-E22C-84F2-23C14CDF5A1E}"/>
          </ac:spMkLst>
        </pc:spChg>
        <pc:spChg chg="mod">
          <ac:chgData name="Nikos Piperigkos" userId="b361276a-3497-4fae-9245-3cd0ad5fb2cd" providerId="ADAL" clId="{1E438AE5-336C-4CB7-A33B-C92169EF32BD}" dt="2024-11-14T11:27:06.538" v="1259" actId="14100"/>
          <ac:spMkLst>
            <pc:docMk/>
            <pc:sldMk cId="2427393291" sldId="352"/>
            <ac:spMk id="7171" creationId="{D085DACE-C598-F080-BBE0-C3137903D4FB}"/>
          </ac:spMkLst>
        </pc:spChg>
        <pc:picChg chg="add del mod">
          <ac:chgData name="Nikos Piperigkos" userId="b361276a-3497-4fae-9245-3cd0ad5fb2cd" providerId="ADAL" clId="{1E438AE5-336C-4CB7-A33B-C92169EF32BD}" dt="2024-11-11T08:13:25.283" v="817" actId="478"/>
          <ac:picMkLst>
            <pc:docMk/>
            <pc:sldMk cId="2427393291" sldId="352"/>
            <ac:picMk id="3" creationId="{33D95421-71F6-BA01-9B84-4858B431E405}"/>
          </ac:picMkLst>
        </pc:picChg>
        <pc:picChg chg="add mod">
          <ac:chgData name="Nikos Piperigkos" userId="b361276a-3497-4fae-9245-3cd0ad5fb2cd" providerId="ADAL" clId="{1E438AE5-336C-4CB7-A33B-C92169EF32BD}" dt="2024-11-14T11:27:11.762" v="1261" actId="1076"/>
          <ac:picMkLst>
            <pc:docMk/>
            <pc:sldMk cId="2427393291" sldId="352"/>
            <ac:picMk id="11" creationId="{FE392CBE-CAED-B34D-0090-7D43FE43371B}"/>
          </ac:picMkLst>
        </pc:picChg>
      </pc:sldChg>
      <pc:sldChg chg="modSp add mod">
        <pc:chgData name="Nikos Piperigkos" userId="b361276a-3497-4fae-9245-3cd0ad5fb2cd" providerId="ADAL" clId="{1E438AE5-336C-4CB7-A33B-C92169EF32BD}" dt="2024-11-13T16:28:06.788" v="952" actId="20577"/>
        <pc:sldMkLst>
          <pc:docMk/>
          <pc:sldMk cId="2815529182" sldId="353"/>
        </pc:sldMkLst>
        <pc:spChg chg="mod">
          <ac:chgData name="Nikos Piperigkos" userId="b361276a-3497-4fae-9245-3cd0ad5fb2cd" providerId="ADAL" clId="{1E438AE5-336C-4CB7-A33B-C92169EF32BD}" dt="2024-11-13T16:28:06.788" v="952" actId="20577"/>
          <ac:spMkLst>
            <pc:docMk/>
            <pc:sldMk cId="2815529182" sldId="353"/>
            <ac:spMk id="2" creationId="{F44F0D72-CBF5-055F-2683-989E4EA0787D}"/>
          </ac:spMkLst>
        </pc:spChg>
      </pc:sldChg>
      <pc:sldChg chg="modSp add mod">
        <pc:chgData name="Nikos Piperigkos" userId="b361276a-3497-4fae-9245-3cd0ad5fb2cd" providerId="ADAL" clId="{1E438AE5-336C-4CB7-A33B-C92169EF32BD}" dt="2024-11-13T16:29:45.769" v="1069" actId="20577"/>
        <pc:sldMkLst>
          <pc:docMk/>
          <pc:sldMk cId="1743192076" sldId="354"/>
        </pc:sldMkLst>
        <pc:spChg chg="mod">
          <ac:chgData name="Nikos Piperigkos" userId="b361276a-3497-4fae-9245-3cd0ad5fb2cd" providerId="ADAL" clId="{1E438AE5-336C-4CB7-A33B-C92169EF32BD}" dt="2024-11-13T16:29:45.769" v="1069" actId="20577"/>
          <ac:spMkLst>
            <pc:docMk/>
            <pc:sldMk cId="1743192076" sldId="354"/>
            <ac:spMk id="2" creationId="{3D5005E4-A278-F5F5-C8A3-F5C760DD5732}"/>
          </ac:spMkLst>
        </pc:spChg>
      </pc:sldChg>
      <pc:sldChg chg="modSp add mod">
        <pc:chgData name="Nikos Piperigkos" userId="b361276a-3497-4fae-9245-3cd0ad5fb2cd" providerId="ADAL" clId="{1E438AE5-336C-4CB7-A33B-C92169EF32BD}" dt="2024-11-13T16:31:57.160" v="1157" actId="20577"/>
        <pc:sldMkLst>
          <pc:docMk/>
          <pc:sldMk cId="2520316060" sldId="355"/>
        </pc:sldMkLst>
        <pc:spChg chg="mod">
          <ac:chgData name="Nikos Piperigkos" userId="b361276a-3497-4fae-9245-3cd0ad5fb2cd" providerId="ADAL" clId="{1E438AE5-336C-4CB7-A33B-C92169EF32BD}" dt="2024-11-13T16:31:57.160" v="1157" actId="20577"/>
          <ac:spMkLst>
            <pc:docMk/>
            <pc:sldMk cId="2520316060" sldId="355"/>
            <ac:spMk id="2" creationId="{DEF44BB1-D9B9-A11D-A3E0-0DFEEE0A57E1}"/>
          </ac:spMkLst>
        </pc:spChg>
      </pc:sldChg>
      <pc:sldChg chg="modSp add mod">
        <pc:chgData name="Nikos Piperigkos" userId="b361276a-3497-4fae-9245-3cd0ad5fb2cd" providerId="ADAL" clId="{1E438AE5-336C-4CB7-A33B-C92169EF32BD}" dt="2024-11-13T16:40:29.744" v="1189" actId="20577"/>
        <pc:sldMkLst>
          <pc:docMk/>
          <pc:sldMk cId="3568839276" sldId="356"/>
        </pc:sldMkLst>
        <pc:spChg chg="mod">
          <ac:chgData name="Nikos Piperigkos" userId="b361276a-3497-4fae-9245-3cd0ad5fb2cd" providerId="ADAL" clId="{1E438AE5-336C-4CB7-A33B-C92169EF32BD}" dt="2024-11-13T16:40:29.744" v="1189" actId="20577"/>
          <ac:spMkLst>
            <pc:docMk/>
            <pc:sldMk cId="3568839276" sldId="356"/>
            <ac:spMk id="2" creationId="{EA9480D4-F933-1947-CF2D-3D117B4AD25C}"/>
          </ac:spMkLst>
        </pc:spChg>
      </pc:sldChg>
      <pc:sldChg chg="delSp modSp add mod">
        <pc:chgData name="Nikos Piperigkos" userId="b361276a-3497-4fae-9245-3cd0ad5fb2cd" providerId="ADAL" clId="{1E438AE5-336C-4CB7-A33B-C92169EF32BD}" dt="2024-11-14T11:31:11.031" v="1271" actId="113"/>
        <pc:sldMkLst>
          <pc:docMk/>
          <pc:sldMk cId="3673686592" sldId="357"/>
        </pc:sldMkLst>
        <pc:spChg chg="mod">
          <ac:chgData name="Nikos Piperigkos" userId="b361276a-3497-4fae-9245-3cd0ad5fb2cd" providerId="ADAL" clId="{1E438AE5-336C-4CB7-A33B-C92169EF32BD}" dt="2024-11-14T11:31:11.031" v="1271" actId="113"/>
          <ac:spMkLst>
            <pc:docMk/>
            <pc:sldMk cId="3673686592" sldId="357"/>
            <ac:spMk id="2" creationId="{A554B11F-14E7-EE0D-D1D9-820550AEAA70}"/>
          </ac:spMkLst>
        </pc:spChg>
        <pc:spChg chg="del">
          <ac:chgData name="Nikos Piperigkos" userId="b361276a-3497-4fae-9245-3cd0ad5fb2cd" providerId="ADAL" clId="{1E438AE5-336C-4CB7-A33B-C92169EF32BD}" dt="2024-11-14T11:22:41.102" v="1193" actId="478"/>
          <ac:spMkLst>
            <pc:docMk/>
            <pc:sldMk cId="3673686592" sldId="357"/>
            <ac:spMk id="9221" creationId="{66EE954B-34C8-15E2-6E40-621B640CFD8E}"/>
          </ac:spMkLst>
        </pc:spChg>
        <pc:spChg chg="del">
          <ac:chgData name="Nikos Piperigkos" userId="b361276a-3497-4fae-9245-3cd0ad5fb2cd" providerId="ADAL" clId="{1E438AE5-336C-4CB7-A33B-C92169EF32BD}" dt="2024-11-14T11:22:45.346" v="1197" actId="478"/>
          <ac:spMkLst>
            <pc:docMk/>
            <pc:sldMk cId="3673686592" sldId="357"/>
            <ac:spMk id="9224" creationId="{C97E6D36-75EB-7BE1-53FB-A340BF6EC92F}"/>
          </ac:spMkLst>
        </pc:spChg>
        <pc:graphicFrameChg chg="del">
          <ac:chgData name="Nikos Piperigkos" userId="b361276a-3497-4fae-9245-3cd0ad5fb2cd" providerId="ADAL" clId="{1E438AE5-336C-4CB7-A33B-C92169EF32BD}" dt="2024-11-14T11:22:42.534" v="1194" actId="478"/>
          <ac:graphicFrameMkLst>
            <pc:docMk/>
            <pc:sldMk cId="3673686592" sldId="357"/>
            <ac:graphicFrameMk id="9222" creationId="{42C68F91-6BA0-EFC7-9E11-0C56AA64C2C7}"/>
          </ac:graphicFrameMkLst>
        </pc:graphicFrameChg>
        <pc:graphicFrameChg chg="del">
          <ac:chgData name="Nikos Piperigkos" userId="b361276a-3497-4fae-9245-3cd0ad5fb2cd" providerId="ADAL" clId="{1E438AE5-336C-4CB7-A33B-C92169EF32BD}" dt="2024-11-14T11:22:44.842" v="1196" actId="478"/>
          <ac:graphicFrameMkLst>
            <pc:docMk/>
            <pc:sldMk cId="3673686592" sldId="357"/>
            <ac:graphicFrameMk id="9223" creationId="{9F9C549A-420F-F7ED-6837-B12717E69D35}"/>
          </ac:graphicFrameMkLst>
        </pc:graphicFrameChg>
        <pc:graphicFrameChg chg="del">
          <ac:chgData name="Nikos Piperigkos" userId="b361276a-3497-4fae-9245-3cd0ad5fb2cd" providerId="ADAL" clId="{1E438AE5-336C-4CB7-A33B-C92169EF32BD}" dt="2024-11-14T11:22:43.505" v="1195" actId="478"/>
          <ac:graphicFrameMkLst>
            <pc:docMk/>
            <pc:sldMk cId="3673686592" sldId="357"/>
            <ac:graphicFrameMk id="9225" creationId="{3AFB6EF8-9F03-50A5-D245-C1D9DF3271CD}"/>
          </ac:graphicFrameMkLst>
        </pc:graphicFrameChg>
        <pc:picChg chg="del">
          <ac:chgData name="Nikos Piperigkos" userId="b361276a-3497-4fae-9245-3cd0ad5fb2cd" providerId="ADAL" clId="{1E438AE5-336C-4CB7-A33B-C92169EF32BD}" dt="2024-11-14T11:22:36.937" v="1191" actId="478"/>
          <ac:picMkLst>
            <pc:docMk/>
            <pc:sldMk cId="3673686592" sldId="357"/>
            <ac:picMk id="9220" creationId="{F8DC955C-066E-FD3E-5146-9C0132BA5419}"/>
          </ac:picMkLst>
        </pc:picChg>
      </pc:sldChg>
      <pc:sldChg chg="modSp add mod">
        <pc:chgData name="Nikos Piperigkos" userId="b361276a-3497-4fae-9245-3cd0ad5fb2cd" providerId="ADAL" clId="{1E438AE5-336C-4CB7-A33B-C92169EF32BD}" dt="2024-11-14T11:27:29.050" v="1265" actId="113"/>
        <pc:sldMkLst>
          <pc:docMk/>
          <pc:sldMk cId="4081052544" sldId="358"/>
        </pc:sldMkLst>
        <pc:spChg chg="mod">
          <ac:chgData name="Nikos Piperigkos" userId="b361276a-3497-4fae-9245-3cd0ad5fb2cd" providerId="ADAL" clId="{1E438AE5-336C-4CB7-A33B-C92169EF32BD}" dt="2024-11-14T11:27:16.924" v="1262" actId="255"/>
          <ac:spMkLst>
            <pc:docMk/>
            <pc:sldMk cId="4081052544" sldId="358"/>
            <ac:spMk id="7170" creationId="{ED26D598-7780-8B6E-96E9-AFE56A6DE4B0}"/>
          </ac:spMkLst>
        </pc:spChg>
        <pc:spChg chg="mod">
          <ac:chgData name="Nikos Piperigkos" userId="b361276a-3497-4fae-9245-3cd0ad5fb2cd" providerId="ADAL" clId="{1E438AE5-336C-4CB7-A33B-C92169EF32BD}" dt="2024-11-14T11:27:29.050" v="1265" actId="113"/>
          <ac:spMkLst>
            <pc:docMk/>
            <pc:sldMk cId="4081052544" sldId="358"/>
            <ac:spMk id="7171" creationId="{63984C0B-278B-EB98-6129-5F2A60D68B2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588"/>
            <a:ext cx="3027363"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atin typeface="Arial" panose="020B0604020202020204" pitchFamily="34" charset="0"/>
              </a:defRPr>
            </a:lvl1pPr>
          </a:lstStyle>
          <a:p>
            <a:pPr>
              <a:defRPr/>
            </a:pPr>
            <a:endParaRPr lang="en-US" altLang="en-US"/>
          </a:p>
        </p:txBody>
      </p:sp>
      <p:sp>
        <p:nvSpPr>
          <p:cNvPr id="3075" name="Rectangle 3"/>
          <p:cNvSpPr>
            <a:spLocks noGrp="1" noChangeArrowheads="1"/>
          </p:cNvSpPr>
          <p:nvPr>
            <p:ph type="dt" sz="quarter" idx="1"/>
          </p:nvPr>
        </p:nvSpPr>
        <p:spPr bwMode="auto">
          <a:xfrm>
            <a:off x="3957638" y="-1588"/>
            <a:ext cx="3027362"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atin typeface="Arial" panose="020B0604020202020204" pitchFamily="34" charset="0"/>
              </a:defRPr>
            </a:lvl1pPr>
          </a:lstStyle>
          <a:p>
            <a:pPr>
              <a:defRPr/>
            </a:pPr>
            <a:endParaRPr lang="en-US" altLang="en-US"/>
          </a:p>
        </p:txBody>
      </p:sp>
      <p:sp>
        <p:nvSpPr>
          <p:cNvPr id="3076" name="Rectangle 4"/>
          <p:cNvSpPr>
            <a:spLocks noGrp="1" noChangeArrowheads="1"/>
          </p:cNvSpPr>
          <p:nvPr>
            <p:ph type="ftr" sz="quarter" idx="2"/>
          </p:nvPr>
        </p:nvSpPr>
        <p:spPr bwMode="auto">
          <a:xfrm>
            <a:off x="0" y="8845550"/>
            <a:ext cx="3027363"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atin typeface="Arial" panose="020B0604020202020204" pitchFamily="34" charset="0"/>
              </a:defRPr>
            </a:lvl1pPr>
          </a:lstStyle>
          <a:p>
            <a:pPr>
              <a:defRPr/>
            </a:pPr>
            <a:endParaRPr lang="en-US" altLang="en-US"/>
          </a:p>
        </p:txBody>
      </p:sp>
      <p:sp>
        <p:nvSpPr>
          <p:cNvPr id="3077" name="Rectangle 5"/>
          <p:cNvSpPr>
            <a:spLocks noGrp="1" noChangeArrowheads="1"/>
          </p:cNvSpPr>
          <p:nvPr>
            <p:ph type="sldNum" sz="quarter" idx="3"/>
          </p:nvPr>
        </p:nvSpPr>
        <p:spPr bwMode="auto">
          <a:xfrm>
            <a:off x="3957638" y="8845550"/>
            <a:ext cx="3027362"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atin typeface="Arial" panose="020B0604020202020204" pitchFamily="34" charset="0"/>
              </a:defRPr>
            </a:lvl1pPr>
          </a:lstStyle>
          <a:p>
            <a:pPr>
              <a:defRPr/>
            </a:pPr>
            <a:fld id="{3BAC2DF5-2E0B-4B1C-8126-33F02E34C457}"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588"/>
            <a:ext cx="3027363"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solidFill>
                  <a:schemeClr val="tx1"/>
                </a:solidFill>
                <a:latin typeface="Times New Roman" panose="02020603050405020304" pitchFamily="18" charset="0"/>
              </a:defRPr>
            </a:lvl1pPr>
          </a:lstStyle>
          <a:p>
            <a:pPr>
              <a:defRPr/>
            </a:pPr>
            <a:endParaRPr lang="en-US" altLang="en-US"/>
          </a:p>
        </p:txBody>
      </p:sp>
      <p:sp>
        <p:nvSpPr>
          <p:cNvPr id="2051" name="Rectangle 3"/>
          <p:cNvSpPr>
            <a:spLocks noGrp="1" noChangeArrowheads="1"/>
          </p:cNvSpPr>
          <p:nvPr>
            <p:ph type="dt" idx="1"/>
          </p:nvPr>
        </p:nvSpPr>
        <p:spPr bwMode="auto">
          <a:xfrm>
            <a:off x="3957638" y="-1588"/>
            <a:ext cx="3027362"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solidFill>
                  <a:schemeClr val="tx1"/>
                </a:solidFill>
                <a:latin typeface="Times New Roman" panose="02020603050405020304" pitchFamily="18" charset="0"/>
              </a:defRPr>
            </a:lvl1pPr>
          </a:lstStyle>
          <a:p>
            <a:pPr>
              <a:defRPr/>
            </a:pPr>
            <a:endParaRPr lang="en-US" altLang="en-US"/>
          </a:p>
        </p:txBody>
      </p:sp>
      <p:sp>
        <p:nvSpPr>
          <p:cNvPr id="2052" name="Rectangle 4"/>
          <p:cNvSpPr>
            <a:spLocks noGrp="1" noChangeArrowheads="1"/>
          </p:cNvSpPr>
          <p:nvPr>
            <p:ph type="ftr" sz="quarter" idx="4"/>
          </p:nvPr>
        </p:nvSpPr>
        <p:spPr bwMode="auto">
          <a:xfrm>
            <a:off x="0" y="8845550"/>
            <a:ext cx="3027363"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solidFill>
                  <a:schemeClr val="tx1"/>
                </a:solidFill>
                <a:latin typeface="Times New Roman" panose="02020603050405020304" pitchFamily="18" charset="0"/>
              </a:defRPr>
            </a:lvl1pPr>
          </a:lstStyle>
          <a:p>
            <a:pPr>
              <a:defRPr/>
            </a:pPr>
            <a:endParaRPr lang="en-US" altLang="en-US"/>
          </a:p>
        </p:txBody>
      </p:sp>
      <p:sp>
        <p:nvSpPr>
          <p:cNvPr id="2053" name="Rectangle 5"/>
          <p:cNvSpPr>
            <a:spLocks noGrp="1" noChangeArrowheads="1"/>
          </p:cNvSpPr>
          <p:nvPr>
            <p:ph type="sldNum" sz="quarter" idx="5"/>
          </p:nvPr>
        </p:nvSpPr>
        <p:spPr bwMode="auto">
          <a:xfrm>
            <a:off x="3957638" y="8845550"/>
            <a:ext cx="3027362"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solidFill>
                  <a:schemeClr val="tx1"/>
                </a:solidFill>
                <a:latin typeface="Times New Roman" panose="02020603050405020304" pitchFamily="18" charset="0"/>
              </a:defRPr>
            </a:lvl1pPr>
          </a:lstStyle>
          <a:p>
            <a:pPr>
              <a:defRPr/>
            </a:pPr>
            <a:fld id="{A32E23F3-CE2C-42DD-879E-EEA2030225B4}" type="slidenum">
              <a:rPr lang="en-US" altLang="en-US"/>
              <a:pPr>
                <a:defRPr/>
              </a:pPr>
              <a:t>‹#›</a:t>
            </a:fld>
            <a:endParaRPr lang="en-US" altLang="en-US"/>
          </a:p>
        </p:txBody>
      </p:sp>
      <p:sp>
        <p:nvSpPr>
          <p:cNvPr id="2054" name="Rectangle 6"/>
          <p:cNvSpPr>
            <a:spLocks noGrp="1" noChangeArrowheads="1"/>
          </p:cNvSpPr>
          <p:nvPr>
            <p:ph type="body" sz="quarter" idx="3"/>
          </p:nvPr>
        </p:nvSpPr>
        <p:spPr bwMode="auto">
          <a:xfrm>
            <a:off x="931863" y="4410075"/>
            <a:ext cx="5121275" cy="3916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noProof="0"/>
              <a:t>Click to edit Master notes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055" name="Rectangle 7"/>
          <p:cNvSpPr>
            <a:spLocks noGrp="1" noRot="1" noChangeAspect="1" noChangeArrowheads="1" noTextEdit="1"/>
          </p:cNvSpPr>
          <p:nvPr>
            <p:ph type="sldImg" idx="2"/>
          </p:nvPr>
        </p:nvSpPr>
        <p:spPr bwMode="auto">
          <a:xfrm>
            <a:off x="1363663" y="715963"/>
            <a:ext cx="4257675" cy="344011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4DDFF-6772-C50D-9215-225AB9BD080E}"/>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1276F747-AD55-829C-3502-A33951C2F4B0}"/>
              </a:ext>
            </a:extLst>
          </p:cNvPr>
          <p:cNvSpPr>
            <a:spLocks noGrp="1" noRot="1" noChangeAspect="1"/>
          </p:cNvSpPr>
          <p:nvPr>
            <p:ph type="sldImg"/>
          </p:nvPr>
        </p:nvSpPr>
        <p:spPr>
          <a:xfrm>
            <a:off x="1365250" y="715963"/>
            <a:ext cx="4254500" cy="3440112"/>
          </a:xfrm>
        </p:spPr>
      </p:sp>
      <p:sp>
        <p:nvSpPr>
          <p:cNvPr id="3" name="Θέση σημειώσεων 2">
            <a:extLst>
              <a:ext uri="{FF2B5EF4-FFF2-40B4-BE49-F238E27FC236}">
                <a16:creationId xmlns:a16="http://schemas.microsoft.com/office/drawing/2014/main" id="{F2EEEBB9-5DE5-BD7E-CD93-436A1C4AFBDA}"/>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A8F87140-F41D-4B26-D183-936C5F5777B5}"/>
              </a:ext>
            </a:extLst>
          </p:cNvPr>
          <p:cNvSpPr>
            <a:spLocks noGrp="1"/>
          </p:cNvSpPr>
          <p:nvPr>
            <p:ph type="sldNum" sz="quarter" idx="5"/>
          </p:nvPr>
        </p:nvSpPr>
        <p:spPr/>
        <p:txBody>
          <a:bodyPr/>
          <a:lstStyle/>
          <a:p>
            <a:pPr>
              <a:defRPr/>
            </a:pPr>
            <a:fld id="{A32E23F3-CE2C-42DD-879E-EEA2030225B4}" type="slidenum">
              <a:rPr lang="en-US" altLang="en-US" smtClean="0"/>
              <a:pPr>
                <a:defRPr/>
              </a:pPr>
              <a:t>12</a:t>
            </a:fld>
            <a:endParaRPr lang="en-US" altLang="en-US"/>
          </a:p>
        </p:txBody>
      </p:sp>
    </p:spTree>
    <p:extLst>
      <p:ext uri="{BB962C8B-B14F-4D97-AF65-F5344CB8AC3E}">
        <p14:creationId xmlns:p14="http://schemas.microsoft.com/office/powerpoint/2010/main" val="2155150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mc:AlternateContent xmlns:mc="http://schemas.openxmlformats.org/markup-compatibility/2006" xmlns:a14="http://schemas.microsoft.com/office/drawing/2010/main">
        <mc:Choice Requires="a14">
          <p:sp>
            <p:nvSpPr>
              <p:cNvPr id="3" name="Θέση σημειώσεων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𝑏</m:t>
                                      </m:r>
                                    </m:sub>
                                  </m:sSub>
                                  <m:r>
                                    <a:rPr lang="en-US" b="0" i="1" smtClean="0">
                                      <a:latin typeface="Cambria Math" panose="02040503050406030204" pitchFamily="18" charset="0"/>
                                    </a:rPr>
                                    <m:t>𝐶</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r>
                                    <a:rPr lang="en-US" b="0" i="1" smtClean="0">
                                      <a:latin typeface="Cambria Math" panose="02040503050406030204" pitchFamily="18" charset="0"/>
                                    </a:rPr>
                                    <m:t>𝐵</m:t>
                                  </m:r>
                                </m:den>
                              </m:f>
                            </m:e>
                          </m:d>
                        </m:e>
                      </m:func>
                    </m:oMath>
                  </m:oMathPara>
                </a14:m>
                <a:endParaRPr lang="en-US" dirty="0"/>
              </a:p>
              <a:p>
                <a:r>
                  <a:rPr lang="en-US" b="0" dirty="0"/>
                  <a:t>						</a:t>
                </a:r>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𝑏</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4</m:t>
                                </m:r>
                              </m:sup>
                            </m:sSup>
                            <m:r>
                              <a:rPr lang="en-US" b="0" i="1" smtClean="0">
                                <a:latin typeface="Cambria Math" panose="02040503050406030204" pitchFamily="18" charset="0"/>
                              </a:rPr>
                              <m:t>−1</m:t>
                            </m:r>
                          </m:e>
                        </m:d>
                      </m:num>
                      <m:den>
                        <m:r>
                          <a:rPr lang="en-US" b="0" i="1" smtClean="0">
                            <a:latin typeface="Cambria Math" panose="02040503050406030204" pitchFamily="18" charset="0"/>
                          </a:rPr>
                          <m:t>4</m:t>
                        </m:r>
                      </m:den>
                    </m:f>
                    <m:r>
                      <a:rPr lang="en-US" b="0" i="1" smtClean="0">
                        <a:latin typeface="Cambria Math" panose="02040503050406030204" pitchFamily="18" charset="0"/>
                      </a:rPr>
                      <m:t>=3.75</m:t>
                    </m:r>
                  </m:oMath>
                </a14:m>
                <a:r>
                  <a:rPr lang="el-GR" dirty="0"/>
                  <a:t> ή </a:t>
                </a:r>
                <a14:m>
                  <m:oMath xmlns:m="http://schemas.openxmlformats.org/officeDocument/2006/math">
                    <m:r>
                      <a:rPr lang="el-GR" b="0" i="1" smtClean="0">
                        <a:latin typeface="Cambria Math" panose="02040503050406030204" pitchFamily="18" charset="0"/>
                      </a:rPr>
                      <m:t>5.74</m:t>
                    </m:r>
                    <m:r>
                      <a:rPr lang="en-US" b="0" i="1" smtClean="0">
                        <a:latin typeface="Cambria Math" panose="02040503050406030204" pitchFamily="18" charset="0"/>
                      </a:rPr>
                      <m:t>𝑑𝐵</m:t>
                    </m:r>
                  </m:oMath>
                </a14:m>
                <a:endParaRPr lang="en-US" b="0"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𝑑𝐵</m:t>
                          </m:r>
                        </m:sub>
                      </m:sSub>
                      <m:r>
                        <a:rPr lang="en-US" b="0" i="1" smtClean="0">
                          <a:latin typeface="Cambria Math" panose="02040503050406030204" pitchFamily="18" charset="0"/>
                        </a:rPr>
                        <m:t>=10</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10</m:t>
                              </m:r>
                            </m:sub>
                          </m:sSub>
                        </m:fName>
                        <m:e>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e>
                      </m:func>
                    </m:oMath>
                  </m:oMathPara>
                </a14:m>
                <a:endParaRPr lang="en-US" dirty="0"/>
              </a:p>
              <a:p>
                <a:endParaRPr lang="en-US" dirty="0"/>
              </a:p>
              <a:p>
                <a:endParaRPr lang="en-US" dirty="0"/>
              </a:p>
              <a:p>
                <a:pPr algn="l"/>
                <a:r>
                  <a:rPr lang="en-US" sz="1800" b="0" i="0" u="none" strike="noStrike" baseline="0" dirty="0">
                    <a:latin typeface="MS Mincho" panose="02020609040205080304" pitchFamily="49" charset="-128"/>
                  </a:rPr>
                  <a:t>In order to double the number of users for the same operating bandwidth, the</a:t>
                </a:r>
              </a:p>
              <a:p>
                <a:pPr algn="l"/>
                <a:r>
                  <a:rPr lang="en-US" sz="1800" b="0" i="0" u="none" strike="noStrike" baseline="0" dirty="0">
                    <a:latin typeface="MS Mincho" panose="02020609040205080304" pitchFamily="49" charset="-128"/>
                  </a:rPr>
                  <a:t>bandwidth efficiency of the system must be increased to 8 bits/second/Hz. This</a:t>
                </a:r>
              </a:p>
              <a:p>
                <a:pPr algn="l"/>
                <a:r>
                  <a:rPr lang="en-US" sz="1800" b="0" i="0" u="none" strike="noStrike" baseline="0" dirty="0">
                    <a:latin typeface="MS Mincho" panose="02020609040205080304" pitchFamily="49" charset="-128"/>
                  </a:rPr>
                  <a:t>means that the Eb/ No value must rise to:</a:t>
                </a:r>
              </a:p>
              <a:p>
                <a:pPr algn="l"/>
                <a:r>
                  <a:rPr lang="en-US" sz="1800" b="0" i="0" u="none" strike="noStrike" baseline="0" dirty="0">
                    <a:latin typeface="ＭＳ 明朝" panose="02020609040205080304" pitchFamily="49" charset="-128"/>
                  </a:rPr>
                  <a:t>						</a:t>
                </a:r>
                <a14:m>
                  <m:oMath xmlns:m="http://schemas.openxmlformats.org/officeDocument/2006/math">
                    <m:f>
                      <m:fPr>
                        <m:ctrlPr>
                          <a:rPr lang="en-US" sz="1800" b="0" i="1" u="none" strike="noStrike" baseline="0" dirty="0" smtClean="0">
                            <a:latin typeface="Cambria Math" panose="02040503050406030204" pitchFamily="18" charset="0"/>
                          </a:rPr>
                        </m:ctrlPr>
                      </m:fPr>
                      <m:num>
                        <m:r>
                          <a:rPr lang="en-US" sz="1800" b="0" i="1" u="none" strike="noStrike" baseline="0" dirty="0" smtClean="0">
                            <a:latin typeface="Cambria Math" panose="02040503050406030204" pitchFamily="18" charset="0"/>
                          </a:rPr>
                          <m:t>𝐸𝑏</m:t>
                        </m:r>
                      </m:num>
                      <m:den>
                        <m:r>
                          <a:rPr lang="en-US" sz="1800" b="0" i="1" u="none" strike="noStrike" baseline="0" dirty="0" smtClean="0">
                            <a:latin typeface="Cambria Math" panose="02040503050406030204" pitchFamily="18" charset="0"/>
                          </a:rPr>
                          <m:t>𝑁𝑜</m:t>
                        </m:r>
                      </m:den>
                    </m:f>
                    <m:r>
                      <a:rPr lang="en-US" sz="1800" b="0" i="1" u="none" strike="noStrike" baseline="0" dirty="0" smtClean="0">
                        <a:latin typeface="Cambria Math" panose="02040503050406030204" pitchFamily="18" charset="0"/>
                      </a:rPr>
                      <m:t>=</m:t>
                    </m:r>
                    <m:f>
                      <m:fPr>
                        <m:ctrlPr>
                          <a:rPr lang="en-US" sz="1800" b="0" i="1" u="none" strike="noStrike" baseline="0" dirty="0" smtClean="0">
                            <a:latin typeface="Cambria Math" panose="02040503050406030204" pitchFamily="18" charset="0"/>
                          </a:rPr>
                        </m:ctrlPr>
                      </m:fPr>
                      <m:num>
                        <m:sSup>
                          <m:sSupPr>
                            <m:ctrlPr>
                              <a:rPr lang="en-US" sz="1800" b="0" i="1" u="none" strike="noStrike" baseline="0" dirty="0" smtClean="0">
                                <a:latin typeface="Cambria Math" panose="02040503050406030204" pitchFamily="18" charset="0"/>
                              </a:rPr>
                            </m:ctrlPr>
                          </m:sSupPr>
                          <m:e>
                            <m:r>
                              <a:rPr lang="en-US" sz="1800" b="0" i="1" u="none" strike="noStrike" baseline="0" dirty="0" smtClean="0">
                                <a:latin typeface="Cambria Math" panose="02040503050406030204" pitchFamily="18" charset="0"/>
                              </a:rPr>
                              <m:t>2</m:t>
                            </m:r>
                          </m:e>
                          <m:sup>
                            <m:r>
                              <a:rPr lang="en-US" sz="1800" b="0" i="1" u="none" strike="noStrike" baseline="0" dirty="0" smtClean="0">
                                <a:latin typeface="Cambria Math" panose="02040503050406030204" pitchFamily="18" charset="0"/>
                              </a:rPr>
                              <m:t>8</m:t>
                            </m:r>
                          </m:sup>
                        </m:sSup>
                        <m:r>
                          <a:rPr lang="en-US" sz="1800" b="0" i="1" u="none" strike="noStrike" baseline="0" dirty="0" smtClean="0">
                            <a:latin typeface="Cambria Math" panose="02040503050406030204" pitchFamily="18" charset="0"/>
                          </a:rPr>
                          <m:t>− 1</m:t>
                        </m:r>
                      </m:num>
                      <m:den>
                        <m:r>
                          <a:rPr lang="en-US" sz="1800" b="0" i="1" u="none" strike="noStrike" baseline="0" dirty="0" smtClean="0">
                            <a:latin typeface="Cambria Math" panose="02040503050406030204" pitchFamily="18" charset="0"/>
                          </a:rPr>
                          <m:t>8</m:t>
                        </m:r>
                      </m:den>
                    </m:f>
                    <m:r>
                      <a:rPr lang="en-US" sz="1800" b="0" i="1" u="none" strike="noStrike" baseline="0" dirty="0" smtClean="0">
                        <a:latin typeface="Cambria Math" panose="02040503050406030204" pitchFamily="18" charset="0"/>
                      </a:rPr>
                      <m:t> =31.87 </m:t>
                    </m:r>
                    <m:r>
                      <a:rPr lang="en-US" sz="1800" b="0" i="1" u="none" strike="noStrike" baseline="0" dirty="0" smtClean="0">
                        <a:latin typeface="Cambria Math" panose="02040503050406030204" pitchFamily="18" charset="0"/>
                      </a:rPr>
                      <m:t>𝑜𝑟</m:t>
                    </m:r>
                    <m:r>
                      <a:rPr lang="en-US" sz="1800" b="0" i="1" u="none" strike="noStrike" baseline="0" dirty="0" smtClean="0">
                        <a:latin typeface="Cambria Math" panose="02040503050406030204" pitchFamily="18" charset="0"/>
                      </a:rPr>
                      <m:t> 15.03 </m:t>
                    </m:r>
                    <m:r>
                      <a:rPr lang="en-US" sz="1800" b="0" i="1" u="none" strike="noStrike" baseline="0" dirty="0" smtClean="0">
                        <a:latin typeface="Cambria Math" panose="02040503050406030204" pitchFamily="18" charset="0"/>
                      </a:rPr>
                      <m:t>𝑑𝐵</m:t>
                    </m:r>
                  </m:oMath>
                </a14:m>
                <a:endParaRPr lang="en-US" dirty="0"/>
              </a:p>
              <a:p>
                <a:pPr algn="l"/>
                <a:endParaRPr lang="en-US" dirty="0"/>
              </a:p>
              <a:p>
                <a:pPr algn="l"/>
                <a:r>
                  <a:rPr lang="en-US" sz="1800" b="0" i="0" u="none" strike="noStrike" baseline="0" dirty="0">
                    <a:latin typeface="MS Mincho" panose="02020609040205080304" pitchFamily="49" charset="-128"/>
                  </a:rPr>
                  <a:t>Thus the transmitted power must increase by a factor of 15.03 - 5.74 = 9.29 dB</a:t>
                </a:r>
                <a:endParaRPr lang="el-GR" dirty="0"/>
              </a:p>
            </p:txBody>
          </p:sp>
        </mc:Choice>
        <mc:Fallback xmlns="">
          <p:sp>
            <p:nvSpPr>
              <p:cNvPr id="3" name="Θέση σημειώσεων 2"/>
              <p:cNvSpPr>
                <a:spLocks noGrp="1"/>
              </p:cNvSpPr>
              <p:nvPr>
                <p:ph type="body" idx="1"/>
              </p:nvPr>
            </p:nvSpPr>
            <p:spPr/>
            <p:txBody>
              <a:bodyPr/>
              <a:lstStyle/>
              <a:p>
                <a:r>
                  <a:rPr lang="en-US" b="0" i="0">
                    <a:latin typeface="Cambria Math" panose="02040503050406030204" pitchFamily="18" charset="0"/>
                  </a:rPr>
                  <a:t>𝐶/𝐵=log_2⁡(1+(𝐸_𝑏 𝐶)/(𝑁_0 𝐵))</a:t>
                </a:r>
                <a:endParaRPr lang="en-US" dirty="0"/>
              </a:p>
              <a:p>
                <a:r>
                  <a:rPr lang="en-US" b="0" dirty="0"/>
                  <a:t>						</a:t>
                </a:r>
                <a:r>
                  <a:rPr lang="en-US" b="0" i="0">
                    <a:latin typeface="Cambria Math" panose="02040503050406030204" pitchFamily="18" charset="0"/>
                  </a:rPr>
                  <a:t>𝐸_𝑏/𝑁_0 =((2^4−1))/4=3.75</a:t>
                </a:r>
                <a:r>
                  <a:rPr lang="el-GR" dirty="0"/>
                  <a:t> ή </a:t>
                </a:r>
                <a:r>
                  <a:rPr lang="el-GR" b="0" i="0">
                    <a:latin typeface="Cambria Math" panose="02040503050406030204" pitchFamily="18" charset="0"/>
                  </a:rPr>
                  <a:t>5.74</a:t>
                </a:r>
                <a:r>
                  <a:rPr lang="en-US" b="0" i="0">
                    <a:latin typeface="Cambria Math" panose="02040503050406030204" pitchFamily="18" charset="0"/>
                  </a:rPr>
                  <a:t>𝑑𝐵</a:t>
                </a:r>
                <a:endParaRPr lang="en-US" b="0" dirty="0"/>
              </a:p>
              <a:p>
                <a:r>
                  <a:rPr lang="en-US" b="0" i="0">
                    <a:latin typeface="Cambria Math" panose="02040503050406030204" pitchFamily="18" charset="0"/>
                  </a:rPr>
                  <a:t>𝑥_𝑑𝐵=10 log_10⁡(𝑥)</a:t>
                </a:r>
                <a:endParaRPr lang="el-GR" dirty="0"/>
              </a:p>
            </p:txBody>
          </p:sp>
        </mc:Fallback>
      </mc:AlternateContent>
      <p:sp>
        <p:nvSpPr>
          <p:cNvPr id="4" name="Θέση αριθμού διαφάνειας 3"/>
          <p:cNvSpPr>
            <a:spLocks noGrp="1"/>
          </p:cNvSpPr>
          <p:nvPr>
            <p:ph type="sldNum" sz="quarter" idx="5"/>
          </p:nvPr>
        </p:nvSpPr>
        <p:spPr/>
        <p:txBody>
          <a:bodyPr/>
          <a:lstStyle/>
          <a:p>
            <a:pPr>
              <a:defRPr/>
            </a:pPr>
            <a:fld id="{A32E23F3-CE2C-42DD-879E-EEA2030225B4}" type="slidenum">
              <a:rPr lang="en-US" altLang="en-US" smtClean="0"/>
              <a:pPr>
                <a:defRPr/>
              </a:pPr>
              <a:t>13</a:t>
            </a:fld>
            <a:endParaRPr lang="en-US" altLang="en-US"/>
          </a:p>
        </p:txBody>
      </p:sp>
    </p:spTree>
    <p:extLst>
      <p:ext uri="{BB962C8B-B14F-4D97-AF65-F5344CB8AC3E}">
        <p14:creationId xmlns:p14="http://schemas.microsoft.com/office/powerpoint/2010/main" val="2315736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mc:AlternateContent xmlns:mc="http://schemas.openxmlformats.org/markup-compatibility/2006" xmlns:a14="http://schemas.microsoft.com/office/drawing/2010/main">
        <mc:Choice Requires="a14">
          <p:sp>
            <p:nvSpPr>
              <p:cNvPr id="3" name="Θέση σημειώσεων 2"/>
              <p:cNvSpPr>
                <a:spLocks noGrp="1"/>
              </p:cNvSpPr>
              <p:nvPr>
                <p:ph type="body" idx="1"/>
              </p:nvPr>
            </p:nvSpPr>
            <p:spPr/>
            <p:txBody>
              <a:bodyPr/>
              <a:lstStyle/>
              <a:p>
                <a:pPr lvl="0"/>
                <a:r>
                  <a:rPr lang="el-GR" altLang="en-US" sz="1200" b="1" dirty="0">
                    <a:latin typeface="Arial" panose="020B0604020202020204" pitchFamily="34" charset="0"/>
                    <a:ea typeface="Times New Roman" panose="02020603050405020304" pitchFamily="18" charset="0"/>
                  </a:rPr>
                  <a:t>(α)</a:t>
                </a:r>
                <a:r>
                  <a:rPr lang="en-US" altLang="en-US" sz="1200" dirty="0">
                    <a:latin typeface="Arial" panose="020B0604020202020204" pitchFamily="34" charset="0"/>
                    <a:ea typeface="Times New Roman" panose="02020603050405020304" pitchFamily="18" charset="0"/>
                  </a:rPr>
                  <a:t> </a:t>
                </a:r>
                <a:r>
                  <a:rPr lang="el-GR" altLang="en-US" sz="1200" dirty="0">
                    <a:latin typeface="Arial" panose="020B0604020202020204" pitchFamily="34" charset="0"/>
                    <a:ea typeface="Times New Roman" panose="02020603050405020304" pitchFamily="18" charset="0"/>
                  </a:rPr>
                  <a:t>Για 1024 καταστάσεις συμβόλων, ο αριθμός των </a:t>
                </a:r>
                <a:r>
                  <a:rPr lang="el-GR" altLang="en-US" sz="1200" dirty="0" err="1">
                    <a:latin typeface="Arial" panose="020B0604020202020204" pitchFamily="34" charset="0"/>
                    <a:ea typeface="Times New Roman" panose="02020603050405020304" pitchFamily="18" charset="0"/>
                  </a:rPr>
                  <a:t>bit</a:t>
                </a:r>
                <a:r>
                  <a:rPr lang="el-GR" altLang="en-US" sz="1200" dirty="0">
                    <a:latin typeface="Arial" panose="020B0604020202020204" pitchFamily="34" charset="0"/>
                    <a:ea typeface="Times New Roman" panose="02020603050405020304" pitchFamily="18" charset="0"/>
                  </a:rPr>
                  <a:t> που παριστάνονται με κάθε σύμβολο είναι:</a:t>
                </a:r>
                <a:endParaRPr lang="en-US" altLang="en-US" sz="7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l-GR" sz="2000" i="0" smtClean="0">
                          <a:solidFill>
                            <a:srgbClr val="000000"/>
                          </a:solidFill>
                          <a:latin typeface="Cambria Math" panose="02040503050406030204" pitchFamily="18" charset="0"/>
                        </a:rPr>
                        <m:t>lo</m:t>
                      </m:r>
                      <m:sSub>
                        <m:sSubPr>
                          <m:ctrlPr>
                            <a:rPr lang="el-GR" sz="2000" i="1">
                              <a:solidFill>
                                <a:srgbClr val="000000"/>
                              </a:solidFill>
                              <a:latin typeface="Cambria Math" panose="02040503050406030204" pitchFamily="18" charset="0"/>
                            </a:rPr>
                          </m:ctrlPr>
                        </m:sSubPr>
                        <m:e>
                          <m:r>
                            <m:rPr>
                              <m:nor/>
                            </m:rPr>
                            <a:rPr lang="el-GR" sz="2000" i="0">
                              <a:solidFill>
                                <a:srgbClr val="000000"/>
                              </a:solidFill>
                              <a:latin typeface="Cambria Math" panose="02040503050406030204" pitchFamily="18" charset="0"/>
                            </a:rPr>
                            <m:t>g</m:t>
                          </m:r>
                        </m:e>
                        <m:sub>
                          <m:r>
                            <a:rPr lang="el-GR" sz="2000" i="0">
                              <a:solidFill>
                                <a:srgbClr val="000000"/>
                              </a:solidFill>
                              <a:latin typeface="Cambria Math" panose="02040503050406030204" pitchFamily="18" charset="0"/>
                            </a:rPr>
                            <m:t>2</m:t>
                          </m:r>
                        </m:sub>
                      </m:sSub>
                      <m:d>
                        <m:dPr>
                          <m:ctrlPr>
                            <a:rPr lang="el-GR" sz="2000" i="1">
                              <a:solidFill>
                                <a:srgbClr val="000000"/>
                              </a:solidFill>
                              <a:latin typeface="Cambria Math" panose="02040503050406030204" pitchFamily="18" charset="0"/>
                            </a:rPr>
                          </m:ctrlPr>
                        </m:dPr>
                        <m:e>
                          <m:r>
                            <m:rPr>
                              <m:nor/>
                            </m:rPr>
                            <a:rPr lang="el-GR" sz="2000" i="0">
                              <a:solidFill>
                                <a:srgbClr val="000000"/>
                              </a:solidFill>
                              <a:latin typeface="Cambria Math" panose="02040503050406030204" pitchFamily="18" charset="0"/>
                            </a:rPr>
                            <m:t>1024</m:t>
                          </m:r>
                        </m:e>
                      </m:d>
                      <m:r>
                        <a:rPr lang="el-GR" sz="2000" i="0">
                          <a:solidFill>
                            <a:srgbClr val="000000"/>
                          </a:solidFill>
                          <a:latin typeface="Cambria Math" panose="02040503050406030204" pitchFamily="18" charset="0"/>
                        </a:rPr>
                        <m:t> </m:t>
                      </m:r>
                      <m:r>
                        <a:rPr lang="el-GR" sz="2000" i="1">
                          <a:solidFill>
                            <a:srgbClr val="000000"/>
                          </a:solidFill>
                          <a:latin typeface="Cambria Math" panose="02040503050406030204" pitchFamily="18" charset="0"/>
                        </a:rPr>
                        <m:t>=</m:t>
                      </m:r>
                      <m:r>
                        <m:rPr>
                          <m:nor/>
                        </m:rPr>
                        <a:rPr lang="el-GR" sz="2000" i="0">
                          <a:solidFill>
                            <a:srgbClr val="000000"/>
                          </a:solidFill>
                          <a:latin typeface="Cambria Math" panose="02040503050406030204" pitchFamily="18" charset="0"/>
                        </a:rPr>
                        <m:t> 10 </m:t>
                      </m:r>
                      <m:r>
                        <m:rPr>
                          <m:nor/>
                        </m:rPr>
                        <a:rPr lang="el-GR" sz="2000" i="0">
                          <a:solidFill>
                            <a:srgbClr val="000000"/>
                          </a:solidFill>
                          <a:latin typeface="Cambria Math" panose="02040503050406030204" pitchFamily="18" charset="0"/>
                        </a:rPr>
                        <m:t>bit</m:t>
                      </m:r>
                      <m:r>
                        <m:rPr>
                          <m:nor/>
                        </m:rPr>
                        <a:rPr lang="el-GR" sz="2000" i="0">
                          <a:solidFill>
                            <a:srgbClr val="000000"/>
                          </a:solidFill>
                          <a:latin typeface="Cambria Math" panose="02040503050406030204" pitchFamily="18" charset="0"/>
                        </a:rPr>
                        <m:t>/</m:t>
                      </m:r>
                      <m:r>
                        <a:rPr lang="el-GR" sz="2000" i="1">
                          <a:solidFill>
                            <a:srgbClr val="000000"/>
                          </a:solidFill>
                          <a:latin typeface="Cambria Math" panose="02040503050406030204" pitchFamily="18" charset="0"/>
                        </a:rPr>
                        <m:t>𝜎</m:t>
                      </m:r>
                      <m:r>
                        <m:rPr>
                          <m:sty m:val="p"/>
                        </m:rPr>
                        <a:rPr lang="el-GR" sz="2000" i="1">
                          <a:solidFill>
                            <a:srgbClr val="000000"/>
                          </a:solidFill>
                          <a:latin typeface="Cambria Math" panose="02040503050406030204" pitchFamily="18" charset="0"/>
                        </a:rPr>
                        <m:t>ύ</m:t>
                      </m:r>
                      <m:r>
                        <a:rPr lang="el-GR" sz="2000" i="1">
                          <a:solidFill>
                            <a:srgbClr val="000000"/>
                          </a:solidFill>
                          <a:latin typeface="Cambria Math" panose="02040503050406030204" pitchFamily="18" charset="0"/>
                        </a:rPr>
                        <m:t>𝜇𝛽𝜊𝜆𝜊</m:t>
                      </m:r>
                    </m:oMath>
                  </m:oMathPara>
                </a14:m>
                <a:endParaRPr lang="el-GR" sz="2000" dirty="0"/>
              </a:p>
              <a:p>
                <a:pPr lvl="0"/>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Για ρυθμό συμβόλων 4000 </a:t>
                </a:r>
                <a:r>
                  <a:rPr kumimoji="0" lang="el-GR" altLang="en-US" sz="12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rPr>
                  <a:t>baud</a:t>
                </a: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ο ρυθμός πληροφορίας είναι:</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4000 * 10 = 40 </a:t>
                </a:r>
                <a:r>
                  <a:rPr kumimoji="0" lang="el-GR" altLang="en-US" sz="12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rPr>
                  <a:t>kbps</a:t>
                </a: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a:t>
                </a:r>
                <a:endParaRPr kumimoji="0" lang="en-US"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(β)</a:t>
                </a:r>
                <a:r>
                  <a:rPr kumimoji="0" lang="en-US"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Για να αποσταλεί η πληροφορία στο μισό χρόνο, θα πρέπει να σταλούν τα δεδομένα με ρυθμό 80 </a:t>
                </a:r>
                <a:r>
                  <a:rPr kumimoji="0" lang="el-GR" altLang="en-US" sz="12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rPr>
                  <a:t>kbps</a:t>
                </a: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και επομένως να κωδικοποιούνται 20 </a:t>
                </a:r>
                <a:r>
                  <a:rPr kumimoji="0" lang="el-GR" altLang="en-US" sz="12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rPr>
                  <a:t>bit</a:t>
                </a: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ανά σύμβολο. Ο αριθμός των καταστάσεων συμβόλων σε αυτήν την περίπτωση είναι τεράστιος:</a:t>
                </a:r>
                <a:endParaRPr kumimoji="0" lang="el-GR" altLang="en-US" sz="1800" b="0" i="0" u="none" strike="noStrike" cap="none" normalizeH="0" baseline="0" dirty="0">
                  <a:ln>
                    <a:noFill/>
                  </a:ln>
                  <a:solidFill>
                    <a:schemeClr val="tx1"/>
                  </a:solidFill>
                  <a:effectLst/>
                  <a:latin typeface="Arial" panose="020B0604020202020204" pitchFamily="34" charset="0"/>
                </a:endParaRPr>
              </a:p>
              <a:p>
                <a:endParaRPr lang="en-US" dirty="0"/>
              </a:p>
              <a:p>
                <a:pPr/>
                <a14:m>
                  <m:oMathPara xmlns:m="http://schemas.openxmlformats.org/officeDocument/2006/math">
                    <m:oMathParaPr>
                      <m:jc m:val="centerGroup"/>
                    </m:oMathParaPr>
                    <m:oMath xmlns:m="http://schemas.openxmlformats.org/officeDocument/2006/math">
                      <m:sSup>
                        <m:sSupPr>
                          <m:ctrlPr>
                            <a:rPr lang="el-GR" i="1" smtClean="0">
                              <a:solidFill>
                                <a:srgbClr val="000000"/>
                              </a:solidFill>
                              <a:latin typeface="Cambria Math" panose="02040503050406030204" pitchFamily="18" charset="0"/>
                            </a:rPr>
                          </m:ctrlPr>
                        </m:sSupPr>
                        <m:e>
                          <m:r>
                            <a:rPr lang="el-GR" i="0">
                              <a:solidFill>
                                <a:srgbClr val="000000"/>
                              </a:solidFill>
                              <a:latin typeface="Cambria Math" panose="02040503050406030204" pitchFamily="18" charset="0"/>
                            </a:rPr>
                            <m:t>2</m:t>
                          </m:r>
                        </m:e>
                        <m:sup>
                          <m:r>
                            <m:rPr>
                              <m:nor/>
                            </m:rPr>
                            <a:rPr lang="el-GR" i="0">
                              <a:solidFill>
                                <a:srgbClr val="000000"/>
                              </a:solidFill>
                              <a:latin typeface="Cambria Math" panose="02040503050406030204" pitchFamily="18" charset="0"/>
                            </a:rPr>
                            <m:t>20</m:t>
                          </m:r>
                        </m:sup>
                      </m:sSup>
                      <m:r>
                        <a:rPr lang="el-GR" i="0">
                          <a:solidFill>
                            <a:srgbClr val="000000"/>
                          </a:solidFill>
                          <a:latin typeface="Cambria Math" panose="02040503050406030204" pitchFamily="18" charset="0"/>
                        </a:rPr>
                        <m:t> </m:t>
                      </m:r>
                      <m:r>
                        <a:rPr lang="el-GR" i="1">
                          <a:solidFill>
                            <a:srgbClr val="000000"/>
                          </a:solidFill>
                          <a:latin typeface="Cambria Math" panose="02040503050406030204" pitchFamily="18" charset="0"/>
                        </a:rPr>
                        <m:t>=</m:t>
                      </m:r>
                      <m:r>
                        <m:rPr>
                          <m:nor/>
                        </m:rPr>
                        <a:rPr lang="el-GR" i="0">
                          <a:solidFill>
                            <a:srgbClr val="000000"/>
                          </a:solidFill>
                          <a:latin typeface="Cambria Math" panose="02040503050406030204" pitchFamily="18" charset="0"/>
                        </a:rPr>
                        <m:t> 1048576</m:t>
                      </m:r>
                    </m:oMath>
                  </m:oMathPara>
                </a14:m>
                <a:endParaRPr lang="el-GR" dirty="0"/>
              </a:p>
            </p:txBody>
          </p:sp>
        </mc:Choice>
        <mc:Fallback xmlns="">
          <p:sp>
            <p:nvSpPr>
              <p:cNvPr id="3" name="Θέση σημειώσεων 2"/>
              <p:cNvSpPr>
                <a:spLocks noGrp="1"/>
              </p:cNvSpPr>
              <p:nvPr>
                <p:ph type="body" idx="1"/>
              </p:nvPr>
            </p:nvSpPr>
            <p:spPr/>
            <p:txBody>
              <a:bodyPr/>
              <a:lstStyle/>
              <a:p>
                <a:pPr lvl="0"/>
                <a:r>
                  <a:rPr lang="el-GR" altLang="en-US" sz="1200" b="1" dirty="0">
                    <a:latin typeface="Arial" panose="020B0604020202020204" pitchFamily="34" charset="0"/>
                    <a:ea typeface="Times New Roman" panose="02020603050405020304" pitchFamily="18" charset="0"/>
                  </a:rPr>
                  <a:t>(α)</a:t>
                </a:r>
                <a:r>
                  <a:rPr lang="en-US" altLang="en-US" sz="1200" dirty="0">
                    <a:latin typeface="Arial" panose="020B0604020202020204" pitchFamily="34" charset="0"/>
                    <a:ea typeface="Times New Roman" panose="02020603050405020304" pitchFamily="18" charset="0"/>
                  </a:rPr>
                  <a:t> </a:t>
                </a:r>
                <a:r>
                  <a:rPr lang="el-GR" altLang="en-US" sz="1200" dirty="0">
                    <a:latin typeface="Arial" panose="020B0604020202020204" pitchFamily="34" charset="0"/>
                    <a:ea typeface="Times New Roman" panose="02020603050405020304" pitchFamily="18" charset="0"/>
                  </a:rPr>
                  <a:t>Για 1024 καταστάσεις συμβόλων, ο αριθμός των </a:t>
                </a:r>
                <a:r>
                  <a:rPr lang="el-GR" altLang="en-US" sz="1200" dirty="0" err="1">
                    <a:latin typeface="Arial" panose="020B0604020202020204" pitchFamily="34" charset="0"/>
                    <a:ea typeface="Times New Roman" panose="02020603050405020304" pitchFamily="18" charset="0"/>
                  </a:rPr>
                  <a:t>bit</a:t>
                </a:r>
                <a:r>
                  <a:rPr lang="el-GR" altLang="en-US" sz="1200" dirty="0">
                    <a:latin typeface="Arial" panose="020B0604020202020204" pitchFamily="34" charset="0"/>
                    <a:ea typeface="Times New Roman" panose="02020603050405020304" pitchFamily="18" charset="0"/>
                  </a:rPr>
                  <a:t> που παριστάνονται με κάθε σύμβολο είναι:</a:t>
                </a:r>
                <a:endParaRPr lang="en-US" altLang="en-US" sz="7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l-GR" sz="2000" i="0">
                    <a:solidFill>
                      <a:srgbClr val="000000"/>
                    </a:solidFill>
                    <a:latin typeface="Cambria Math" panose="02040503050406030204" pitchFamily="18" charset="0"/>
                  </a:rPr>
                  <a:t>"lo" "g" _2 ("1024" )  =" 10 bit/" 𝜎ύ𝜇𝛽𝜊𝜆𝜊</a:t>
                </a:r>
                <a:endParaRPr lang="el-GR" sz="2000" dirty="0"/>
              </a:p>
              <a:p>
                <a:pPr lvl="0"/>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Για ρυθμό συμβόλων 4000 </a:t>
                </a:r>
                <a:r>
                  <a:rPr kumimoji="0" lang="el-GR" altLang="en-US" sz="12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rPr>
                  <a:t>baud</a:t>
                </a: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ο ρυθμός πληροφορίας είναι:</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4000 * 10 = 40 </a:t>
                </a:r>
                <a:r>
                  <a:rPr kumimoji="0" lang="el-GR" altLang="en-US" sz="12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rPr>
                  <a:t>kbps</a:t>
                </a: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a:t>
                </a:r>
                <a:endParaRPr kumimoji="0" lang="en-US"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(β)</a:t>
                </a:r>
                <a:r>
                  <a:rPr kumimoji="0" lang="en-US"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Για να αποσταλεί η πληροφορία στο μισό χρόνο, θα πρέπει να σταλούν τα δεδομένα με ρυθμό 80 </a:t>
                </a:r>
                <a:r>
                  <a:rPr kumimoji="0" lang="el-GR" altLang="en-US" sz="12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rPr>
                  <a:t>kbps</a:t>
                </a: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και επομένως να κωδικοποιούνται 20 </a:t>
                </a:r>
                <a:r>
                  <a:rPr kumimoji="0" lang="el-GR" altLang="en-US" sz="12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rPr>
                  <a:t>bit</a:t>
                </a: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ανά σύμβολο. Ο αριθμός των καταστάσεων συμβόλων σε αυτήν την περίπτωση είναι τεράστιος:</a:t>
                </a:r>
                <a:endParaRPr kumimoji="0" lang="el-GR" altLang="en-US" sz="1800" b="0" i="0" u="none" strike="noStrike" cap="none" normalizeH="0" baseline="0" dirty="0">
                  <a:ln>
                    <a:noFill/>
                  </a:ln>
                  <a:solidFill>
                    <a:schemeClr val="tx1"/>
                  </a:solidFill>
                  <a:effectLst/>
                  <a:latin typeface="Arial" panose="020B0604020202020204" pitchFamily="34" charset="0"/>
                </a:endParaRPr>
              </a:p>
              <a:p>
                <a:endParaRPr lang="en-US" dirty="0"/>
              </a:p>
              <a:p>
                <a:r>
                  <a:rPr lang="el-GR" i="0">
                    <a:solidFill>
                      <a:srgbClr val="000000"/>
                    </a:solidFill>
                    <a:latin typeface="Cambria Math" panose="02040503050406030204" pitchFamily="18" charset="0"/>
                  </a:rPr>
                  <a:t>2^"20"   =" 1048576"</a:t>
                </a:r>
                <a:endParaRPr lang="el-GR" dirty="0"/>
              </a:p>
            </p:txBody>
          </p:sp>
        </mc:Fallback>
      </mc:AlternateContent>
      <p:sp>
        <p:nvSpPr>
          <p:cNvPr id="4" name="Θέση αριθμού διαφάνειας 3"/>
          <p:cNvSpPr>
            <a:spLocks noGrp="1"/>
          </p:cNvSpPr>
          <p:nvPr>
            <p:ph type="sldNum" sz="quarter" idx="5"/>
          </p:nvPr>
        </p:nvSpPr>
        <p:spPr/>
        <p:txBody>
          <a:bodyPr/>
          <a:lstStyle/>
          <a:p>
            <a:pPr>
              <a:defRPr/>
            </a:pPr>
            <a:fld id="{A32E23F3-CE2C-42DD-879E-EEA2030225B4}" type="slidenum">
              <a:rPr lang="en-US" altLang="en-US" smtClean="0"/>
              <a:pPr>
                <a:defRPr/>
              </a:pPr>
              <a:t>14</a:t>
            </a:fld>
            <a:endParaRPr lang="en-US" altLang="en-US"/>
          </a:p>
        </p:txBody>
      </p:sp>
    </p:spTree>
    <p:extLst>
      <p:ext uri="{BB962C8B-B14F-4D97-AF65-F5344CB8AC3E}">
        <p14:creationId xmlns:p14="http://schemas.microsoft.com/office/powerpoint/2010/main" val="3944161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mc:AlternateContent xmlns:mc="http://schemas.openxmlformats.org/markup-compatibility/2006" xmlns:a14="http://schemas.microsoft.com/office/drawing/2010/main">
        <mc:Choice Requires="a14">
          <p:sp>
            <p:nvSpPr>
              <p:cNvPr id="3" name="Θέση σημειώσεων 2"/>
              <p:cNvSpPr>
                <a:spLocks noGrp="1"/>
              </p:cNvSpPr>
              <p:nvPr>
                <p:ph type="body" idx="1"/>
              </p:nvPr>
            </p:nvSpPr>
            <p:spPr/>
            <p:txBody>
              <a:bodyPr/>
              <a:lstStyle/>
              <a:p>
                <a:r>
                  <a:rPr lang="el-GR" sz="1200" b="1" dirty="0">
                    <a:solidFill>
                      <a:schemeClr val="bg2">
                        <a:lumMod val="50000"/>
                        <a:lumOff val="50000"/>
                      </a:schemeClr>
                    </a:solidFill>
                  </a:rPr>
                  <a:t>Λύση:</a:t>
                </a:r>
              </a:p>
              <a:p>
                <a:r>
                  <a:rPr lang="el-GR" sz="1200" dirty="0">
                    <a:solidFill>
                      <a:schemeClr val="bg2">
                        <a:lumMod val="50000"/>
                        <a:lumOff val="50000"/>
                      </a:schemeClr>
                    </a:solidFill>
                  </a:rPr>
                  <a:t>Χωρητικότητα καναλιού</a:t>
                </a:r>
                <a:r>
                  <a:rPr lang="en-US" sz="1200" dirty="0">
                    <a:solidFill>
                      <a:schemeClr val="bg2">
                        <a:lumMod val="50000"/>
                        <a:lumOff val="50000"/>
                      </a:schemeClr>
                    </a:solidFill>
                  </a:rPr>
                  <a:t> (</a:t>
                </a:r>
                <a:r>
                  <a:rPr lang="el-GR" sz="1200" dirty="0" err="1">
                    <a:solidFill>
                      <a:schemeClr val="bg2">
                        <a:lumMod val="50000"/>
                        <a:lumOff val="50000"/>
                      </a:schemeClr>
                    </a:solidFill>
                  </a:rPr>
                  <a:t>Channel</a:t>
                </a:r>
                <a:r>
                  <a:rPr lang="el-GR" sz="1200" dirty="0">
                    <a:solidFill>
                      <a:schemeClr val="bg2">
                        <a:lumMod val="50000"/>
                        <a:lumOff val="50000"/>
                      </a:schemeClr>
                    </a:solidFill>
                  </a:rPr>
                  <a:t> </a:t>
                </a:r>
                <a:r>
                  <a:rPr lang="el-GR" sz="1200" dirty="0" err="1">
                    <a:solidFill>
                      <a:schemeClr val="bg2">
                        <a:lumMod val="50000"/>
                        <a:lumOff val="50000"/>
                      </a:schemeClr>
                    </a:solidFill>
                  </a:rPr>
                  <a:t>Capacity</a:t>
                </a:r>
                <a:r>
                  <a:rPr lang="en-US" sz="1200" dirty="0">
                    <a:solidFill>
                      <a:schemeClr val="bg2">
                        <a:lumMod val="50000"/>
                        <a:lumOff val="50000"/>
                      </a:schemeClr>
                    </a:solidFill>
                  </a:rPr>
                  <a:t>)</a:t>
                </a:r>
                <a:r>
                  <a:rPr lang="el-GR" sz="1200" dirty="0">
                    <a:solidFill>
                      <a:schemeClr val="bg2">
                        <a:lumMod val="50000"/>
                        <a:lumOff val="50000"/>
                      </a:schemeClr>
                    </a:solidFill>
                  </a:rPr>
                  <a:t>:</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l-GR" i="0" smtClean="0">
                          <a:solidFill>
                            <a:srgbClr val="000000"/>
                          </a:solidFill>
                          <a:latin typeface="Cambria Math" panose="02040503050406030204" pitchFamily="18" charset="0"/>
                        </a:rPr>
                        <m:t>C</m:t>
                      </m:r>
                      <m:r>
                        <a:rPr lang="el-GR" i="1">
                          <a:solidFill>
                            <a:srgbClr val="000000"/>
                          </a:solidFill>
                          <a:latin typeface="Cambria Math" panose="02040503050406030204" pitchFamily="18" charset="0"/>
                        </a:rPr>
                        <m:t>=</m:t>
                      </m:r>
                      <m:r>
                        <m:rPr>
                          <m:nor/>
                        </m:rPr>
                        <a:rPr lang="el-GR" i="0">
                          <a:solidFill>
                            <a:srgbClr val="000000"/>
                          </a:solidFill>
                          <a:latin typeface="Cambria Math" panose="02040503050406030204" pitchFamily="18" charset="0"/>
                        </a:rPr>
                        <m:t>2 </m:t>
                      </m:r>
                      <m:r>
                        <m:rPr>
                          <m:nor/>
                        </m:rPr>
                        <a:rPr lang="el-GR" i="0">
                          <a:solidFill>
                            <a:srgbClr val="000000"/>
                          </a:solidFill>
                          <a:latin typeface="Cambria Math" panose="02040503050406030204" pitchFamily="18" charset="0"/>
                        </a:rPr>
                        <m:t>B</m:t>
                      </m:r>
                      <m:r>
                        <m:rPr>
                          <m:nor/>
                        </m:rPr>
                        <a:rPr lang="el-GR" i="0">
                          <a:solidFill>
                            <a:srgbClr val="000000"/>
                          </a:solidFill>
                          <a:latin typeface="Cambria Math" panose="02040503050406030204" pitchFamily="18" charset="0"/>
                        </a:rPr>
                        <m:t> </m:t>
                      </m:r>
                      <m:r>
                        <m:rPr>
                          <m:nor/>
                        </m:rPr>
                        <a:rPr lang="el-GR" i="0">
                          <a:solidFill>
                            <a:srgbClr val="000000"/>
                          </a:solidFill>
                          <a:latin typeface="Cambria Math" panose="02040503050406030204" pitchFamily="18" charset="0"/>
                        </a:rPr>
                        <m:t>lo</m:t>
                      </m:r>
                      <m:sSub>
                        <m:sSubPr>
                          <m:ctrlPr>
                            <a:rPr lang="el-GR" i="1">
                              <a:solidFill>
                                <a:srgbClr val="000000"/>
                              </a:solidFill>
                              <a:latin typeface="Cambria Math" panose="02040503050406030204" pitchFamily="18" charset="0"/>
                            </a:rPr>
                          </m:ctrlPr>
                        </m:sSubPr>
                        <m:e>
                          <m:r>
                            <m:rPr>
                              <m:nor/>
                            </m:rPr>
                            <a:rPr lang="el-GR" i="0">
                              <a:solidFill>
                                <a:srgbClr val="000000"/>
                              </a:solidFill>
                              <a:latin typeface="Cambria Math" panose="02040503050406030204" pitchFamily="18" charset="0"/>
                            </a:rPr>
                            <m:t>g</m:t>
                          </m:r>
                        </m:e>
                        <m:sub>
                          <m:r>
                            <a:rPr lang="el-GR" i="0">
                              <a:solidFill>
                                <a:srgbClr val="000000"/>
                              </a:solidFill>
                              <a:latin typeface="Cambria Math" panose="02040503050406030204" pitchFamily="18" charset="0"/>
                            </a:rPr>
                            <m:t>2</m:t>
                          </m:r>
                        </m:sub>
                      </m:sSub>
                      <m:r>
                        <m:rPr>
                          <m:nor/>
                        </m:rPr>
                        <a:rPr lang="el-GR" i="0">
                          <a:solidFill>
                            <a:srgbClr val="000000"/>
                          </a:solidFill>
                          <a:latin typeface="Cambria Math" panose="02040503050406030204" pitchFamily="18" charset="0"/>
                        </a:rPr>
                        <m:t>M</m:t>
                      </m:r>
                      <m:r>
                        <m:rPr>
                          <m:nor/>
                        </m:rPr>
                        <a:rPr lang="el-GR" i="0">
                          <a:solidFill>
                            <a:srgbClr val="000000"/>
                          </a:solidFill>
                          <a:latin typeface="Cambria Math" panose="02040503050406030204" pitchFamily="18" charset="0"/>
                        </a:rPr>
                        <m:t> </m:t>
                      </m:r>
                      <m:r>
                        <a:rPr lang="el-GR" i="1">
                          <a:solidFill>
                            <a:srgbClr val="000000"/>
                          </a:solidFill>
                          <a:latin typeface="Cambria Math" panose="02040503050406030204" pitchFamily="18" charset="0"/>
                        </a:rPr>
                        <m:t> </m:t>
                      </m:r>
                      <m:d>
                        <m:dPr>
                          <m:ctrlPr>
                            <a:rPr lang="el-GR" i="1">
                              <a:solidFill>
                                <a:srgbClr val="000000"/>
                              </a:solidFill>
                              <a:latin typeface="Cambria Math" panose="02040503050406030204" pitchFamily="18" charset="0"/>
                            </a:rPr>
                          </m:ctrlPr>
                        </m:dPr>
                        <m:e>
                          <m:r>
                            <m:rPr>
                              <m:nor/>
                            </m:rPr>
                            <a:rPr lang="el-GR" i="0">
                              <a:solidFill>
                                <a:srgbClr val="000000"/>
                              </a:solidFill>
                              <a:latin typeface="Cambria Math" panose="02040503050406030204" pitchFamily="18" charset="0"/>
                            </a:rPr>
                            <m:t>bits</m:t>
                          </m:r>
                          <m:r>
                            <m:rPr>
                              <m:nor/>
                            </m:rPr>
                            <a:rPr lang="el-GR" i="0">
                              <a:solidFill>
                                <a:srgbClr val="000000"/>
                              </a:solidFill>
                              <a:latin typeface="Cambria Math" panose="02040503050406030204" pitchFamily="18" charset="0"/>
                            </a:rPr>
                            <m:t> /</m:t>
                          </m:r>
                          <m:r>
                            <m:rPr>
                              <m:nor/>
                            </m:rPr>
                            <a:rPr lang="el-GR" i="0">
                              <a:solidFill>
                                <a:srgbClr val="000000"/>
                              </a:solidFill>
                              <a:latin typeface="Cambria Math" panose="02040503050406030204" pitchFamily="18" charset="0"/>
                            </a:rPr>
                            <m:t>sec</m:t>
                          </m:r>
                        </m:e>
                      </m:d>
                    </m:oMath>
                  </m:oMathPara>
                </a14:m>
                <a:endParaRPr lang="el-GR"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olidFill>
                      <a:srgbClr val="000000"/>
                    </a:solidFill>
                  </a:rPr>
                  <a:t>					</a:t>
                </a:r>
                <a14:m>
                  <m:oMath xmlns:m="http://schemas.openxmlformats.org/officeDocument/2006/math">
                    <m:r>
                      <m:rPr>
                        <m:sty m:val="p"/>
                      </m:rPr>
                      <a:rPr lang="el-GR" i="0" smtClean="0">
                        <a:solidFill>
                          <a:srgbClr val="000000"/>
                        </a:solidFill>
                        <a:latin typeface="Cambria Math" panose="02040503050406030204" pitchFamily="18" charset="0"/>
                      </a:rPr>
                      <m:t>Μ</m:t>
                    </m:r>
                    <m:r>
                      <a:rPr lang="el-GR" i="1">
                        <a:solidFill>
                          <a:srgbClr val="000000"/>
                        </a:solidFill>
                        <a:latin typeface="Cambria Math" panose="02040503050406030204" pitchFamily="18" charset="0"/>
                      </a:rPr>
                      <m:t>=</m:t>
                    </m:r>
                    <m:sSup>
                      <m:sSupPr>
                        <m:ctrlPr>
                          <a:rPr lang="el-GR" i="1">
                            <a:solidFill>
                              <a:srgbClr val="000000"/>
                            </a:solidFill>
                            <a:latin typeface="Cambria Math" panose="02040503050406030204" pitchFamily="18" charset="0"/>
                          </a:rPr>
                        </m:ctrlPr>
                      </m:sSupPr>
                      <m:e>
                        <m:r>
                          <a:rPr lang="el-GR" i="0">
                            <a:solidFill>
                              <a:srgbClr val="000000"/>
                            </a:solidFill>
                            <a:latin typeface="Cambria Math" panose="02040503050406030204" pitchFamily="18" charset="0"/>
                          </a:rPr>
                          <m:t>2</m:t>
                        </m:r>
                      </m:e>
                      <m:sup>
                        <m:r>
                          <a:rPr lang="el-GR" i="0">
                            <a:solidFill>
                              <a:srgbClr val="000000"/>
                            </a:solidFill>
                            <a:latin typeface="Cambria Math" panose="02040503050406030204" pitchFamily="18" charset="0"/>
                          </a:rPr>
                          <m:t> </m:t>
                        </m:r>
                        <m:f>
                          <m:fPr>
                            <m:ctrlPr>
                              <a:rPr lang="el-GR" i="1">
                                <a:solidFill>
                                  <a:srgbClr val="000000"/>
                                </a:solidFill>
                                <a:latin typeface="Cambria Math" panose="02040503050406030204" pitchFamily="18" charset="0"/>
                              </a:rPr>
                            </m:ctrlPr>
                          </m:fPr>
                          <m:num>
                            <m:r>
                              <m:rPr>
                                <m:sty m:val="p"/>
                              </m:rPr>
                              <a:rPr lang="el-GR" i="0">
                                <a:solidFill>
                                  <a:srgbClr val="000000"/>
                                </a:solidFill>
                                <a:latin typeface="Cambria Math" panose="02040503050406030204" pitchFamily="18" charset="0"/>
                              </a:rPr>
                              <m:t>C</m:t>
                            </m:r>
                          </m:num>
                          <m:den>
                            <m:r>
                              <m:rPr>
                                <m:nor/>
                              </m:rPr>
                              <a:rPr lang="el-GR" i="0">
                                <a:solidFill>
                                  <a:srgbClr val="000000"/>
                                </a:solidFill>
                                <a:latin typeface="Cambria Math" panose="02040503050406030204" pitchFamily="18" charset="0"/>
                              </a:rPr>
                              <m:t>2</m:t>
                            </m:r>
                            <m:r>
                              <m:rPr>
                                <m:nor/>
                              </m:rPr>
                              <a:rPr lang="el-GR" i="0">
                                <a:solidFill>
                                  <a:srgbClr val="000000"/>
                                </a:solidFill>
                                <a:latin typeface="Cambria Math" panose="02040503050406030204" pitchFamily="18" charset="0"/>
                              </a:rPr>
                              <m:t>B</m:t>
                            </m:r>
                          </m:den>
                        </m:f>
                        <m:r>
                          <a:rPr lang="el-GR" i="0">
                            <a:solidFill>
                              <a:srgbClr val="000000"/>
                            </a:solidFill>
                            <a:latin typeface="Cambria Math" panose="02040503050406030204" pitchFamily="18" charset="0"/>
                          </a:rPr>
                          <m:t> </m:t>
                        </m:r>
                      </m:sup>
                    </m:sSup>
                    <m:r>
                      <a:rPr lang="el-GR" i="1">
                        <a:solidFill>
                          <a:srgbClr val="000000"/>
                        </a:solidFill>
                        <a:latin typeface="Cambria Math" panose="02040503050406030204" pitchFamily="18" charset="0"/>
                      </a:rPr>
                      <m:t>=</m:t>
                    </m:r>
                    <m:sSup>
                      <m:sSupPr>
                        <m:ctrlPr>
                          <a:rPr lang="el-GR" i="1">
                            <a:solidFill>
                              <a:srgbClr val="000000"/>
                            </a:solidFill>
                            <a:latin typeface="Cambria Math" panose="02040503050406030204" pitchFamily="18" charset="0"/>
                          </a:rPr>
                        </m:ctrlPr>
                      </m:sSupPr>
                      <m:e>
                        <m:r>
                          <a:rPr lang="el-GR" i="0">
                            <a:solidFill>
                              <a:srgbClr val="000000"/>
                            </a:solidFill>
                            <a:latin typeface="Cambria Math" panose="02040503050406030204" pitchFamily="18" charset="0"/>
                          </a:rPr>
                          <m:t>2</m:t>
                        </m:r>
                      </m:e>
                      <m:sup>
                        <m:r>
                          <a:rPr lang="el-GR" i="0">
                            <a:solidFill>
                              <a:srgbClr val="000000"/>
                            </a:solidFill>
                            <a:latin typeface="Cambria Math" panose="02040503050406030204" pitchFamily="18" charset="0"/>
                          </a:rPr>
                          <m:t> </m:t>
                        </m:r>
                        <m:f>
                          <m:fPr>
                            <m:ctrlPr>
                              <a:rPr lang="el-GR" i="1">
                                <a:solidFill>
                                  <a:srgbClr val="000000"/>
                                </a:solidFill>
                                <a:latin typeface="Cambria Math" panose="02040503050406030204" pitchFamily="18" charset="0"/>
                              </a:rPr>
                            </m:ctrlPr>
                          </m:fPr>
                          <m:num>
                            <m:r>
                              <m:rPr>
                                <m:nor/>
                              </m:rPr>
                              <a:rPr lang="el-GR" i="0">
                                <a:solidFill>
                                  <a:srgbClr val="000000"/>
                                </a:solidFill>
                                <a:latin typeface="Cambria Math" panose="02040503050406030204" pitchFamily="18" charset="0"/>
                              </a:rPr>
                              <m:t>22800</m:t>
                            </m:r>
                          </m:num>
                          <m:den>
                            <m:r>
                              <a:rPr lang="el-GR" i="0">
                                <a:solidFill>
                                  <a:srgbClr val="000000"/>
                                </a:solidFill>
                                <a:latin typeface="Cambria Math" panose="02040503050406030204" pitchFamily="18" charset="0"/>
                              </a:rPr>
                              <m:t>2</m:t>
                            </m:r>
                            <m:r>
                              <a:rPr lang="el-GR" i="1">
                                <a:solidFill>
                                  <a:srgbClr val="000000"/>
                                </a:solidFill>
                                <a:latin typeface="Cambria Math" panose="02040503050406030204" pitchFamily="18" charset="0"/>
                              </a:rPr>
                              <m:t>∗(</m:t>
                            </m:r>
                            <m:r>
                              <m:rPr>
                                <m:nor/>
                              </m:rPr>
                              <a:rPr lang="el-GR" i="0">
                                <a:solidFill>
                                  <a:srgbClr val="000000"/>
                                </a:solidFill>
                                <a:latin typeface="Cambria Math" panose="02040503050406030204" pitchFamily="18" charset="0"/>
                              </a:rPr>
                              <m:t>3100−0</m:t>
                            </m:r>
                            <m:r>
                              <a:rPr lang="el-GR" i="1">
                                <a:solidFill>
                                  <a:srgbClr val="000000"/>
                                </a:solidFill>
                                <a:latin typeface="Cambria Math" panose="02040503050406030204" pitchFamily="18" charset="0"/>
                              </a:rPr>
                              <m:t>)</m:t>
                            </m:r>
                          </m:den>
                        </m:f>
                        <m:r>
                          <a:rPr lang="el-GR" i="0">
                            <a:solidFill>
                              <a:srgbClr val="000000"/>
                            </a:solidFill>
                            <a:latin typeface="Cambria Math" panose="02040503050406030204" pitchFamily="18" charset="0"/>
                          </a:rPr>
                          <m:t> </m:t>
                        </m:r>
                      </m:sup>
                    </m:sSup>
                    <m:r>
                      <a:rPr lang="el-GR" i="1">
                        <a:solidFill>
                          <a:srgbClr val="000000"/>
                        </a:solidFill>
                        <a:latin typeface="Cambria Math" panose="02040503050406030204" pitchFamily="18" charset="0"/>
                      </a:rPr>
                      <m:t>=22.8</m:t>
                    </m:r>
                  </m:oMath>
                </a14:m>
                <a:r>
                  <a:rPr lang="en-US" dirty="0"/>
                  <a:t> -&gt; </a:t>
                </a:r>
                <a:r>
                  <a:rPr lang="el-GR" sz="1200" dirty="0">
                    <a:solidFill>
                      <a:schemeClr val="bg2">
                        <a:lumMod val="50000"/>
                        <a:lumOff val="50000"/>
                      </a:schemeClr>
                    </a:solidFill>
                  </a:rPr>
                  <a:t>3</a:t>
                </a:r>
                <a:r>
                  <a:rPr lang="en-US" sz="1200" dirty="0">
                    <a:solidFill>
                      <a:schemeClr val="bg2">
                        <a:lumMod val="50000"/>
                        <a:lumOff val="50000"/>
                      </a:schemeClr>
                    </a:solidFill>
                  </a:rPr>
                  <a:t>2</a:t>
                </a:r>
                <a:r>
                  <a:rPr lang="el-GR" sz="1200" dirty="0">
                    <a:solidFill>
                      <a:schemeClr val="bg2">
                        <a:lumMod val="50000"/>
                        <a:lumOff val="50000"/>
                      </a:schemeClr>
                    </a:solidFill>
                  </a:rPr>
                  <a:t> Καταστάσεις Συμβόλων</a:t>
                </a:r>
                <a:endParaRPr lang="en-US" sz="1200" dirty="0">
                  <a:solidFill>
                    <a:schemeClr val="bg2">
                      <a:lumMod val="50000"/>
                      <a:lumOff val="50000"/>
                    </a:schemeClr>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l-GR" dirty="0"/>
              </a:p>
              <a:p>
                <a:endParaRPr lang="el-GR" dirty="0"/>
              </a:p>
            </p:txBody>
          </p:sp>
        </mc:Choice>
        <mc:Fallback xmlns="">
          <p:sp>
            <p:nvSpPr>
              <p:cNvPr id="3" name="Θέση σημειώσεων 2"/>
              <p:cNvSpPr>
                <a:spLocks noGrp="1"/>
              </p:cNvSpPr>
              <p:nvPr>
                <p:ph type="body" idx="1"/>
              </p:nvPr>
            </p:nvSpPr>
            <p:spPr/>
            <p:txBody>
              <a:bodyPr/>
              <a:lstStyle/>
              <a:p>
                <a:r>
                  <a:rPr lang="el-GR" sz="1200" b="1" dirty="0">
                    <a:solidFill>
                      <a:schemeClr val="bg2">
                        <a:lumMod val="50000"/>
                        <a:lumOff val="50000"/>
                      </a:schemeClr>
                    </a:solidFill>
                  </a:rPr>
                  <a:t>Λύση:</a:t>
                </a:r>
              </a:p>
              <a:p>
                <a:r>
                  <a:rPr lang="el-GR" sz="1200" dirty="0">
                    <a:solidFill>
                      <a:schemeClr val="bg2">
                        <a:lumMod val="50000"/>
                        <a:lumOff val="50000"/>
                      </a:schemeClr>
                    </a:solidFill>
                  </a:rPr>
                  <a:t>Χωρητικότητα καναλιού</a:t>
                </a:r>
                <a:r>
                  <a:rPr lang="en-US" sz="1200" dirty="0">
                    <a:solidFill>
                      <a:schemeClr val="bg2">
                        <a:lumMod val="50000"/>
                        <a:lumOff val="50000"/>
                      </a:schemeClr>
                    </a:solidFill>
                  </a:rPr>
                  <a:t> (</a:t>
                </a:r>
                <a:r>
                  <a:rPr lang="el-GR" sz="1200" dirty="0" err="1">
                    <a:solidFill>
                      <a:schemeClr val="bg2">
                        <a:lumMod val="50000"/>
                        <a:lumOff val="50000"/>
                      </a:schemeClr>
                    </a:solidFill>
                  </a:rPr>
                  <a:t>Channel</a:t>
                </a:r>
                <a:r>
                  <a:rPr lang="el-GR" sz="1200" dirty="0">
                    <a:solidFill>
                      <a:schemeClr val="bg2">
                        <a:lumMod val="50000"/>
                        <a:lumOff val="50000"/>
                      </a:schemeClr>
                    </a:solidFill>
                  </a:rPr>
                  <a:t> </a:t>
                </a:r>
                <a:r>
                  <a:rPr lang="el-GR" sz="1200" dirty="0" err="1">
                    <a:solidFill>
                      <a:schemeClr val="bg2">
                        <a:lumMod val="50000"/>
                        <a:lumOff val="50000"/>
                      </a:schemeClr>
                    </a:solidFill>
                  </a:rPr>
                  <a:t>Capacity</a:t>
                </a:r>
                <a:r>
                  <a:rPr lang="en-US" sz="1200" dirty="0">
                    <a:solidFill>
                      <a:schemeClr val="bg2">
                        <a:lumMod val="50000"/>
                        <a:lumOff val="50000"/>
                      </a:schemeClr>
                    </a:solidFill>
                  </a:rPr>
                  <a:t>)</a:t>
                </a:r>
                <a:r>
                  <a:rPr lang="el-GR" sz="1200" dirty="0">
                    <a:solidFill>
                      <a:schemeClr val="bg2">
                        <a:lumMod val="50000"/>
                        <a:lumOff val="50000"/>
                      </a:schemeClr>
                    </a:solidFill>
                  </a:rPr>
                  <a:t>:</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l-GR" i="0">
                    <a:solidFill>
                      <a:srgbClr val="000000"/>
                    </a:solidFill>
                    <a:latin typeface="Cambria Math" panose="02040503050406030204" pitchFamily="18" charset="0"/>
                  </a:rPr>
                  <a:t>C="2 B lo" "g" _2 "M " ("bits /sec" )</a:t>
                </a:r>
                <a:endParaRPr lang="el-GR"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olidFill>
                      <a:srgbClr val="000000"/>
                    </a:solidFill>
                  </a:rPr>
                  <a:t>					</a:t>
                </a:r>
                <a:r>
                  <a:rPr lang="el-GR" i="0">
                    <a:solidFill>
                      <a:srgbClr val="000000"/>
                    </a:solidFill>
                    <a:latin typeface="Cambria Math" panose="02040503050406030204" pitchFamily="18" charset="0"/>
                  </a:rPr>
                  <a:t>Μ=2^( C/"2B"   )=2^( "22800" /(2∗("3100−0" ))  )=22.8</a:t>
                </a:r>
                <a:r>
                  <a:rPr lang="en-US" dirty="0"/>
                  <a:t> -&gt; </a:t>
                </a:r>
                <a:r>
                  <a:rPr lang="el-GR" sz="1200" dirty="0">
                    <a:solidFill>
                      <a:schemeClr val="bg2">
                        <a:lumMod val="50000"/>
                        <a:lumOff val="50000"/>
                      </a:schemeClr>
                    </a:solidFill>
                  </a:rPr>
                  <a:t>3</a:t>
                </a:r>
                <a:r>
                  <a:rPr lang="en-US" sz="1200" dirty="0">
                    <a:solidFill>
                      <a:schemeClr val="bg2">
                        <a:lumMod val="50000"/>
                        <a:lumOff val="50000"/>
                      </a:schemeClr>
                    </a:solidFill>
                  </a:rPr>
                  <a:t>2</a:t>
                </a:r>
                <a:r>
                  <a:rPr lang="el-GR" sz="1200" dirty="0">
                    <a:solidFill>
                      <a:schemeClr val="bg2">
                        <a:lumMod val="50000"/>
                        <a:lumOff val="50000"/>
                      </a:schemeClr>
                    </a:solidFill>
                  </a:rPr>
                  <a:t> Καταστάσεις Συμβόλων</a:t>
                </a:r>
                <a:endParaRPr lang="en-US" sz="1200" dirty="0">
                  <a:solidFill>
                    <a:schemeClr val="bg2">
                      <a:lumMod val="50000"/>
                      <a:lumOff val="50000"/>
                    </a:schemeClr>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l-GR" dirty="0"/>
              </a:p>
              <a:p>
                <a:endParaRPr lang="el-GR" dirty="0"/>
              </a:p>
            </p:txBody>
          </p:sp>
        </mc:Fallback>
      </mc:AlternateContent>
      <p:sp>
        <p:nvSpPr>
          <p:cNvPr id="4" name="Θέση αριθμού διαφάνειας 3"/>
          <p:cNvSpPr>
            <a:spLocks noGrp="1"/>
          </p:cNvSpPr>
          <p:nvPr>
            <p:ph type="sldNum" sz="quarter" idx="5"/>
          </p:nvPr>
        </p:nvSpPr>
        <p:spPr/>
        <p:txBody>
          <a:bodyPr/>
          <a:lstStyle/>
          <a:p>
            <a:pPr>
              <a:defRPr/>
            </a:pPr>
            <a:fld id="{A32E23F3-CE2C-42DD-879E-EEA2030225B4}" type="slidenum">
              <a:rPr lang="en-US" altLang="en-US" smtClean="0"/>
              <a:pPr>
                <a:defRPr/>
              </a:pPr>
              <a:t>15</a:t>
            </a:fld>
            <a:endParaRPr lang="en-US" altLang="en-US"/>
          </a:p>
        </p:txBody>
      </p:sp>
    </p:spTree>
    <p:extLst>
      <p:ext uri="{BB962C8B-B14F-4D97-AF65-F5344CB8AC3E}">
        <p14:creationId xmlns:p14="http://schemas.microsoft.com/office/powerpoint/2010/main" val="4212462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p:sp>
        <p:nvSpPr>
          <p:cNvPr id="3" name="Θέση σημειώσεων 2"/>
          <p:cNvSpPr>
            <a:spLocks noGrp="1"/>
          </p:cNvSpPr>
          <p:nvPr>
            <p:ph type="body" idx="1"/>
          </p:nvPr>
        </p:nvSpPr>
        <p:spPr/>
        <p:txBody>
          <a:bodyPr/>
          <a:lstStyle/>
          <a:p>
            <a:pPr algn="just"/>
            <a:r>
              <a:rPr lang="el-GR" sz="1200" dirty="0">
                <a:solidFill>
                  <a:schemeClr val="bg2">
                    <a:lumMod val="50000"/>
                    <a:lumOff val="50000"/>
                  </a:schemeClr>
                </a:solidFill>
              </a:rPr>
              <a:t>Οι 64 καταστάσεων συμβόλων υποστηρίζουν:</a:t>
            </a:r>
          </a:p>
          <a:p>
            <a:pPr algn="just"/>
            <a:r>
              <a:rPr lang="en-US" sz="1200" dirty="0">
                <a:solidFill>
                  <a:schemeClr val="bg2">
                    <a:lumMod val="50000"/>
                    <a:lumOff val="50000"/>
                  </a:schemeClr>
                </a:solidFill>
              </a:rPr>
              <a:t>log</a:t>
            </a:r>
            <a:r>
              <a:rPr lang="en-US" sz="1200" baseline="-25000" dirty="0">
                <a:solidFill>
                  <a:schemeClr val="bg2">
                    <a:lumMod val="50000"/>
                    <a:lumOff val="50000"/>
                  </a:schemeClr>
                </a:solidFill>
              </a:rPr>
              <a:t>2</a:t>
            </a:r>
            <a:r>
              <a:rPr lang="en-US" sz="1200" dirty="0">
                <a:solidFill>
                  <a:schemeClr val="bg2">
                    <a:lumMod val="50000"/>
                    <a:lumOff val="50000"/>
                  </a:schemeClr>
                </a:solidFill>
              </a:rPr>
              <a:t>64 = 6 bits per symbol. </a:t>
            </a:r>
          </a:p>
          <a:p>
            <a:pPr algn="just"/>
            <a:endParaRPr lang="el-GR" sz="1200" dirty="0">
              <a:solidFill>
                <a:schemeClr val="bg2">
                  <a:lumMod val="50000"/>
                  <a:lumOff val="50000"/>
                </a:schemeClr>
              </a:solidFill>
            </a:endParaRPr>
          </a:p>
          <a:p>
            <a:pPr algn="just"/>
            <a:r>
              <a:rPr lang="en-US" sz="1200" dirty="0">
                <a:solidFill>
                  <a:schemeClr val="bg2">
                    <a:lumMod val="50000"/>
                    <a:lumOff val="50000"/>
                  </a:schemeClr>
                </a:solidFill>
              </a:rPr>
              <a:t>In a baseband channel the maximum signaling rate is equal to twice the available bandwidth.</a:t>
            </a:r>
          </a:p>
          <a:p>
            <a:pPr algn="just"/>
            <a:endParaRPr lang="en-US" sz="1200" dirty="0">
              <a:solidFill>
                <a:schemeClr val="bg2">
                  <a:lumMod val="50000"/>
                  <a:lumOff val="50000"/>
                </a:schemeClr>
              </a:solidFill>
            </a:endParaRPr>
          </a:p>
          <a:p>
            <a:pPr algn="just"/>
            <a:r>
              <a:rPr lang="en-US" sz="1200" dirty="0">
                <a:solidFill>
                  <a:schemeClr val="bg2">
                    <a:lumMod val="50000"/>
                    <a:lumOff val="50000"/>
                  </a:schemeClr>
                </a:solidFill>
              </a:rPr>
              <a:t>Symbol rate = </a:t>
            </a:r>
            <a:r>
              <a:rPr lang="el-GR" sz="1200" dirty="0">
                <a:solidFill>
                  <a:schemeClr val="bg2">
                    <a:lumMod val="50000"/>
                    <a:lumOff val="50000"/>
                  </a:schemeClr>
                </a:solidFill>
              </a:rPr>
              <a:t>2.048 </a:t>
            </a:r>
            <a:r>
              <a:rPr lang="el-GR" sz="1200" dirty="0" err="1">
                <a:solidFill>
                  <a:schemeClr val="bg2">
                    <a:lumMod val="50000"/>
                    <a:lumOff val="50000"/>
                  </a:schemeClr>
                </a:solidFill>
              </a:rPr>
              <a:t>Mbps</a:t>
            </a:r>
            <a:r>
              <a:rPr lang="el-GR" sz="1200" dirty="0">
                <a:solidFill>
                  <a:schemeClr val="bg2">
                    <a:lumMod val="50000"/>
                    <a:lumOff val="50000"/>
                  </a:schemeClr>
                </a:solidFill>
              </a:rPr>
              <a:t> </a:t>
            </a:r>
            <a:r>
              <a:rPr lang="en-US" sz="1200" dirty="0">
                <a:solidFill>
                  <a:schemeClr val="bg2">
                    <a:lumMod val="50000"/>
                    <a:lumOff val="50000"/>
                  </a:schemeClr>
                </a:solidFill>
              </a:rPr>
              <a:t>/6 bits per symbol =2048000 / 6 = 341.3 </a:t>
            </a:r>
            <a:r>
              <a:rPr lang="en-US" sz="1200" dirty="0" err="1">
                <a:solidFill>
                  <a:schemeClr val="bg2">
                    <a:lumMod val="50000"/>
                    <a:lumOff val="50000"/>
                  </a:schemeClr>
                </a:solidFill>
              </a:rPr>
              <a:t>kbaud</a:t>
            </a:r>
            <a:r>
              <a:rPr lang="en-US" sz="1200" dirty="0">
                <a:solidFill>
                  <a:schemeClr val="bg2">
                    <a:lumMod val="50000"/>
                    <a:lumOff val="50000"/>
                  </a:schemeClr>
                </a:solidFill>
              </a:rPr>
              <a:t> </a:t>
            </a:r>
          </a:p>
          <a:p>
            <a:pPr algn="just"/>
            <a:endParaRPr lang="en-US" sz="1200" dirty="0">
              <a:solidFill>
                <a:schemeClr val="bg2">
                  <a:lumMod val="50000"/>
                  <a:lumOff val="50000"/>
                </a:schemeClr>
              </a:solidFill>
            </a:endParaRPr>
          </a:p>
          <a:p>
            <a:pPr algn="just"/>
            <a:r>
              <a:rPr lang="en-US" sz="1200" dirty="0">
                <a:solidFill>
                  <a:schemeClr val="bg2">
                    <a:lumMod val="50000"/>
                    <a:lumOff val="50000"/>
                  </a:schemeClr>
                </a:solidFill>
              </a:rPr>
              <a:t>Required Bandwidth = Symbol rate /2 =341000 / 2 = 170.7 kHz.</a:t>
            </a:r>
          </a:p>
          <a:p>
            <a:endParaRPr lang="el-GR" dirty="0"/>
          </a:p>
        </p:txBody>
      </p:sp>
      <p:sp>
        <p:nvSpPr>
          <p:cNvPr id="4" name="Θέση αριθμού διαφάνειας 3"/>
          <p:cNvSpPr>
            <a:spLocks noGrp="1"/>
          </p:cNvSpPr>
          <p:nvPr>
            <p:ph type="sldNum" sz="quarter" idx="5"/>
          </p:nvPr>
        </p:nvSpPr>
        <p:spPr/>
        <p:txBody>
          <a:bodyPr/>
          <a:lstStyle/>
          <a:p>
            <a:pPr>
              <a:defRPr/>
            </a:pPr>
            <a:fld id="{A32E23F3-CE2C-42DD-879E-EEA2030225B4}" type="slidenum">
              <a:rPr lang="en-US" altLang="en-US" smtClean="0"/>
              <a:pPr>
                <a:defRPr/>
              </a:pPr>
              <a:t>16</a:t>
            </a:fld>
            <a:endParaRPr lang="en-US" altLang="en-US"/>
          </a:p>
        </p:txBody>
      </p:sp>
    </p:spTree>
    <p:extLst>
      <p:ext uri="{BB962C8B-B14F-4D97-AF65-F5344CB8AC3E}">
        <p14:creationId xmlns:p14="http://schemas.microsoft.com/office/powerpoint/2010/main" val="2526582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mc:AlternateContent xmlns:mc="http://schemas.openxmlformats.org/markup-compatibility/2006" xmlns:a14="http://schemas.microsoft.com/office/drawing/2010/main">
        <mc:Choice Requires="a14">
          <p:sp>
            <p:nvSpPr>
              <p:cNvPr id="3" name="Θέση σημειώσεων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r>
                        <m:rPr>
                          <m:sty m:val="p"/>
                        </m:rPr>
                        <a:rPr lang="el-GR" i="0" smtClean="0">
                          <a:solidFill>
                            <a:srgbClr val="000000"/>
                          </a:solidFill>
                          <a:latin typeface="Cambria Math" panose="02040503050406030204" pitchFamily="18" charset="0"/>
                        </a:rPr>
                        <m:t>C</m:t>
                      </m:r>
                      <m:r>
                        <a:rPr lang="el-GR" i="1">
                          <a:solidFill>
                            <a:srgbClr val="000000"/>
                          </a:solidFill>
                          <a:latin typeface="Cambria Math" panose="02040503050406030204" pitchFamily="18" charset="0"/>
                        </a:rPr>
                        <m:t>=</m:t>
                      </m:r>
                      <m:r>
                        <a:rPr lang="el-GR" i="1">
                          <a:solidFill>
                            <a:srgbClr val="000000"/>
                          </a:solidFill>
                          <a:latin typeface="Cambria Math" panose="02040503050406030204" pitchFamily="18" charset="0"/>
                        </a:rPr>
                        <m:t>𝐵</m:t>
                      </m:r>
                      <m:r>
                        <a:rPr lang="el-GR" i="1">
                          <a:solidFill>
                            <a:srgbClr val="000000"/>
                          </a:solidFill>
                          <a:latin typeface="Cambria Math" panose="02040503050406030204" pitchFamily="18" charset="0"/>
                        </a:rPr>
                        <m:t> </m:t>
                      </m:r>
                      <m:r>
                        <m:rPr>
                          <m:nor/>
                        </m:rPr>
                        <a:rPr lang="el-GR" i="0">
                          <a:solidFill>
                            <a:srgbClr val="000000"/>
                          </a:solidFill>
                          <a:latin typeface="Cambria Math" panose="02040503050406030204" pitchFamily="18" charset="0"/>
                        </a:rPr>
                        <m:t> </m:t>
                      </m:r>
                      <m:r>
                        <m:rPr>
                          <m:nor/>
                        </m:rPr>
                        <a:rPr lang="el-GR" i="0">
                          <a:solidFill>
                            <a:srgbClr val="000000"/>
                          </a:solidFill>
                          <a:latin typeface="Cambria Math" panose="02040503050406030204" pitchFamily="18" charset="0"/>
                        </a:rPr>
                        <m:t>lo</m:t>
                      </m:r>
                      <m:sSub>
                        <m:sSubPr>
                          <m:ctrlPr>
                            <a:rPr lang="el-GR" i="1">
                              <a:solidFill>
                                <a:srgbClr val="000000"/>
                              </a:solidFill>
                              <a:latin typeface="Cambria Math" panose="02040503050406030204" pitchFamily="18" charset="0"/>
                            </a:rPr>
                          </m:ctrlPr>
                        </m:sSubPr>
                        <m:e>
                          <m:r>
                            <m:rPr>
                              <m:nor/>
                            </m:rPr>
                            <a:rPr lang="el-GR" i="0">
                              <a:solidFill>
                                <a:srgbClr val="000000"/>
                              </a:solidFill>
                              <a:latin typeface="Cambria Math" panose="02040503050406030204" pitchFamily="18" charset="0"/>
                            </a:rPr>
                            <m:t>g</m:t>
                          </m:r>
                        </m:e>
                        <m:sub>
                          <m:r>
                            <a:rPr lang="el-GR" i="0">
                              <a:solidFill>
                                <a:srgbClr val="000000"/>
                              </a:solidFill>
                              <a:latin typeface="Cambria Math" panose="02040503050406030204" pitchFamily="18" charset="0"/>
                            </a:rPr>
                            <m:t>2</m:t>
                          </m:r>
                        </m:sub>
                      </m:sSub>
                      <m:d>
                        <m:dPr>
                          <m:ctrlPr>
                            <a:rPr lang="el-GR" i="1">
                              <a:solidFill>
                                <a:srgbClr val="000000"/>
                              </a:solidFill>
                              <a:latin typeface="Cambria Math" panose="02040503050406030204" pitchFamily="18" charset="0"/>
                            </a:rPr>
                          </m:ctrlPr>
                        </m:dPr>
                        <m:e>
                          <m:r>
                            <m:rPr>
                              <m:nor/>
                            </m:rPr>
                            <a:rPr lang="el-GR" i="0">
                              <a:solidFill>
                                <a:srgbClr val="000000"/>
                              </a:solidFill>
                              <a:latin typeface="Cambria Math" panose="02040503050406030204" pitchFamily="18" charset="0"/>
                            </a:rPr>
                            <m:t>1 </m:t>
                          </m:r>
                          <m:r>
                            <a:rPr lang="el-GR" i="1">
                              <a:solidFill>
                                <a:srgbClr val="000000"/>
                              </a:solidFill>
                              <a:latin typeface="Cambria Math" panose="02040503050406030204" pitchFamily="18" charset="0"/>
                            </a:rPr>
                            <m:t>+ </m:t>
                          </m:r>
                          <m:f>
                            <m:fPr>
                              <m:ctrlPr>
                                <a:rPr lang="el-GR" i="1">
                                  <a:solidFill>
                                    <a:srgbClr val="000000"/>
                                  </a:solidFill>
                                  <a:latin typeface="Cambria Math" panose="02040503050406030204" pitchFamily="18" charset="0"/>
                                </a:rPr>
                              </m:ctrlPr>
                            </m:fPr>
                            <m:num>
                              <m:r>
                                <m:rPr>
                                  <m:sty m:val="p"/>
                                </m:rPr>
                                <a:rPr lang="el-GR" i="0">
                                  <a:solidFill>
                                    <a:srgbClr val="000000"/>
                                  </a:solidFill>
                                  <a:latin typeface="Cambria Math" panose="02040503050406030204" pitchFamily="18" charset="0"/>
                                </a:rPr>
                                <m:t>S</m:t>
                              </m:r>
                            </m:num>
                            <m:den>
                              <m:r>
                                <m:rPr>
                                  <m:sty m:val="p"/>
                                </m:rPr>
                                <a:rPr lang="el-GR" i="0">
                                  <a:solidFill>
                                    <a:srgbClr val="000000"/>
                                  </a:solidFill>
                                  <a:latin typeface="Cambria Math" panose="02040503050406030204" pitchFamily="18" charset="0"/>
                                </a:rPr>
                                <m:t>N</m:t>
                              </m:r>
                            </m:den>
                          </m:f>
                        </m:e>
                      </m:d>
                    </m:oMath>
                  </m:oMathPara>
                </a14:m>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olidFill>
                      <a:srgbClr val="000000"/>
                    </a:solidFill>
                  </a:rPr>
                  <a:t>						A. </a:t>
                </a:r>
                <a14:m>
                  <m:oMath xmlns:m="http://schemas.openxmlformats.org/officeDocument/2006/math">
                    <m:r>
                      <m:rPr>
                        <m:sty m:val="p"/>
                      </m:rPr>
                      <a:rPr lang="el-GR" i="0" smtClean="0">
                        <a:solidFill>
                          <a:srgbClr val="000000"/>
                        </a:solidFill>
                        <a:latin typeface="Cambria Math" panose="02040503050406030204" pitchFamily="18" charset="0"/>
                      </a:rPr>
                      <m:t>C</m:t>
                    </m:r>
                    <m:r>
                      <a:rPr lang="el-GR" i="1">
                        <a:solidFill>
                          <a:srgbClr val="000000"/>
                        </a:solidFill>
                        <a:latin typeface="Cambria Math" panose="02040503050406030204" pitchFamily="18" charset="0"/>
                      </a:rPr>
                      <m:t>=3100 </m:t>
                    </m:r>
                    <m:r>
                      <m:rPr>
                        <m:nor/>
                      </m:rPr>
                      <a:rPr lang="el-GR" i="0">
                        <a:solidFill>
                          <a:srgbClr val="000000"/>
                        </a:solidFill>
                        <a:latin typeface="Cambria Math" panose="02040503050406030204" pitchFamily="18" charset="0"/>
                      </a:rPr>
                      <m:t> </m:t>
                    </m:r>
                    <m:r>
                      <m:rPr>
                        <m:nor/>
                      </m:rPr>
                      <a:rPr lang="el-GR" i="0">
                        <a:solidFill>
                          <a:srgbClr val="000000"/>
                        </a:solidFill>
                        <a:latin typeface="Cambria Math" panose="02040503050406030204" pitchFamily="18" charset="0"/>
                      </a:rPr>
                      <m:t>lo</m:t>
                    </m:r>
                    <m:sSub>
                      <m:sSubPr>
                        <m:ctrlPr>
                          <a:rPr lang="el-GR" i="1">
                            <a:solidFill>
                              <a:srgbClr val="000000"/>
                            </a:solidFill>
                            <a:latin typeface="Cambria Math" panose="02040503050406030204" pitchFamily="18" charset="0"/>
                          </a:rPr>
                        </m:ctrlPr>
                      </m:sSubPr>
                      <m:e>
                        <m:r>
                          <m:rPr>
                            <m:nor/>
                          </m:rPr>
                          <a:rPr lang="el-GR" i="0">
                            <a:solidFill>
                              <a:srgbClr val="000000"/>
                            </a:solidFill>
                            <a:latin typeface="Cambria Math" panose="02040503050406030204" pitchFamily="18" charset="0"/>
                          </a:rPr>
                          <m:t>g</m:t>
                        </m:r>
                      </m:e>
                      <m:sub>
                        <m:r>
                          <a:rPr lang="el-GR" i="0">
                            <a:solidFill>
                              <a:srgbClr val="000000"/>
                            </a:solidFill>
                            <a:latin typeface="Cambria Math" panose="02040503050406030204" pitchFamily="18" charset="0"/>
                          </a:rPr>
                          <m:t>2</m:t>
                        </m:r>
                      </m:sub>
                    </m:sSub>
                    <m:d>
                      <m:dPr>
                        <m:ctrlPr>
                          <a:rPr lang="el-GR" i="1">
                            <a:solidFill>
                              <a:srgbClr val="000000"/>
                            </a:solidFill>
                            <a:latin typeface="Cambria Math" panose="02040503050406030204" pitchFamily="18" charset="0"/>
                          </a:rPr>
                        </m:ctrlPr>
                      </m:dPr>
                      <m:e>
                        <m:r>
                          <m:rPr>
                            <m:nor/>
                          </m:rPr>
                          <a:rPr lang="el-GR" i="0">
                            <a:solidFill>
                              <a:srgbClr val="000000"/>
                            </a:solidFill>
                            <a:latin typeface="Cambria Math" panose="02040503050406030204" pitchFamily="18" charset="0"/>
                          </a:rPr>
                          <m:t>1 </m:t>
                        </m:r>
                        <m:r>
                          <a:rPr lang="el-GR" i="1">
                            <a:solidFill>
                              <a:srgbClr val="000000"/>
                            </a:solidFill>
                            <a:latin typeface="Cambria Math" panose="02040503050406030204" pitchFamily="18" charset="0"/>
                          </a:rPr>
                          <m:t>+ </m:t>
                        </m:r>
                        <m:r>
                          <a:rPr lang="el-GR" i="0">
                            <a:solidFill>
                              <a:srgbClr val="000000"/>
                            </a:solidFill>
                            <a:latin typeface="Cambria Math" panose="02040503050406030204" pitchFamily="18" charset="0"/>
                          </a:rPr>
                          <m:t>1</m:t>
                        </m:r>
                        <m:r>
                          <a:rPr lang="el-GR" i="1">
                            <a:solidFill>
                              <a:srgbClr val="000000"/>
                            </a:solidFill>
                            <a:latin typeface="Cambria Math" panose="02040503050406030204" pitchFamily="18" charset="0"/>
                          </a:rPr>
                          <m:t>0000</m:t>
                        </m:r>
                      </m:e>
                    </m:d>
                    <m:r>
                      <a:rPr lang="el-GR" i="1">
                        <a:solidFill>
                          <a:srgbClr val="000000"/>
                        </a:solidFill>
                        <a:latin typeface="Cambria Math" panose="02040503050406030204" pitchFamily="18" charset="0"/>
                      </a:rPr>
                      <m:t>=41.2</m:t>
                    </m:r>
                    <m:r>
                      <a:rPr lang="el-GR" i="1">
                        <a:solidFill>
                          <a:srgbClr val="000000"/>
                        </a:solidFill>
                        <a:latin typeface="Cambria Math" panose="02040503050406030204" pitchFamily="18" charset="0"/>
                      </a:rPr>
                      <m:t>𝑘𝑏𝑝𝑠</m:t>
                    </m:r>
                  </m:oMath>
                </a14:m>
                <a:endParaRPr lang="el-GR"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olidFill>
                      <a:srgbClr val="000000"/>
                    </a:solidFill>
                  </a:rPr>
                  <a:t>						B. </a:t>
                </a:r>
                <a14:m>
                  <m:oMath xmlns:m="http://schemas.openxmlformats.org/officeDocument/2006/math">
                    <m:r>
                      <m:rPr>
                        <m:sty m:val="p"/>
                      </m:rPr>
                      <a:rPr lang="el-GR" i="0" smtClean="0">
                        <a:solidFill>
                          <a:srgbClr val="000000"/>
                        </a:solidFill>
                        <a:latin typeface="Cambria Math" panose="02040503050406030204" pitchFamily="18" charset="0"/>
                      </a:rPr>
                      <m:t>C</m:t>
                    </m:r>
                    <m:r>
                      <a:rPr lang="el-GR" i="1">
                        <a:solidFill>
                          <a:srgbClr val="000000"/>
                        </a:solidFill>
                        <a:latin typeface="Cambria Math" panose="02040503050406030204" pitchFamily="18" charset="0"/>
                      </a:rPr>
                      <m:t>=2200 </m:t>
                    </m:r>
                    <m:r>
                      <m:rPr>
                        <m:nor/>
                      </m:rPr>
                      <a:rPr lang="el-GR" i="0">
                        <a:solidFill>
                          <a:srgbClr val="000000"/>
                        </a:solidFill>
                        <a:latin typeface="Cambria Math" panose="02040503050406030204" pitchFamily="18" charset="0"/>
                      </a:rPr>
                      <m:t> </m:t>
                    </m:r>
                    <m:r>
                      <m:rPr>
                        <m:nor/>
                      </m:rPr>
                      <a:rPr lang="el-GR" i="0">
                        <a:solidFill>
                          <a:srgbClr val="000000"/>
                        </a:solidFill>
                        <a:latin typeface="Cambria Math" panose="02040503050406030204" pitchFamily="18" charset="0"/>
                      </a:rPr>
                      <m:t>lo</m:t>
                    </m:r>
                    <m:sSub>
                      <m:sSubPr>
                        <m:ctrlPr>
                          <a:rPr lang="el-GR" i="1">
                            <a:solidFill>
                              <a:srgbClr val="000000"/>
                            </a:solidFill>
                            <a:latin typeface="Cambria Math" panose="02040503050406030204" pitchFamily="18" charset="0"/>
                          </a:rPr>
                        </m:ctrlPr>
                      </m:sSubPr>
                      <m:e>
                        <m:r>
                          <m:rPr>
                            <m:nor/>
                          </m:rPr>
                          <a:rPr lang="el-GR" i="0">
                            <a:solidFill>
                              <a:srgbClr val="000000"/>
                            </a:solidFill>
                            <a:latin typeface="Cambria Math" panose="02040503050406030204" pitchFamily="18" charset="0"/>
                          </a:rPr>
                          <m:t>g</m:t>
                        </m:r>
                      </m:e>
                      <m:sub>
                        <m:r>
                          <a:rPr lang="el-GR" i="0">
                            <a:solidFill>
                              <a:srgbClr val="000000"/>
                            </a:solidFill>
                            <a:latin typeface="Cambria Math" panose="02040503050406030204" pitchFamily="18" charset="0"/>
                          </a:rPr>
                          <m:t>2</m:t>
                        </m:r>
                      </m:sub>
                    </m:sSub>
                    <m:d>
                      <m:dPr>
                        <m:ctrlPr>
                          <a:rPr lang="el-GR" i="1">
                            <a:solidFill>
                              <a:srgbClr val="000000"/>
                            </a:solidFill>
                            <a:latin typeface="Cambria Math" panose="02040503050406030204" pitchFamily="18" charset="0"/>
                          </a:rPr>
                        </m:ctrlPr>
                      </m:dPr>
                      <m:e>
                        <m:r>
                          <m:rPr>
                            <m:nor/>
                          </m:rPr>
                          <a:rPr lang="el-GR" i="0">
                            <a:solidFill>
                              <a:srgbClr val="000000"/>
                            </a:solidFill>
                            <a:latin typeface="Cambria Math" panose="02040503050406030204" pitchFamily="18" charset="0"/>
                          </a:rPr>
                          <m:t>1 </m:t>
                        </m:r>
                        <m:r>
                          <a:rPr lang="el-GR" i="1">
                            <a:solidFill>
                              <a:srgbClr val="000000"/>
                            </a:solidFill>
                            <a:latin typeface="Cambria Math" panose="02040503050406030204" pitchFamily="18" charset="0"/>
                          </a:rPr>
                          <m:t>+ </m:t>
                        </m:r>
                        <m:r>
                          <a:rPr lang="el-GR" i="0">
                            <a:solidFill>
                              <a:srgbClr val="000000"/>
                            </a:solidFill>
                            <a:latin typeface="Cambria Math" panose="02040503050406030204" pitchFamily="18" charset="0"/>
                          </a:rPr>
                          <m:t>1</m:t>
                        </m:r>
                        <m:r>
                          <a:rPr lang="el-GR" i="1">
                            <a:solidFill>
                              <a:srgbClr val="000000"/>
                            </a:solidFill>
                            <a:latin typeface="Cambria Math" panose="02040503050406030204" pitchFamily="18" charset="0"/>
                          </a:rPr>
                          <m:t>000</m:t>
                        </m:r>
                      </m:e>
                    </m:d>
                    <m:r>
                      <a:rPr lang="el-GR" i="1">
                        <a:solidFill>
                          <a:srgbClr val="000000"/>
                        </a:solidFill>
                        <a:latin typeface="Cambria Math" panose="02040503050406030204" pitchFamily="18" charset="0"/>
                      </a:rPr>
                      <m:t>=21.9</m:t>
                    </m:r>
                    <m:r>
                      <a:rPr lang="el-GR" i="1">
                        <a:solidFill>
                          <a:srgbClr val="000000"/>
                        </a:solidFill>
                        <a:latin typeface="Cambria Math" panose="02040503050406030204" pitchFamily="18" charset="0"/>
                      </a:rPr>
                      <m:t>𝑘𝑏𝑝𝑠</m:t>
                    </m:r>
                  </m:oMath>
                </a14:m>
                <a:endParaRPr lang="el-GR" dirty="0"/>
              </a:p>
              <a:p>
                <a:endParaRPr lang="el-GR" dirty="0"/>
              </a:p>
            </p:txBody>
          </p:sp>
        </mc:Choice>
        <mc:Fallback xmlns="">
          <p:sp>
            <p:nvSpPr>
              <p:cNvPr id="3" name="Θέση σημειώσεων 2"/>
              <p:cNvSpPr>
                <a:spLocks noGrp="1"/>
              </p:cNvSpPr>
              <p:nvPr>
                <p:ph type="body" idx="1"/>
              </p:nvPr>
            </p:nvSpPr>
            <p:spPr/>
            <p:txBody>
              <a:bodyPr/>
              <a:lstStyle/>
              <a:p>
                <a:r>
                  <a:rPr lang="el-GR" i="0">
                    <a:solidFill>
                      <a:srgbClr val="000000"/>
                    </a:solidFill>
                    <a:latin typeface="Cambria Math" panose="02040503050406030204" pitchFamily="18" charset="0"/>
                  </a:rPr>
                  <a:t>C=𝐵 " lo" "g" _2 ("1 " + S/N)</a:t>
                </a: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olidFill>
                      <a:srgbClr val="000000"/>
                    </a:solidFill>
                  </a:rPr>
                  <a:t>						A. </a:t>
                </a:r>
                <a:r>
                  <a:rPr lang="el-GR" i="0">
                    <a:solidFill>
                      <a:srgbClr val="000000"/>
                    </a:solidFill>
                    <a:latin typeface="Cambria Math" panose="02040503050406030204" pitchFamily="18" charset="0"/>
                  </a:rPr>
                  <a:t>C=3100 " lo" "g" _2 ("1 " + 10000)=41.2𝑘𝑏𝑝𝑠</a:t>
                </a:r>
                <a:endParaRPr lang="el-GR"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olidFill>
                      <a:srgbClr val="000000"/>
                    </a:solidFill>
                  </a:rPr>
                  <a:t>						B. </a:t>
                </a:r>
                <a:r>
                  <a:rPr lang="el-GR" i="0">
                    <a:solidFill>
                      <a:srgbClr val="000000"/>
                    </a:solidFill>
                    <a:latin typeface="Cambria Math" panose="02040503050406030204" pitchFamily="18" charset="0"/>
                  </a:rPr>
                  <a:t>C=2200 " lo" "g" _2 ("1 " + 1000)=21.9𝑘𝑏𝑝𝑠</a:t>
                </a:r>
                <a:endParaRPr lang="el-GR" dirty="0"/>
              </a:p>
              <a:p>
                <a:endParaRPr lang="el-GR" dirty="0"/>
              </a:p>
            </p:txBody>
          </p:sp>
        </mc:Fallback>
      </mc:AlternateContent>
      <p:sp>
        <p:nvSpPr>
          <p:cNvPr id="4" name="Θέση αριθμού διαφάνειας 3"/>
          <p:cNvSpPr>
            <a:spLocks noGrp="1"/>
          </p:cNvSpPr>
          <p:nvPr>
            <p:ph type="sldNum" sz="quarter" idx="5"/>
          </p:nvPr>
        </p:nvSpPr>
        <p:spPr/>
        <p:txBody>
          <a:bodyPr/>
          <a:lstStyle/>
          <a:p>
            <a:pPr>
              <a:defRPr/>
            </a:pPr>
            <a:fld id="{A32E23F3-CE2C-42DD-879E-EEA2030225B4}" type="slidenum">
              <a:rPr lang="en-US" altLang="en-US" smtClean="0"/>
              <a:pPr>
                <a:defRPr/>
              </a:pPr>
              <a:t>17</a:t>
            </a:fld>
            <a:endParaRPr lang="en-US" altLang="en-US"/>
          </a:p>
        </p:txBody>
      </p:sp>
    </p:spTree>
    <p:extLst>
      <p:ext uri="{BB962C8B-B14F-4D97-AF65-F5344CB8AC3E}">
        <p14:creationId xmlns:p14="http://schemas.microsoft.com/office/powerpoint/2010/main" val="935343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6C10C-D1A6-E901-C94F-3AB767C94FCC}"/>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E5AA0C2-164C-09D2-71AC-96B26B4B5EB2}"/>
              </a:ext>
            </a:extLst>
          </p:cNvPr>
          <p:cNvSpPr>
            <a:spLocks noGrp="1" noRot="1" noChangeAspect="1"/>
          </p:cNvSpPr>
          <p:nvPr>
            <p:ph type="sldImg"/>
          </p:nvPr>
        </p:nvSpPr>
        <p:spPr>
          <a:xfrm>
            <a:off x="1365250" y="715963"/>
            <a:ext cx="4254500" cy="3440112"/>
          </a:xfrm>
        </p:spPr>
      </p:sp>
      <p:sp>
        <p:nvSpPr>
          <p:cNvPr id="3" name="Θέση σημειώσεων 2">
            <a:extLst>
              <a:ext uri="{FF2B5EF4-FFF2-40B4-BE49-F238E27FC236}">
                <a16:creationId xmlns:a16="http://schemas.microsoft.com/office/drawing/2014/main" id="{60BF61E4-DF35-27DF-8DBF-AAC563F905CB}"/>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B775E93D-D1BF-F0D0-AF79-7886296AFD6D}"/>
              </a:ext>
            </a:extLst>
          </p:cNvPr>
          <p:cNvSpPr>
            <a:spLocks noGrp="1"/>
          </p:cNvSpPr>
          <p:nvPr>
            <p:ph type="sldNum" sz="quarter" idx="5"/>
          </p:nvPr>
        </p:nvSpPr>
        <p:spPr/>
        <p:txBody>
          <a:bodyPr/>
          <a:lstStyle/>
          <a:p>
            <a:pPr>
              <a:defRPr/>
            </a:pPr>
            <a:fld id="{A32E23F3-CE2C-42DD-879E-EEA2030225B4}" type="slidenum">
              <a:rPr lang="en-US" altLang="en-US" smtClean="0"/>
              <a:pPr>
                <a:defRPr/>
              </a:pPr>
              <a:t>18</a:t>
            </a:fld>
            <a:endParaRPr lang="en-US" altLang="en-US"/>
          </a:p>
        </p:txBody>
      </p:sp>
    </p:spTree>
    <p:extLst>
      <p:ext uri="{BB962C8B-B14F-4D97-AF65-F5344CB8AC3E}">
        <p14:creationId xmlns:p14="http://schemas.microsoft.com/office/powerpoint/2010/main" val="1317357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42121-59D0-C181-438C-319848F6EACC}"/>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7EC426F-C193-C96A-DA6A-5576B82974B8}"/>
              </a:ext>
            </a:extLst>
          </p:cNvPr>
          <p:cNvSpPr>
            <a:spLocks noGrp="1" noRot="1" noChangeAspect="1"/>
          </p:cNvSpPr>
          <p:nvPr>
            <p:ph type="sldImg"/>
          </p:nvPr>
        </p:nvSpPr>
        <p:spPr>
          <a:xfrm>
            <a:off x="1365250" y="715963"/>
            <a:ext cx="4254500" cy="3440112"/>
          </a:xfrm>
        </p:spPr>
      </p:sp>
      <p:sp>
        <p:nvSpPr>
          <p:cNvPr id="3" name="Θέση σημειώσεων 2">
            <a:extLst>
              <a:ext uri="{FF2B5EF4-FFF2-40B4-BE49-F238E27FC236}">
                <a16:creationId xmlns:a16="http://schemas.microsoft.com/office/drawing/2014/main" id="{7E6DA1AA-A020-DA73-720C-4FBADAE1DFD4}"/>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515CF4F8-BA79-915F-190F-3D0D594F64D1}"/>
              </a:ext>
            </a:extLst>
          </p:cNvPr>
          <p:cNvSpPr>
            <a:spLocks noGrp="1"/>
          </p:cNvSpPr>
          <p:nvPr>
            <p:ph type="sldNum" sz="quarter" idx="5"/>
          </p:nvPr>
        </p:nvSpPr>
        <p:spPr/>
        <p:txBody>
          <a:bodyPr/>
          <a:lstStyle/>
          <a:p>
            <a:pPr>
              <a:defRPr/>
            </a:pPr>
            <a:fld id="{A32E23F3-CE2C-42DD-879E-EEA2030225B4}" type="slidenum">
              <a:rPr lang="en-US" altLang="en-US" smtClean="0"/>
              <a:pPr>
                <a:defRPr/>
              </a:pPr>
              <a:t>19</a:t>
            </a:fld>
            <a:endParaRPr lang="en-US" altLang="en-US"/>
          </a:p>
        </p:txBody>
      </p:sp>
    </p:spTree>
    <p:extLst>
      <p:ext uri="{BB962C8B-B14F-4D97-AF65-F5344CB8AC3E}">
        <p14:creationId xmlns:p14="http://schemas.microsoft.com/office/powerpoint/2010/main" val="4214342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7AD6-5700-DA8D-2A35-72B8AB62C883}"/>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6A8EFC7-133D-EF95-B1CC-3F237ED55F0F}"/>
              </a:ext>
            </a:extLst>
          </p:cNvPr>
          <p:cNvSpPr>
            <a:spLocks noGrp="1" noRot="1" noChangeAspect="1"/>
          </p:cNvSpPr>
          <p:nvPr>
            <p:ph type="sldImg"/>
          </p:nvPr>
        </p:nvSpPr>
        <p:spPr>
          <a:xfrm>
            <a:off x="1365250" y="715963"/>
            <a:ext cx="4254500" cy="3440112"/>
          </a:xfrm>
        </p:spPr>
      </p:sp>
      <p:sp>
        <p:nvSpPr>
          <p:cNvPr id="3" name="Θέση σημειώσεων 2">
            <a:extLst>
              <a:ext uri="{FF2B5EF4-FFF2-40B4-BE49-F238E27FC236}">
                <a16:creationId xmlns:a16="http://schemas.microsoft.com/office/drawing/2014/main" id="{53ABD8B8-D99C-630D-0419-82EFA9B11865}"/>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8CAD04DD-DE28-03FA-2649-420FA1E7A970}"/>
              </a:ext>
            </a:extLst>
          </p:cNvPr>
          <p:cNvSpPr>
            <a:spLocks noGrp="1"/>
          </p:cNvSpPr>
          <p:nvPr>
            <p:ph type="sldNum" sz="quarter" idx="5"/>
          </p:nvPr>
        </p:nvSpPr>
        <p:spPr/>
        <p:txBody>
          <a:bodyPr/>
          <a:lstStyle/>
          <a:p>
            <a:pPr>
              <a:defRPr/>
            </a:pPr>
            <a:fld id="{A32E23F3-CE2C-42DD-879E-EEA2030225B4}" type="slidenum">
              <a:rPr lang="en-US" altLang="en-US" smtClean="0"/>
              <a:pPr>
                <a:defRPr/>
              </a:pPr>
              <a:t>20</a:t>
            </a:fld>
            <a:endParaRPr lang="en-US" altLang="en-US"/>
          </a:p>
        </p:txBody>
      </p:sp>
    </p:spTree>
    <p:extLst>
      <p:ext uri="{BB962C8B-B14F-4D97-AF65-F5344CB8AC3E}">
        <p14:creationId xmlns:p14="http://schemas.microsoft.com/office/powerpoint/2010/main" val="2542560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988E4-AB95-C19C-B955-1D20E23DC4C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3A004DAE-CF4D-450C-CC33-DD02C4EAAED7}"/>
              </a:ext>
            </a:extLst>
          </p:cNvPr>
          <p:cNvSpPr>
            <a:spLocks noGrp="1" noRot="1" noChangeAspect="1"/>
          </p:cNvSpPr>
          <p:nvPr>
            <p:ph type="sldImg"/>
          </p:nvPr>
        </p:nvSpPr>
        <p:spPr>
          <a:xfrm>
            <a:off x="1365250" y="715963"/>
            <a:ext cx="4254500" cy="3440112"/>
          </a:xfrm>
        </p:spPr>
      </p:sp>
      <p:sp>
        <p:nvSpPr>
          <p:cNvPr id="3" name="Θέση σημειώσεων 2">
            <a:extLst>
              <a:ext uri="{FF2B5EF4-FFF2-40B4-BE49-F238E27FC236}">
                <a16:creationId xmlns:a16="http://schemas.microsoft.com/office/drawing/2014/main" id="{35F108E4-B8AE-C235-A22B-655BF5898610}"/>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DDF8223D-E4CD-B030-C1C8-13F5C4956583}"/>
              </a:ext>
            </a:extLst>
          </p:cNvPr>
          <p:cNvSpPr>
            <a:spLocks noGrp="1"/>
          </p:cNvSpPr>
          <p:nvPr>
            <p:ph type="sldNum" sz="quarter" idx="5"/>
          </p:nvPr>
        </p:nvSpPr>
        <p:spPr/>
        <p:txBody>
          <a:bodyPr/>
          <a:lstStyle/>
          <a:p>
            <a:pPr>
              <a:defRPr/>
            </a:pPr>
            <a:fld id="{A32E23F3-CE2C-42DD-879E-EEA2030225B4}" type="slidenum">
              <a:rPr lang="en-US" altLang="en-US" smtClean="0"/>
              <a:pPr>
                <a:defRPr/>
              </a:pPr>
              <a:t>21</a:t>
            </a:fld>
            <a:endParaRPr lang="en-US" altLang="en-US"/>
          </a:p>
        </p:txBody>
      </p:sp>
    </p:spTree>
    <p:extLst>
      <p:ext uri="{BB962C8B-B14F-4D97-AF65-F5344CB8AC3E}">
        <p14:creationId xmlns:p14="http://schemas.microsoft.com/office/powerpoint/2010/main" val="1418140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19188" y="1184275"/>
            <a:ext cx="6715125" cy="252095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19188" y="3802063"/>
            <a:ext cx="6715125" cy="1747837"/>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35545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5950" y="385763"/>
            <a:ext cx="7721600" cy="1398587"/>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15950" y="1927225"/>
            <a:ext cx="7721600" cy="45926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8872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1188" y="1804988"/>
            <a:ext cx="7721600" cy="301148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11188" y="4845050"/>
            <a:ext cx="7721600" cy="15827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2108803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15950" y="385763"/>
            <a:ext cx="7721600" cy="1398587"/>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15950" y="1927225"/>
            <a:ext cx="3784600" cy="45926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52950" y="1927225"/>
            <a:ext cx="3784600" cy="45926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7218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5950" y="385763"/>
            <a:ext cx="7723188" cy="1398587"/>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15950" y="1774825"/>
            <a:ext cx="3787775" cy="8699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15950" y="2644775"/>
            <a:ext cx="3787775" cy="388937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532313" y="1774825"/>
            <a:ext cx="3806825" cy="8699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532313" y="2644775"/>
            <a:ext cx="3806825" cy="388937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6825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15950" y="385763"/>
            <a:ext cx="7721600" cy="1398587"/>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345700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1155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5950" y="482600"/>
            <a:ext cx="2889250" cy="16891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06825" y="1042988"/>
            <a:ext cx="4532313" cy="514350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5950" y="2171700"/>
            <a:ext cx="2889250" cy="402272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119938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5950" y="482600"/>
            <a:ext cx="2889250" cy="16891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06825" y="1042988"/>
            <a:ext cx="4532313" cy="51435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15950" y="2171700"/>
            <a:ext cx="2889250" cy="402272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124279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15950" y="385763"/>
            <a:ext cx="7721600" cy="1398587"/>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15950" y="1927225"/>
            <a:ext cx="7721600" cy="45926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5233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7150" y="385763"/>
            <a:ext cx="1930400" cy="613410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15950" y="385763"/>
            <a:ext cx="5638800" cy="6134100"/>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3039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1026" name="Rectangle 11"/>
          <p:cNvSpPr>
            <a:spLocks noChangeArrowheads="1"/>
          </p:cNvSpPr>
          <p:nvPr/>
        </p:nvSpPr>
        <p:spPr bwMode="auto">
          <a:xfrm>
            <a:off x="1112838" y="6778625"/>
            <a:ext cx="166687" cy="9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defRPr/>
            </a:pPr>
            <a:endParaRPr lang="en-US" altLang="en-US"/>
          </a:p>
        </p:txBody>
      </p:sp>
      <p:sp>
        <p:nvSpPr>
          <p:cNvPr id="1027" name="Text Box 21"/>
          <p:cNvSpPr txBox="1">
            <a:spLocks noChangeArrowheads="1"/>
          </p:cNvSpPr>
          <p:nvPr userDrawn="1"/>
        </p:nvSpPr>
        <p:spPr bwMode="auto">
          <a:xfrm>
            <a:off x="0" y="0"/>
            <a:ext cx="8953500" cy="482600"/>
          </a:xfrm>
          <a:prstGeom prst="rect">
            <a:avLst/>
          </a:prstGeom>
          <a:solidFill>
            <a:srgbClr val="FF6600"/>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defRPr/>
            </a:pPr>
            <a:r>
              <a:rPr lang="el-GR" altLang="en-US" sz="1200" b="1" i="1">
                <a:latin typeface="Times New Roman" panose="02020603050405020304" pitchFamily="18" charset="0"/>
              </a:rPr>
              <a:t>ΨΗΦΙΑΚΕΣ ΤΗΛΕΠΙΚΟΙΝΩΝΙΕΣ	 </a:t>
            </a:r>
            <a:r>
              <a:rPr lang="en-US" altLang="en-US" sz="1200" b="1" i="1">
                <a:latin typeface="Times New Roman" panose="02020603050405020304" pitchFamily="18" charset="0"/>
              </a:rPr>
              <a:t>		</a:t>
            </a:r>
            <a:r>
              <a:rPr lang="en-GB" altLang="en-US" sz="1200" b="1" i="1">
                <a:latin typeface="Times New Roman" panose="02020603050405020304" pitchFamily="18" charset="0"/>
              </a:rPr>
              <a:t> </a:t>
            </a:r>
            <a:r>
              <a:rPr lang="el-GR" altLang="en-US" sz="1200" b="1" i="1">
                <a:latin typeface="Times New Roman" panose="02020603050405020304" pitchFamily="18" charset="0"/>
              </a:rPr>
              <a:t>		</a:t>
            </a:r>
            <a:r>
              <a:rPr lang="en-US" altLang="en-US" sz="1200" b="1" i="1">
                <a:latin typeface="Times New Roman" panose="02020603050405020304" pitchFamily="18" charset="0"/>
              </a:rPr>
              <a:t>1-</a:t>
            </a:r>
            <a:fld id="{B68E59AB-385A-486F-928E-DF25914FCECB}" type="slidenum">
              <a:rPr lang="en-US" altLang="en-US" sz="1200" b="1" i="1" smtClean="0">
                <a:latin typeface="Times New Roman" panose="02020603050405020304" pitchFamily="18" charset="0"/>
              </a:rPr>
              <a:pPr algn="just">
                <a:defRPr/>
              </a:pPr>
              <a:t>‹#›</a:t>
            </a:fld>
            <a:endParaRPr lang="en-US" altLang="en-US" sz="1200" b="1" i="1">
              <a:latin typeface="Times New Roman" panose="02020603050405020304" pitchFamily="18" charset="0"/>
            </a:endParaRPr>
          </a:p>
          <a:p>
            <a:pPr algn="just">
              <a:defRPr/>
            </a:pPr>
            <a:r>
              <a:rPr lang="el-GR" altLang="en-US" sz="1200" b="1" i="1">
                <a:latin typeface="Times New Roman" panose="02020603050405020304" pitchFamily="18" charset="0"/>
              </a:rPr>
              <a:t>ΚΕΦΑΛΑΙΟ </a:t>
            </a:r>
            <a:r>
              <a:rPr lang="en-US" altLang="en-US" sz="1200" b="1" i="1">
                <a:latin typeface="Times New Roman" panose="02020603050405020304" pitchFamily="18" charset="0"/>
              </a:rPr>
              <a:t>2</a:t>
            </a:r>
            <a:r>
              <a:rPr lang="el-GR" altLang="en-US" sz="1200" b="1" i="1">
                <a:latin typeface="Times New Roman" panose="02020603050405020304" pitchFamily="18" charset="0"/>
              </a:rPr>
              <a:t>: </a:t>
            </a:r>
            <a:r>
              <a:rPr lang="el-GR" altLang="en-US" sz="1200" b="1" i="1">
                <a:latin typeface="Times New Roman" panose="02020603050405020304" pitchFamily="18" charset="0"/>
                <a:cs typeface="Times New Roman" panose="02020603050405020304" pitchFamily="18" charset="0"/>
              </a:rPr>
              <a:t>ΒΑΣΙΚΕΣ ΑΡΧΕΣ</a:t>
            </a:r>
            <a:r>
              <a:rPr lang="en-US" altLang="en-US" sz="1200" b="1" i="1">
                <a:latin typeface="Times New Roman" panose="02020603050405020304" pitchFamily="18" charset="0"/>
                <a:cs typeface="Times New Roman" panose="02020603050405020304" pitchFamily="18" charset="0"/>
              </a:rPr>
              <a:t> </a:t>
            </a:r>
            <a:r>
              <a:rPr lang="el-GR" altLang="en-US" sz="1200" b="1" i="1">
                <a:latin typeface="Times New Roman" panose="02020603050405020304" pitchFamily="18" charset="0"/>
                <a:cs typeface="Times New Roman" panose="02020603050405020304" pitchFamily="18" charset="0"/>
              </a:rPr>
              <a:t>ΤΩΝ ΕΠΙΚΟΙΝΩΝΙΩΝ ΔΕΔΟΜΕΝΩΝ</a:t>
            </a:r>
            <a:endParaRPr lang="en-GB" altLang="en-US" sz="1200" b="1" i="1">
              <a:latin typeface="Times New Roman" panose="02020603050405020304" pitchFamily="18" charset="0"/>
              <a:cs typeface="Times New Roman" panose="02020603050405020304" pitchFamily="18" charset="0"/>
            </a:endParaRPr>
          </a:p>
        </p:txBody>
      </p:sp>
      <p:pic>
        <p:nvPicPr>
          <p:cNvPr id="1028" name="Picture 23" descr="COSTAS1"/>
          <p:cNvPicPr>
            <a:picLocks noChangeAspect="1" noChangeArrowheads="1"/>
          </p:cNvPicPr>
          <p:nvPr userDrawn="1"/>
        </p:nvPicPr>
        <p:blipFill>
          <a:blip r:embed="rId13" cstate="print">
            <a:grayscl/>
            <a:extLst>
              <a:ext uri="{28A0092B-C50C-407E-A947-70E740481C1C}">
                <a14:useLocalDpi xmlns:a14="http://schemas.microsoft.com/office/drawing/2010/main" val="0"/>
              </a:ext>
            </a:extLst>
          </a:blip>
          <a:srcRect l="-2274" t="-3836" r="-3586" b="-9258"/>
          <a:stretch>
            <a:fillRect/>
          </a:stretch>
        </p:blipFill>
        <p:spPr bwMode="auto">
          <a:xfrm>
            <a:off x="7872413" y="0"/>
            <a:ext cx="1081087" cy="969963"/>
          </a:xfrm>
          <a:prstGeom prst="rect">
            <a:avLst/>
          </a:prstGeom>
          <a:solidFill>
            <a:schemeClr val="folHlink"/>
          </a:solidFill>
          <a:ln w="28575">
            <a:solidFill>
              <a:srgbClr val="000099"/>
            </a:solidFill>
            <a:miter lim="800000"/>
            <a:headEnd/>
            <a:tailEnd/>
          </a:ln>
        </p:spPr>
      </p:pic>
      <p:sp>
        <p:nvSpPr>
          <p:cNvPr id="1029" name="Rectangle 25"/>
          <p:cNvSpPr>
            <a:spLocks noChangeArrowheads="1"/>
          </p:cNvSpPr>
          <p:nvPr userDrawn="1"/>
        </p:nvSpPr>
        <p:spPr bwMode="auto">
          <a:xfrm>
            <a:off x="0" y="7151688"/>
            <a:ext cx="8953500" cy="87312"/>
          </a:xfrm>
          <a:prstGeom prst="rect">
            <a:avLst/>
          </a:prstGeom>
          <a:solidFill>
            <a:srgbClr val="FF6600"/>
          </a:solidFill>
          <a:ln w="6350">
            <a:solidFill>
              <a:srgbClr val="FF6600"/>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defRPr/>
            </a:pPr>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600" b="1" kern="1200">
          <a:solidFill>
            <a:srgbClr val="000000"/>
          </a:solidFill>
          <a:latin typeface="+mj-lt"/>
          <a:ea typeface="+mj-ea"/>
          <a:cs typeface="+mj-cs"/>
        </a:defRPr>
      </a:lvl1pPr>
      <a:lvl2pPr algn="ctr" rtl="0" eaLnBrk="0" fontAlgn="base" hangingPunct="0">
        <a:spcBef>
          <a:spcPct val="0"/>
        </a:spcBef>
        <a:spcAft>
          <a:spcPct val="0"/>
        </a:spcAft>
        <a:defRPr sz="3600" b="1">
          <a:solidFill>
            <a:srgbClr val="000000"/>
          </a:solidFill>
          <a:latin typeface="Arial" panose="020B0604020202020204" pitchFamily="34" charset="0"/>
        </a:defRPr>
      </a:lvl2pPr>
      <a:lvl3pPr algn="ctr" rtl="0" eaLnBrk="0" fontAlgn="base" hangingPunct="0">
        <a:spcBef>
          <a:spcPct val="0"/>
        </a:spcBef>
        <a:spcAft>
          <a:spcPct val="0"/>
        </a:spcAft>
        <a:defRPr sz="3600" b="1">
          <a:solidFill>
            <a:srgbClr val="000000"/>
          </a:solidFill>
          <a:latin typeface="Arial" panose="020B0604020202020204" pitchFamily="34" charset="0"/>
        </a:defRPr>
      </a:lvl3pPr>
      <a:lvl4pPr algn="ctr" rtl="0" eaLnBrk="0" fontAlgn="base" hangingPunct="0">
        <a:spcBef>
          <a:spcPct val="0"/>
        </a:spcBef>
        <a:spcAft>
          <a:spcPct val="0"/>
        </a:spcAft>
        <a:defRPr sz="3600" b="1">
          <a:solidFill>
            <a:srgbClr val="000000"/>
          </a:solidFill>
          <a:latin typeface="Arial" panose="020B0604020202020204" pitchFamily="34" charset="0"/>
        </a:defRPr>
      </a:lvl4pPr>
      <a:lvl5pPr algn="ctr" rtl="0" eaLnBrk="0" fontAlgn="base" hangingPunct="0">
        <a:spcBef>
          <a:spcPct val="0"/>
        </a:spcBef>
        <a:spcAft>
          <a:spcPct val="0"/>
        </a:spcAft>
        <a:defRPr sz="3600" b="1">
          <a:solidFill>
            <a:srgbClr val="000000"/>
          </a:solidFill>
          <a:latin typeface="Arial" panose="020B0604020202020204" pitchFamily="34" charset="0"/>
        </a:defRPr>
      </a:lvl5pPr>
      <a:lvl6pPr marL="457200" algn="ctr" rtl="0" eaLnBrk="0" fontAlgn="base" hangingPunct="0">
        <a:spcBef>
          <a:spcPct val="0"/>
        </a:spcBef>
        <a:spcAft>
          <a:spcPct val="0"/>
        </a:spcAft>
        <a:defRPr sz="3600" b="1">
          <a:solidFill>
            <a:srgbClr val="000000"/>
          </a:solidFill>
          <a:latin typeface="Arial" panose="020B0604020202020204" pitchFamily="34" charset="0"/>
        </a:defRPr>
      </a:lvl6pPr>
      <a:lvl7pPr marL="914400" algn="ctr" rtl="0" eaLnBrk="0" fontAlgn="base" hangingPunct="0">
        <a:spcBef>
          <a:spcPct val="0"/>
        </a:spcBef>
        <a:spcAft>
          <a:spcPct val="0"/>
        </a:spcAft>
        <a:defRPr sz="3600" b="1">
          <a:solidFill>
            <a:srgbClr val="000000"/>
          </a:solidFill>
          <a:latin typeface="Arial" panose="020B0604020202020204" pitchFamily="34" charset="0"/>
        </a:defRPr>
      </a:lvl7pPr>
      <a:lvl8pPr marL="1371600" algn="ctr" rtl="0" eaLnBrk="0" fontAlgn="base" hangingPunct="0">
        <a:spcBef>
          <a:spcPct val="0"/>
        </a:spcBef>
        <a:spcAft>
          <a:spcPct val="0"/>
        </a:spcAft>
        <a:defRPr sz="3600" b="1">
          <a:solidFill>
            <a:srgbClr val="000000"/>
          </a:solidFill>
          <a:latin typeface="Arial" panose="020B0604020202020204" pitchFamily="34" charset="0"/>
        </a:defRPr>
      </a:lvl8pPr>
      <a:lvl9pPr marL="1828800" algn="ctr" rtl="0" eaLnBrk="0" fontAlgn="base" hangingPunct="0">
        <a:spcBef>
          <a:spcPct val="0"/>
        </a:spcBef>
        <a:spcAft>
          <a:spcPct val="0"/>
        </a:spcAft>
        <a:defRPr sz="3600" b="1">
          <a:solidFill>
            <a:srgbClr val="000000"/>
          </a:solidFill>
          <a:latin typeface="Arial" panose="020B0604020202020204" pitchFamily="34" charset="0"/>
        </a:defRPr>
      </a:lvl9pPr>
    </p:titleStyle>
    <p:bodyStyle>
      <a:lvl1pPr marL="342900" indent="-342900" algn="l" rtl="0" eaLnBrk="0" fontAlgn="base" hangingPunct="0">
        <a:spcBef>
          <a:spcPct val="20000"/>
        </a:spcBef>
        <a:spcAft>
          <a:spcPct val="0"/>
        </a:spcAft>
        <a:buSzPct val="75000"/>
        <a:buFont typeface="Monotype Sorts" pitchFamily="2" charset="2"/>
        <a:buChar char="l"/>
        <a:defRPr sz="3200" kern="1200">
          <a:solidFill>
            <a:srgbClr val="000000"/>
          </a:solidFill>
          <a:latin typeface="+mn-lt"/>
          <a:ea typeface="+mn-ea"/>
          <a:cs typeface="+mn-cs"/>
        </a:defRPr>
      </a:lvl1pPr>
      <a:lvl2pPr marL="742950" indent="-285750" algn="l" rtl="0" eaLnBrk="0" fontAlgn="base" hangingPunct="0">
        <a:spcBef>
          <a:spcPct val="20000"/>
        </a:spcBef>
        <a:spcAft>
          <a:spcPct val="0"/>
        </a:spcAft>
        <a:buSzPct val="75000"/>
        <a:buFont typeface="Monotype Sorts" pitchFamily="2" charset="2"/>
        <a:buChar char="l"/>
        <a:defRPr sz="2800" kern="1200">
          <a:solidFill>
            <a:srgbClr val="000000"/>
          </a:solidFill>
          <a:latin typeface="+mn-lt"/>
          <a:ea typeface="+mn-ea"/>
          <a:cs typeface="+mn-cs"/>
        </a:defRPr>
      </a:lvl2pPr>
      <a:lvl3pPr marL="1143000" indent="-228600" algn="l" rtl="0" eaLnBrk="0" fontAlgn="base" hangingPunct="0">
        <a:spcBef>
          <a:spcPct val="20000"/>
        </a:spcBef>
        <a:spcAft>
          <a:spcPct val="0"/>
        </a:spcAft>
        <a:buSzPct val="75000"/>
        <a:buFont typeface="Monotype Sorts" pitchFamily="2" charset="2"/>
        <a:buChar char="l"/>
        <a:defRPr sz="2400" kern="1200">
          <a:solidFill>
            <a:srgbClr val="000000"/>
          </a:solidFill>
          <a:latin typeface="+mn-lt"/>
          <a:ea typeface="+mn-ea"/>
          <a:cs typeface="+mn-cs"/>
        </a:defRPr>
      </a:lvl3pPr>
      <a:lvl4pPr marL="1600200" indent="-228600" algn="l" rtl="0" eaLnBrk="0" fontAlgn="base" hangingPunct="0">
        <a:spcBef>
          <a:spcPct val="20000"/>
        </a:spcBef>
        <a:spcAft>
          <a:spcPct val="0"/>
        </a:spcAft>
        <a:buSzPct val="75000"/>
        <a:buFont typeface="Monotype Sorts" pitchFamily="2" charset="2"/>
        <a:buChar char="l"/>
        <a:defRPr sz="2000" kern="1200">
          <a:solidFill>
            <a:srgbClr val="000000"/>
          </a:solidFill>
          <a:latin typeface="+mn-lt"/>
          <a:ea typeface="+mn-ea"/>
          <a:cs typeface="+mn-cs"/>
        </a:defRPr>
      </a:lvl4pPr>
      <a:lvl5pPr marL="2057400" indent="-228600" algn="l" rtl="0" eaLnBrk="0" fontAlgn="base" hangingPunct="0">
        <a:spcBef>
          <a:spcPct val="20000"/>
        </a:spcBef>
        <a:spcAft>
          <a:spcPct val="0"/>
        </a:spcAft>
        <a:buSzPct val="75000"/>
        <a:buFont typeface="Monotype Sorts" pitchFamily="2" charset="2"/>
        <a:buChar char="l"/>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8.wmf"/><Relationship Id="rId7" Type="http://schemas.openxmlformats.org/officeDocument/2006/relationships/oleObject" Target="../embeddings/oleObject3.bin"/><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5.bin"/><Relationship Id="rId10" Type="http://schemas.openxmlformats.org/officeDocument/2006/relationships/hyperlink" Target="https://el.wikipedia.org/wiki/%CE%95%CF%80%CE%B9%CE%BA%CE%BF%CE%B9%CE%BD%CF%89%CE%BD%CE%B9%CE%B1%CE%BA%CF%8C_%CE%BA%CE%B1%CE%BD%CE%AC%CE%BB%CE%B9" TargetMode="External"/><Relationship Id="rId4" Type="http://schemas.openxmlformats.org/officeDocument/2006/relationships/image" Target="../media/image13.wmf"/><Relationship Id="rId9" Type="http://schemas.openxmlformats.org/officeDocument/2006/relationships/hyperlink" Target="https://el.wikipedia.org/wiki/%CE%A1%CF%85%CE%B8%CE%BC%CF%8C%CF%82_%CE%BC%CE%B5%CF%84%CE%AC%CE%B4%CE%BF%CF%83%CE%B7%CF%82"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7.wmf"/><Relationship Id="rId7" Type="http://schemas.openxmlformats.org/officeDocument/2006/relationships/image" Target="../media/image19.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18.wmf"/><Relationship Id="rId4" Type="http://schemas.openxmlformats.org/officeDocument/2006/relationships/oleObject" Target="../embeddings/oleObject8.bin"/><Relationship Id="rId9" Type="http://schemas.openxmlformats.org/officeDocument/2006/relationships/image" Target="../media/image20.wmf"/></Relationships>
</file>

<file path=ppt/slides/_rels/slide1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3"/>
          <p:cNvSpPr txBox="1">
            <a:spLocks noChangeArrowheads="1"/>
          </p:cNvSpPr>
          <p:nvPr/>
        </p:nvSpPr>
        <p:spPr bwMode="auto">
          <a:xfrm>
            <a:off x="0" y="1063625"/>
            <a:ext cx="8953500"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8925" indent="-288925">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rPr>
              <a:t>Μέθοδοι επικοινωνίας</a:t>
            </a:r>
          </a:p>
          <a:p>
            <a:pPr algn="just">
              <a:lnSpc>
                <a:spcPct val="90000"/>
              </a:lnSpc>
            </a:pPr>
            <a:r>
              <a:rPr lang="el-GR" altLang="en-US" sz="2200" b="1" dirty="0">
                <a:solidFill>
                  <a:srgbClr val="990000"/>
                </a:solidFill>
                <a:latin typeface="Times New Roman" panose="02020603050405020304" pitchFamily="18" charset="0"/>
              </a:rPr>
              <a:t>1.	Δυαδική σηματοδοσία (Binary Signaling)</a:t>
            </a:r>
          </a:p>
          <a:p>
            <a:pPr algn="just">
              <a:lnSpc>
                <a:spcPct val="90000"/>
              </a:lnSpc>
            </a:pPr>
            <a:r>
              <a:rPr lang="el-GR" altLang="en-US" sz="2200" b="1" dirty="0">
                <a:solidFill>
                  <a:srgbClr val="990000"/>
                </a:solidFill>
                <a:latin typeface="Times New Roman" panose="02020603050405020304" pitchFamily="18" charset="0"/>
              </a:rPr>
              <a:t> </a:t>
            </a:r>
          </a:p>
          <a:p>
            <a:pPr algn="just">
              <a:lnSpc>
                <a:spcPct val="90000"/>
              </a:lnSpc>
            </a:pPr>
            <a:r>
              <a:rPr lang="el-GR" altLang="en-US" sz="2200" b="1" dirty="0">
                <a:solidFill>
                  <a:srgbClr val="990000"/>
                </a:solidFill>
                <a:latin typeface="Times New Roman" panose="02020603050405020304" pitchFamily="18" charset="0"/>
              </a:rPr>
              <a:t>Α.	Δυαδική σηματοδοσία χρησιμοποιώντας ένα καλώδιο</a:t>
            </a:r>
            <a:r>
              <a:rPr lang="en-US" altLang="en-US" sz="2200" b="1" dirty="0">
                <a:solidFill>
                  <a:srgbClr val="990000"/>
                </a:solidFill>
                <a:latin typeface="Times New Roman" panose="02020603050405020304" pitchFamily="18" charset="0"/>
              </a:rPr>
              <a:t> </a:t>
            </a:r>
            <a:r>
              <a:rPr lang="en-US" altLang="en-US" sz="2200" b="1" dirty="0">
                <a:solidFill>
                  <a:srgbClr val="FF0000"/>
                </a:solidFill>
                <a:latin typeface="Times New Roman" panose="02020603050405020304" pitchFamily="18" charset="0"/>
              </a:rPr>
              <a:t>(</a:t>
            </a:r>
            <a:r>
              <a:rPr lang="el-GR" altLang="en-US" sz="2200" b="1" dirty="0">
                <a:solidFill>
                  <a:srgbClr val="FF0000"/>
                </a:solidFill>
                <a:latin typeface="Times New Roman" panose="02020603050405020304" pitchFamily="18" charset="0"/>
              </a:rPr>
              <a:t>κανάλι)</a:t>
            </a:r>
            <a:r>
              <a:rPr lang="en-GB" altLang="en-US" sz="2200" b="1" dirty="0">
                <a:solidFill>
                  <a:srgbClr val="990000"/>
                </a:solidFill>
                <a:latin typeface="Times New Roman" panose="02020603050405020304" pitchFamily="18" charset="0"/>
              </a:rPr>
              <a:t> </a:t>
            </a: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Β.	Δυαδική σηματοδοσία χρησιμοποιώντας πολλά παράλληλα καλώδια</a:t>
            </a:r>
            <a:r>
              <a:rPr lang="en-GB" altLang="en-US" sz="2200" b="1" dirty="0">
                <a:solidFill>
                  <a:srgbClr val="990000"/>
                </a:solidFill>
                <a:latin typeface="Times New Roman" panose="02020603050405020304" pitchFamily="18" charset="0"/>
              </a:rPr>
              <a:t> </a:t>
            </a:r>
            <a:r>
              <a:rPr lang="el-GR" altLang="en-US" sz="2200" b="1" dirty="0">
                <a:solidFill>
                  <a:srgbClr val="FF0000"/>
                </a:solidFill>
                <a:latin typeface="Times New Roman" panose="02020603050405020304" pitchFamily="18" charset="0"/>
                <a:cs typeface="Times New Roman" panose="02020603050405020304" pitchFamily="18" charset="0"/>
              </a:rPr>
              <a:t>(κανάλια)</a:t>
            </a:r>
            <a:r>
              <a:rPr lang="en-GB" altLang="en-US" sz="2200" b="1" dirty="0">
                <a:solidFill>
                  <a:srgbClr val="FF0000"/>
                </a:solidFill>
                <a:latin typeface="Times New Roman" panose="02020603050405020304" pitchFamily="18" charset="0"/>
              </a:rPr>
              <a:t> </a:t>
            </a:r>
            <a:endParaRPr lang="el-GR" altLang="en-US" sz="2200" b="1" dirty="0">
              <a:solidFill>
                <a:srgbClr val="990000"/>
              </a:solidFill>
              <a:latin typeface="Times New Roman" panose="02020603050405020304" pitchFamily="18" charset="0"/>
            </a:endParaRPr>
          </a:p>
        </p:txBody>
      </p:sp>
      <p:sp>
        <p:nvSpPr>
          <p:cNvPr id="4099" name="Text Box 4"/>
          <p:cNvSpPr txBox="1">
            <a:spLocks noChangeArrowheads="1"/>
          </p:cNvSpPr>
          <p:nvPr/>
        </p:nvSpPr>
        <p:spPr bwMode="auto">
          <a:xfrm>
            <a:off x="0" y="496888"/>
            <a:ext cx="7839075" cy="482600"/>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cs typeface="Times New Roman" panose="02020603050405020304" pitchFamily="18" charset="0"/>
              </a:rPr>
              <a:t>2.1</a:t>
            </a:r>
            <a:r>
              <a:rPr lang="el-GR" altLang="en-US" sz="2200" b="1">
                <a:latin typeface="Times New Roman" panose="02020603050405020304" pitchFamily="18" charset="0"/>
                <a:cs typeface="Times New Roman" panose="02020603050405020304" pitchFamily="18" charset="0"/>
              </a:rPr>
              <a:t>	ΒΑΣΙΚΕΣ ΑΡΧΕΣ</a:t>
            </a:r>
            <a:r>
              <a:rPr lang="en-US" altLang="en-US" sz="2200" b="1">
                <a:latin typeface="Times New Roman" panose="02020603050405020304" pitchFamily="18" charset="0"/>
                <a:cs typeface="Times New Roman" panose="02020603050405020304" pitchFamily="18" charset="0"/>
              </a:rPr>
              <a:t> </a:t>
            </a:r>
            <a:r>
              <a:rPr lang="el-GR" altLang="en-US" sz="2200" b="1">
                <a:latin typeface="Times New Roman" panose="02020603050405020304" pitchFamily="18" charset="0"/>
              </a:rPr>
              <a:t>ΤΗΣ</a:t>
            </a:r>
            <a:r>
              <a:rPr lang="el-GR" altLang="en-US" sz="2200" b="1">
                <a:latin typeface="Times New Roman" panose="02020603050405020304" pitchFamily="18" charset="0"/>
                <a:cs typeface="Times New Roman" panose="02020603050405020304" pitchFamily="18" charset="0"/>
              </a:rPr>
              <a:t> ΕΚΠΟΜΠΗΣ ΔΕΔΟΜΕΝΩΝ</a:t>
            </a:r>
            <a:r>
              <a:rPr lang="en-GB" altLang="en-US" sz="2400" b="1">
                <a:latin typeface="Times New Roman" panose="02020603050405020304" pitchFamily="18" charset="0"/>
                <a:cs typeface="Times New Roman" panose="02020603050405020304" pitchFamily="18" charset="0"/>
              </a:rPr>
              <a:t> </a:t>
            </a:r>
          </a:p>
        </p:txBody>
      </p:sp>
      <p:pic>
        <p:nvPicPr>
          <p:cNvPr id="4100" name="Picture 29" descr="bin1ca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813" y="2379663"/>
            <a:ext cx="4341812"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31" descr="71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550" y="4235450"/>
            <a:ext cx="5021263" cy="174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0" y="1063625"/>
            <a:ext cx="8953500" cy="3748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8925" indent="-288925">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Μέθοδοι επικοινωνίας</a:t>
            </a:r>
          </a:p>
          <a:p>
            <a:pPr algn="just">
              <a:lnSpc>
                <a:spcPct val="90000"/>
              </a:lnSpc>
            </a:pPr>
            <a:r>
              <a:rPr lang="el-GR" altLang="en-US" sz="2200" b="1">
                <a:solidFill>
                  <a:srgbClr val="990000"/>
                </a:solidFill>
                <a:latin typeface="Times New Roman" panose="02020603050405020304" pitchFamily="18" charset="0"/>
              </a:rPr>
              <a:t>2.	Σηματοδοσία πολλών επιπέδων (Multilevel Signaling)</a:t>
            </a:r>
          </a:p>
          <a:p>
            <a:pPr algn="just">
              <a:lnSpc>
                <a:spcPct val="90000"/>
              </a:lnSpc>
            </a:pPr>
            <a:r>
              <a:rPr lang="el-GR" altLang="en-US" sz="2200" b="1">
                <a:solidFill>
                  <a:srgbClr val="990000"/>
                </a:solidFill>
                <a:latin typeface="Times New Roman" panose="02020603050405020304" pitchFamily="18" charset="0"/>
              </a:rPr>
              <a:t> </a:t>
            </a:r>
          </a:p>
          <a:p>
            <a:pPr algn="just">
              <a:lnSpc>
                <a:spcPct val="90000"/>
              </a:lnSpc>
            </a:pPr>
            <a:r>
              <a:rPr lang="el-GR" altLang="en-US" sz="2200" b="1">
                <a:solidFill>
                  <a:srgbClr val="990000"/>
                </a:solidFill>
                <a:latin typeface="Times New Roman" panose="02020603050405020304" pitchFamily="18" charset="0"/>
              </a:rPr>
              <a:t>Α.	Σηματοδοσία πολλών επιπέδων χρησιμοποιώντας ένα καλώδιο</a:t>
            </a:r>
            <a:r>
              <a:rPr lang="en-GB" altLang="en-US" sz="2200" b="1">
                <a:solidFill>
                  <a:srgbClr val="990000"/>
                </a:solidFill>
                <a:latin typeface="Times New Roman" panose="02020603050405020304" pitchFamily="18" charset="0"/>
              </a:rPr>
              <a:t> </a:t>
            </a:r>
            <a:r>
              <a:rPr lang="en-US" altLang="en-US" sz="2200" b="1">
                <a:solidFill>
                  <a:srgbClr val="FF0000"/>
                </a:solidFill>
                <a:latin typeface="Times New Roman" panose="02020603050405020304" pitchFamily="18" charset="0"/>
              </a:rPr>
              <a:t>(</a:t>
            </a:r>
            <a:r>
              <a:rPr lang="el-GR" altLang="en-US" sz="2200" b="1">
                <a:solidFill>
                  <a:srgbClr val="FF0000"/>
                </a:solidFill>
                <a:latin typeface="Times New Roman" panose="02020603050405020304" pitchFamily="18" charset="0"/>
              </a:rPr>
              <a:t>κανάλι)</a:t>
            </a: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r>
              <a:rPr lang="el-GR" altLang="en-US" sz="2200" b="1">
                <a:solidFill>
                  <a:srgbClr val="990000"/>
                </a:solidFill>
                <a:latin typeface="Times New Roman" panose="02020603050405020304" pitchFamily="18" charset="0"/>
                <a:cs typeface="Times New Roman" panose="02020603050405020304" pitchFamily="18" charset="0"/>
              </a:rPr>
              <a:t>Β.	Σηματοδοσία πολλών επιπέδων χρησιμοποιώντας πολλά καλώδια </a:t>
            </a:r>
            <a:r>
              <a:rPr lang="el-GR" altLang="en-US" sz="2200" b="1">
                <a:solidFill>
                  <a:srgbClr val="FF0000"/>
                </a:solidFill>
                <a:latin typeface="Times New Roman" panose="02020603050405020304" pitchFamily="18" charset="0"/>
                <a:cs typeface="Times New Roman" panose="02020603050405020304" pitchFamily="18" charset="0"/>
              </a:rPr>
              <a:t>(κανάλια)</a:t>
            </a:r>
            <a:r>
              <a:rPr lang="en-GB" altLang="en-US" sz="2200" b="1">
                <a:solidFill>
                  <a:srgbClr val="FF0000"/>
                </a:solidFill>
                <a:latin typeface="Times New Roman" panose="02020603050405020304" pitchFamily="18" charset="0"/>
              </a:rPr>
              <a:t> </a:t>
            </a:r>
            <a:endParaRPr lang="el-GR" altLang="en-US" sz="2200" b="1">
              <a:solidFill>
                <a:srgbClr val="FF0000"/>
              </a:solidFill>
              <a:latin typeface="Times New Roman" panose="02020603050405020304" pitchFamily="18" charset="0"/>
            </a:endParaRPr>
          </a:p>
        </p:txBody>
      </p:sp>
      <p:sp>
        <p:nvSpPr>
          <p:cNvPr id="5123" name="Text Box 3"/>
          <p:cNvSpPr txBox="1">
            <a:spLocks noChangeArrowheads="1"/>
          </p:cNvSpPr>
          <p:nvPr/>
        </p:nvSpPr>
        <p:spPr bwMode="auto">
          <a:xfrm>
            <a:off x="0" y="496888"/>
            <a:ext cx="7839075" cy="482600"/>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cs typeface="Times New Roman" panose="02020603050405020304" pitchFamily="18" charset="0"/>
              </a:rPr>
              <a:t>2.1</a:t>
            </a:r>
            <a:r>
              <a:rPr lang="el-GR" altLang="en-US" sz="2200" b="1">
                <a:latin typeface="Times New Roman" panose="02020603050405020304" pitchFamily="18" charset="0"/>
                <a:cs typeface="Times New Roman" panose="02020603050405020304" pitchFamily="18" charset="0"/>
              </a:rPr>
              <a:t>	ΒΑΣΙΚΕΣ ΑΡΧΕΣ</a:t>
            </a:r>
            <a:r>
              <a:rPr lang="en-US" altLang="en-US" sz="2200" b="1">
                <a:latin typeface="Times New Roman" panose="02020603050405020304" pitchFamily="18" charset="0"/>
                <a:cs typeface="Times New Roman" panose="02020603050405020304" pitchFamily="18" charset="0"/>
              </a:rPr>
              <a:t> </a:t>
            </a:r>
            <a:r>
              <a:rPr lang="el-GR" altLang="en-US" sz="2200" b="1">
                <a:latin typeface="Times New Roman" panose="02020603050405020304" pitchFamily="18" charset="0"/>
              </a:rPr>
              <a:t>ΤΗΣ</a:t>
            </a:r>
            <a:r>
              <a:rPr lang="el-GR" altLang="en-US" sz="2200" b="1">
                <a:latin typeface="Times New Roman" panose="02020603050405020304" pitchFamily="18" charset="0"/>
                <a:cs typeface="Times New Roman" panose="02020603050405020304" pitchFamily="18" charset="0"/>
              </a:rPr>
              <a:t> ΕΚΠΟΜΠΗΣ ΔΕΔΟΜΕΝΩΝ</a:t>
            </a:r>
            <a:r>
              <a:rPr lang="en-GB" altLang="en-US" sz="2400" b="1">
                <a:latin typeface="Times New Roman" panose="02020603050405020304" pitchFamily="18" charset="0"/>
                <a:cs typeface="Times New Roman" panose="02020603050405020304" pitchFamily="18" charset="0"/>
              </a:rPr>
              <a:t> </a:t>
            </a:r>
          </a:p>
        </p:txBody>
      </p:sp>
      <p:pic>
        <p:nvPicPr>
          <p:cNvPr id="5124" name="Picture 6" descr="MARY1CA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736850"/>
            <a:ext cx="4859337"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8" descr="MARY3CA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 y="4789488"/>
            <a:ext cx="4668838"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0" y="1063625"/>
            <a:ext cx="89535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Θεμελιώδεις παράγοντες που επηρεάζουν το ρυθμό μεταφοράς δεδομένων σε ένα κανάλι:</a:t>
            </a:r>
          </a:p>
        </p:txBody>
      </p:sp>
      <p:sp>
        <p:nvSpPr>
          <p:cNvPr id="6147" name="Text Box 3"/>
          <p:cNvSpPr txBox="1">
            <a:spLocks noChangeArrowheads="1"/>
          </p:cNvSpPr>
          <p:nvPr/>
        </p:nvSpPr>
        <p:spPr bwMode="auto">
          <a:xfrm>
            <a:off x="0" y="496888"/>
            <a:ext cx="7839075" cy="482600"/>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dirty="0">
                <a:latin typeface="Times New Roman" panose="02020603050405020304" pitchFamily="18" charset="0"/>
                <a:cs typeface="Times New Roman" panose="02020603050405020304" pitchFamily="18" charset="0"/>
              </a:rPr>
              <a:t>2.1</a:t>
            </a:r>
            <a:r>
              <a:rPr lang="el-GR" altLang="en-US" sz="2200" b="1" dirty="0">
                <a:latin typeface="Times New Roman" panose="02020603050405020304" pitchFamily="18" charset="0"/>
                <a:cs typeface="Times New Roman" panose="02020603050405020304" pitchFamily="18" charset="0"/>
              </a:rPr>
              <a:t>	ΒΑΣΙΚΕΣ ΑΡΧΕΣ</a:t>
            </a:r>
            <a:r>
              <a:rPr lang="en-US" altLang="en-US" sz="2200" b="1" dirty="0">
                <a:latin typeface="Times New Roman" panose="02020603050405020304" pitchFamily="18" charset="0"/>
                <a:cs typeface="Times New Roman" panose="02020603050405020304" pitchFamily="18" charset="0"/>
              </a:rPr>
              <a:t> </a:t>
            </a:r>
            <a:r>
              <a:rPr lang="el-GR" altLang="en-US" sz="2200" b="1" dirty="0">
                <a:latin typeface="Times New Roman" panose="02020603050405020304" pitchFamily="18" charset="0"/>
              </a:rPr>
              <a:t>ΤΗΣ</a:t>
            </a:r>
            <a:r>
              <a:rPr lang="el-GR" altLang="en-US" sz="2200" b="1" dirty="0">
                <a:latin typeface="Times New Roman" panose="02020603050405020304" pitchFamily="18" charset="0"/>
                <a:cs typeface="Times New Roman" panose="02020603050405020304" pitchFamily="18" charset="0"/>
              </a:rPr>
              <a:t> ΕΚΠΟΜΠΗΣ ΔΕΔΟΜΕΝΩΝ</a:t>
            </a:r>
            <a:r>
              <a:rPr lang="en-GB" altLang="en-US" sz="2400" b="1" dirty="0">
                <a:latin typeface="Times New Roman" panose="02020603050405020304" pitchFamily="18" charset="0"/>
                <a:cs typeface="Times New Roman" panose="02020603050405020304" pitchFamily="18" charset="0"/>
              </a:rPr>
              <a:t> </a:t>
            </a:r>
          </a:p>
        </p:txBody>
      </p:sp>
      <p:sp>
        <p:nvSpPr>
          <p:cNvPr id="6148" name="Text Box 6"/>
          <p:cNvSpPr txBox="1">
            <a:spLocks noChangeArrowheads="1"/>
          </p:cNvSpPr>
          <p:nvPr/>
        </p:nvSpPr>
        <p:spPr bwMode="auto">
          <a:xfrm>
            <a:off x="76200" y="1758950"/>
            <a:ext cx="8877300"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8925" indent="-288925">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spcAft>
                <a:spcPts val="600"/>
              </a:spcAft>
              <a:buFontTx/>
              <a:buChar char="•"/>
            </a:pPr>
            <a:r>
              <a:rPr lang="el-GR" altLang="en-US" sz="2200" b="1" dirty="0">
                <a:solidFill>
                  <a:srgbClr val="990000"/>
                </a:solidFill>
                <a:latin typeface="Times New Roman" panose="02020603050405020304" pitchFamily="18" charset="0"/>
              </a:rPr>
              <a:t>Μέγιστος </a:t>
            </a:r>
            <a:r>
              <a:rPr lang="el-GR" altLang="en-US" sz="2200" b="1" dirty="0">
                <a:solidFill>
                  <a:srgbClr val="FF0000"/>
                </a:solidFill>
                <a:latin typeface="Times New Roman" panose="02020603050405020304" pitchFamily="18" charset="0"/>
              </a:rPr>
              <a:t>δυνατός ρυθμός ανίχνευσης</a:t>
            </a:r>
            <a:r>
              <a:rPr lang="el-GR" altLang="en-US" sz="2200" b="1" dirty="0">
                <a:solidFill>
                  <a:srgbClr val="990000"/>
                </a:solidFill>
                <a:latin typeface="Times New Roman" panose="02020603050405020304" pitchFamily="18" charset="0"/>
              </a:rPr>
              <a:t> αλλαγής της </a:t>
            </a:r>
            <a:r>
              <a:rPr lang="el-GR" altLang="en-US" sz="2200" b="1" dirty="0" err="1">
                <a:solidFill>
                  <a:srgbClr val="990000"/>
                </a:solidFill>
                <a:latin typeface="Times New Roman" panose="02020603050405020304" pitchFamily="18" charset="0"/>
              </a:rPr>
              <a:t>κυματομορφής</a:t>
            </a:r>
            <a:r>
              <a:rPr lang="el-GR" altLang="en-US" sz="2200" b="1" dirty="0">
                <a:solidFill>
                  <a:srgbClr val="990000"/>
                </a:solidFill>
                <a:latin typeface="Times New Roman" panose="02020603050405020304" pitchFamily="18" charset="0"/>
              </a:rPr>
              <a:t> ή της κατάστασης συμβόλων</a:t>
            </a:r>
            <a:endParaRPr lang="en-US" altLang="en-US" sz="2200" b="1" dirty="0">
              <a:solidFill>
                <a:srgbClr val="990000"/>
              </a:solidFill>
              <a:latin typeface="Times New Roman" panose="02020603050405020304" pitchFamily="18" charset="0"/>
            </a:endParaRPr>
          </a:p>
          <a:p>
            <a:pPr lvl="1" algn="just">
              <a:spcAft>
                <a:spcPts val="600"/>
              </a:spcAft>
              <a:buFontTx/>
              <a:buChar char="•"/>
            </a:pPr>
            <a:r>
              <a:rPr lang="el-GR" altLang="en-US" sz="2200" b="1" dirty="0">
                <a:solidFill>
                  <a:srgbClr val="990000"/>
                </a:solidFill>
                <a:latin typeface="Times New Roman" panose="02020603050405020304" pitchFamily="18" charset="0"/>
              </a:rPr>
              <a:t>Το </a:t>
            </a:r>
            <a:r>
              <a:rPr lang="el-GR" altLang="en-US" sz="2200" b="1" dirty="0">
                <a:solidFill>
                  <a:srgbClr val="FF0000"/>
                </a:solidFill>
                <a:latin typeface="Times New Roman" panose="02020603050405020304" pitchFamily="18" charset="0"/>
              </a:rPr>
              <a:t>εύρος ζώνης του καναλιού </a:t>
            </a:r>
            <a:r>
              <a:rPr lang="el-GR" altLang="en-US" sz="2200" b="1" dirty="0">
                <a:solidFill>
                  <a:srgbClr val="990000"/>
                </a:solidFill>
                <a:latin typeface="Times New Roman" panose="02020603050405020304" pitchFamily="18" charset="0"/>
              </a:rPr>
              <a:t>(και τυχόν περιορισμοί εύρους ζώνης που επιβάλλονται από τις βαθμίδες εκπομπής και λήψης) θα καθορίσουν πόσο γρήγορα μπορούν να μεταβάλλονται οι καταστάσεις συμβόλων στο κανάλι</a:t>
            </a:r>
            <a:endParaRPr lang="en-US" altLang="en-US" sz="2200" b="1" dirty="0">
              <a:solidFill>
                <a:srgbClr val="990000"/>
              </a:solidFill>
              <a:latin typeface="Times New Roman" panose="02020603050405020304" pitchFamily="18" charset="0"/>
            </a:endParaRPr>
          </a:p>
          <a:p>
            <a:pPr algn="just">
              <a:spcAft>
                <a:spcPts val="600"/>
              </a:spcAft>
              <a:buFontTx/>
              <a:buChar char="•"/>
            </a:pPr>
            <a:r>
              <a:rPr lang="el-GR" altLang="en-US" sz="2200" b="1" dirty="0">
                <a:solidFill>
                  <a:srgbClr val="FF0000"/>
                </a:solidFill>
                <a:latin typeface="Times New Roman" panose="02020603050405020304" pitchFamily="18" charset="0"/>
              </a:rPr>
              <a:t>Δυνατότητα διαχωρισμού </a:t>
            </a:r>
            <a:r>
              <a:rPr lang="el-GR" altLang="en-US" sz="2200" b="1" dirty="0">
                <a:solidFill>
                  <a:srgbClr val="990000"/>
                </a:solidFill>
                <a:latin typeface="Times New Roman" panose="02020603050405020304" pitchFamily="18" charset="0"/>
              </a:rPr>
              <a:t>των διαφορετικών καταστάσεων συμβόλων</a:t>
            </a:r>
          </a:p>
          <a:p>
            <a:pPr lvl="1" algn="just">
              <a:spcAft>
                <a:spcPts val="600"/>
              </a:spcAft>
              <a:buFontTx/>
              <a:buChar char="•"/>
            </a:pPr>
            <a:r>
              <a:rPr lang="el-GR" altLang="en-US" sz="2200" b="1" dirty="0">
                <a:solidFill>
                  <a:srgbClr val="990000"/>
                </a:solidFill>
                <a:latin typeface="Times New Roman" panose="02020603050405020304" pitchFamily="18" charset="0"/>
              </a:rPr>
              <a:t>Η </a:t>
            </a:r>
            <a:r>
              <a:rPr lang="el-GR" altLang="en-US" sz="2200" b="1" dirty="0">
                <a:solidFill>
                  <a:srgbClr val="FF0000"/>
                </a:solidFill>
                <a:latin typeface="Times New Roman" panose="02020603050405020304" pitchFamily="18" charset="0"/>
              </a:rPr>
              <a:t>στάθμη του θορύβου στο κανάλι </a:t>
            </a:r>
            <a:r>
              <a:rPr lang="el-GR" altLang="en-US" sz="2200" b="1" dirty="0">
                <a:solidFill>
                  <a:srgbClr val="990000"/>
                </a:solidFill>
                <a:latin typeface="Times New Roman" panose="02020603050405020304" pitchFamily="18" charset="0"/>
              </a:rPr>
              <a:t>θέτει ένα άνω όριο στον αριθμό των διαφορετικών καταστάσεων συμβόλων που μπορούν να ανιχνευθούν σωστά στο δέκτη.</a:t>
            </a:r>
          </a:p>
          <a:p>
            <a:pPr lvl="1" algn="just">
              <a:spcAft>
                <a:spcPts val="600"/>
              </a:spcAft>
              <a:buFontTx/>
              <a:buChar char="•"/>
            </a:pPr>
            <a:r>
              <a:rPr lang="el-GR" altLang="en-US" sz="2200" b="1" dirty="0">
                <a:solidFill>
                  <a:srgbClr val="990000"/>
                </a:solidFill>
                <a:latin typeface="Times New Roman" panose="02020603050405020304" pitchFamily="18" charset="0"/>
              </a:rPr>
              <a:t>Ο </a:t>
            </a:r>
            <a:r>
              <a:rPr lang="el-GR" altLang="en-US" sz="2200" b="1" dirty="0">
                <a:solidFill>
                  <a:srgbClr val="FF0000"/>
                </a:solidFill>
                <a:latin typeface="Times New Roman" panose="02020603050405020304" pitchFamily="18" charset="0"/>
              </a:rPr>
              <a:t>βαθμός παραμόρφωσης </a:t>
            </a:r>
            <a:r>
              <a:rPr lang="el-GR" altLang="en-US" sz="2200" b="1" dirty="0">
                <a:solidFill>
                  <a:srgbClr val="990000"/>
                </a:solidFill>
                <a:latin typeface="Times New Roman" panose="02020603050405020304" pitchFamily="18" charset="0"/>
              </a:rPr>
              <a:t>που εισάγει το κανάλι περιορίζει επίσης τον αριθμό και το ρυθμό αλλαγής των καταστάσεων συμβόλων που μπορεί να υπάρξει στο κανάλι με ταυτόχρονη αποδεκτή απόδοση.</a:t>
            </a:r>
            <a:r>
              <a:rPr lang="en-GB" altLang="en-US" sz="2200" b="1" dirty="0">
                <a:solidFill>
                  <a:srgbClr val="990000"/>
                </a:solidFill>
                <a:latin typeface="Times New Roman" panose="02020603050405020304" pitchFamily="18" charset="0"/>
              </a:rPr>
              <a:t> </a:t>
            </a:r>
            <a:endParaRPr lang="el-GR" altLang="en-US" sz="2200" b="1" dirty="0">
              <a:solidFill>
                <a:srgbClr val="990000"/>
              </a:solidFill>
              <a:latin typeface="Times New Roman" panose="02020603050405020304"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3"/>
          <p:cNvSpPr txBox="1">
            <a:spLocks noChangeArrowheads="1"/>
          </p:cNvSpPr>
          <p:nvPr/>
        </p:nvSpPr>
        <p:spPr bwMode="auto">
          <a:xfrm>
            <a:off x="0" y="496888"/>
            <a:ext cx="7839075" cy="461665"/>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dirty="0">
                <a:latin typeface="Times New Roman" panose="02020603050405020304" pitchFamily="18" charset="0"/>
                <a:cs typeface="Times New Roman" panose="02020603050405020304" pitchFamily="18" charset="0"/>
              </a:rPr>
              <a:t>2.1</a:t>
            </a:r>
            <a:r>
              <a:rPr lang="el-GR" altLang="en-US" sz="2200" b="1" dirty="0">
                <a:latin typeface="Times New Roman" panose="02020603050405020304" pitchFamily="18" charset="0"/>
                <a:cs typeface="Times New Roman" panose="02020603050405020304" pitchFamily="18" charset="0"/>
              </a:rPr>
              <a:t>	ΒΑΣΙΚΕΣ ΑΡΧΕΣ</a:t>
            </a:r>
            <a:r>
              <a:rPr lang="en-US" altLang="en-US" sz="2200" b="1" dirty="0">
                <a:latin typeface="Times New Roman" panose="02020603050405020304" pitchFamily="18" charset="0"/>
                <a:cs typeface="Times New Roman" panose="02020603050405020304" pitchFamily="18" charset="0"/>
              </a:rPr>
              <a:t> </a:t>
            </a:r>
            <a:r>
              <a:rPr lang="el-GR" altLang="en-US" sz="2200" b="1" dirty="0">
                <a:latin typeface="Times New Roman" panose="02020603050405020304" pitchFamily="18" charset="0"/>
              </a:rPr>
              <a:t>ΤΗΣ</a:t>
            </a:r>
            <a:r>
              <a:rPr lang="el-GR" altLang="en-US" sz="2200" b="1" dirty="0">
                <a:latin typeface="Times New Roman" panose="02020603050405020304" pitchFamily="18" charset="0"/>
                <a:cs typeface="Times New Roman" panose="02020603050405020304" pitchFamily="18" charset="0"/>
              </a:rPr>
              <a:t> ΕΚΠΟΜΠΗΣ ΔΕΔΟΜΕΝΩΝ</a:t>
            </a:r>
            <a:r>
              <a:rPr lang="en-GB" altLang="en-US" sz="2400" b="1" dirty="0">
                <a:latin typeface="Times New Roman" panose="02020603050405020304" pitchFamily="18" charset="0"/>
                <a:cs typeface="Times New Roman" panose="02020603050405020304" pitchFamily="18" charset="0"/>
              </a:rPr>
              <a:t> </a:t>
            </a:r>
          </a:p>
        </p:txBody>
      </p:sp>
      <p:sp>
        <p:nvSpPr>
          <p:cNvPr id="7171" name="Text Box 6"/>
          <p:cNvSpPr txBox="1">
            <a:spLocks noChangeArrowheads="1"/>
          </p:cNvSpPr>
          <p:nvPr/>
        </p:nvSpPr>
        <p:spPr bwMode="auto">
          <a:xfrm>
            <a:off x="0" y="1003300"/>
            <a:ext cx="8953500"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marL="342900" indent="-342900" algn="just">
              <a:buFont typeface="Arial" panose="020B0604020202020204" pitchFamily="34" charset="0"/>
              <a:buChar char="•"/>
              <a:defRPr/>
            </a:pPr>
            <a:r>
              <a:rPr lang="el-GR" altLang="en-US" sz="2200" b="1" dirty="0">
                <a:solidFill>
                  <a:srgbClr val="990000"/>
                </a:solidFill>
                <a:latin typeface="Times New Roman" panose="02020603050405020304" pitchFamily="18" charset="0"/>
              </a:rPr>
              <a:t>Ρυθμός μετάδοσης πληροφορίας (</a:t>
            </a:r>
            <a:r>
              <a:rPr lang="en-US" altLang="en-US" sz="2200" b="1" dirty="0">
                <a:solidFill>
                  <a:srgbClr val="990000"/>
                </a:solidFill>
                <a:latin typeface="Times New Roman" panose="02020603050405020304" pitchFamily="18" charset="0"/>
              </a:rPr>
              <a:t>bits/sec): </a:t>
            </a:r>
            <a:r>
              <a:rPr lang="el-GR" altLang="en-US" sz="2200" dirty="0">
                <a:solidFill>
                  <a:srgbClr val="990000"/>
                </a:solidFill>
                <a:latin typeface="Times New Roman" panose="02020603050405020304" pitchFamily="18" charset="0"/>
              </a:rPr>
              <a:t>Ο ρυθμός μετάδοσης πληροφορίας μέσα από ένα κανάλι ορίζεται ως ταχύτητα με την οποία η πληροφορία (</a:t>
            </a:r>
            <a:r>
              <a:rPr lang="en-US" altLang="en-US" sz="2200" dirty="0">
                <a:solidFill>
                  <a:srgbClr val="990000"/>
                </a:solidFill>
                <a:latin typeface="Times New Roman" panose="02020603050405020304" pitchFamily="18" charset="0"/>
              </a:rPr>
              <a:t>bits) </a:t>
            </a:r>
            <a:r>
              <a:rPr lang="el-GR" altLang="en-US" sz="2200" dirty="0">
                <a:solidFill>
                  <a:srgbClr val="990000"/>
                </a:solidFill>
                <a:latin typeface="Times New Roman" panose="02020603050405020304" pitchFamily="18" charset="0"/>
              </a:rPr>
              <a:t>μεταδίδεται από την πηγή στον τελικό προορισμό</a:t>
            </a:r>
          </a:p>
          <a:p>
            <a:pPr marL="342900" indent="-342900" algn="just">
              <a:buFont typeface="Arial" panose="020B0604020202020204" pitchFamily="34" charset="0"/>
              <a:buChar char="•"/>
              <a:defRPr/>
            </a:pPr>
            <a:endParaRPr lang="el-GR" altLang="en-US" sz="2200" dirty="0">
              <a:solidFill>
                <a:srgbClr val="990000"/>
              </a:solidFill>
              <a:latin typeface="Times New Roman" panose="02020603050405020304" pitchFamily="18" charset="0"/>
            </a:endParaRPr>
          </a:p>
          <a:p>
            <a:pPr marL="342900" indent="-342900" algn="just">
              <a:buFont typeface="Arial" panose="020B0604020202020204" pitchFamily="34" charset="0"/>
              <a:buChar char="•"/>
              <a:defRPr/>
            </a:pPr>
            <a:r>
              <a:rPr lang="el-GR" altLang="en-US" sz="2200" b="1" dirty="0">
                <a:solidFill>
                  <a:srgbClr val="990000"/>
                </a:solidFill>
                <a:latin typeface="Times New Roman" panose="02020603050405020304" pitchFamily="18" charset="0"/>
              </a:rPr>
              <a:t>Ρυθμός συμβόλων (</a:t>
            </a:r>
            <a:r>
              <a:rPr lang="en-US" altLang="en-US" sz="2200" b="1" dirty="0">
                <a:solidFill>
                  <a:srgbClr val="990000"/>
                </a:solidFill>
                <a:latin typeface="Times New Roman" panose="02020603050405020304" pitchFamily="18" charset="0"/>
              </a:rPr>
              <a:t>symbol rate, symbol/sec or baud):</a:t>
            </a:r>
            <a:r>
              <a:rPr lang="en-US" altLang="en-US" sz="2200" dirty="0">
                <a:solidFill>
                  <a:srgbClr val="990000"/>
                </a:solidFill>
                <a:latin typeface="Times New Roman" panose="02020603050405020304" pitchFamily="18" charset="0"/>
              </a:rPr>
              <a:t>  </a:t>
            </a:r>
            <a:r>
              <a:rPr lang="el-GR" altLang="en-US" sz="2200" dirty="0">
                <a:solidFill>
                  <a:srgbClr val="990000"/>
                </a:solidFill>
                <a:latin typeface="Times New Roman" panose="02020603050405020304" pitchFamily="18" charset="0"/>
              </a:rPr>
              <a:t>Ο ρυθμός που μεταβάλλονται οι καταστάσεις του σήματος προς μετάδοση (γενικά, δεν ταυτίζεται με τον ρυθμό μετάδοσης πληροφορίας)</a:t>
            </a:r>
          </a:p>
          <a:p>
            <a:pPr marL="342900" indent="-342900" algn="just">
              <a:buFont typeface="Arial" panose="020B0604020202020204" pitchFamily="34" charset="0"/>
              <a:buChar char="•"/>
              <a:defRPr/>
            </a:pPr>
            <a:endParaRPr lang="el-GR" altLang="en-US" sz="2200" dirty="0">
              <a:solidFill>
                <a:srgbClr val="990000"/>
              </a:solidFill>
              <a:latin typeface="Times New Roman" panose="02020603050405020304" pitchFamily="18" charset="0"/>
            </a:endParaRPr>
          </a:p>
          <a:p>
            <a:pPr marL="342900" indent="-342900" algn="just">
              <a:buFont typeface="Arial" panose="020B0604020202020204" pitchFamily="34" charset="0"/>
              <a:buChar char="•"/>
              <a:defRPr/>
            </a:pPr>
            <a:r>
              <a:rPr lang="el-GR" altLang="en-US" sz="2400" b="1" dirty="0">
                <a:solidFill>
                  <a:srgbClr val="990000"/>
                </a:solidFill>
                <a:latin typeface="Times New Roman" panose="02020603050405020304" pitchFamily="18" charset="0"/>
              </a:rPr>
              <a:t>Φασματική απόδοση του συστήματος (</a:t>
            </a:r>
            <a:r>
              <a:rPr lang="en-US" altLang="en-US" sz="2400" b="1" dirty="0">
                <a:solidFill>
                  <a:srgbClr val="990000"/>
                </a:solidFill>
                <a:latin typeface="Times New Roman" panose="02020603050405020304" pitchFamily="18" charset="0"/>
              </a:rPr>
              <a:t>bits/sec/Hz)</a:t>
            </a:r>
            <a:r>
              <a:rPr lang="el-GR" altLang="en-US" sz="2200" b="1" dirty="0">
                <a:solidFill>
                  <a:srgbClr val="990000"/>
                </a:solidFill>
                <a:latin typeface="Times New Roman" panose="02020603050405020304" pitchFamily="18" charset="0"/>
              </a:rPr>
              <a:t>: </a:t>
            </a:r>
            <a:r>
              <a:rPr lang="el-GR" altLang="en-US" sz="2200" dirty="0">
                <a:solidFill>
                  <a:srgbClr val="990000"/>
                </a:solidFill>
                <a:latin typeface="Times New Roman" panose="02020603050405020304" pitchFamily="18" charset="0"/>
              </a:rPr>
              <a:t>Με πόση ακρίβεια ένα δεδομένο σχήμα διαμόρφωσης αξιοποιεί το διαθέσιμο εύρος ζώνης</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9A29E-CA94-748B-ACB3-79166A87C7FD}"/>
            </a:ext>
          </a:extLst>
        </p:cNvPr>
        <p:cNvGrpSpPr/>
        <p:nvPr/>
      </p:nvGrpSpPr>
      <p:grpSpPr>
        <a:xfrm>
          <a:off x="0" y="0"/>
          <a:ext cx="0" cy="0"/>
          <a:chOff x="0" y="0"/>
          <a:chExt cx="0" cy="0"/>
        </a:xfrm>
      </p:grpSpPr>
      <p:sp>
        <p:nvSpPr>
          <p:cNvPr id="7170" name="Text Box 3">
            <a:extLst>
              <a:ext uri="{FF2B5EF4-FFF2-40B4-BE49-F238E27FC236}">
                <a16:creationId xmlns:a16="http://schemas.microsoft.com/office/drawing/2014/main" id="{DDE4BAAB-9030-9600-0098-537A26C8E8C6}"/>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cs typeface="Times New Roman" panose="02020603050405020304" pitchFamily="18" charset="0"/>
              </a:rPr>
              <a:t>2.2	ΣΗΜΑΤΟΔΟΣΙΑ ΠΟΛΛΩΝ ΕΠΙΠΕΔΩΝ</a:t>
            </a:r>
            <a:r>
              <a:rPr lang="en-GB" altLang="en-US" sz="2200" b="1">
                <a:latin typeface="Times New Roman" panose="02020603050405020304" pitchFamily="18" charset="0"/>
                <a:cs typeface="Times New Roman" panose="02020603050405020304" pitchFamily="18" charset="0"/>
              </a:rPr>
              <a:t> </a:t>
            </a:r>
          </a:p>
        </p:txBody>
      </p:sp>
      <p:sp>
        <p:nvSpPr>
          <p:cNvPr id="7171" name="Text Box 6">
            <a:extLst>
              <a:ext uri="{FF2B5EF4-FFF2-40B4-BE49-F238E27FC236}">
                <a16:creationId xmlns:a16="http://schemas.microsoft.com/office/drawing/2014/main" id="{D085DACE-C598-F080-BBE0-C3137903D4FB}"/>
              </a:ext>
            </a:extLst>
          </p:cNvPr>
          <p:cNvSpPr txBox="1">
            <a:spLocks noChangeArrowheads="1"/>
          </p:cNvSpPr>
          <p:nvPr/>
        </p:nvSpPr>
        <p:spPr bwMode="auto">
          <a:xfrm>
            <a:off x="0" y="1003300"/>
            <a:ext cx="8422105"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defRPr/>
            </a:pPr>
            <a:r>
              <a:rPr lang="el-GR" altLang="en-US" sz="2200" b="1" dirty="0">
                <a:solidFill>
                  <a:srgbClr val="990000"/>
                </a:solidFill>
                <a:latin typeface="Times New Roman" panose="02020603050405020304" pitchFamily="18" charset="0"/>
              </a:rPr>
              <a:t>Ο αριθμός των καταστάσεων σηματοδοσίας που απαιτείται για να αναπαρασταθεί με μοναδικό τρόπο κάθε σχηματισμός από </a:t>
            </a:r>
            <a:r>
              <a:rPr lang="en-US" altLang="en-US" sz="2200" b="1" dirty="0">
                <a:solidFill>
                  <a:srgbClr val="990000"/>
                </a:solidFill>
                <a:latin typeface="Times New Roman" panose="02020603050405020304" pitchFamily="18" charset="0"/>
              </a:rPr>
              <a:t>n</a:t>
            </a:r>
            <a:r>
              <a:rPr lang="el-GR" altLang="en-US" sz="2200" b="1" dirty="0">
                <a:solidFill>
                  <a:srgbClr val="990000"/>
                </a:solidFill>
                <a:latin typeface="Times New Roman" panose="02020603050405020304" pitchFamily="18" charset="0"/>
              </a:rPr>
              <a:t> bit δίνεται από την απλή σχέση: </a:t>
            </a:r>
          </a:p>
          <a:p>
            <a:pPr>
              <a:defRPr/>
            </a:pPr>
            <a:endParaRPr lang="en-US" altLang="en-US" sz="2200" b="1" dirty="0">
              <a:solidFill>
                <a:srgbClr val="990000"/>
              </a:solidFill>
              <a:latin typeface="Times New Roman" panose="02020603050405020304" pitchFamily="18" charset="0"/>
            </a:endParaRPr>
          </a:p>
          <a:p>
            <a:pPr>
              <a:defRPr/>
            </a:pPr>
            <a:r>
              <a:rPr lang="el-GR" altLang="en-US" sz="2200" b="1" dirty="0">
                <a:solidFill>
                  <a:srgbClr val="990000"/>
                </a:solidFill>
                <a:latin typeface="Times New Roman" panose="02020603050405020304" pitchFamily="18" charset="0"/>
              </a:rPr>
              <a:t>Μ=</a:t>
            </a:r>
            <a:r>
              <a:rPr lang="en-US" altLang="en-US" sz="2200" b="1" dirty="0">
                <a:solidFill>
                  <a:srgbClr val="990000"/>
                </a:solidFill>
                <a:latin typeface="Times New Roman" panose="02020603050405020304" pitchFamily="18" charset="0"/>
              </a:rPr>
              <a:t>2</a:t>
            </a:r>
            <a:r>
              <a:rPr lang="en-US" altLang="en-US" sz="2200" b="1" baseline="30000" dirty="0">
                <a:solidFill>
                  <a:srgbClr val="990000"/>
                </a:solidFill>
                <a:latin typeface="Times New Roman" panose="02020603050405020304" pitchFamily="18" charset="0"/>
              </a:rPr>
              <a:t>n</a:t>
            </a:r>
            <a:r>
              <a:rPr lang="el-GR" altLang="en-US" sz="2200" b="1" dirty="0">
                <a:solidFill>
                  <a:srgbClr val="990000"/>
                </a:solidFill>
                <a:latin typeface="Times New Roman" panose="02020603050405020304" pitchFamily="18" charset="0"/>
              </a:rPr>
              <a:t> συμβολικές καταστάσεις</a:t>
            </a:r>
          </a:p>
          <a:p>
            <a:pPr>
              <a:defRPr/>
            </a:pPr>
            <a:r>
              <a:rPr lang="el-GR" altLang="en-US" sz="2200" b="1" dirty="0">
                <a:solidFill>
                  <a:srgbClr val="990000"/>
                </a:solidFill>
                <a:latin typeface="Times New Roman" panose="02020603050405020304" pitchFamily="18" charset="0"/>
              </a:rPr>
              <a:t> </a:t>
            </a:r>
          </a:p>
          <a:p>
            <a:pPr>
              <a:defRPr/>
            </a:pPr>
            <a:r>
              <a:rPr lang="el-GR" altLang="en-US" sz="2200" b="1" dirty="0">
                <a:solidFill>
                  <a:schemeClr val="bg2">
                    <a:lumMod val="50000"/>
                    <a:lumOff val="50000"/>
                  </a:schemeClr>
                </a:solidFill>
                <a:latin typeface="Times New Roman" panose="02020603050405020304" pitchFamily="18" charset="0"/>
              </a:rPr>
              <a:t>Παράδειγμα</a:t>
            </a:r>
            <a:r>
              <a:rPr lang="en-US" altLang="en-US" sz="2200" b="1" dirty="0">
                <a:solidFill>
                  <a:schemeClr val="bg2">
                    <a:lumMod val="50000"/>
                    <a:lumOff val="50000"/>
                  </a:schemeClr>
                </a:solidFill>
                <a:latin typeface="Times New Roman" panose="02020603050405020304" pitchFamily="18" charset="0"/>
              </a:rPr>
              <a:t>: </a:t>
            </a:r>
            <a:endParaRPr lang="el-GR" altLang="en-US" sz="2200" b="1" dirty="0">
              <a:solidFill>
                <a:schemeClr val="bg2">
                  <a:lumMod val="50000"/>
                  <a:lumOff val="50000"/>
                </a:schemeClr>
              </a:solidFill>
              <a:latin typeface="Times New Roman" panose="02020603050405020304" pitchFamily="18" charset="0"/>
            </a:endParaRPr>
          </a:p>
          <a:p>
            <a:pPr>
              <a:defRPr/>
            </a:pPr>
            <a:r>
              <a:rPr lang="el-GR" altLang="en-US" sz="2200" b="1" dirty="0">
                <a:solidFill>
                  <a:srgbClr val="990000"/>
                </a:solidFill>
                <a:latin typeface="Times New Roman" panose="02020603050405020304" pitchFamily="18" charset="0"/>
              </a:rPr>
              <a:t>Μια ομάδα 3 bit μπορεί να αναπαραστήσει κάποια από:</a:t>
            </a:r>
          </a:p>
          <a:p>
            <a:pPr>
              <a:defRPr/>
            </a:pPr>
            <a:r>
              <a:rPr lang="el-GR" altLang="en-US" sz="2200" b="1" dirty="0">
                <a:solidFill>
                  <a:srgbClr val="990000"/>
                </a:solidFill>
                <a:latin typeface="Times New Roman" panose="02020603050405020304" pitchFamily="18" charset="0"/>
              </a:rPr>
              <a:t>Μ=</a:t>
            </a:r>
            <a:r>
              <a:rPr lang="en-US" altLang="en-US" sz="2200" b="1" dirty="0">
                <a:solidFill>
                  <a:srgbClr val="990000"/>
                </a:solidFill>
                <a:latin typeface="Times New Roman" panose="02020603050405020304" pitchFamily="18" charset="0"/>
              </a:rPr>
              <a:t>2</a:t>
            </a:r>
            <a:r>
              <a:rPr lang="en-US" altLang="en-US" sz="2200" b="1" baseline="30000" dirty="0">
                <a:solidFill>
                  <a:srgbClr val="990000"/>
                </a:solidFill>
                <a:latin typeface="Times New Roman" panose="02020603050405020304" pitchFamily="18" charset="0"/>
              </a:rPr>
              <a:t>n</a:t>
            </a:r>
            <a:r>
              <a:rPr lang="en-US" altLang="en-US" sz="2200" b="1" dirty="0">
                <a:solidFill>
                  <a:srgbClr val="990000"/>
                </a:solidFill>
                <a:latin typeface="Times New Roman" panose="02020603050405020304" pitchFamily="18" charset="0"/>
              </a:rPr>
              <a:t>=2</a:t>
            </a:r>
            <a:r>
              <a:rPr lang="en-US" altLang="en-US" sz="2200" b="1" baseline="30000" dirty="0">
                <a:solidFill>
                  <a:srgbClr val="990000"/>
                </a:solidFill>
                <a:latin typeface="Times New Roman" panose="02020603050405020304" pitchFamily="18" charset="0"/>
              </a:rPr>
              <a:t>3</a:t>
            </a:r>
            <a:r>
              <a:rPr lang="en-US" altLang="en-US" sz="2200" b="1" dirty="0">
                <a:solidFill>
                  <a:srgbClr val="990000"/>
                </a:solidFill>
                <a:latin typeface="Times New Roman" panose="02020603050405020304" pitchFamily="18" charset="0"/>
              </a:rPr>
              <a:t>=8</a:t>
            </a:r>
            <a:r>
              <a:rPr lang="el-GR" altLang="en-US" sz="2200" b="1" dirty="0">
                <a:solidFill>
                  <a:srgbClr val="990000"/>
                </a:solidFill>
                <a:latin typeface="Times New Roman" panose="02020603050405020304" pitchFamily="18" charset="0"/>
              </a:rPr>
              <a:t>  </a:t>
            </a:r>
          </a:p>
          <a:p>
            <a:pPr>
              <a:defRPr/>
            </a:pPr>
            <a:r>
              <a:rPr lang="el-GR" altLang="en-US" sz="2200" b="1" dirty="0">
                <a:solidFill>
                  <a:srgbClr val="990000"/>
                </a:solidFill>
                <a:latin typeface="Times New Roman" panose="02020603050405020304" pitchFamily="18" charset="0"/>
              </a:rPr>
              <a:t>καταστάσεις συμβόλων</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A87B67C-1440-7EB5-3F04-533905457AB5}"/>
                  </a:ext>
                </a:extLst>
              </p:cNvPr>
              <p:cNvSpPr txBox="1"/>
              <p:nvPr/>
            </p:nvSpPr>
            <p:spPr>
              <a:xfrm>
                <a:off x="0" y="4535150"/>
                <a:ext cx="8746958" cy="769441"/>
              </a:xfrm>
              <a:prstGeom prst="rect">
                <a:avLst/>
              </a:prstGeom>
              <a:noFill/>
            </p:spPr>
            <p:txBody>
              <a:bodyPr wrap="square">
                <a:spAutoFit/>
              </a:bodyPr>
              <a:lstStyle/>
              <a:p>
                <a:pPr algn="just">
                  <a:defRPr/>
                </a:pPr>
                <a:r>
                  <a:rPr lang="el-GR" altLang="en-US" sz="2200" b="1" dirty="0">
                    <a:solidFill>
                      <a:srgbClr val="990000"/>
                    </a:solidFill>
                    <a:latin typeface="Times New Roman" panose="02020603050405020304" pitchFamily="18" charset="0"/>
                  </a:rPr>
                  <a:t>Δεν υπάρχει θεωρητικό όριο στο πλήθος </a:t>
                </a:r>
                <a14:m>
                  <m:oMath xmlns:m="http://schemas.openxmlformats.org/officeDocument/2006/math">
                    <m:r>
                      <a:rPr lang="el-GR" altLang="en-US" sz="2200" b="1" i="0" dirty="0" smtClean="0">
                        <a:solidFill>
                          <a:srgbClr val="990000"/>
                        </a:solidFill>
                        <a:latin typeface="Cambria Math" panose="02040503050406030204" pitchFamily="18" charset="0"/>
                      </a:rPr>
                      <m:t>𝚳</m:t>
                    </m:r>
                  </m:oMath>
                </a14:m>
                <a:r>
                  <a:rPr lang="el-GR" altLang="en-US" sz="2200" b="1" dirty="0">
                    <a:solidFill>
                      <a:srgbClr val="990000"/>
                    </a:solidFill>
                    <a:latin typeface="Times New Roman" panose="02020603050405020304" pitchFamily="18" charset="0"/>
                  </a:rPr>
                  <a:t> των διαφορετικών καταστάσεων</a:t>
                </a:r>
              </a:p>
            </p:txBody>
          </p:sp>
        </mc:Choice>
        <mc:Fallback>
          <p:sp>
            <p:nvSpPr>
              <p:cNvPr id="7" name="TextBox 6">
                <a:extLst>
                  <a:ext uri="{FF2B5EF4-FFF2-40B4-BE49-F238E27FC236}">
                    <a16:creationId xmlns:a16="http://schemas.microsoft.com/office/drawing/2014/main" id="{7A87B67C-1440-7EB5-3F04-533905457AB5}"/>
                  </a:ext>
                </a:extLst>
              </p:cNvPr>
              <p:cNvSpPr txBox="1">
                <a:spLocks noRot="1" noChangeAspect="1" noMove="1" noResize="1" noEditPoints="1" noAdjustHandles="1" noChangeArrowheads="1" noChangeShapeType="1" noTextEdit="1"/>
              </p:cNvSpPr>
              <p:nvPr/>
            </p:nvSpPr>
            <p:spPr>
              <a:xfrm>
                <a:off x="0" y="4535150"/>
                <a:ext cx="8746958" cy="769441"/>
              </a:xfrm>
              <a:prstGeom prst="rect">
                <a:avLst/>
              </a:prstGeom>
              <a:blipFill>
                <a:blip r:embed="rId2"/>
                <a:stretch>
                  <a:fillRect l="-906" t="-5556" r="-906" b="-15079"/>
                </a:stretch>
              </a:blipFill>
            </p:spPr>
            <p:txBody>
              <a:bodyPr/>
              <a:lstStyle/>
              <a:p>
                <a:r>
                  <a:rPr lang="el-GR">
                    <a:noFill/>
                  </a:rPr>
                  <a:t> </a:t>
                </a:r>
              </a:p>
            </p:txBody>
          </p:sp>
        </mc:Fallback>
      </mc:AlternateContent>
      <p:sp>
        <p:nvSpPr>
          <p:cNvPr id="9" name="TextBox 8">
            <a:extLst>
              <a:ext uri="{FF2B5EF4-FFF2-40B4-BE49-F238E27FC236}">
                <a16:creationId xmlns:a16="http://schemas.microsoft.com/office/drawing/2014/main" id="{0C231B4B-2913-E22C-84F2-23C14CDF5A1E}"/>
              </a:ext>
            </a:extLst>
          </p:cNvPr>
          <p:cNvSpPr txBox="1"/>
          <p:nvPr/>
        </p:nvSpPr>
        <p:spPr>
          <a:xfrm>
            <a:off x="0" y="5478797"/>
            <a:ext cx="8746958" cy="1107996"/>
          </a:xfrm>
          <a:prstGeom prst="rect">
            <a:avLst/>
          </a:prstGeom>
          <a:noFill/>
        </p:spPr>
        <p:txBody>
          <a:bodyPr wrap="square">
            <a:spAutoFit/>
          </a:bodyPr>
          <a:lstStyle/>
          <a:p>
            <a:pPr algn="just">
              <a:defRPr/>
            </a:pPr>
            <a:r>
              <a:rPr lang="el-GR" altLang="en-US" sz="2200" b="1" dirty="0">
                <a:solidFill>
                  <a:srgbClr val="990000"/>
                </a:solidFill>
                <a:latin typeface="Times New Roman" panose="02020603050405020304" pitchFamily="18" charset="0"/>
              </a:rPr>
              <a:t>Στην πράξη όμως η ικανότητα του δέκτη να διακρίνει με ακρίβεια τις επιμέρους καταστάσεις περιορίζεται πολύ από την ύπαρξη θορύβου και παραμορφώσεων, καθώς και από τις μονάδες πομπού και δέκτη </a:t>
            </a:r>
          </a:p>
        </p:txBody>
      </p:sp>
      <p:pic>
        <p:nvPicPr>
          <p:cNvPr id="11" name="Εικόνα 10">
            <a:extLst>
              <a:ext uri="{FF2B5EF4-FFF2-40B4-BE49-F238E27FC236}">
                <a16:creationId xmlns:a16="http://schemas.microsoft.com/office/drawing/2014/main" id="{FE392CBE-CAED-B34D-0090-7D43FE43371B}"/>
              </a:ext>
            </a:extLst>
          </p:cNvPr>
          <p:cNvPicPr>
            <a:picLocks noChangeAspect="1"/>
          </p:cNvPicPr>
          <p:nvPr/>
        </p:nvPicPr>
        <p:blipFill>
          <a:blip r:embed="rId3"/>
          <a:stretch>
            <a:fillRect/>
          </a:stretch>
        </p:blipFill>
        <p:spPr>
          <a:xfrm>
            <a:off x="6892739" y="2364240"/>
            <a:ext cx="1892672" cy="1659820"/>
          </a:xfrm>
          <a:prstGeom prst="rect">
            <a:avLst/>
          </a:prstGeom>
        </p:spPr>
      </p:pic>
    </p:spTree>
    <p:extLst>
      <p:ext uri="{BB962C8B-B14F-4D97-AF65-F5344CB8AC3E}">
        <p14:creationId xmlns:p14="http://schemas.microsoft.com/office/powerpoint/2010/main" val="242739329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FE291-BC4D-186C-F870-0626C7DDC2AF}"/>
            </a:ext>
          </a:extLst>
        </p:cNvPr>
        <p:cNvGrpSpPr/>
        <p:nvPr/>
      </p:nvGrpSpPr>
      <p:grpSpPr>
        <a:xfrm>
          <a:off x="0" y="0"/>
          <a:ext cx="0" cy="0"/>
          <a:chOff x="0" y="0"/>
          <a:chExt cx="0" cy="0"/>
        </a:xfrm>
      </p:grpSpPr>
      <p:sp>
        <p:nvSpPr>
          <p:cNvPr id="7170" name="Text Box 3">
            <a:extLst>
              <a:ext uri="{FF2B5EF4-FFF2-40B4-BE49-F238E27FC236}">
                <a16:creationId xmlns:a16="http://schemas.microsoft.com/office/drawing/2014/main" id="{ED26D598-7780-8B6E-96E9-AFE56A6DE4B0}"/>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cs typeface="Times New Roman" panose="02020603050405020304" pitchFamily="18" charset="0"/>
              </a:rPr>
              <a:t>2.2	ΣΗΜΑΤΟΔΟΣΙΑ ΠΟΛΛΩΝ ΕΠΙΠΕΔΩΝ</a:t>
            </a:r>
            <a:r>
              <a:rPr lang="en-GB" altLang="en-US" sz="2200" b="1">
                <a:latin typeface="Times New Roman" panose="02020603050405020304" pitchFamily="18" charset="0"/>
                <a:cs typeface="Times New Roman" panose="02020603050405020304" pitchFamily="18" charset="0"/>
              </a:rPr>
              <a:t> </a:t>
            </a:r>
          </a:p>
        </p:txBody>
      </p:sp>
      <p:sp>
        <p:nvSpPr>
          <p:cNvPr id="7171" name="Text Box 6">
            <a:extLst>
              <a:ext uri="{FF2B5EF4-FFF2-40B4-BE49-F238E27FC236}">
                <a16:creationId xmlns:a16="http://schemas.microsoft.com/office/drawing/2014/main" id="{63984C0B-278B-EB98-6129-5F2A60D68B23}"/>
              </a:ext>
            </a:extLst>
          </p:cNvPr>
          <p:cNvSpPr txBox="1">
            <a:spLocks noChangeArrowheads="1"/>
          </p:cNvSpPr>
          <p:nvPr/>
        </p:nvSpPr>
        <p:spPr bwMode="auto">
          <a:xfrm>
            <a:off x="0" y="1003300"/>
            <a:ext cx="895350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defRPr/>
            </a:pPr>
            <a:endParaRPr lang="el-GR" altLang="en-US" sz="2200" b="1" dirty="0">
              <a:solidFill>
                <a:srgbClr val="990000"/>
              </a:solidFill>
              <a:latin typeface="Times New Roman" panose="02020603050405020304" pitchFamily="18" charset="0"/>
            </a:endParaRPr>
          </a:p>
          <a:p>
            <a:pPr algn="just">
              <a:defRPr/>
            </a:pPr>
            <a:r>
              <a:rPr lang="el-GR" altLang="en-US" sz="2200" b="1" dirty="0">
                <a:solidFill>
                  <a:srgbClr val="990000"/>
                </a:solidFill>
                <a:latin typeface="Times New Roman" panose="02020603050405020304" pitchFamily="18" charset="0"/>
              </a:rPr>
              <a:t>Πλεονεκτήματα </a:t>
            </a:r>
          </a:p>
          <a:p>
            <a:pPr algn="just">
              <a:defRPr/>
            </a:pPr>
            <a:r>
              <a:rPr lang="el-GR" altLang="en-US" sz="2200" dirty="0">
                <a:solidFill>
                  <a:srgbClr val="990000"/>
                </a:solidFill>
                <a:latin typeface="Times New Roman" panose="02020603050405020304" pitchFamily="18" charset="0"/>
              </a:rPr>
              <a:t>• Είναι εφικτός υψηλότερος ρυθμός μεταφοράς πληροφορίας για δεδομένο ρυθμό συμβόλων και εύρος ζώνης. </a:t>
            </a:r>
          </a:p>
          <a:p>
            <a:pPr algn="just">
              <a:defRPr/>
            </a:pPr>
            <a:r>
              <a:rPr lang="el-GR" altLang="en-US" sz="2200" dirty="0">
                <a:solidFill>
                  <a:srgbClr val="990000"/>
                </a:solidFill>
                <a:latin typeface="Times New Roman" panose="02020603050405020304" pitchFamily="18" charset="0"/>
              </a:rPr>
              <a:t>• Μπορεί να ληφθεί μικρότερος ρυθμός συμβόλων, που θα οδηγήσει σε μικρότερο εύρος ζώνης για δεδομένο ρυθμό πληροφορίας.</a:t>
            </a:r>
          </a:p>
          <a:p>
            <a:pPr algn="just">
              <a:defRPr/>
            </a:pPr>
            <a:endParaRPr lang="el-GR" altLang="en-US" sz="2200" b="1" dirty="0">
              <a:solidFill>
                <a:srgbClr val="990000"/>
              </a:solidFill>
              <a:latin typeface="Times New Roman" panose="02020603050405020304" pitchFamily="18" charset="0"/>
            </a:endParaRPr>
          </a:p>
          <a:p>
            <a:pPr algn="just">
              <a:defRPr/>
            </a:pPr>
            <a:r>
              <a:rPr lang="el-GR" altLang="en-US" sz="2200" b="1" dirty="0">
                <a:solidFill>
                  <a:srgbClr val="990000"/>
                </a:solidFill>
                <a:latin typeface="Times New Roman" panose="02020603050405020304" pitchFamily="18" charset="0"/>
              </a:rPr>
              <a:t> Μειονεκτήματα </a:t>
            </a:r>
          </a:p>
          <a:p>
            <a:pPr algn="just">
              <a:defRPr/>
            </a:pPr>
            <a:r>
              <a:rPr lang="el-GR" altLang="en-US" sz="2200" dirty="0">
                <a:solidFill>
                  <a:srgbClr val="990000"/>
                </a:solidFill>
                <a:latin typeface="Times New Roman" panose="02020603050405020304" pitchFamily="18" charset="0"/>
              </a:rPr>
              <a:t>• Μειωμένη ανοσία σε θόρυβο, καθώς είναι πιο δύσκολη η διάκριση μεταξύ των διαδοχικών καταστάσεων. </a:t>
            </a:r>
          </a:p>
          <a:p>
            <a:pPr algn="just">
              <a:defRPr/>
            </a:pPr>
            <a:r>
              <a:rPr lang="el-GR" altLang="en-US" sz="2200" dirty="0">
                <a:solidFill>
                  <a:srgbClr val="990000"/>
                </a:solidFill>
                <a:latin typeface="Times New Roman" panose="02020603050405020304" pitchFamily="18" charset="0"/>
              </a:rPr>
              <a:t>• Περιλαμβάνεται πιο περίπλοκη διαδικασία ανάκτησης συμβόλων στο δέκτη. </a:t>
            </a:r>
          </a:p>
          <a:p>
            <a:pPr algn="just">
              <a:defRPr/>
            </a:pPr>
            <a:r>
              <a:rPr lang="el-GR" altLang="en-US" sz="2200" dirty="0">
                <a:solidFill>
                  <a:srgbClr val="990000"/>
                </a:solidFill>
                <a:latin typeface="Times New Roman" panose="02020603050405020304" pitchFamily="18" charset="0"/>
              </a:rPr>
              <a:t>• Αυξημένες απαιτήσεις γραμμικότητας και μειωμένης παραμόρφωσης στα κυκλώματα πομπού και δέκτη, αλλά και στο κανάλι.</a:t>
            </a:r>
          </a:p>
        </p:txBody>
      </p:sp>
    </p:spTree>
    <p:extLst>
      <p:ext uri="{BB962C8B-B14F-4D97-AF65-F5344CB8AC3E}">
        <p14:creationId xmlns:p14="http://schemas.microsoft.com/office/powerpoint/2010/main" val="408105254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368675" y="6232525"/>
            <a:ext cx="1343025" cy="765175"/>
          </a:xfrm>
          <a:prstGeom prst="rect">
            <a:avLst/>
          </a:prstGeom>
          <a:solidFill>
            <a:schemeClr val="folHlink"/>
          </a:solidFill>
          <a:ln w="28575">
            <a:solidFill>
              <a:srgbClr val="CC0000"/>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8195" name="Text Box 3"/>
          <p:cNvSpPr txBox="1">
            <a:spLocks noChangeArrowheads="1"/>
          </p:cNvSpPr>
          <p:nvPr/>
        </p:nvSpPr>
        <p:spPr bwMode="auto">
          <a:xfrm>
            <a:off x="0" y="1063625"/>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2.3.1	</a:t>
            </a:r>
            <a:r>
              <a:rPr lang="el-GR" altLang="en-US" sz="2200" b="1">
                <a:solidFill>
                  <a:srgbClr val="990000"/>
                </a:solidFill>
                <a:latin typeface="Times New Roman" panose="02020603050405020304" pitchFamily="18" charset="0"/>
                <a:cs typeface="Times New Roman" panose="02020603050405020304" pitchFamily="18" charset="0"/>
              </a:rPr>
              <a:t>Περιορισμοί λόγω πεπερασμένου εύρους ζώνης</a:t>
            </a:r>
            <a:r>
              <a:rPr lang="en-GB" altLang="en-US" sz="2200" b="1">
                <a:solidFill>
                  <a:srgbClr val="990000"/>
                </a:solidFill>
                <a:latin typeface="Times New Roman" panose="02020603050405020304" pitchFamily="18" charset="0"/>
              </a:rPr>
              <a:t> </a:t>
            </a:r>
            <a:endParaRPr lang="el-GR" altLang="en-US" sz="2200" b="1">
              <a:solidFill>
                <a:srgbClr val="990000"/>
              </a:solidFill>
              <a:latin typeface="Times New Roman" panose="02020603050405020304" pitchFamily="18" charset="0"/>
            </a:endParaRPr>
          </a:p>
        </p:txBody>
      </p:sp>
      <p:sp>
        <p:nvSpPr>
          <p:cNvPr id="8196" name="Text Box 4"/>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cs typeface="Times New Roman" panose="02020603050405020304" pitchFamily="18" charset="0"/>
              </a:rPr>
              <a:t>2.</a:t>
            </a:r>
            <a:r>
              <a:rPr lang="el-GR" altLang="en-US" sz="2200" b="1">
                <a:latin typeface="Times New Roman" panose="02020603050405020304" pitchFamily="18" charset="0"/>
              </a:rPr>
              <a:t>3</a:t>
            </a:r>
            <a:r>
              <a:rPr lang="el-GR" altLang="en-US" sz="2200" b="1">
                <a:latin typeface="Times New Roman" panose="02020603050405020304" pitchFamily="18" charset="0"/>
                <a:cs typeface="Times New Roman" panose="02020603050405020304" pitchFamily="18" charset="0"/>
              </a:rPr>
              <a:t>	ΧΩΡΗΤΙΚΟΤΗΤΑ ΚΑΝΑΛΙΟΥ</a:t>
            </a:r>
            <a:endParaRPr lang="en-GB" altLang="en-US" sz="2200" b="1">
              <a:latin typeface="Times New Roman" panose="02020603050405020304" pitchFamily="18" charset="0"/>
              <a:cs typeface="Times New Roman" panose="02020603050405020304" pitchFamily="18" charset="0"/>
            </a:endParaRPr>
          </a:p>
        </p:txBody>
      </p:sp>
      <p:sp>
        <p:nvSpPr>
          <p:cNvPr id="8197" name="Text Box 5"/>
          <p:cNvSpPr txBox="1">
            <a:spLocks noChangeArrowheads="1"/>
          </p:cNvSpPr>
          <p:nvPr/>
        </p:nvSpPr>
        <p:spPr bwMode="auto">
          <a:xfrm>
            <a:off x="3494088" y="2093913"/>
            <a:ext cx="54594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ctr"/>
            <a:r>
              <a:rPr lang="el-GR" altLang="en-US" sz="2000" b="1">
                <a:solidFill>
                  <a:srgbClr val="990000"/>
                </a:solidFill>
                <a:latin typeface="Times New Roman" panose="02020603050405020304" pitchFamily="18" charset="0"/>
              </a:rPr>
              <a:t>Β= Εύρος Ζώνης ή Ζώνη Διέλευσης Καναλιού</a:t>
            </a:r>
          </a:p>
          <a:p>
            <a:pPr algn="ctr"/>
            <a:r>
              <a:rPr lang="en-US" altLang="en-US" sz="2000" b="1">
                <a:solidFill>
                  <a:srgbClr val="990000"/>
                </a:solidFill>
                <a:latin typeface="Times New Roman" panose="02020603050405020304" pitchFamily="18" charset="0"/>
              </a:rPr>
              <a:t>Ts=</a:t>
            </a:r>
            <a:r>
              <a:rPr lang="el-GR" altLang="en-US" sz="2000" b="1">
                <a:solidFill>
                  <a:srgbClr val="990000"/>
                </a:solidFill>
                <a:latin typeface="Times New Roman" panose="02020603050405020304" pitchFamily="18" charset="0"/>
              </a:rPr>
              <a:t>περίοδος συμβόλου</a:t>
            </a:r>
            <a:endParaRPr lang="en-GB" altLang="en-US" sz="2000" b="1">
              <a:solidFill>
                <a:srgbClr val="990000"/>
              </a:solidFill>
              <a:latin typeface="Times New Roman" panose="02020603050405020304" pitchFamily="18" charset="0"/>
            </a:endParaRPr>
          </a:p>
        </p:txBody>
      </p:sp>
      <p:graphicFrame>
        <p:nvGraphicFramePr>
          <p:cNvPr id="8198" name="Object 6"/>
          <p:cNvGraphicFramePr>
            <a:graphicFrameLocks noChangeAspect="1"/>
          </p:cNvGraphicFramePr>
          <p:nvPr/>
        </p:nvGraphicFramePr>
        <p:xfrm>
          <a:off x="5103813" y="1384300"/>
          <a:ext cx="2276475" cy="806450"/>
        </p:xfrm>
        <a:graphic>
          <a:graphicData uri="http://schemas.openxmlformats.org/presentationml/2006/ole">
            <mc:AlternateContent xmlns:mc="http://schemas.openxmlformats.org/markup-compatibility/2006">
              <mc:Choice xmlns:v="urn:schemas-microsoft-com:vml" Requires="v">
                <p:oleObj r:id="rId2" imgW="1206500" imgH="431800" progId="Equation.3">
                  <p:embed/>
                </p:oleObj>
              </mc:Choice>
              <mc:Fallback>
                <p:oleObj r:id="rId2" imgW="1206500" imgH="431800" progId="Equation.3">
                  <p:embed/>
                  <p:pic>
                    <p:nvPicPr>
                      <p:cNvPr id="8198"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3813" y="1384300"/>
                        <a:ext cx="22764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9" name="Object 7"/>
          <p:cNvGraphicFramePr>
            <a:graphicFrameLocks noChangeAspect="1"/>
          </p:cNvGraphicFramePr>
          <p:nvPr/>
        </p:nvGraphicFramePr>
        <p:xfrm>
          <a:off x="4343400" y="3036888"/>
          <a:ext cx="2867025" cy="3101975"/>
        </p:xfrm>
        <a:graphic>
          <a:graphicData uri="http://schemas.openxmlformats.org/presentationml/2006/ole">
            <mc:AlternateContent xmlns:mc="http://schemas.openxmlformats.org/markup-compatibility/2006">
              <mc:Choice xmlns:v="urn:schemas-microsoft-com:vml" Requires="v">
                <p:oleObj name="Equation" r:id="rId4" imgW="2032000" imgH="2184400" progId="Equation.3">
                  <p:embed/>
                </p:oleObj>
              </mc:Choice>
              <mc:Fallback>
                <p:oleObj name="Equation" r:id="rId4" imgW="2032000" imgH="2184400" progId="Equation.3">
                  <p:embed/>
                  <p:pic>
                    <p:nvPicPr>
                      <p:cNvPr id="8199"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3036888"/>
                        <a:ext cx="2867025" cy="31019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200" name="Picture 8"/>
          <p:cNvPicPr>
            <a:picLocks noChangeAspect="1" noChangeArrowheads="1"/>
          </p:cNvPicPr>
          <p:nvPr/>
        </p:nvPicPr>
        <p:blipFill>
          <a:blip r:embed="rId6">
            <a:extLst>
              <a:ext uri="{28A0092B-C50C-407E-A947-70E740481C1C}">
                <a14:useLocalDpi xmlns:a14="http://schemas.microsoft.com/office/drawing/2010/main" val="0"/>
              </a:ext>
            </a:extLst>
          </a:blip>
          <a:srcRect l="36069" t="17268" r="4283" b="28435"/>
          <a:stretch>
            <a:fillRect/>
          </a:stretch>
        </p:blipFill>
        <p:spPr bwMode="auto">
          <a:xfrm>
            <a:off x="131763" y="3257550"/>
            <a:ext cx="3944937" cy="2873375"/>
          </a:xfrm>
          <a:prstGeom prst="rect">
            <a:avLst/>
          </a:prstGeom>
          <a:noFill/>
          <a:ln w="12700">
            <a:solidFill>
              <a:srgbClr val="00000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201" name="Group 9"/>
          <p:cNvGrpSpPr>
            <a:grpSpLocks/>
          </p:cNvGrpSpPr>
          <p:nvPr/>
        </p:nvGrpSpPr>
        <p:grpSpPr bwMode="auto">
          <a:xfrm>
            <a:off x="0" y="1446213"/>
            <a:ext cx="2752725" cy="1774825"/>
            <a:chOff x="3354" y="2080"/>
            <a:chExt cx="1734" cy="1118"/>
          </a:xfrm>
        </p:grpSpPr>
        <p:sp>
          <p:nvSpPr>
            <p:cNvPr id="8204" name="Line 10"/>
            <p:cNvSpPr>
              <a:spLocks noChangeShapeType="1"/>
            </p:cNvSpPr>
            <p:nvPr/>
          </p:nvSpPr>
          <p:spPr bwMode="auto">
            <a:xfrm flipV="1">
              <a:off x="4290" y="2365"/>
              <a:ext cx="0" cy="651"/>
            </a:xfrm>
            <a:prstGeom prst="line">
              <a:avLst/>
            </a:prstGeom>
            <a:noFill/>
            <a:ln w="28575">
              <a:solidFill>
                <a:srgbClr val="0000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5" name="Line 11"/>
            <p:cNvSpPr>
              <a:spLocks noChangeShapeType="1"/>
            </p:cNvSpPr>
            <p:nvPr/>
          </p:nvSpPr>
          <p:spPr bwMode="auto">
            <a:xfrm>
              <a:off x="3432" y="2362"/>
              <a:ext cx="858" cy="0"/>
            </a:xfrm>
            <a:prstGeom prst="line">
              <a:avLst/>
            </a:prstGeom>
            <a:noFill/>
            <a:ln w="28575">
              <a:solidFill>
                <a:srgbClr val="0000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6" name="Line 12"/>
            <p:cNvSpPr>
              <a:spLocks noChangeShapeType="1"/>
            </p:cNvSpPr>
            <p:nvPr/>
          </p:nvSpPr>
          <p:spPr bwMode="auto">
            <a:xfrm>
              <a:off x="3438" y="3016"/>
              <a:ext cx="1650" cy="0"/>
            </a:xfrm>
            <a:prstGeom prst="line">
              <a:avLst/>
            </a:prstGeom>
            <a:noFill/>
            <a:ln w="6350">
              <a:solidFill>
                <a:srgbClr val="00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7" name="Line 13"/>
            <p:cNvSpPr>
              <a:spLocks noChangeShapeType="1"/>
            </p:cNvSpPr>
            <p:nvPr/>
          </p:nvSpPr>
          <p:spPr bwMode="auto">
            <a:xfrm flipV="1">
              <a:off x="3432" y="2080"/>
              <a:ext cx="0" cy="936"/>
            </a:xfrm>
            <a:prstGeom prst="line">
              <a:avLst/>
            </a:prstGeom>
            <a:noFill/>
            <a:ln w="6350">
              <a:solidFill>
                <a:srgbClr val="00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8" name="Text Box 14"/>
            <p:cNvSpPr txBox="1">
              <a:spLocks noChangeArrowheads="1"/>
            </p:cNvSpPr>
            <p:nvPr/>
          </p:nvSpPr>
          <p:spPr bwMode="auto">
            <a:xfrm>
              <a:off x="4200" y="3025"/>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1200"/>
                <a:t>Β</a:t>
              </a:r>
              <a:endParaRPr lang="en-GB" altLang="en-US" sz="1200"/>
            </a:p>
          </p:txBody>
        </p:sp>
        <p:sp>
          <p:nvSpPr>
            <p:cNvPr id="8209" name="Text Box 15"/>
            <p:cNvSpPr txBox="1">
              <a:spLocks noChangeArrowheads="1"/>
            </p:cNvSpPr>
            <p:nvPr/>
          </p:nvSpPr>
          <p:spPr bwMode="auto">
            <a:xfrm>
              <a:off x="3354" y="3025"/>
              <a:ext cx="16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1200"/>
                <a:t>0</a:t>
              </a:r>
              <a:endParaRPr lang="en-GB" altLang="en-US" sz="1200"/>
            </a:p>
          </p:txBody>
        </p:sp>
      </p:grpSp>
      <p:sp>
        <p:nvSpPr>
          <p:cNvPr id="8202" name="Text Box 16"/>
          <p:cNvSpPr txBox="1">
            <a:spLocks noChangeArrowheads="1"/>
          </p:cNvSpPr>
          <p:nvPr/>
        </p:nvSpPr>
        <p:spPr bwMode="auto">
          <a:xfrm>
            <a:off x="0" y="6283325"/>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Πρέπει : </a:t>
            </a:r>
          </a:p>
        </p:txBody>
      </p:sp>
      <p:graphicFrame>
        <p:nvGraphicFramePr>
          <p:cNvPr id="8203" name="Object 17"/>
          <p:cNvGraphicFramePr>
            <a:graphicFrameLocks noChangeAspect="1"/>
          </p:cNvGraphicFramePr>
          <p:nvPr/>
        </p:nvGraphicFramePr>
        <p:xfrm>
          <a:off x="1144588" y="6237288"/>
          <a:ext cx="3422650" cy="654050"/>
        </p:xfrm>
        <a:graphic>
          <a:graphicData uri="http://schemas.openxmlformats.org/presentationml/2006/ole">
            <mc:AlternateContent xmlns:mc="http://schemas.openxmlformats.org/markup-compatibility/2006">
              <mc:Choice xmlns:v="urn:schemas-microsoft-com:vml" Requires="v">
                <p:oleObj name="Equation" r:id="rId7" imgW="2235200" imgH="431800" progId="Equation.3">
                  <p:embed/>
                </p:oleObj>
              </mc:Choice>
              <mc:Fallback>
                <p:oleObj name="Equation" r:id="rId7" imgW="2235200" imgH="431800" progId="Equation.3">
                  <p:embed/>
                  <p:pic>
                    <p:nvPicPr>
                      <p:cNvPr id="8203"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4588" y="6237288"/>
                        <a:ext cx="34226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0" y="1063625"/>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2.3.2	Χωρητικότητα καναλιού</a:t>
            </a:r>
            <a:r>
              <a:rPr lang="en-US" altLang="en-US" sz="2200" b="1">
                <a:solidFill>
                  <a:srgbClr val="990000"/>
                </a:solidFill>
                <a:latin typeface="Times New Roman" panose="02020603050405020304" pitchFamily="18" charset="0"/>
              </a:rPr>
              <a:t> (Channel Capacity)</a:t>
            </a:r>
            <a:endParaRPr lang="el-GR" altLang="en-US" sz="2200" b="1">
              <a:solidFill>
                <a:srgbClr val="990000"/>
              </a:solidFill>
              <a:latin typeface="Times New Roman" panose="02020603050405020304" pitchFamily="18" charset="0"/>
            </a:endParaRPr>
          </a:p>
        </p:txBody>
      </p:sp>
      <p:sp>
        <p:nvSpPr>
          <p:cNvPr id="9219"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cs typeface="Times New Roman" panose="02020603050405020304" pitchFamily="18" charset="0"/>
              </a:rPr>
              <a:t>2.</a:t>
            </a:r>
            <a:r>
              <a:rPr lang="el-GR" altLang="en-US" sz="2200" b="1">
                <a:latin typeface="Times New Roman" panose="02020603050405020304" pitchFamily="18" charset="0"/>
              </a:rPr>
              <a:t>3</a:t>
            </a:r>
            <a:r>
              <a:rPr lang="el-GR" altLang="en-US" sz="2200" b="1">
                <a:latin typeface="Times New Roman" panose="02020603050405020304" pitchFamily="18" charset="0"/>
                <a:cs typeface="Times New Roman" panose="02020603050405020304" pitchFamily="18" charset="0"/>
              </a:rPr>
              <a:t>	ΧΩΡΗΤΙΚΟΤΗΤΑ ΚΑΝΑΛΙΟΥ</a:t>
            </a:r>
            <a:r>
              <a:rPr lang="en-GB" altLang="en-US" sz="2200" b="1">
                <a:latin typeface="Times New Roman" panose="02020603050405020304" pitchFamily="18" charset="0"/>
                <a:cs typeface="Times New Roman" panose="02020603050405020304" pitchFamily="18" charset="0"/>
              </a:rPr>
              <a:t> </a:t>
            </a:r>
          </a:p>
        </p:txBody>
      </p:sp>
      <p:pic>
        <p:nvPicPr>
          <p:cNvPr id="9220"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 y="1455738"/>
            <a:ext cx="3943350" cy="2781300"/>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pic>
      <p:sp>
        <p:nvSpPr>
          <p:cNvPr id="9221" name="Text Box 27"/>
          <p:cNvSpPr txBox="1">
            <a:spLocks noChangeArrowheads="1"/>
          </p:cNvSpPr>
          <p:nvPr/>
        </p:nvSpPr>
        <p:spPr bwMode="auto">
          <a:xfrm>
            <a:off x="4089400" y="2897188"/>
            <a:ext cx="486727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000">
                <a:solidFill>
                  <a:srgbClr val="990000"/>
                </a:solidFill>
                <a:ea typeface="Helvetica" panose="020B0604020202020204" pitchFamily="34" charset="0"/>
                <a:cs typeface="Helvetica" panose="020B0604020202020204" pitchFamily="34" charset="0"/>
              </a:rPr>
              <a:t>Έστω σήμα που αποτελείται από Μ σύμβολα που το καθένα διαφέρει στη μορφή.</a:t>
            </a:r>
          </a:p>
          <a:p>
            <a:pPr algn="just">
              <a:lnSpc>
                <a:spcPct val="90000"/>
              </a:lnSpc>
            </a:pPr>
            <a:r>
              <a:rPr lang="en-US" altLang="en-US" sz="2000">
                <a:solidFill>
                  <a:srgbClr val="990000"/>
                </a:solidFill>
                <a:ea typeface="Helvetica" panose="020B0604020202020204" pitchFamily="34" charset="0"/>
                <a:cs typeface="Helvetica" panose="020B0604020202020204" pitchFamily="34" charset="0"/>
              </a:rPr>
              <a:t>T</a:t>
            </a:r>
            <a:r>
              <a:rPr lang="en-US" altLang="en-US" sz="2000" baseline="-25000">
                <a:solidFill>
                  <a:srgbClr val="990000"/>
                </a:solidFill>
                <a:ea typeface="Helvetica" panose="020B0604020202020204" pitchFamily="34" charset="0"/>
                <a:cs typeface="Helvetica" panose="020B0604020202020204" pitchFamily="34" charset="0"/>
              </a:rPr>
              <a:t>s,m</a:t>
            </a:r>
            <a:r>
              <a:rPr lang="en-US" altLang="en-US" sz="2000">
                <a:solidFill>
                  <a:srgbClr val="990000"/>
                </a:solidFill>
                <a:ea typeface="Helvetica" panose="020B0604020202020204" pitchFamily="34" charset="0"/>
                <a:cs typeface="Helvetica" panose="020B0604020202020204" pitchFamily="34" charset="0"/>
              </a:rPr>
              <a:t>=</a:t>
            </a:r>
            <a:r>
              <a:rPr lang="el-GR" altLang="en-US" sz="2000">
                <a:solidFill>
                  <a:srgbClr val="990000"/>
                </a:solidFill>
                <a:ea typeface="Helvetica" panose="020B0604020202020204" pitchFamily="34" charset="0"/>
                <a:cs typeface="Helvetica" panose="020B0604020202020204" pitchFamily="34" charset="0"/>
              </a:rPr>
              <a:t>Εύρος </a:t>
            </a:r>
            <a:r>
              <a:rPr lang="en-US" altLang="en-US" sz="2000">
                <a:solidFill>
                  <a:srgbClr val="990000"/>
                </a:solidFill>
                <a:ea typeface="Helvetica" panose="020B0604020202020204" pitchFamily="34" charset="0"/>
                <a:cs typeface="Helvetica" panose="020B0604020202020204" pitchFamily="34" charset="0"/>
              </a:rPr>
              <a:t>m</a:t>
            </a:r>
            <a:r>
              <a:rPr lang="en-US" altLang="en-US" sz="2000" baseline="30000">
                <a:solidFill>
                  <a:srgbClr val="990000"/>
                </a:solidFill>
                <a:ea typeface="Helvetica" panose="020B0604020202020204" pitchFamily="34" charset="0"/>
                <a:cs typeface="Helvetica" panose="020B0604020202020204" pitchFamily="34" charset="0"/>
              </a:rPr>
              <a:t>th</a:t>
            </a:r>
            <a:r>
              <a:rPr lang="en-US" altLang="en-US" sz="2000">
                <a:solidFill>
                  <a:srgbClr val="990000"/>
                </a:solidFill>
                <a:ea typeface="Helvetica" panose="020B0604020202020204" pitchFamily="34" charset="0"/>
                <a:cs typeface="Helvetica" panose="020B0604020202020204" pitchFamily="34" charset="0"/>
              </a:rPr>
              <a:t> </a:t>
            </a:r>
            <a:r>
              <a:rPr lang="el-GR" altLang="en-US" sz="2000">
                <a:solidFill>
                  <a:srgbClr val="990000"/>
                </a:solidFill>
                <a:ea typeface="Helvetica" panose="020B0604020202020204" pitchFamily="34" charset="0"/>
                <a:cs typeface="Helvetica" panose="020B0604020202020204" pitchFamily="34" charset="0"/>
              </a:rPr>
              <a:t>Συμβόλου</a:t>
            </a:r>
            <a:endParaRPr lang="en-US" altLang="en-US" sz="2000">
              <a:solidFill>
                <a:srgbClr val="990000"/>
              </a:solidFill>
              <a:ea typeface="Helvetica" panose="020B0604020202020204" pitchFamily="34" charset="0"/>
              <a:cs typeface="Helvetica" panose="020B0604020202020204" pitchFamily="34" charset="0"/>
            </a:endParaRPr>
          </a:p>
        </p:txBody>
      </p:sp>
      <p:graphicFrame>
        <p:nvGraphicFramePr>
          <p:cNvPr id="9222" name="Object 29"/>
          <p:cNvGraphicFramePr>
            <a:graphicFrameLocks noChangeAspect="1"/>
          </p:cNvGraphicFramePr>
          <p:nvPr/>
        </p:nvGraphicFramePr>
        <p:xfrm>
          <a:off x="4894263" y="4451350"/>
          <a:ext cx="2830512" cy="811213"/>
        </p:xfrm>
        <a:graphic>
          <a:graphicData uri="http://schemas.openxmlformats.org/presentationml/2006/ole">
            <mc:AlternateContent xmlns:mc="http://schemas.openxmlformats.org/markup-compatibility/2006">
              <mc:Choice xmlns:v="urn:schemas-microsoft-com:vml" Requires="v">
                <p:oleObj name="Equation" r:id="rId3" imgW="1548728" imgH="444307" progId="Equation.3">
                  <p:embed/>
                </p:oleObj>
              </mc:Choice>
              <mc:Fallback>
                <p:oleObj name="Equation" r:id="rId3" imgW="1548728" imgH="444307" progId="Equation.3">
                  <p:embed/>
                  <p:pic>
                    <p:nvPicPr>
                      <p:cNvPr id="9222"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4263" y="4451350"/>
                        <a:ext cx="2830512" cy="811213"/>
                      </a:xfrm>
                      <a:prstGeom prst="rect">
                        <a:avLst/>
                      </a:prstGeom>
                      <a:solidFill>
                        <a:srgbClr val="C9C9FF"/>
                      </a:solidFill>
                      <a:ln w="28575">
                        <a:solidFill>
                          <a:srgbClr val="CC0000"/>
                        </a:solidFill>
                        <a:miter lim="800000"/>
                        <a:headEnd/>
                        <a:tailEnd/>
                      </a:ln>
                    </p:spPr>
                  </p:pic>
                </p:oleObj>
              </mc:Fallback>
            </mc:AlternateContent>
          </a:graphicData>
        </a:graphic>
      </p:graphicFrame>
      <p:graphicFrame>
        <p:nvGraphicFramePr>
          <p:cNvPr id="9223" name="Object 43"/>
          <p:cNvGraphicFramePr>
            <a:graphicFrameLocks noChangeAspect="1"/>
          </p:cNvGraphicFramePr>
          <p:nvPr/>
        </p:nvGraphicFramePr>
        <p:xfrm>
          <a:off x="3552825" y="5399088"/>
          <a:ext cx="1033463" cy="581025"/>
        </p:xfrm>
        <a:graphic>
          <a:graphicData uri="http://schemas.openxmlformats.org/presentationml/2006/ole">
            <mc:AlternateContent xmlns:mc="http://schemas.openxmlformats.org/markup-compatibility/2006">
              <mc:Choice xmlns:v="urn:schemas-microsoft-com:vml" Requires="v">
                <p:oleObj name="Equation" r:id="rId5" imgW="761669" imgH="431613" progId="Equation.3">
                  <p:embed/>
                </p:oleObj>
              </mc:Choice>
              <mc:Fallback>
                <p:oleObj name="Equation" r:id="rId5" imgW="761669" imgH="431613" progId="Equation.3">
                  <p:embed/>
                  <p:pic>
                    <p:nvPicPr>
                      <p:cNvPr id="9223" name="Object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2825" y="5399088"/>
                        <a:ext cx="10334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4" name="AutoShape 45"/>
          <p:cNvSpPr>
            <a:spLocks noChangeArrowheads="1"/>
          </p:cNvSpPr>
          <p:nvPr/>
        </p:nvSpPr>
        <p:spPr bwMode="auto">
          <a:xfrm>
            <a:off x="3509963" y="5989638"/>
            <a:ext cx="1114425" cy="161925"/>
          </a:xfrm>
          <a:prstGeom prst="rightArrow">
            <a:avLst>
              <a:gd name="adj1" fmla="val 50000"/>
              <a:gd name="adj2" fmla="val 172059"/>
            </a:avLst>
          </a:prstGeom>
          <a:noFill/>
          <a:ln w="6350">
            <a:solidFill>
              <a:srgbClr val="00000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9225" name="Object 46"/>
          <p:cNvGraphicFramePr>
            <a:graphicFrameLocks noChangeAspect="1"/>
          </p:cNvGraphicFramePr>
          <p:nvPr/>
        </p:nvGraphicFramePr>
        <p:xfrm>
          <a:off x="4902200" y="5845175"/>
          <a:ext cx="3055938" cy="428625"/>
        </p:xfrm>
        <a:graphic>
          <a:graphicData uri="http://schemas.openxmlformats.org/presentationml/2006/ole">
            <mc:AlternateContent xmlns:mc="http://schemas.openxmlformats.org/markup-compatibility/2006">
              <mc:Choice xmlns:v="urn:schemas-microsoft-com:vml" Requires="v">
                <p:oleObj name="Equation" r:id="rId7" imgW="1562100" imgH="215900" progId="Equation.3">
                  <p:embed/>
                </p:oleObj>
              </mc:Choice>
              <mc:Fallback>
                <p:oleObj name="Equation" r:id="rId7" imgW="1562100" imgH="215900" progId="Equation.3">
                  <p:embed/>
                  <p:pic>
                    <p:nvPicPr>
                      <p:cNvPr id="9225" name="Object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02200" y="5845175"/>
                        <a:ext cx="3055938" cy="428625"/>
                      </a:xfrm>
                      <a:prstGeom prst="rect">
                        <a:avLst/>
                      </a:prstGeom>
                      <a:solidFill>
                        <a:srgbClr val="C9C9FF"/>
                      </a:solidFill>
                      <a:ln w="28575">
                        <a:solidFill>
                          <a:srgbClr val="CC3300"/>
                        </a:solidFill>
                        <a:miter lim="800000"/>
                        <a:headEnd/>
                        <a:tailEnd/>
                      </a:ln>
                    </p:spPr>
                  </p:pic>
                </p:oleObj>
              </mc:Fallback>
            </mc:AlternateContent>
          </a:graphicData>
        </a:graphic>
      </p:graphicFrame>
      <p:sp>
        <p:nvSpPr>
          <p:cNvPr id="2" name="TextBox 1"/>
          <p:cNvSpPr txBox="1"/>
          <p:nvPr/>
        </p:nvSpPr>
        <p:spPr>
          <a:xfrm>
            <a:off x="4132263" y="1411288"/>
            <a:ext cx="4821237" cy="1323975"/>
          </a:xfrm>
          <a:prstGeom prst="rect">
            <a:avLst/>
          </a:prstGeom>
          <a:noFill/>
        </p:spPr>
        <p:txBody>
          <a:bodyPr>
            <a:spAutoFit/>
          </a:bodyPr>
          <a:lstStyle/>
          <a:p>
            <a:pPr algn="just">
              <a:defRPr/>
            </a:pPr>
            <a:r>
              <a:rPr lang="el-GR" sz="2000" b="1" dirty="0">
                <a:solidFill>
                  <a:schemeClr val="accent5">
                    <a:lumMod val="25000"/>
                  </a:schemeClr>
                </a:solidFill>
              </a:rPr>
              <a:t>Χωρητικότητα καναλιού</a:t>
            </a:r>
            <a:r>
              <a:rPr lang="el-GR" sz="2000" dirty="0">
                <a:solidFill>
                  <a:schemeClr val="accent5">
                    <a:lumMod val="25000"/>
                  </a:schemeClr>
                </a:solidFill>
              </a:rPr>
              <a:t> ονομάζεται ο μέγιστος </a:t>
            </a:r>
            <a:r>
              <a:rPr lang="el-GR" sz="2000" dirty="0">
                <a:solidFill>
                  <a:schemeClr val="accent5">
                    <a:lumMod val="25000"/>
                  </a:schemeClr>
                </a:solidFill>
                <a:hlinkClick r:id="rId9" tooltip="Ρυθμός μετάδοσης"/>
              </a:rPr>
              <a:t>ρυθμός μετάδοσης</a:t>
            </a:r>
            <a:r>
              <a:rPr lang="el-GR" sz="2000" dirty="0">
                <a:solidFill>
                  <a:schemeClr val="accent5">
                    <a:lumMod val="25000"/>
                  </a:schemeClr>
                </a:solidFill>
              </a:rPr>
              <a:t> με τον οποίο είναι δυνατό να μεταδοθούν τα δεδομένα μέσω ενός </a:t>
            </a:r>
            <a:r>
              <a:rPr lang="el-GR" sz="2000" dirty="0">
                <a:solidFill>
                  <a:schemeClr val="accent5">
                    <a:lumMod val="25000"/>
                  </a:schemeClr>
                </a:solidFill>
                <a:hlinkClick r:id="rId10" tooltip="Επικοινωνιακό κανάλι"/>
              </a:rPr>
              <a:t>επικοινωνιακού καναλιού</a:t>
            </a:r>
            <a:r>
              <a:rPr lang="el-GR" sz="2000" dirty="0">
                <a:solidFill>
                  <a:schemeClr val="accent5">
                    <a:lumMod val="25000"/>
                  </a:schemeClr>
                </a:solidFill>
              </a:rPr>
              <a:t>. </a:t>
            </a:r>
            <a:endParaRPr lang="en-US" sz="2000" dirty="0">
              <a:solidFill>
                <a:schemeClr val="accent5">
                  <a:lumMod val="25000"/>
                </a:schemeClr>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251EB-5893-A18A-24B6-C7842CBE3212}"/>
            </a:ext>
          </a:extLst>
        </p:cNvPr>
        <p:cNvGrpSpPr/>
        <p:nvPr/>
      </p:nvGrpSpPr>
      <p:grpSpPr>
        <a:xfrm>
          <a:off x="0" y="0"/>
          <a:ext cx="0" cy="0"/>
          <a:chOff x="0" y="0"/>
          <a:chExt cx="0" cy="0"/>
        </a:xfrm>
      </p:grpSpPr>
      <p:sp>
        <p:nvSpPr>
          <p:cNvPr id="9218" name="Text Box 2">
            <a:extLst>
              <a:ext uri="{FF2B5EF4-FFF2-40B4-BE49-F238E27FC236}">
                <a16:creationId xmlns:a16="http://schemas.microsoft.com/office/drawing/2014/main" id="{985E9B52-194D-9086-0774-2B7C844A73E2}"/>
              </a:ext>
            </a:extLst>
          </p:cNvPr>
          <p:cNvSpPr txBox="1">
            <a:spLocks noChangeArrowheads="1"/>
          </p:cNvSpPr>
          <p:nvPr/>
        </p:nvSpPr>
        <p:spPr bwMode="auto">
          <a:xfrm>
            <a:off x="0" y="1063625"/>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2.3.2	Χωρητικότητα καναλιού</a:t>
            </a:r>
            <a:r>
              <a:rPr lang="en-US" altLang="en-US" sz="2200" b="1">
                <a:solidFill>
                  <a:srgbClr val="990000"/>
                </a:solidFill>
                <a:latin typeface="Times New Roman" panose="02020603050405020304" pitchFamily="18" charset="0"/>
              </a:rPr>
              <a:t> (Channel Capacity)</a:t>
            </a:r>
            <a:endParaRPr lang="el-GR" altLang="en-US" sz="2200" b="1">
              <a:solidFill>
                <a:srgbClr val="990000"/>
              </a:solidFill>
              <a:latin typeface="Times New Roman" panose="02020603050405020304" pitchFamily="18" charset="0"/>
            </a:endParaRPr>
          </a:p>
        </p:txBody>
      </p:sp>
      <p:sp>
        <p:nvSpPr>
          <p:cNvPr id="9219" name="Text Box 3">
            <a:extLst>
              <a:ext uri="{FF2B5EF4-FFF2-40B4-BE49-F238E27FC236}">
                <a16:creationId xmlns:a16="http://schemas.microsoft.com/office/drawing/2014/main" id="{7EF87A85-F308-BE21-0FD5-E4D21ACA2F76}"/>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cs typeface="Times New Roman" panose="02020603050405020304" pitchFamily="18" charset="0"/>
              </a:rPr>
              <a:t>2.</a:t>
            </a:r>
            <a:r>
              <a:rPr lang="el-GR" altLang="en-US" sz="2200" b="1">
                <a:latin typeface="Times New Roman" panose="02020603050405020304" pitchFamily="18" charset="0"/>
              </a:rPr>
              <a:t>3</a:t>
            </a:r>
            <a:r>
              <a:rPr lang="el-GR" altLang="en-US" sz="2200" b="1">
                <a:latin typeface="Times New Roman" panose="02020603050405020304" pitchFamily="18" charset="0"/>
                <a:cs typeface="Times New Roman" panose="02020603050405020304" pitchFamily="18" charset="0"/>
              </a:rPr>
              <a:t>	ΧΩΡΗΤΙΚΟΤΗΤΑ ΚΑΝΑΛΙΟΥ</a:t>
            </a:r>
            <a:r>
              <a:rPr lang="en-GB" altLang="en-US" sz="2200" b="1">
                <a:latin typeface="Times New Roman" panose="02020603050405020304" pitchFamily="18" charset="0"/>
                <a:cs typeface="Times New Roman" panose="02020603050405020304" pitchFamily="18" charset="0"/>
              </a:rPr>
              <a:t> </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554B11F-14E7-EE0D-D1D9-820550AEAA70}"/>
                  </a:ext>
                </a:extLst>
              </p:cNvPr>
              <p:cNvSpPr txBox="1"/>
              <p:nvPr/>
            </p:nvSpPr>
            <p:spPr>
              <a:xfrm>
                <a:off x="180475" y="1411288"/>
                <a:ext cx="8773026" cy="3170099"/>
              </a:xfrm>
              <a:prstGeom prst="rect">
                <a:avLst/>
              </a:prstGeom>
              <a:noFill/>
            </p:spPr>
            <p:txBody>
              <a:bodyPr wrap="square">
                <a:spAutoFit/>
              </a:bodyPr>
              <a:lstStyle/>
              <a:p>
                <a:pPr algn="just">
                  <a:defRPr/>
                </a:pPr>
                <a:r>
                  <a:rPr lang="el-GR" sz="2000" b="1" dirty="0">
                    <a:solidFill>
                      <a:schemeClr val="accent5">
                        <a:lumMod val="25000"/>
                      </a:schemeClr>
                    </a:solidFill>
                  </a:rPr>
                  <a:t>Κρίσιμοι παράγοντες για τον προσδιορισμό του πλήθους καταστάσεων </a:t>
                </a:r>
                <a14:m>
                  <m:oMath xmlns:m="http://schemas.openxmlformats.org/officeDocument/2006/math">
                    <m:r>
                      <a:rPr lang="el-GR" sz="2000" b="1" i="0" dirty="0" smtClean="0">
                        <a:solidFill>
                          <a:schemeClr val="accent5">
                            <a:lumMod val="25000"/>
                          </a:schemeClr>
                        </a:solidFill>
                        <a:latin typeface="Cambria Math" panose="02040503050406030204" pitchFamily="18" charset="0"/>
                      </a:rPr>
                      <m:t>𝚳</m:t>
                    </m:r>
                  </m:oMath>
                </a14:m>
                <a:r>
                  <a:rPr lang="el-GR" sz="2000" b="1" dirty="0">
                    <a:solidFill>
                      <a:schemeClr val="accent5">
                        <a:lumMod val="25000"/>
                      </a:schemeClr>
                    </a:solidFill>
                  </a:rPr>
                  <a:t> για επικοινωνία απαλλαγμένη από σφάλματα: </a:t>
                </a:r>
              </a:p>
              <a:p>
                <a:pPr algn="just">
                  <a:defRPr/>
                </a:pPr>
                <a:endParaRPr lang="el-GR" sz="2000" dirty="0">
                  <a:solidFill>
                    <a:schemeClr val="accent5">
                      <a:lumMod val="25000"/>
                    </a:schemeClr>
                  </a:solidFill>
                </a:endParaRPr>
              </a:p>
              <a:p>
                <a:pPr algn="just">
                  <a:defRPr/>
                </a:pPr>
                <a:r>
                  <a:rPr lang="el-GR" sz="2000" dirty="0">
                    <a:solidFill>
                      <a:schemeClr val="accent5">
                        <a:lumMod val="25000"/>
                      </a:schemeClr>
                    </a:solidFill>
                  </a:rPr>
                  <a:t>• Ο λόγος της ισχύος του σήματος προς την ισχύ του θορύβου (</a:t>
                </a:r>
                <a:r>
                  <a:rPr lang="el-GR" sz="2000" dirty="0" err="1">
                    <a:solidFill>
                      <a:schemeClr val="accent5">
                        <a:lumMod val="25000"/>
                      </a:schemeClr>
                    </a:solidFill>
                  </a:rPr>
                  <a:t>Signal</a:t>
                </a:r>
                <a:r>
                  <a:rPr lang="el-GR" sz="2000" dirty="0">
                    <a:solidFill>
                      <a:schemeClr val="accent5">
                        <a:lumMod val="25000"/>
                      </a:schemeClr>
                    </a:solidFill>
                  </a:rPr>
                  <a:t> </a:t>
                </a:r>
                <a:r>
                  <a:rPr lang="el-GR" sz="2000" dirty="0" err="1">
                    <a:solidFill>
                      <a:schemeClr val="accent5">
                        <a:lumMod val="25000"/>
                      </a:schemeClr>
                    </a:solidFill>
                  </a:rPr>
                  <a:t>to</a:t>
                </a:r>
                <a:r>
                  <a:rPr lang="el-GR" sz="2000" dirty="0">
                    <a:solidFill>
                      <a:schemeClr val="accent5">
                        <a:lumMod val="25000"/>
                      </a:schemeClr>
                    </a:solidFill>
                  </a:rPr>
                  <a:t> </a:t>
                </a:r>
                <a:r>
                  <a:rPr lang="el-GR" sz="2000" dirty="0" err="1">
                    <a:solidFill>
                      <a:schemeClr val="accent5">
                        <a:lumMod val="25000"/>
                      </a:schemeClr>
                    </a:solidFill>
                  </a:rPr>
                  <a:t>Noise</a:t>
                </a:r>
                <a:r>
                  <a:rPr lang="el-GR" sz="2000" dirty="0">
                    <a:solidFill>
                      <a:schemeClr val="accent5">
                        <a:lumMod val="25000"/>
                      </a:schemeClr>
                    </a:solidFill>
                  </a:rPr>
                  <a:t> </a:t>
                </a:r>
                <a:r>
                  <a:rPr lang="el-GR" sz="2000" dirty="0" err="1">
                    <a:solidFill>
                      <a:schemeClr val="accent5">
                        <a:lumMod val="25000"/>
                      </a:schemeClr>
                    </a:solidFill>
                  </a:rPr>
                  <a:t>Ratio</a:t>
                </a:r>
                <a:r>
                  <a:rPr lang="el-GR" sz="2000" dirty="0">
                    <a:solidFill>
                      <a:schemeClr val="accent5">
                        <a:lumMod val="25000"/>
                      </a:schemeClr>
                    </a:solidFill>
                  </a:rPr>
                  <a:t>, S/N ή SNR), επειδή η ικανότητα του δέκτη να διακρίνει τα σύμβολα μεταξύ τους επηρεάζεται από την ύπαρξη παραμορφώσεων (θόρυβος, παρεμβολές, </a:t>
                </a:r>
                <a:r>
                  <a:rPr lang="el-GR" sz="2000" dirty="0" err="1">
                    <a:solidFill>
                      <a:schemeClr val="accent5">
                        <a:lumMod val="25000"/>
                      </a:schemeClr>
                    </a:solidFill>
                  </a:rPr>
                  <a:t>κλπ</a:t>
                </a:r>
                <a:r>
                  <a:rPr lang="el-GR" sz="2000" dirty="0">
                    <a:solidFill>
                      <a:schemeClr val="accent5">
                        <a:lumMod val="25000"/>
                      </a:schemeClr>
                    </a:solidFill>
                  </a:rPr>
                  <a:t>). </a:t>
                </a:r>
              </a:p>
              <a:p>
                <a:pPr algn="just">
                  <a:defRPr/>
                </a:pPr>
                <a:endParaRPr lang="el-GR" sz="2000" dirty="0">
                  <a:solidFill>
                    <a:schemeClr val="accent5">
                      <a:lumMod val="25000"/>
                    </a:schemeClr>
                  </a:solidFill>
                </a:endParaRPr>
              </a:p>
              <a:p>
                <a:pPr algn="just">
                  <a:defRPr/>
                </a:pPr>
                <a:r>
                  <a:rPr lang="el-GR" sz="2000" dirty="0">
                    <a:solidFill>
                      <a:schemeClr val="accent5">
                        <a:lumMod val="25000"/>
                      </a:schemeClr>
                    </a:solidFill>
                  </a:rPr>
                  <a:t>• Η διάρκεια κάθε συμβόλου, επειδή τα μακρά σύμβολα δίνουν περισσότερο χρόνο στο δέκτη  να μετριάσει την επίδραση του θορύβου.</a:t>
                </a:r>
                <a:endParaRPr lang="en-US" sz="2000" dirty="0">
                  <a:solidFill>
                    <a:schemeClr val="accent5">
                      <a:lumMod val="25000"/>
                    </a:schemeClr>
                  </a:solidFill>
                </a:endParaRPr>
              </a:p>
            </p:txBody>
          </p:sp>
        </mc:Choice>
        <mc:Fallback>
          <p:sp>
            <p:nvSpPr>
              <p:cNvPr id="2" name="TextBox 1">
                <a:extLst>
                  <a:ext uri="{FF2B5EF4-FFF2-40B4-BE49-F238E27FC236}">
                    <a16:creationId xmlns:a16="http://schemas.microsoft.com/office/drawing/2014/main" id="{A554B11F-14E7-EE0D-D1D9-820550AEAA70}"/>
                  </a:ext>
                </a:extLst>
              </p:cNvPr>
              <p:cNvSpPr txBox="1">
                <a:spLocks noRot="1" noChangeAspect="1" noMove="1" noResize="1" noEditPoints="1" noAdjustHandles="1" noChangeArrowheads="1" noChangeShapeType="1" noTextEdit="1"/>
              </p:cNvSpPr>
              <p:nvPr/>
            </p:nvSpPr>
            <p:spPr>
              <a:xfrm>
                <a:off x="180475" y="1411288"/>
                <a:ext cx="8773026" cy="3170099"/>
              </a:xfrm>
              <a:prstGeom prst="rect">
                <a:avLst/>
              </a:prstGeom>
              <a:blipFill>
                <a:blip r:embed="rId2"/>
                <a:stretch>
                  <a:fillRect l="-764" t="-962" r="-695" b="-2692"/>
                </a:stretch>
              </a:blipFill>
            </p:spPr>
            <p:txBody>
              <a:bodyPr/>
              <a:lstStyle/>
              <a:p>
                <a:r>
                  <a:rPr lang="el-GR">
                    <a:noFill/>
                  </a:rPr>
                  <a:t> </a:t>
                </a:r>
              </a:p>
            </p:txBody>
          </p:sp>
        </mc:Fallback>
      </mc:AlternateContent>
    </p:spTree>
    <p:extLst>
      <p:ext uri="{BB962C8B-B14F-4D97-AF65-F5344CB8AC3E}">
        <p14:creationId xmlns:p14="http://schemas.microsoft.com/office/powerpoint/2010/main" val="367368659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1063625"/>
            <a:ext cx="89535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2.3.3	</a:t>
            </a:r>
            <a:r>
              <a:rPr lang="el-GR" altLang="en-US" sz="2200" b="1">
                <a:solidFill>
                  <a:srgbClr val="990000"/>
                </a:solidFill>
                <a:latin typeface="Times New Roman" panose="02020603050405020304" pitchFamily="18" charset="0"/>
                <a:cs typeface="Times New Roman" panose="02020603050405020304" pitchFamily="18" charset="0"/>
              </a:rPr>
              <a:t>Περιορισμός της χωρητικότητας καναλιού λόγω θορύβου</a:t>
            </a:r>
            <a:r>
              <a:rPr lang="en-GB" altLang="en-US" sz="2200" b="1">
                <a:solidFill>
                  <a:srgbClr val="990000"/>
                </a:solidFill>
                <a:latin typeface="Times New Roman" panose="02020603050405020304" pitchFamily="18" charset="0"/>
              </a:rPr>
              <a:t> </a:t>
            </a:r>
            <a:endParaRPr lang="el-GR" altLang="en-US" sz="2200" b="1">
              <a:solidFill>
                <a:srgbClr val="990000"/>
              </a:solidFill>
              <a:latin typeface="Times New Roman" panose="02020603050405020304" pitchFamily="18" charset="0"/>
            </a:endParaRPr>
          </a:p>
          <a:p>
            <a:pPr algn="just">
              <a:lnSpc>
                <a:spcPct val="90000"/>
              </a:lnSpc>
            </a:pPr>
            <a:r>
              <a:rPr lang="el-GR" altLang="en-US" sz="2200" b="1">
                <a:solidFill>
                  <a:srgbClr val="990000"/>
                </a:solidFill>
                <a:latin typeface="Times New Roman" panose="02020603050405020304" pitchFamily="18" charset="0"/>
                <a:cs typeface="Times New Roman" panose="02020603050405020304" pitchFamily="18" charset="0"/>
              </a:rPr>
              <a:t>Το θεώρημα</a:t>
            </a:r>
            <a:r>
              <a:rPr lang="en-US" altLang="en-US" sz="2200" b="1">
                <a:solidFill>
                  <a:srgbClr val="990000"/>
                </a:solidFill>
                <a:latin typeface="Times New Roman" panose="02020603050405020304" pitchFamily="18" charset="0"/>
                <a:cs typeface="Times New Roman" panose="02020603050405020304" pitchFamily="18" charset="0"/>
              </a:rPr>
              <a:t> Shannon – Hartley</a:t>
            </a:r>
            <a:r>
              <a:rPr lang="el-GR" altLang="en-US" sz="2200" b="1">
                <a:solidFill>
                  <a:srgbClr val="990000"/>
                </a:solidFill>
                <a:latin typeface="Times New Roman" panose="02020603050405020304" pitchFamily="18" charset="0"/>
              </a:rPr>
              <a:t>: </a:t>
            </a:r>
            <a:r>
              <a:rPr lang="el-GR" altLang="en-US" sz="2200">
                <a:solidFill>
                  <a:srgbClr val="990000"/>
                </a:solidFill>
                <a:latin typeface="Times New Roman" panose="02020603050405020304" pitchFamily="18" charset="0"/>
                <a:cs typeface="Times New Roman" panose="02020603050405020304" pitchFamily="18" charset="0"/>
              </a:rPr>
              <a:t>Εάν ο ρυθμός μεταφοράς πληροφορίας που απαιτείται, είναι μικρότερος από το όριο χωρητικότητας </a:t>
            </a:r>
            <a:r>
              <a:rPr lang="en-US" altLang="en-US" sz="2200">
                <a:solidFill>
                  <a:srgbClr val="990000"/>
                </a:solidFill>
                <a:latin typeface="Times New Roman" panose="02020603050405020304" pitchFamily="18" charset="0"/>
                <a:cs typeface="Times New Roman" panose="02020603050405020304" pitchFamily="18" charset="0"/>
              </a:rPr>
              <a:t>Shannon</a:t>
            </a:r>
            <a:r>
              <a:rPr lang="el-GR" altLang="en-US" sz="2200">
                <a:solidFill>
                  <a:srgbClr val="990000"/>
                </a:solidFill>
                <a:latin typeface="Times New Roman" panose="02020603050405020304" pitchFamily="18" charset="0"/>
                <a:cs typeface="Times New Roman" panose="02020603050405020304" pitchFamily="18" charset="0"/>
              </a:rPr>
              <a:t> (</a:t>
            </a:r>
            <a:r>
              <a:rPr lang="en-US" altLang="en-US" sz="2200">
                <a:solidFill>
                  <a:srgbClr val="990000"/>
                </a:solidFill>
                <a:latin typeface="Times New Roman" panose="02020603050405020304" pitchFamily="18" charset="0"/>
                <a:cs typeface="Times New Roman" panose="02020603050405020304" pitchFamily="18" charset="0"/>
              </a:rPr>
              <a:t>C</a:t>
            </a:r>
            <a:r>
              <a:rPr lang="el-GR" altLang="en-US" sz="2200">
                <a:solidFill>
                  <a:srgbClr val="990000"/>
                </a:solidFill>
                <a:latin typeface="Times New Roman" panose="02020603050405020304" pitchFamily="18" charset="0"/>
                <a:cs typeface="Times New Roman" panose="02020603050405020304" pitchFamily="18" charset="0"/>
              </a:rPr>
              <a:t>), τότε είναι δυνατή η πραγματοποίηση μετάδοσης απαλλαγμένης από σφάλματα. </a:t>
            </a:r>
          </a:p>
        </p:txBody>
      </p:sp>
      <p:sp>
        <p:nvSpPr>
          <p:cNvPr id="10243"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cs typeface="Times New Roman" panose="02020603050405020304" pitchFamily="18" charset="0"/>
              </a:rPr>
              <a:t>2.</a:t>
            </a:r>
            <a:r>
              <a:rPr lang="el-GR" altLang="en-US" sz="2200" b="1">
                <a:latin typeface="Times New Roman" panose="02020603050405020304" pitchFamily="18" charset="0"/>
              </a:rPr>
              <a:t>3</a:t>
            </a:r>
            <a:r>
              <a:rPr lang="el-GR" altLang="en-US" sz="2200" b="1">
                <a:latin typeface="Times New Roman" panose="02020603050405020304" pitchFamily="18" charset="0"/>
                <a:cs typeface="Times New Roman" panose="02020603050405020304" pitchFamily="18" charset="0"/>
              </a:rPr>
              <a:t>	ΧΩΡΗΤΙΚΟΤΗΤΑ ΚΑΝΑΛΙΟΥ</a:t>
            </a:r>
            <a:r>
              <a:rPr lang="en-GB" altLang="en-US" sz="2200" b="1">
                <a:latin typeface="Times New Roman" panose="02020603050405020304" pitchFamily="18" charset="0"/>
                <a:cs typeface="Times New Roman" panose="02020603050405020304" pitchFamily="18" charset="0"/>
              </a:rPr>
              <a:t> </a:t>
            </a:r>
          </a:p>
        </p:txBody>
      </p:sp>
      <p:graphicFrame>
        <p:nvGraphicFramePr>
          <p:cNvPr id="10244" name="Object 23"/>
          <p:cNvGraphicFramePr>
            <a:graphicFrameLocks noChangeAspect="1"/>
          </p:cNvGraphicFramePr>
          <p:nvPr/>
        </p:nvGraphicFramePr>
        <p:xfrm>
          <a:off x="139700" y="2665413"/>
          <a:ext cx="3587750" cy="836612"/>
        </p:xfrm>
        <a:graphic>
          <a:graphicData uri="http://schemas.openxmlformats.org/presentationml/2006/ole">
            <mc:AlternateContent xmlns:mc="http://schemas.openxmlformats.org/markup-compatibility/2006">
              <mc:Choice xmlns:v="urn:schemas-microsoft-com:vml" Requires="v">
                <p:oleObj name="Equation" r:id="rId2" imgW="1841500" imgH="431800" progId="Equation.3">
                  <p:embed/>
                </p:oleObj>
              </mc:Choice>
              <mc:Fallback>
                <p:oleObj name="Equation" r:id="rId2" imgW="1841500" imgH="431800" progId="Equation.3">
                  <p:embed/>
                  <p:pic>
                    <p:nvPicPr>
                      <p:cNvPr id="10244"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 y="2665413"/>
                        <a:ext cx="3587750" cy="836612"/>
                      </a:xfrm>
                      <a:prstGeom prst="rect">
                        <a:avLst/>
                      </a:prstGeom>
                      <a:solidFill>
                        <a:srgbClr val="D9D9D9"/>
                      </a:solidFill>
                      <a:ln w="28575">
                        <a:solidFill>
                          <a:srgbClr val="C00000"/>
                        </a:solidFill>
                        <a:miter lim="800000"/>
                        <a:headEnd/>
                        <a:tailEnd/>
                      </a:ln>
                    </p:spPr>
                  </p:pic>
                </p:oleObj>
              </mc:Fallback>
            </mc:AlternateContent>
          </a:graphicData>
        </a:graphic>
      </p:graphicFrame>
      <p:graphicFrame>
        <p:nvGraphicFramePr>
          <p:cNvPr id="10245" name="Object 25"/>
          <p:cNvGraphicFramePr>
            <a:graphicFrameLocks noChangeAspect="1"/>
          </p:cNvGraphicFramePr>
          <p:nvPr/>
        </p:nvGraphicFramePr>
        <p:xfrm>
          <a:off x="220663" y="3822700"/>
          <a:ext cx="1158875" cy="471488"/>
        </p:xfrm>
        <a:graphic>
          <a:graphicData uri="http://schemas.openxmlformats.org/presentationml/2006/ole">
            <mc:AlternateContent xmlns:mc="http://schemas.openxmlformats.org/markup-compatibility/2006">
              <mc:Choice xmlns:v="urn:schemas-microsoft-com:vml" Requires="v">
                <p:oleObj r:id="rId4" imgW="558800" imgH="228600" progId="Equation.3">
                  <p:embed/>
                </p:oleObj>
              </mc:Choice>
              <mc:Fallback>
                <p:oleObj r:id="rId4" imgW="558800" imgH="228600" progId="Equation.3">
                  <p:embed/>
                  <p:pic>
                    <p:nvPicPr>
                      <p:cNvPr id="10245"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663" y="3822700"/>
                        <a:ext cx="11588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6" name="Object 27"/>
          <p:cNvGraphicFramePr>
            <a:graphicFrameLocks noChangeAspect="1"/>
          </p:cNvGraphicFramePr>
          <p:nvPr/>
        </p:nvGraphicFramePr>
        <p:xfrm>
          <a:off x="150813" y="4633913"/>
          <a:ext cx="1257300" cy="471487"/>
        </p:xfrm>
        <a:graphic>
          <a:graphicData uri="http://schemas.openxmlformats.org/presentationml/2006/ole">
            <mc:AlternateContent xmlns:mc="http://schemas.openxmlformats.org/markup-compatibility/2006">
              <mc:Choice xmlns:v="urn:schemas-microsoft-com:vml" Requires="v">
                <p:oleObj r:id="rId6" imgW="609600" imgH="228600" progId="Equation.3">
                  <p:embed/>
                </p:oleObj>
              </mc:Choice>
              <mc:Fallback>
                <p:oleObj r:id="rId6" imgW="609600" imgH="228600" progId="Equation.3">
                  <p:embed/>
                  <p:pic>
                    <p:nvPicPr>
                      <p:cNvPr id="10246"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813" y="4633913"/>
                        <a:ext cx="12573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7" name="Text Box 29"/>
          <p:cNvSpPr txBox="1">
            <a:spLocks noChangeArrowheads="1"/>
          </p:cNvSpPr>
          <p:nvPr/>
        </p:nvSpPr>
        <p:spPr bwMode="auto">
          <a:xfrm>
            <a:off x="2312988" y="3489325"/>
            <a:ext cx="6640512" cy="144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69913" indent="-569913">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a:solidFill>
                  <a:srgbClr val="990000"/>
                </a:solidFill>
                <a:latin typeface="Times New Roman" panose="02020603050405020304" pitchFamily="18" charset="0"/>
                <a:cs typeface="Times New Roman" panose="02020603050405020304" pitchFamily="18" charset="0"/>
              </a:rPr>
              <a:t>S:</a:t>
            </a:r>
            <a:r>
              <a:rPr lang="el-GR" altLang="en-US" sz="2200">
                <a:solidFill>
                  <a:srgbClr val="990000"/>
                </a:solidFill>
                <a:latin typeface="Times New Roman" panose="02020603050405020304" pitchFamily="18" charset="0"/>
              </a:rPr>
              <a:t>	</a:t>
            </a:r>
            <a:r>
              <a:rPr lang="el-GR" altLang="en-US" sz="2200">
                <a:solidFill>
                  <a:srgbClr val="990000"/>
                </a:solidFill>
                <a:latin typeface="Times New Roman" panose="02020603050405020304" pitchFamily="18" charset="0"/>
                <a:cs typeface="Times New Roman" panose="02020603050405020304" pitchFamily="18" charset="0"/>
              </a:rPr>
              <a:t>Μέση ισχύς σήματος στην είσοδο του δέκτη</a:t>
            </a:r>
          </a:p>
          <a:p>
            <a:r>
              <a:rPr lang="en-US" altLang="en-US" sz="2200">
                <a:solidFill>
                  <a:srgbClr val="990000"/>
                </a:solidFill>
                <a:latin typeface="Times New Roman" panose="02020603050405020304" pitchFamily="18" charset="0"/>
                <a:cs typeface="Times New Roman" panose="02020603050405020304" pitchFamily="18" charset="0"/>
              </a:rPr>
              <a:t>N :</a:t>
            </a:r>
            <a:r>
              <a:rPr lang="el-GR" altLang="en-US" sz="2200">
                <a:solidFill>
                  <a:srgbClr val="990000"/>
                </a:solidFill>
                <a:latin typeface="Times New Roman" panose="02020603050405020304" pitchFamily="18" charset="0"/>
              </a:rPr>
              <a:t>	</a:t>
            </a:r>
            <a:r>
              <a:rPr lang="en-US" altLang="en-US" sz="2200">
                <a:solidFill>
                  <a:srgbClr val="990000"/>
                </a:solidFill>
                <a:latin typeface="Times New Roman" panose="02020603050405020304" pitchFamily="18" charset="0"/>
                <a:cs typeface="Times New Roman" panose="02020603050405020304" pitchFamily="18" charset="0"/>
              </a:rPr>
              <a:t>M</a:t>
            </a:r>
            <a:r>
              <a:rPr lang="el-GR" altLang="en-US" sz="2200">
                <a:solidFill>
                  <a:srgbClr val="990000"/>
                </a:solidFill>
                <a:latin typeface="Times New Roman" panose="02020603050405020304" pitchFamily="18" charset="0"/>
                <a:cs typeface="Times New Roman" panose="02020603050405020304" pitchFamily="18" charset="0"/>
              </a:rPr>
              <a:t>έση ισχύς Θορύβου Ν</a:t>
            </a:r>
          </a:p>
          <a:p>
            <a:r>
              <a:rPr lang="en-US" altLang="en-US" sz="2200">
                <a:solidFill>
                  <a:srgbClr val="990000"/>
                </a:solidFill>
                <a:latin typeface="Times New Roman" panose="02020603050405020304" pitchFamily="18" charset="0"/>
                <a:cs typeface="Times New Roman" panose="02020603050405020304" pitchFamily="18" charset="0"/>
              </a:rPr>
              <a:t>E</a:t>
            </a:r>
            <a:r>
              <a:rPr lang="en-US" altLang="en-US" sz="2200" baseline="-25000">
                <a:solidFill>
                  <a:srgbClr val="990000"/>
                </a:solidFill>
                <a:latin typeface="Times New Roman" panose="02020603050405020304" pitchFamily="18" charset="0"/>
                <a:cs typeface="Times New Roman" panose="02020603050405020304" pitchFamily="18" charset="0"/>
              </a:rPr>
              <a:t>b</a:t>
            </a:r>
            <a:r>
              <a:rPr lang="en-US" altLang="en-US" sz="2200">
                <a:solidFill>
                  <a:srgbClr val="990000"/>
                </a:solidFill>
                <a:latin typeface="Times New Roman" panose="02020603050405020304" pitchFamily="18" charset="0"/>
                <a:cs typeface="Times New Roman" panose="02020603050405020304" pitchFamily="18" charset="0"/>
              </a:rPr>
              <a:t> :</a:t>
            </a:r>
            <a:r>
              <a:rPr lang="el-GR" altLang="en-US" sz="2200">
                <a:solidFill>
                  <a:srgbClr val="990000"/>
                </a:solidFill>
                <a:latin typeface="Times New Roman" panose="02020603050405020304" pitchFamily="18" charset="0"/>
              </a:rPr>
              <a:t>	</a:t>
            </a:r>
            <a:r>
              <a:rPr lang="en-US" altLang="en-US" sz="2200">
                <a:solidFill>
                  <a:srgbClr val="990000"/>
                </a:solidFill>
                <a:latin typeface="Times New Roman" panose="02020603050405020304" pitchFamily="18" charset="0"/>
                <a:cs typeface="Times New Roman" panose="02020603050405020304" pitchFamily="18" charset="0"/>
              </a:rPr>
              <a:t>M</a:t>
            </a:r>
            <a:r>
              <a:rPr lang="el-GR" altLang="en-US" sz="2200">
                <a:solidFill>
                  <a:srgbClr val="990000"/>
                </a:solidFill>
                <a:latin typeface="Times New Roman" panose="02020603050405020304" pitchFamily="18" charset="0"/>
                <a:cs typeface="Times New Roman" panose="02020603050405020304" pitchFamily="18" charset="0"/>
              </a:rPr>
              <a:t>έση λαμβανόμενη ενέργεια ανά bit.</a:t>
            </a:r>
          </a:p>
          <a:p>
            <a:r>
              <a:rPr lang="en-US" altLang="en-US" sz="2200">
                <a:solidFill>
                  <a:srgbClr val="990000"/>
                </a:solidFill>
                <a:latin typeface="Times New Roman" panose="02020603050405020304" pitchFamily="18" charset="0"/>
                <a:cs typeface="Times New Roman" panose="02020603050405020304" pitchFamily="18" charset="0"/>
              </a:rPr>
              <a:t>N</a:t>
            </a:r>
            <a:r>
              <a:rPr lang="en-US" altLang="en-US" sz="2200" baseline="-25000">
                <a:solidFill>
                  <a:srgbClr val="990000"/>
                </a:solidFill>
                <a:latin typeface="Times New Roman" panose="02020603050405020304" pitchFamily="18" charset="0"/>
                <a:cs typeface="Times New Roman" panose="02020603050405020304" pitchFamily="18" charset="0"/>
              </a:rPr>
              <a:t>o</a:t>
            </a:r>
            <a:r>
              <a:rPr lang="en-US" altLang="en-US" sz="2200">
                <a:solidFill>
                  <a:srgbClr val="990000"/>
                </a:solidFill>
                <a:latin typeface="Times New Roman" panose="02020603050405020304" pitchFamily="18" charset="0"/>
                <a:cs typeface="Times New Roman" panose="02020603050405020304" pitchFamily="18" charset="0"/>
              </a:rPr>
              <a:t> :</a:t>
            </a:r>
            <a:r>
              <a:rPr lang="el-GR" altLang="en-US" sz="2200">
                <a:solidFill>
                  <a:srgbClr val="990000"/>
                </a:solidFill>
                <a:latin typeface="Times New Roman" panose="02020603050405020304" pitchFamily="18" charset="0"/>
              </a:rPr>
              <a:t>	</a:t>
            </a:r>
            <a:r>
              <a:rPr lang="el-GR" altLang="en-US" sz="2200">
                <a:solidFill>
                  <a:srgbClr val="990000"/>
                </a:solidFill>
                <a:latin typeface="Times New Roman" panose="02020603050405020304" pitchFamily="18" charset="0"/>
                <a:cs typeface="Times New Roman" panose="02020603050405020304" pitchFamily="18" charset="0"/>
              </a:rPr>
              <a:t>Πυκνότητα ισχύος θορύβου (Watt/Hz).</a:t>
            </a:r>
            <a:endParaRPr lang="en-GB" altLang="en-US" sz="2200">
              <a:solidFill>
                <a:srgbClr val="990000"/>
              </a:solidFill>
              <a:latin typeface="Times New Roman" panose="02020603050405020304" pitchFamily="18" charset="0"/>
              <a:cs typeface="Times New Roman" panose="02020603050405020304" pitchFamily="18" charset="0"/>
            </a:endParaRPr>
          </a:p>
        </p:txBody>
      </p:sp>
      <p:graphicFrame>
        <p:nvGraphicFramePr>
          <p:cNvPr id="10248" name="Object 30"/>
          <p:cNvGraphicFramePr>
            <a:graphicFrameLocks noChangeAspect="1"/>
          </p:cNvGraphicFramePr>
          <p:nvPr/>
        </p:nvGraphicFramePr>
        <p:xfrm>
          <a:off x="185738" y="5597525"/>
          <a:ext cx="2668587" cy="1008063"/>
        </p:xfrm>
        <a:graphic>
          <a:graphicData uri="http://schemas.openxmlformats.org/presentationml/2006/ole">
            <mc:AlternateContent xmlns:mc="http://schemas.openxmlformats.org/markup-compatibility/2006">
              <mc:Choice xmlns:v="urn:schemas-microsoft-com:vml" Requires="v">
                <p:oleObj r:id="rId8" imgW="1282700" imgH="482600" progId="Equation.3">
                  <p:embed/>
                </p:oleObj>
              </mc:Choice>
              <mc:Fallback>
                <p:oleObj r:id="rId8" imgW="1282700" imgH="482600" progId="Equation.3">
                  <p:embed/>
                  <p:pic>
                    <p:nvPicPr>
                      <p:cNvPr id="10248"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5738" y="5597525"/>
                        <a:ext cx="2668587" cy="1008063"/>
                      </a:xfrm>
                      <a:prstGeom prst="rect">
                        <a:avLst/>
                      </a:prstGeom>
                      <a:solidFill>
                        <a:srgbClr val="D9D9D9"/>
                      </a:solidFill>
                      <a:ln w="28575">
                        <a:solidFill>
                          <a:srgbClr val="C00000"/>
                        </a:solidFill>
                        <a:miter lim="800000"/>
                        <a:headEnd/>
                        <a:tailEnd/>
                      </a:ln>
                    </p:spPr>
                  </p:pic>
                </p:oleObj>
              </mc:Fallback>
            </mc:AlternateContent>
          </a:graphicData>
        </a:graphic>
      </p:graphicFrame>
      <p:sp>
        <p:nvSpPr>
          <p:cNvPr id="10249" name="Text Box 32"/>
          <p:cNvSpPr txBox="1">
            <a:spLocks noChangeArrowheads="1"/>
          </p:cNvSpPr>
          <p:nvPr/>
        </p:nvSpPr>
        <p:spPr bwMode="auto">
          <a:xfrm>
            <a:off x="2965450" y="5730875"/>
            <a:ext cx="59880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65175" indent="-765175">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a:solidFill>
                  <a:srgbClr val="990000"/>
                </a:solidFill>
                <a:latin typeface="Times New Roman" panose="02020603050405020304" pitchFamily="18" charset="0"/>
              </a:rPr>
              <a:t>C/B:</a:t>
            </a:r>
            <a:r>
              <a:rPr lang="el-GR" altLang="en-US" sz="2200">
                <a:solidFill>
                  <a:srgbClr val="990000"/>
                </a:solidFill>
                <a:latin typeface="Times New Roman" panose="02020603050405020304" pitchFamily="18" charset="0"/>
              </a:rPr>
              <a:t>	Φασματική απόδοση του συστήματος</a:t>
            </a:r>
          </a:p>
          <a:p>
            <a:r>
              <a:rPr lang="en-US" altLang="en-US" sz="2200">
                <a:solidFill>
                  <a:srgbClr val="990000"/>
                </a:solidFill>
                <a:latin typeface="Times New Roman" panose="02020603050405020304" pitchFamily="18" charset="0"/>
              </a:rPr>
              <a:t>E</a:t>
            </a:r>
            <a:r>
              <a:rPr lang="en-US" altLang="en-US" sz="2200" baseline="-25000">
                <a:solidFill>
                  <a:srgbClr val="990000"/>
                </a:solidFill>
                <a:latin typeface="Times New Roman" panose="02020603050405020304" pitchFamily="18" charset="0"/>
              </a:rPr>
              <a:t>b</a:t>
            </a:r>
            <a:r>
              <a:rPr lang="en-US" altLang="en-US" sz="2200">
                <a:solidFill>
                  <a:srgbClr val="990000"/>
                </a:solidFill>
                <a:latin typeface="Times New Roman" panose="02020603050405020304" pitchFamily="18" charset="0"/>
              </a:rPr>
              <a:t>/N</a:t>
            </a:r>
            <a:r>
              <a:rPr lang="en-US" altLang="en-US" sz="2200" baseline="-25000">
                <a:solidFill>
                  <a:srgbClr val="990000"/>
                </a:solidFill>
                <a:latin typeface="Times New Roman" panose="02020603050405020304" pitchFamily="18" charset="0"/>
              </a:rPr>
              <a:t>0</a:t>
            </a:r>
            <a:r>
              <a:rPr lang="en-US" altLang="en-US" sz="2200">
                <a:solidFill>
                  <a:srgbClr val="990000"/>
                </a:solidFill>
                <a:latin typeface="Times New Roman" panose="02020603050405020304" pitchFamily="18" charset="0"/>
              </a:rPr>
              <a:t>:</a:t>
            </a:r>
            <a:r>
              <a:rPr lang="el-GR" altLang="en-US" sz="2200">
                <a:solidFill>
                  <a:srgbClr val="990000"/>
                </a:solidFill>
                <a:latin typeface="Times New Roman" panose="02020603050405020304" pitchFamily="18" charset="0"/>
              </a:rPr>
              <a:t>	Απόδοση ισχύος του συστήματος</a:t>
            </a:r>
            <a:r>
              <a:rPr lang="en-GB" altLang="en-US" sz="2200">
                <a:solidFill>
                  <a:srgbClr val="990000"/>
                </a:solidFill>
                <a:latin typeface="Times New Roman" panose="02020603050405020304" pitchFamily="18" charset="0"/>
                <a:cs typeface="Times New Roman" panose="02020603050405020304" pitchFamily="18" charset="0"/>
              </a:rPr>
              <a:t> </a:t>
            </a:r>
            <a:endParaRPr lang="el-GR" altLang="en-US" sz="2200">
              <a:solidFill>
                <a:srgbClr val="990000"/>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0" y="1063625"/>
            <a:ext cx="89535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rPr>
              <a:t>2.3.3	</a:t>
            </a:r>
            <a:r>
              <a:rPr lang="el-GR" altLang="en-US" sz="2200" b="1" dirty="0">
                <a:solidFill>
                  <a:srgbClr val="990000"/>
                </a:solidFill>
                <a:latin typeface="Times New Roman" panose="02020603050405020304" pitchFamily="18" charset="0"/>
                <a:cs typeface="Times New Roman" panose="02020603050405020304" pitchFamily="18" charset="0"/>
              </a:rPr>
              <a:t>Περιορισμός της χωρητικότητας καναλιού λόγω θορύβου</a:t>
            </a:r>
            <a:r>
              <a:rPr lang="en-GB" altLang="en-US" sz="2200" b="1" dirty="0">
                <a:solidFill>
                  <a:srgbClr val="990000"/>
                </a:solidFill>
                <a:latin typeface="Times New Roman" panose="02020603050405020304" pitchFamily="18" charset="0"/>
              </a:rPr>
              <a:t> </a:t>
            </a:r>
            <a:endParaRPr lang="el-GR" altLang="en-US" sz="2200" b="1" dirty="0">
              <a:solidFill>
                <a:srgbClr val="990000"/>
              </a:solidFill>
              <a:latin typeface="Times New Roman" panose="02020603050405020304" pitchFamily="18" charset="0"/>
            </a:endParaRPr>
          </a:p>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Το θεώρημα</a:t>
            </a:r>
            <a:r>
              <a:rPr lang="en-US" altLang="en-US" sz="2200" b="1" dirty="0">
                <a:solidFill>
                  <a:srgbClr val="990000"/>
                </a:solidFill>
                <a:latin typeface="Times New Roman" panose="02020603050405020304" pitchFamily="18" charset="0"/>
                <a:cs typeface="Times New Roman" panose="02020603050405020304" pitchFamily="18" charset="0"/>
              </a:rPr>
              <a:t> Shannon – Hartley</a:t>
            </a:r>
            <a:endParaRPr lang="el-GR" altLang="en-US" sz="2200" dirty="0">
              <a:solidFill>
                <a:srgbClr val="990000"/>
              </a:solidFill>
              <a:latin typeface="Times New Roman" panose="02020603050405020304" pitchFamily="18" charset="0"/>
              <a:cs typeface="Times New Roman" panose="02020603050405020304" pitchFamily="18" charset="0"/>
            </a:endParaRPr>
          </a:p>
        </p:txBody>
      </p:sp>
      <p:sp>
        <p:nvSpPr>
          <p:cNvPr id="11267"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cs typeface="Times New Roman" panose="02020603050405020304" pitchFamily="18" charset="0"/>
              </a:rPr>
              <a:t>2.</a:t>
            </a:r>
            <a:r>
              <a:rPr lang="el-GR" altLang="en-US" sz="2200" b="1">
                <a:latin typeface="Times New Roman" panose="02020603050405020304" pitchFamily="18" charset="0"/>
              </a:rPr>
              <a:t>3</a:t>
            </a:r>
            <a:r>
              <a:rPr lang="el-GR" altLang="en-US" sz="2200" b="1">
                <a:latin typeface="Times New Roman" panose="02020603050405020304" pitchFamily="18" charset="0"/>
                <a:cs typeface="Times New Roman" panose="02020603050405020304" pitchFamily="18" charset="0"/>
              </a:rPr>
              <a:t>	ΧΩΡΗΤΙΚΟΤΗΤΑ ΚΑΝΑΛΙΟΥ</a:t>
            </a:r>
            <a:r>
              <a:rPr lang="en-GB" altLang="en-US" sz="2200" b="1">
                <a:latin typeface="Times New Roman" panose="02020603050405020304" pitchFamily="18" charset="0"/>
                <a:cs typeface="Times New Roman" panose="02020603050405020304" pitchFamily="18" charset="0"/>
              </a:rPr>
              <a:t> </a:t>
            </a:r>
          </a:p>
        </p:txBody>
      </p:sp>
      <p:graphicFrame>
        <p:nvGraphicFramePr>
          <p:cNvPr id="11268" name="Object 8"/>
          <p:cNvGraphicFramePr>
            <a:graphicFrameLocks noChangeAspect="1"/>
          </p:cNvGraphicFramePr>
          <p:nvPr/>
        </p:nvGraphicFramePr>
        <p:xfrm>
          <a:off x="80963" y="1827213"/>
          <a:ext cx="2668587" cy="1008062"/>
        </p:xfrm>
        <a:graphic>
          <a:graphicData uri="http://schemas.openxmlformats.org/presentationml/2006/ole">
            <mc:AlternateContent xmlns:mc="http://schemas.openxmlformats.org/markup-compatibility/2006">
              <mc:Choice xmlns:v="urn:schemas-microsoft-com:vml" Requires="v">
                <p:oleObj r:id="rId2" imgW="1282700" imgH="482600" progId="Equation.3">
                  <p:embed/>
                </p:oleObj>
              </mc:Choice>
              <mc:Fallback>
                <p:oleObj r:id="rId2" imgW="1282700" imgH="482600" progId="Equation.3">
                  <p:embed/>
                  <p:pic>
                    <p:nvPicPr>
                      <p:cNvPr id="11268"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63" y="1827213"/>
                        <a:ext cx="2668587"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9" name="Text Box 9"/>
          <p:cNvSpPr txBox="1">
            <a:spLocks noChangeArrowheads="1"/>
          </p:cNvSpPr>
          <p:nvPr/>
        </p:nvSpPr>
        <p:spPr bwMode="auto">
          <a:xfrm>
            <a:off x="88900" y="2989263"/>
            <a:ext cx="8826500" cy="405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65175" indent="-765175">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r>
              <a:rPr lang="el-GR" altLang="en-US" sz="2000" b="1" dirty="0">
                <a:solidFill>
                  <a:srgbClr val="990000"/>
                </a:solidFill>
                <a:latin typeface="Times New Roman" panose="02020603050405020304" pitchFamily="18" charset="0"/>
              </a:rPr>
              <a:t>ΠΑΡΑΤΗΡΗΣΗ:</a:t>
            </a:r>
          </a:p>
          <a:p>
            <a:pPr algn="just"/>
            <a:r>
              <a:rPr lang="en-US" altLang="en-US" sz="2000" b="1" dirty="0">
                <a:solidFill>
                  <a:srgbClr val="990000"/>
                </a:solidFill>
                <a:latin typeface="Times New Roman" panose="02020603050405020304" pitchFamily="18" charset="0"/>
              </a:rPr>
              <a:t>C/B:</a:t>
            </a:r>
            <a:r>
              <a:rPr lang="el-GR" altLang="en-US" sz="2000" b="1" dirty="0">
                <a:solidFill>
                  <a:srgbClr val="990000"/>
                </a:solidFill>
                <a:latin typeface="Times New Roman" panose="02020603050405020304" pitchFamily="18" charset="0"/>
              </a:rPr>
              <a:t>	Φασματική απόδοση του συστήματος</a:t>
            </a:r>
          </a:p>
          <a:p>
            <a:pPr algn="just"/>
            <a:r>
              <a:rPr lang="el-GR" altLang="en-US" sz="2000" dirty="0">
                <a:solidFill>
                  <a:srgbClr val="990000"/>
                </a:solidFill>
                <a:latin typeface="Times New Roman" panose="02020603050405020304" pitchFamily="18" charset="0"/>
              </a:rPr>
              <a:t>	Όσο μεγαλύτερος είναι ο λόγος </a:t>
            </a:r>
            <a:r>
              <a:rPr lang="en-US" altLang="en-US" sz="2000" dirty="0">
                <a:solidFill>
                  <a:srgbClr val="990000"/>
                </a:solidFill>
                <a:latin typeface="Times New Roman" panose="02020603050405020304" pitchFamily="18" charset="0"/>
              </a:rPr>
              <a:t>C/B</a:t>
            </a:r>
            <a:r>
              <a:rPr lang="el-GR" altLang="en-US" sz="2000" dirty="0">
                <a:solidFill>
                  <a:srgbClr val="990000"/>
                </a:solidFill>
                <a:latin typeface="Times New Roman" panose="02020603050405020304" pitchFamily="18" charset="0"/>
              </a:rPr>
              <a:t>, τόσο καλύτερη είναι η φασματική απόδοση.</a:t>
            </a:r>
          </a:p>
          <a:p>
            <a:pPr algn="just"/>
            <a:r>
              <a:rPr lang="en-US" altLang="en-US" sz="2000" b="1" dirty="0">
                <a:solidFill>
                  <a:srgbClr val="990000"/>
                </a:solidFill>
                <a:latin typeface="Times New Roman" panose="02020603050405020304" pitchFamily="18" charset="0"/>
              </a:rPr>
              <a:t>E</a:t>
            </a:r>
            <a:r>
              <a:rPr lang="en-US" altLang="en-US" sz="2000" b="1" baseline="-25000" dirty="0">
                <a:solidFill>
                  <a:srgbClr val="990000"/>
                </a:solidFill>
                <a:latin typeface="Times New Roman" panose="02020603050405020304" pitchFamily="18" charset="0"/>
              </a:rPr>
              <a:t>b</a:t>
            </a:r>
            <a:r>
              <a:rPr lang="en-US" altLang="en-US" sz="2000" b="1" dirty="0">
                <a:solidFill>
                  <a:srgbClr val="990000"/>
                </a:solidFill>
                <a:latin typeface="Times New Roman" panose="02020603050405020304" pitchFamily="18" charset="0"/>
              </a:rPr>
              <a:t>/N</a:t>
            </a:r>
            <a:r>
              <a:rPr lang="en-US" altLang="en-US" sz="2000" b="1" baseline="-25000" dirty="0">
                <a:solidFill>
                  <a:srgbClr val="990000"/>
                </a:solidFill>
                <a:latin typeface="Times New Roman" panose="02020603050405020304" pitchFamily="18" charset="0"/>
              </a:rPr>
              <a:t>0</a:t>
            </a:r>
            <a:r>
              <a:rPr lang="en-US" altLang="en-US" sz="2000" b="1" dirty="0">
                <a:solidFill>
                  <a:srgbClr val="990000"/>
                </a:solidFill>
                <a:latin typeface="Times New Roman" panose="02020603050405020304" pitchFamily="18" charset="0"/>
              </a:rPr>
              <a:t>:</a:t>
            </a:r>
            <a:r>
              <a:rPr lang="el-GR" altLang="en-US" sz="2000" b="1" dirty="0">
                <a:solidFill>
                  <a:srgbClr val="990000"/>
                </a:solidFill>
                <a:latin typeface="Times New Roman" panose="02020603050405020304" pitchFamily="18" charset="0"/>
              </a:rPr>
              <a:t>	Απόδοση ισχύος του συστήματος</a:t>
            </a:r>
            <a:r>
              <a:rPr lang="en-GB" altLang="en-US" sz="2000" dirty="0">
                <a:solidFill>
                  <a:srgbClr val="990000"/>
                </a:solidFill>
                <a:latin typeface="Times New Roman" panose="02020603050405020304" pitchFamily="18" charset="0"/>
                <a:cs typeface="Times New Roman" panose="02020603050405020304" pitchFamily="18" charset="0"/>
              </a:rPr>
              <a:t> </a:t>
            </a:r>
            <a:endParaRPr lang="el-GR" altLang="en-US" sz="2000" dirty="0">
              <a:solidFill>
                <a:srgbClr val="990000"/>
              </a:solidFill>
              <a:latin typeface="Times New Roman" panose="02020603050405020304" pitchFamily="18" charset="0"/>
            </a:endParaRPr>
          </a:p>
          <a:p>
            <a:pPr algn="just"/>
            <a:r>
              <a:rPr lang="el-GR" altLang="en-US" sz="2000" dirty="0">
                <a:solidFill>
                  <a:srgbClr val="990000"/>
                </a:solidFill>
                <a:latin typeface="Times New Roman" panose="02020603050405020304" pitchFamily="18" charset="0"/>
              </a:rPr>
              <a:t>	Όσο μικρότερος είναι ο λόγος</a:t>
            </a:r>
            <a:r>
              <a:rPr lang="el-GR" altLang="en-US" sz="2000" dirty="0"/>
              <a:t> </a:t>
            </a:r>
            <a:r>
              <a:rPr lang="en-US" altLang="en-US" sz="2000" dirty="0">
                <a:solidFill>
                  <a:srgbClr val="990000"/>
                </a:solidFill>
                <a:latin typeface="Times New Roman" panose="02020603050405020304" pitchFamily="18" charset="0"/>
              </a:rPr>
              <a:t>E</a:t>
            </a:r>
            <a:r>
              <a:rPr lang="en-US" altLang="en-US" sz="2000" baseline="-25000" dirty="0">
                <a:solidFill>
                  <a:srgbClr val="990000"/>
                </a:solidFill>
                <a:latin typeface="Times New Roman" panose="02020603050405020304" pitchFamily="18" charset="0"/>
              </a:rPr>
              <a:t>b</a:t>
            </a:r>
            <a:r>
              <a:rPr lang="en-US" altLang="en-US" sz="2000" dirty="0">
                <a:solidFill>
                  <a:srgbClr val="990000"/>
                </a:solidFill>
                <a:latin typeface="Times New Roman" panose="02020603050405020304" pitchFamily="18" charset="0"/>
              </a:rPr>
              <a:t>/N</a:t>
            </a:r>
            <a:r>
              <a:rPr lang="en-US" altLang="en-US" sz="2000" baseline="-25000" dirty="0">
                <a:solidFill>
                  <a:srgbClr val="990000"/>
                </a:solidFill>
                <a:latin typeface="Times New Roman" panose="02020603050405020304" pitchFamily="18" charset="0"/>
              </a:rPr>
              <a:t>0</a:t>
            </a:r>
            <a:r>
              <a:rPr lang="el-GR" altLang="en-US" sz="2000" dirty="0">
                <a:solidFill>
                  <a:srgbClr val="990000"/>
                </a:solidFill>
                <a:latin typeface="Times New Roman" panose="02020603050405020304" pitchFamily="18" charset="0"/>
              </a:rPr>
              <a:t>, τόσο λιγότερη ενέργεια χρησιμοποιείται από κάθε </a:t>
            </a:r>
            <a:r>
              <a:rPr lang="el-GR" altLang="en-US" sz="2000" dirty="0" err="1">
                <a:solidFill>
                  <a:srgbClr val="990000"/>
                </a:solidFill>
                <a:latin typeface="Times New Roman" panose="02020603050405020304" pitchFamily="18" charset="0"/>
              </a:rPr>
              <a:t>bit</a:t>
            </a:r>
            <a:r>
              <a:rPr lang="el-GR" altLang="en-US" sz="2000" dirty="0">
                <a:solidFill>
                  <a:srgbClr val="990000"/>
                </a:solidFill>
                <a:latin typeface="Times New Roman" panose="02020603050405020304" pitchFamily="18" charset="0"/>
              </a:rPr>
              <a:t> (και επομένως για κάθε σύμβολο) ώστε αυτό να ανιχνευτεί σωστά, παρουσία μιας δεδομένης ποσότητας θορύβου.</a:t>
            </a:r>
            <a:r>
              <a:rPr lang="en-GB" altLang="en-US" sz="2000" dirty="0">
                <a:solidFill>
                  <a:srgbClr val="990000"/>
                </a:solidFill>
                <a:latin typeface="Times New Roman" panose="02020603050405020304" pitchFamily="18" charset="0"/>
              </a:rPr>
              <a:t> </a:t>
            </a:r>
            <a:endParaRPr lang="el-GR" altLang="en-US" sz="2000" dirty="0">
              <a:solidFill>
                <a:srgbClr val="990000"/>
              </a:solidFill>
              <a:latin typeface="Times New Roman" panose="02020603050405020304" pitchFamily="18" charset="0"/>
            </a:endParaRPr>
          </a:p>
          <a:p>
            <a:pPr algn="just"/>
            <a:endParaRPr lang="el-GR" altLang="en-US" sz="2000" dirty="0">
              <a:solidFill>
                <a:srgbClr val="990000"/>
              </a:solidFill>
              <a:latin typeface="Times New Roman" panose="02020603050405020304" pitchFamily="18" charset="0"/>
            </a:endParaRPr>
          </a:p>
          <a:p>
            <a:pPr algn="just"/>
            <a:r>
              <a:rPr lang="el-GR" altLang="en-US" sz="2000" b="1" dirty="0">
                <a:solidFill>
                  <a:srgbClr val="990000"/>
                </a:solidFill>
                <a:latin typeface="Times New Roman" panose="02020603050405020304" pitchFamily="18" charset="0"/>
              </a:rPr>
              <a:t>ΕΦΑΡΜΟΓΗ:</a:t>
            </a:r>
          </a:p>
          <a:p>
            <a:pPr algn="just"/>
            <a:r>
              <a:rPr lang="el-GR" altLang="en-US" sz="2000" dirty="0">
                <a:latin typeface="Times New Roman" panose="02020603050405020304" pitchFamily="18" charset="0"/>
              </a:rPr>
              <a:t>	</a:t>
            </a:r>
            <a:r>
              <a:rPr lang="el-GR" altLang="en-US" sz="2000" dirty="0">
                <a:solidFill>
                  <a:srgbClr val="990000"/>
                </a:solidFill>
                <a:latin typeface="Times New Roman" panose="02020603050405020304" pitchFamily="18" charset="0"/>
              </a:rPr>
              <a:t>Η επιλογή ενός πομπού που να έχει υψηλή απόδοση ισχύος είναι ιδιαίτερη σημαντική στα κινητά τηλέφωνα, όταν ο σχεδιαστής προσπαθεί να μεγιστοποιήσει τη διάρκεια ζωής της μπαταρίας.</a:t>
            </a:r>
            <a:r>
              <a:rPr lang="en-GB" altLang="en-US" sz="2000" dirty="0">
                <a:solidFill>
                  <a:srgbClr val="990000"/>
                </a:solidFill>
                <a:latin typeface="Times New Roman" panose="02020603050405020304" pitchFamily="18" charset="0"/>
              </a:rPr>
              <a:t> </a:t>
            </a:r>
            <a:endParaRPr lang="el-GR" altLang="en-US" sz="2000" dirty="0">
              <a:solidFill>
                <a:srgbClr val="990000"/>
              </a:solidFill>
              <a:latin typeface="Times New Roman" panose="02020603050405020304" pitchFamily="18"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55314-4DC3-4282-615C-5633A85B4C9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90" name="Text Box 2">
                <a:extLst>
                  <a:ext uri="{FF2B5EF4-FFF2-40B4-BE49-F238E27FC236}">
                    <a16:creationId xmlns:a16="http://schemas.microsoft.com/office/drawing/2014/main" id="{337196D2-A39C-CA41-EBCD-9B2FDE35B75F}"/>
                  </a:ext>
                </a:extLst>
              </p:cNvPr>
              <p:cNvSpPr txBox="1">
                <a:spLocks noChangeArrowheads="1"/>
              </p:cNvSpPr>
              <p:nvPr/>
            </p:nvSpPr>
            <p:spPr bwMode="auto">
              <a:xfrm>
                <a:off x="0" y="1044575"/>
                <a:ext cx="8828088" cy="5146152"/>
              </a:xfrm>
              <a:prstGeom prst="rect">
                <a:avLst/>
              </a:prstGeom>
              <a:noFill/>
              <a:ln>
                <a:noFill/>
              </a:ln>
              <a:effectLst/>
              <a:extLst>
                <a:ext uri="{909E8E84-426E-40DD-AFC4-6F175D3DCCD1}">
                  <a14:hiddenFill>
                    <a:solidFill>
                      <a:schemeClr val="accent1"/>
                    </a:solidFill>
                  </a14:hiddenFill>
                </a:ext>
                <a:ext uri="{91240B29-F687-4F45-9708-019B960494DF}">
                  <a14:hiddenLine w="6350">
                    <a:solidFill>
                      <a:srgbClr val="000000"/>
                    </a:solidFill>
                    <a:miter lim="800000"/>
                    <a:headEnd type="none" w="sm" len="sm"/>
                    <a:tailEnd type="none" w="med" len="lg"/>
                  </a14:hiddenLine>
                </a:ext>
                <a:ext uri="{AF507438-7753-43E0-B8FC-AC1667EBCBE1}">
                  <a14:hiddenEffects>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400" b="1" dirty="0">
                    <a:solidFill>
                      <a:srgbClr val="990000"/>
                    </a:solidFill>
                    <a:latin typeface="Calibri" panose="020F0502020204030204" pitchFamily="34" charset="0"/>
                    <a:cs typeface="Calibri" panose="020F0502020204030204" pitchFamily="34" charset="0"/>
                  </a:rPr>
                  <a:t>Παράδειγμα:</a:t>
                </a:r>
                <a:r>
                  <a:rPr lang="en-US" altLang="en-US" sz="2400" b="1" dirty="0">
                    <a:solidFill>
                      <a:srgbClr val="990000"/>
                    </a:solidFill>
                    <a:latin typeface="Calibri" panose="020F0502020204030204" pitchFamily="34" charset="0"/>
                    <a:cs typeface="Calibri" panose="020F0502020204030204" pitchFamily="34" charset="0"/>
                  </a:rPr>
                  <a:t> </a:t>
                </a:r>
                <a:r>
                  <a:rPr lang="el-GR" altLang="en-US" sz="2400" dirty="0">
                    <a:latin typeface="Calibri" panose="020F0502020204030204" pitchFamily="34" charset="0"/>
                    <a:ea typeface="Times New Roman" panose="02020603050405020304" pitchFamily="18" charset="0"/>
                    <a:cs typeface="Calibri" panose="020F0502020204030204" pitchFamily="34" charset="0"/>
                  </a:rPr>
                  <a:t>Έστω: </a:t>
                </a:r>
                <a:r>
                  <a:rPr lang="en-US" altLang="en-US" sz="2400" dirty="0">
                    <a:latin typeface="Calibri" panose="020F0502020204030204" pitchFamily="34" charset="0"/>
                    <a:ea typeface="Times New Roman" panose="02020603050405020304" pitchFamily="18" charset="0"/>
                    <a:cs typeface="Calibri" panose="020F0502020204030204" pitchFamily="34" charset="0"/>
                  </a:rPr>
                  <a:t>R=10000bits/sec,  W=3000Hz</a:t>
                </a:r>
              </a:p>
              <a:p>
                <a:pPr algn="just">
                  <a:lnSpc>
                    <a:spcPct val="90000"/>
                  </a:lnSpc>
                </a:pPr>
                <a:endParaRPr lang="en-US" altLang="en-US" sz="2400" dirty="0">
                  <a:latin typeface="Calibri" panose="020F0502020204030204" pitchFamily="34" charset="0"/>
                  <a:ea typeface="Times New Roman" panose="02020603050405020304" pitchFamily="18" charset="0"/>
                  <a:cs typeface="Calibri" panose="020F0502020204030204" pitchFamily="34" charset="0"/>
                </a:endParaRPr>
              </a:p>
              <a:p>
                <a:pPr algn="just">
                  <a:lnSpc>
                    <a:spcPct val="90000"/>
                  </a:lnSpc>
                </a:pPr>
                <a:r>
                  <a:rPr lang="el-GR" altLang="en-US" sz="2400" dirty="0">
                    <a:latin typeface="Calibri" panose="020F0502020204030204" pitchFamily="34" charset="0"/>
                    <a:ea typeface="Times New Roman" panose="02020603050405020304" pitchFamily="18" charset="0"/>
                    <a:cs typeface="Calibri" panose="020F0502020204030204" pitchFamily="34" charset="0"/>
                  </a:rPr>
                  <a:t>Χρειαζόμαστε κανάλι με </a:t>
                </a:r>
                <a:r>
                  <a:rPr lang="en-US" altLang="en-US" sz="2400" dirty="0">
                    <a:latin typeface="Calibri" panose="020F0502020204030204" pitchFamily="34" charset="0"/>
                    <a:ea typeface="Times New Roman" panose="02020603050405020304" pitchFamily="18" charset="0"/>
                    <a:cs typeface="Calibri" panose="020F0502020204030204" pitchFamily="34" charset="0"/>
                  </a:rPr>
                  <a:t>C &gt;= R .   </a:t>
                </a:r>
              </a:p>
              <a:p>
                <a:pPr algn="just">
                  <a:lnSpc>
                    <a:spcPct val="90000"/>
                  </a:lnSpc>
                </a:pPr>
                <a:endParaRPr lang="en-US" altLang="en-US" sz="2400" dirty="0">
                  <a:latin typeface="Calibri" panose="020F0502020204030204" pitchFamily="34" charset="0"/>
                  <a:ea typeface="Times New Roman" panose="02020603050405020304" pitchFamily="18" charset="0"/>
                  <a:cs typeface="Calibri" panose="020F0502020204030204" pitchFamily="34" charset="0"/>
                </a:endParaRPr>
              </a:p>
              <a:p>
                <a:pPr algn="just">
                  <a:lnSpc>
                    <a:spcPct val="90000"/>
                  </a:lnSpc>
                </a:pPr>
                <a:r>
                  <a:rPr lang="el-GR" altLang="en-US" sz="2400" dirty="0">
                    <a:latin typeface="Calibri" panose="020F0502020204030204" pitchFamily="34" charset="0"/>
                    <a:ea typeface="Times New Roman" panose="02020603050405020304" pitchFamily="18" charset="0"/>
                    <a:cs typeface="Calibri" panose="020F0502020204030204" pitchFamily="34" charset="0"/>
                  </a:rPr>
                  <a:t>Θεώρημα </a:t>
                </a:r>
                <a:r>
                  <a:rPr lang="en-US" altLang="en-US" sz="2400" dirty="0">
                    <a:latin typeface="Calibri" panose="020F0502020204030204" pitchFamily="34" charset="0"/>
                    <a:ea typeface="Times New Roman" panose="02020603050405020304" pitchFamily="18" charset="0"/>
                    <a:cs typeface="Calibri" panose="020F0502020204030204" pitchFamily="34" charset="0"/>
                  </a:rPr>
                  <a:t>S-</a:t>
                </a:r>
                <a:r>
                  <a:rPr lang="el-GR" altLang="en-US" sz="2400" dirty="0">
                    <a:latin typeface="Calibri" panose="020F0502020204030204" pitchFamily="34" charset="0"/>
                    <a:ea typeface="Times New Roman" panose="02020603050405020304" pitchFamily="18" charset="0"/>
                    <a:cs typeface="Calibri" panose="020F0502020204030204" pitchFamily="34" charset="0"/>
                  </a:rPr>
                  <a:t>Η:  </a:t>
                </a:r>
                <a14:m>
                  <m:oMath xmlns:m="http://schemas.openxmlformats.org/officeDocument/2006/math">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𝐶</m:t>
                    </m:r>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m:t>
                    </m:r>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𝑊𝑙𝑜</m:t>
                    </m:r>
                    <m:sSub>
                      <m:sSubPr>
                        <m:ctrlP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ctrlPr>
                      </m:sSubPr>
                      <m:e>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𝑔</m:t>
                        </m:r>
                      </m:e>
                      <m:sub>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2</m:t>
                        </m:r>
                      </m:sub>
                    </m:sSub>
                    <m:d>
                      <m:dPr>
                        <m:ctrlP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ctrlPr>
                      </m:dPr>
                      <m:e>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1+</m:t>
                        </m:r>
                        <m:f>
                          <m:fPr>
                            <m:ctrlP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ctrlPr>
                          </m:fPr>
                          <m:num>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𝑆</m:t>
                            </m:r>
                          </m:num>
                          <m:den>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𝑁</m:t>
                            </m:r>
                          </m:den>
                        </m:f>
                      </m:e>
                    </m:d>
                  </m:oMath>
                </a14:m>
                <a:endParaRPr lang="en-US" altLang="en-US" sz="2400" dirty="0">
                  <a:latin typeface="Calibri" panose="020F0502020204030204" pitchFamily="34" charset="0"/>
                  <a:ea typeface="Times New Roman" panose="02020603050405020304" pitchFamily="18" charset="0"/>
                  <a:cs typeface="Calibri" panose="020F0502020204030204" pitchFamily="34" charset="0"/>
                </a:endParaRPr>
              </a:p>
              <a:p>
                <a:pPr algn="just">
                  <a:lnSpc>
                    <a:spcPct val="90000"/>
                  </a:lnSpc>
                </a:pPr>
                <a:r>
                  <a:rPr lang="el-GR" altLang="en-US" sz="2400" dirty="0">
                    <a:latin typeface="Calibri" panose="020F0502020204030204" pitchFamily="34" charset="0"/>
                    <a:ea typeface="Times New Roman" panose="02020603050405020304" pitchFamily="18" charset="0"/>
                    <a:cs typeface="Calibri" panose="020F0502020204030204" pitchFamily="34" charset="0"/>
                  </a:rPr>
                  <a:t>Θέτοντας </a:t>
                </a:r>
                <a14:m>
                  <m:oMath xmlns:m="http://schemas.openxmlformats.org/officeDocument/2006/math">
                    <m:r>
                      <a:rPr lang="en-US" altLang="en-US" sz="2400" i="1" dirty="0" smtClean="0">
                        <a:latin typeface="Cambria Math" panose="02040503050406030204" pitchFamily="18" charset="0"/>
                        <a:ea typeface="Times New Roman" panose="02020603050405020304" pitchFamily="18" charset="0"/>
                        <a:cs typeface="Calibri" panose="020F0502020204030204" pitchFamily="34" charset="0"/>
                      </a:rPr>
                      <m:t>𝐶</m:t>
                    </m:r>
                    <m:r>
                      <a:rPr lang="en-US" altLang="en-US" sz="2400" i="1" dirty="0" smtClean="0">
                        <a:latin typeface="Cambria Math" panose="02040503050406030204" pitchFamily="18" charset="0"/>
                        <a:ea typeface="Times New Roman" panose="02020603050405020304" pitchFamily="18" charset="0"/>
                        <a:cs typeface="Calibri" panose="020F0502020204030204" pitchFamily="34" charset="0"/>
                      </a:rPr>
                      <m:t>=</m:t>
                    </m:r>
                    <m:r>
                      <a:rPr lang="en-US" altLang="en-US" sz="2400" i="1" dirty="0" smtClean="0">
                        <a:latin typeface="Cambria Math" panose="02040503050406030204" pitchFamily="18" charset="0"/>
                        <a:ea typeface="Times New Roman" panose="02020603050405020304" pitchFamily="18" charset="0"/>
                        <a:cs typeface="Calibri" panose="020F0502020204030204" pitchFamily="34" charset="0"/>
                      </a:rPr>
                      <m:t>𝑅</m:t>
                    </m:r>
                    <m:r>
                      <a:rPr lang="en-US" altLang="en-US" sz="2400" i="1" dirty="0" smtClean="0">
                        <a:latin typeface="Cambria Math" panose="02040503050406030204" pitchFamily="18" charset="0"/>
                        <a:ea typeface="Times New Roman" panose="02020603050405020304" pitchFamily="18" charset="0"/>
                        <a:cs typeface="Calibri" panose="020F0502020204030204" pitchFamily="34" charset="0"/>
                      </a:rPr>
                      <m:t> </m:t>
                    </m:r>
                  </m:oMath>
                </a14:m>
                <a:r>
                  <a:rPr lang="el-GR" altLang="en-US" sz="2400" dirty="0">
                    <a:latin typeface="Calibri" panose="020F0502020204030204" pitchFamily="34" charset="0"/>
                    <a:ea typeface="Times New Roman" panose="02020603050405020304" pitchFamily="18" charset="0"/>
                    <a:cs typeface="Calibri" panose="020F0502020204030204" pitchFamily="34" charset="0"/>
                  </a:rPr>
                  <a:t>μπορούμε να βρούμε από </a:t>
                </a:r>
                <a:r>
                  <a:rPr lang="en-US" altLang="en-US" sz="2400" dirty="0">
                    <a:latin typeface="Calibri" panose="020F0502020204030204" pitchFamily="34" charset="0"/>
                    <a:ea typeface="Times New Roman" panose="02020603050405020304" pitchFamily="18" charset="0"/>
                    <a:cs typeface="Calibri" panose="020F0502020204030204" pitchFamily="34" charset="0"/>
                  </a:rPr>
                  <a:t>S-H </a:t>
                </a:r>
                <a:r>
                  <a:rPr lang="el-GR" altLang="en-US" sz="2400" dirty="0">
                    <a:latin typeface="Calibri" panose="020F0502020204030204" pitchFamily="34" charset="0"/>
                    <a:ea typeface="Times New Roman" panose="02020603050405020304" pitchFamily="18" charset="0"/>
                    <a:cs typeface="Calibri" panose="020F0502020204030204" pitchFamily="34" charset="0"/>
                  </a:rPr>
                  <a:t>τον απαιτούμενο λόγο </a:t>
                </a:r>
                <a14:m>
                  <m:oMath xmlns:m="http://schemas.openxmlformats.org/officeDocument/2006/math">
                    <m:f>
                      <m:fPr>
                        <m:ctrlP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ctrlPr>
                      </m:fPr>
                      <m:num>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𝑆</m:t>
                        </m:r>
                      </m:num>
                      <m:den>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𝑁</m:t>
                        </m:r>
                      </m:den>
                    </m:f>
                  </m:oMath>
                </a14:m>
                <a:endParaRPr lang="en-US" altLang="en-US" sz="2400" dirty="0">
                  <a:latin typeface="Calibri" panose="020F0502020204030204" pitchFamily="34" charset="0"/>
                  <a:ea typeface="Times New Roman" panose="02020603050405020304" pitchFamily="18" charset="0"/>
                  <a:cs typeface="Calibri" panose="020F0502020204030204" pitchFamily="34" charset="0"/>
                </a:endParaRPr>
              </a:p>
              <a:p>
                <a:pPr algn="just">
                  <a:lnSpc>
                    <a:spcPct val="90000"/>
                  </a:lnSpc>
                </a:pPr>
                <a:endParaRPr lang="en-US" altLang="en-US" sz="2400" dirty="0">
                  <a:latin typeface="Calibri" panose="020F0502020204030204" pitchFamily="34" charset="0"/>
                  <a:ea typeface="Times New Roman" panose="02020603050405020304" pitchFamily="18" charset="0"/>
                  <a:cs typeface="Calibri" panose="020F0502020204030204" pitchFamily="34" charset="0"/>
                </a:endParaRPr>
              </a:p>
              <a:p>
                <a:pPr algn="just">
                  <a:lnSpc>
                    <a:spcPct val="90000"/>
                  </a:lnSpc>
                </a:pPr>
                <a14:m>
                  <m:oMathPara xmlns:m="http://schemas.openxmlformats.org/officeDocument/2006/math">
                    <m:oMathParaPr>
                      <m:jc m:val="centerGroup"/>
                    </m:oMathParaPr>
                    <m:oMath xmlns:m="http://schemas.openxmlformats.org/officeDocument/2006/math">
                      <m:f>
                        <m:fPr>
                          <m:ctrlP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ctrlPr>
                        </m:fPr>
                        <m:num>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𝑆</m:t>
                          </m:r>
                        </m:num>
                        <m:den>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𝑁</m:t>
                          </m:r>
                        </m:den>
                      </m:f>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m:t>
                      </m:r>
                      <m:sSup>
                        <m:sSupPr>
                          <m:ctrlP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ctrlPr>
                        </m:sSupPr>
                        <m:e>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2</m:t>
                          </m:r>
                        </m:e>
                        <m:sup>
                          <m:f>
                            <m:fPr>
                              <m:ctrlP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ctrlPr>
                            </m:fPr>
                            <m:num>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𝐶</m:t>
                              </m:r>
                            </m:num>
                            <m:den>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𝑊</m:t>
                              </m:r>
                            </m:den>
                          </m:f>
                        </m:sup>
                      </m:sSup>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−1=</m:t>
                      </m:r>
                      <m:sSup>
                        <m:sSupPr>
                          <m:ctrlP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ctrlPr>
                        </m:sSupPr>
                        <m:e>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2</m:t>
                          </m:r>
                        </m:e>
                        <m:sup>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3.333</m:t>
                          </m:r>
                        </m:sup>
                      </m:sSup>
                      <m:r>
                        <a:rPr lang="en-US" altLang="en-US" sz="2400" b="0" i="1" smtClean="0">
                          <a:latin typeface="Cambria Math" panose="02040503050406030204" pitchFamily="18" charset="0"/>
                          <a:ea typeface="Times New Roman" panose="02020603050405020304" pitchFamily="18" charset="0"/>
                          <a:cs typeface="Calibri" panose="020F0502020204030204" pitchFamily="34" charset="0"/>
                        </a:rPr>
                        <m:t>−1~9</m:t>
                      </m:r>
                    </m:oMath>
                  </m:oMathPara>
                </a14:m>
                <a:endParaRPr lang="en-US" altLang="en-US" sz="2400" dirty="0">
                  <a:latin typeface="Calibri" panose="020F0502020204030204" pitchFamily="34" charset="0"/>
                  <a:ea typeface="Times New Roman" panose="02020603050405020304" pitchFamily="18" charset="0"/>
                  <a:cs typeface="Calibri" panose="020F0502020204030204" pitchFamily="34" charset="0"/>
                </a:endParaRPr>
              </a:p>
              <a:p>
                <a:pPr algn="just">
                  <a:lnSpc>
                    <a:spcPct val="90000"/>
                  </a:lnSpc>
                </a:pPr>
                <a:r>
                  <a:rPr lang="el-GR" altLang="en-US" sz="2400" dirty="0">
                    <a:latin typeface="Calibri" panose="020F0502020204030204" pitchFamily="34" charset="0"/>
                    <a:ea typeface="Times New Roman" panose="02020603050405020304" pitchFamily="18" charset="0"/>
                    <a:cs typeface="Calibri" panose="020F0502020204030204" pitchFamily="34" charset="0"/>
                  </a:rPr>
                  <a:t>Για το ίδιο πρόβλημα, εάν </a:t>
                </a:r>
                <a:r>
                  <a:rPr lang="en-US" altLang="en-US" sz="2400" dirty="0">
                    <a:latin typeface="Calibri" panose="020F0502020204030204" pitchFamily="34" charset="0"/>
                    <a:ea typeface="Times New Roman" panose="02020603050405020304" pitchFamily="18" charset="0"/>
                    <a:cs typeface="Calibri" panose="020F0502020204030204" pitchFamily="34" charset="0"/>
                  </a:rPr>
                  <a:t>W=10000Hz </a:t>
                </a:r>
                <a:r>
                  <a:rPr lang="el-GR" altLang="en-US" sz="2400" dirty="0">
                    <a:latin typeface="Calibri" panose="020F0502020204030204" pitchFamily="34" charset="0"/>
                    <a:ea typeface="Times New Roman" panose="02020603050405020304" pitchFamily="18" charset="0"/>
                    <a:cs typeface="Calibri" panose="020F0502020204030204" pitchFamily="34" charset="0"/>
                  </a:rPr>
                  <a:t>τότε </a:t>
                </a:r>
                <a14:m>
                  <m:oMath xmlns:m="http://schemas.openxmlformats.org/officeDocument/2006/math">
                    <m:f>
                      <m:fPr>
                        <m:ctrlPr>
                          <a:rPr lang="el-GR" altLang="en-US" sz="2400" i="1" dirty="0" smtClean="0">
                            <a:latin typeface="Cambria Math" panose="02040503050406030204" pitchFamily="18" charset="0"/>
                            <a:ea typeface="Times New Roman" panose="02020603050405020304" pitchFamily="18" charset="0"/>
                            <a:cs typeface="Calibri" panose="020F0502020204030204" pitchFamily="34" charset="0"/>
                          </a:rPr>
                        </m:ctrlPr>
                      </m:fPr>
                      <m:num>
                        <m:r>
                          <a:rPr lang="el-GR" altLang="en-US" sz="2400" i="1" dirty="0" smtClean="0">
                            <a:latin typeface="Cambria Math" panose="02040503050406030204" pitchFamily="18" charset="0"/>
                            <a:ea typeface="Times New Roman" panose="02020603050405020304" pitchFamily="18" charset="0"/>
                            <a:cs typeface="Calibri" panose="020F0502020204030204" pitchFamily="34" charset="0"/>
                          </a:rPr>
                          <m:t>𝑃</m:t>
                        </m:r>
                      </m:num>
                      <m:den>
                        <m:r>
                          <a:rPr lang="el-GR" altLang="en-US" sz="2400" i="1" dirty="0" smtClean="0">
                            <a:latin typeface="Cambria Math" panose="02040503050406030204" pitchFamily="18" charset="0"/>
                            <a:ea typeface="Times New Roman" panose="02020603050405020304" pitchFamily="18" charset="0"/>
                            <a:cs typeface="Calibri" panose="020F0502020204030204" pitchFamily="34" charset="0"/>
                          </a:rPr>
                          <m:t>𝑁</m:t>
                        </m:r>
                      </m:den>
                    </m:f>
                    <m:r>
                      <a:rPr lang="el-GR" altLang="en-US" sz="2400" i="1" dirty="0" smtClean="0">
                        <a:latin typeface="Cambria Math" panose="02040503050406030204" pitchFamily="18" charset="0"/>
                        <a:ea typeface="Times New Roman" panose="02020603050405020304" pitchFamily="18" charset="0"/>
                        <a:cs typeface="Calibri" panose="020F0502020204030204" pitchFamily="34" charset="0"/>
                      </a:rPr>
                      <m:t>=1</m:t>
                    </m:r>
                  </m:oMath>
                </a14:m>
                <a:endParaRPr lang="en-US" altLang="en-US" sz="2400" dirty="0">
                  <a:latin typeface="Calibri" panose="020F0502020204030204" pitchFamily="34" charset="0"/>
                  <a:ea typeface="Times New Roman" panose="02020603050405020304" pitchFamily="18" charset="0"/>
                  <a:cs typeface="Calibri" panose="020F0502020204030204" pitchFamily="34" charset="0"/>
                </a:endParaRPr>
              </a:p>
              <a:p>
                <a:pPr algn="just">
                  <a:lnSpc>
                    <a:spcPct val="90000"/>
                  </a:lnSpc>
                </a:pPr>
                <a:endParaRPr lang="en-US" altLang="en-US" sz="2400" dirty="0">
                  <a:latin typeface="Calibri" panose="020F0502020204030204" pitchFamily="34" charset="0"/>
                  <a:ea typeface="Times New Roman" panose="02020603050405020304" pitchFamily="18" charset="0"/>
                  <a:cs typeface="Calibri" panose="020F0502020204030204" pitchFamily="34" charset="0"/>
                </a:endParaRPr>
              </a:p>
              <a:p>
                <a:pPr algn="just">
                  <a:lnSpc>
                    <a:spcPct val="90000"/>
                  </a:lnSpc>
                </a:pPr>
                <a:r>
                  <a:rPr lang="el-GR" altLang="en-US" sz="2400" dirty="0">
                    <a:latin typeface="Calibri" panose="020F0502020204030204" pitchFamily="34" charset="0"/>
                    <a:ea typeface="Times New Roman" panose="02020603050405020304" pitchFamily="18" charset="0"/>
                    <a:cs typeface="Calibri" panose="020F0502020204030204" pitchFamily="34" charset="0"/>
                  </a:rPr>
                  <a:t>Ανταλλαγή (</a:t>
                </a:r>
                <a:r>
                  <a:rPr lang="el-GR" altLang="en-US" sz="2400" dirty="0" err="1">
                    <a:latin typeface="Calibri" panose="020F0502020204030204" pitchFamily="34" charset="0"/>
                    <a:ea typeface="Times New Roman" panose="02020603050405020304" pitchFamily="18" charset="0"/>
                    <a:cs typeface="Calibri" panose="020F0502020204030204" pitchFamily="34" charset="0"/>
                  </a:rPr>
                  <a:t>trade-off</a:t>
                </a:r>
                <a:r>
                  <a:rPr lang="el-GR" altLang="en-US" sz="2400" dirty="0">
                    <a:latin typeface="Calibri" panose="020F0502020204030204" pitchFamily="34" charset="0"/>
                    <a:ea typeface="Times New Roman" panose="02020603050405020304" pitchFamily="18" charset="0"/>
                    <a:cs typeface="Calibri" panose="020F0502020204030204" pitchFamily="34" charset="0"/>
                  </a:rPr>
                  <a:t>) σήματος-προς-θόρυβο (SNR) με εύρος ζώνης</a:t>
                </a:r>
              </a:p>
              <a:p>
                <a:pPr algn="just">
                  <a:lnSpc>
                    <a:spcPct val="90000"/>
                  </a:lnSpc>
                </a:pPr>
                <a:r>
                  <a:rPr lang="el-GR" altLang="en-US" sz="2400" b="1" dirty="0">
                    <a:solidFill>
                      <a:srgbClr val="990000"/>
                    </a:solidFill>
                    <a:latin typeface="Calibri" panose="020F0502020204030204" pitchFamily="34" charset="0"/>
                    <a:cs typeface="Calibri" panose="020F0502020204030204" pitchFamily="34" charset="0"/>
                  </a:rPr>
                  <a:t> </a:t>
                </a:r>
                <a:endParaRPr lang="el-GR" altLang="en-US" sz="2400" dirty="0">
                  <a:solidFill>
                    <a:srgbClr val="990000"/>
                  </a:solidFill>
                  <a:latin typeface="Calibri" panose="020F0502020204030204" pitchFamily="34" charset="0"/>
                  <a:cs typeface="Calibri" panose="020F0502020204030204" pitchFamily="34" charset="0"/>
                </a:endParaRPr>
              </a:p>
            </p:txBody>
          </p:sp>
        </mc:Choice>
        <mc:Fallback xmlns="">
          <p:sp>
            <p:nvSpPr>
              <p:cNvPr id="12290" name="Text Box 2">
                <a:extLst>
                  <a:ext uri="{FF2B5EF4-FFF2-40B4-BE49-F238E27FC236}">
                    <a16:creationId xmlns:a16="http://schemas.microsoft.com/office/drawing/2014/main" id="{337196D2-A39C-CA41-EBCD-9B2FDE35B75F}"/>
                  </a:ext>
                </a:extLst>
              </p:cNvPr>
              <p:cNvSpPr txBox="1">
                <a:spLocks noRot="1" noChangeAspect="1" noMove="1" noResize="1" noEditPoints="1" noAdjustHandles="1" noChangeArrowheads="1" noChangeShapeType="1" noTextEdit="1"/>
              </p:cNvSpPr>
              <p:nvPr/>
            </p:nvSpPr>
            <p:spPr bwMode="auto">
              <a:xfrm>
                <a:off x="0" y="1044575"/>
                <a:ext cx="8828088" cy="5146152"/>
              </a:xfrm>
              <a:prstGeom prst="rect">
                <a:avLst/>
              </a:prstGeom>
              <a:blipFill>
                <a:blip r:embed="rId3"/>
                <a:stretch>
                  <a:fillRect l="-1036" t="-1657" r="-103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l-GR">
                    <a:noFill/>
                  </a:rPr>
                  <a:t> </a:t>
                </a:r>
              </a:p>
            </p:txBody>
          </p:sp>
        </mc:Fallback>
      </mc:AlternateContent>
      <p:sp>
        <p:nvSpPr>
          <p:cNvPr id="12291" name="Text Box 3">
            <a:extLst>
              <a:ext uri="{FF2B5EF4-FFF2-40B4-BE49-F238E27FC236}">
                <a16:creationId xmlns:a16="http://schemas.microsoft.com/office/drawing/2014/main" id="{A16E56F6-0FBA-C832-D672-8EC3B99076BC}"/>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cs typeface="Times New Roman" panose="02020603050405020304" pitchFamily="18" charset="0"/>
              </a:rPr>
              <a:t>2.</a:t>
            </a:r>
            <a:r>
              <a:rPr lang="el-GR" altLang="en-US" sz="2200" b="1">
                <a:latin typeface="Times New Roman" panose="02020603050405020304" pitchFamily="18" charset="0"/>
              </a:rPr>
              <a:t>3</a:t>
            </a:r>
            <a:r>
              <a:rPr lang="el-GR" altLang="en-US" sz="2200" b="1">
                <a:latin typeface="Times New Roman" panose="02020603050405020304" pitchFamily="18" charset="0"/>
                <a:cs typeface="Times New Roman" panose="02020603050405020304" pitchFamily="18" charset="0"/>
              </a:rPr>
              <a:t>	ΧΩΡΗΤΙΚΟΤΗΤΑ ΚΑΝΑΛΙΟΥ</a:t>
            </a:r>
            <a:r>
              <a:rPr lang="en-GB" altLang="en-US" sz="2200" b="1">
                <a:latin typeface="Times New Roman" panose="02020603050405020304" pitchFamily="18" charset="0"/>
                <a:cs typeface="Times New Roman" panose="02020603050405020304" pitchFamily="18" charset="0"/>
              </a:rPr>
              <a:t> </a:t>
            </a:r>
          </a:p>
        </p:txBody>
      </p:sp>
      <p:sp>
        <p:nvSpPr>
          <p:cNvPr id="12294" name="Rectangle 6">
            <a:extLst>
              <a:ext uri="{FF2B5EF4-FFF2-40B4-BE49-F238E27FC236}">
                <a16:creationId xmlns:a16="http://schemas.microsoft.com/office/drawing/2014/main" id="{7D407A4C-4877-7664-52CB-5C57234E477C}"/>
              </a:ext>
            </a:extLst>
          </p:cNvPr>
          <p:cNvSpPr>
            <a:spLocks noChangeArrowheads="1"/>
          </p:cNvSpPr>
          <p:nvPr/>
        </p:nvSpPr>
        <p:spPr bwMode="auto">
          <a:xfrm>
            <a:off x="2057400" y="3881438"/>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Tree>
    <p:extLst>
      <p:ext uri="{BB962C8B-B14F-4D97-AF65-F5344CB8AC3E}">
        <p14:creationId xmlns:p14="http://schemas.microsoft.com/office/powerpoint/2010/main" val="333994793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0" y="1044575"/>
            <a:ext cx="8828088" cy="275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400" b="1" dirty="0">
                <a:solidFill>
                  <a:srgbClr val="990000"/>
                </a:solidFill>
                <a:latin typeface="Calibri" panose="020F0502020204030204" pitchFamily="34" charset="0"/>
                <a:cs typeface="Calibri" panose="020F0502020204030204" pitchFamily="34" charset="0"/>
              </a:rPr>
              <a:t>Παράδειγμα:</a:t>
            </a:r>
            <a:r>
              <a:rPr lang="en-US" altLang="en-US" sz="2400" b="1" dirty="0">
                <a:solidFill>
                  <a:srgbClr val="990000"/>
                </a:solidFill>
                <a:latin typeface="Calibri" panose="020F0502020204030204" pitchFamily="34" charset="0"/>
                <a:cs typeface="Calibri" panose="020F0502020204030204" pitchFamily="34" charset="0"/>
              </a:rPr>
              <a:t> </a:t>
            </a:r>
            <a:r>
              <a:rPr lang="el-GR" altLang="en-US" sz="2400" dirty="0">
                <a:latin typeface="Calibri" panose="020F0502020204030204" pitchFamily="34" charset="0"/>
                <a:ea typeface="Times New Roman" panose="02020603050405020304" pitchFamily="18" charset="0"/>
                <a:cs typeface="Calibri" panose="020F0502020204030204" pitchFamily="34" charset="0"/>
              </a:rPr>
              <a:t>Ένα ψηφιακό κυψελωτό τηλεφωνικό σύστημα απαιτείται να λειτουργεί με φασματική απόδοση 4 bit/sec/Hz, για να χωρά ικανό αριθμό χρηστών ώστε να είναι επικερδές. </a:t>
            </a:r>
            <a:endParaRPr lang="en-US" altLang="en-US" sz="2400" dirty="0">
              <a:latin typeface="Calibri" panose="020F0502020204030204" pitchFamily="34" charset="0"/>
              <a:ea typeface="Times New Roman" panose="02020603050405020304" pitchFamily="18" charset="0"/>
              <a:cs typeface="Calibri" panose="020F0502020204030204" pitchFamily="34" charset="0"/>
            </a:endParaRPr>
          </a:p>
          <a:p>
            <a:pPr algn="just">
              <a:lnSpc>
                <a:spcPct val="90000"/>
              </a:lnSpc>
            </a:pPr>
            <a:r>
              <a:rPr lang="el-GR" altLang="en-US" sz="2400" dirty="0">
                <a:latin typeface="Calibri" panose="020F0502020204030204" pitchFamily="34" charset="0"/>
                <a:ea typeface="Times New Roman" panose="02020603050405020304" pitchFamily="18" charset="0"/>
                <a:cs typeface="Calibri" panose="020F0502020204030204" pitchFamily="34" charset="0"/>
              </a:rPr>
              <a:t>Ποια ελάχιστη τιμή του λόγου </a:t>
            </a:r>
            <a:r>
              <a:rPr lang="en-US" altLang="en-US" sz="2400" dirty="0" err="1">
                <a:latin typeface="Calibri" panose="020F0502020204030204" pitchFamily="34" charset="0"/>
                <a:ea typeface="Times New Roman" panose="02020603050405020304" pitchFamily="18" charset="0"/>
                <a:cs typeface="Calibri" panose="020F0502020204030204" pitchFamily="34" charset="0"/>
              </a:rPr>
              <a:t>E</a:t>
            </a:r>
            <a:r>
              <a:rPr lang="en-US" altLang="en-US" sz="2400" baseline="-25000" dirty="0" err="1">
                <a:latin typeface="Calibri" panose="020F0502020204030204" pitchFamily="34" charset="0"/>
                <a:ea typeface="Times New Roman" panose="02020603050405020304" pitchFamily="18" charset="0"/>
                <a:cs typeface="Calibri" panose="020F0502020204030204" pitchFamily="34" charset="0"/>
              </a:rPr>
              <a:t>b</a:t>
            </a:r>
            <a:r>
              <a:rPr lang="en-US" altLang="en-US" sz="2400" dirty="0">
                <a:latin typeface="Calibri" panose="020F0502020204030204" pitchFamily="34" charset="0"/>
                <a:ea typeface="Times New Roman" panose="02020603050405020304" pitchFamily="18" charset="0"/>
                <a:cs typeface="Calibri" panose="020F0502020204030204" pitchFamily="34" charset="0"/>
              </a:rPr>
              <a:t>/N</a:t>
            </a:r>
            <a:r>
              <a:rPr lang="en-US" altLang="en-US" sz="2400" baseline="-25000" dirty="0">
                <a:latin typeface="Calibri" panose="020F0502020204030204" pitchFamily="34" charset="0"/>
                <a:ea typeface="Times New Roman" panose="02020603050405020304" pitchFamily="18" charset="0"/>
                <a:cs typeface="Calibri" panose="020F0502020204030204" pitchFamily="34" charset="0"/>
              </a:rPr>
              <a:t>0</a:t>
            </a:r>
            <a:r>
              <a:rPr lang="en-US" altLang="en-US" sz="2400" dirty="0">
                <a:latin typeface="Calibri" panose="020F0502020204030204" pitchFamily="34" charset="0"/>
                <a:ea typeface="Times New Roman" panose="02020603050405020304" pitchFamily="18" charset="0"/>
                <a:cs typeface="Calibri" panose="020F0502020204030204" pitchFamily="34" charset="0"/>
              </a:rPr>
              <a:t> </a:t>
            </a:r>
            <a:r>
              <a:rPr lang="el-GR" altLang="en-US" sz="2400" dirty="0">
                <a:latin typeface="Calibri" panose="020F0502020204030204" pitchFamily="34" charset="0"/>
                <a:ea typeface="Times New Roman" panose="02020603050405020304" pitchFamily="18" charset="0"/>
                <a:cs typeface="Calibri" panose="020F0502020204030204" pitchFamily="34" charset="0"/>
              </a:rPr>
              <a:t>πρέπει να προβλεφθεί κατά τη σχεδίαση, ώστε να διασφαλισθεί ότι οι χρήστες στις παρυφές της περιοχής κάλυψης θα έχουν επικοινωνία απαλλαγμένη από σφάλματα;</a:t>
            </a:r>
            <a:endParaRPr lang="el-GR" altLang="en-US" sz="2400" dirty="0">
              <a:latin typeface="Calibri" panose="020F0502020204030204" pitchFamily="34" charset="0"/>
              <a:cs typeface="Calibri" panose="020F0502020204030204" pitchFamily="34" charset="0"/>
            </a:endParaRPr>
          </a:p>
          <a:p>
            <a:pPr algn="just">
              <a:lnSpc>
                <a:spcPct val="90000"/>
              </a:lnSpc>
            </a:pPr>
            <a:r>
              <a:rPr lang="el-GR" altLang="en-US" sz="2400" b="1" dirty="0">
                <a:solidFill>
                  <a:srgbClr val="990000"/>
                </a:solidFill>
                <a:latin typeface="Calibri" panose="020F0502020204030204" pitchFamily="34" charset="0"/>
                <a:cs typeface="Calibri" panose="020F0502020204030204" pitchFamily="34" charset="0"/>
              </a:rPr>
              <a:t> </a:t>
            </a:r>
            <a:endParaRPr lang="el-GR" altLang="en-US" sz="2400" dirty="0">
              <a:solidFill>
                <a:srgbClr val="990000"/>
              </a:solidFill>
              <a:latin typeface="Calibri" panose="020F0502020204030204" pitchFamily="34" charset="0"/>
              <a:cs typeface="Calibri" panose="020F0502020204030204" pitchFamily="34" charset="0"/>
            </a:endParaRPr>
          </a:p>
        </p:txBody>
      </p:sp>
      <p:sp>
        <p:nvSpPr>
          <p:cNvPr id="12291"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cs typeface="Times New Roman" panose="02020603050405020304" pitchFamily="18" charset="0"/>
              </a:rPr>
              <a:t>2.</a:t>
            </a:r>
            <a:r>
              <a:rPr lang="el-GR" altLang="en-US" sz="2200" b="1">
                <a:latin typeface="Times New Roman" panose="02020603050405020304" pitchFamily="18" charset="0"/>
              </a:rPr>
              <a:t>3</a:t>
            </a:r>
            <a:r>
              <a:rPr lang="el-GR" altLang="en-US" sz="2200" b="1">
                <a:latin typeface="Times New Roman" panose="02020603050405020304" pitchFamily="18" charset="0"/>
                <a:cs typeface="Times New Roman" panose="02020603050405020304" pitchFamily="18" charset="0"/>
              </a:rPr>
              <a:t>	ΧΩΡΗΤΙΚΟΤΗΤΑ ΚΑΝΑΛΙΟΥ</a:t>
            </a:r>
            <a:r>
              <a:rPr lang="en-GB" altLang="en-US" sz="2200" b="1">
                <a:latin typeface="Times New Roman" panose="02020603050405020304" pitchFamily="18" charset="0"/>
                <a:cs typeface="Times New Roman" panose="02020603050405020304" pitchFamily="18" charset="0"/>
              </a:rPr>
              <a:t> </a:t>
            </a:r>
          </a:p>
        </p:txBody>
      </p:sp>
      <p:sp>
        <p:nvSpPr>
          <p:cNvPr id="12294" name="Rectangle 6"/>
          <p:cNvSpPr>
            <a:spLocks noChangeArrowheads="1"/>
          </p:cNvSpPr>
          <p:nvPr/>
        </p:nvSpPr>
        <p:spPr bwMode="auto">
          <a:xfrm>
            <a:off x="2057400" y="3881438"/>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txBox="1"/>
          <p:nvPr/>
        </p:nvSpPr>
        <p:spPr bwMode="auto">
          <a:xfrm>
            <a:off x="457751" y="4876800"/>
            <a:ext cx="1641475" cy="368300"/>
          </a:xfrm>
          <a:prstGeom prst="rect">
            <a:avLst/>
          </a:prstGeom>
          <a:noFill/>
        </p:spPr>
        <p:txBody>
          <a:bodyPr>
            <a:normAutofit/>
          </a:bodyPr>
          <a:lstStyle/>
          <a:p>
            <a:endParaRPr lang="el-GR" dirty="0"/>
          </a:p>
        </p:txBody>
      </p:sp>
      <p:sp>
        <p:nvSpPr>
          <p:cNvPr id="5" name="Rectangle 3"/>
          <p:cNvSpPr>
            <a:spLocks noChangeArrowheads="1"/>
          </p:cNvSpPr>
          <p:nvPr/>
        </p:nvSpPr>
        <p:spPr bwMode="auto">
          <a:xfrm>
            <a:off x="0" y="1124693"/>
            <a:ext cx="8953500" cy="13849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l-GR" altLang="en-US" sz="1200" b="1" dirty="0">
                <a:solidFill>
                  <a:srgbClr val="990000"/>
                </a:solidFill>
                <a:latin typeface="Times New Roman" panose="02020603050405020304" pitchFamily="18" charset="0"/>
              </a:rPr>
              <a:t>Παράδειγμα 1:</a:t>
            </a: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Ένα modem θεωρείται ότι λειτουργεί με απόδοση εύρους ζώνης 5 bit/sec/Hz όταν χρησιμοποιεί 1024 καταστάσεις συμβόλων στο διάγραμμα αστερισμού.</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(α)</a:t>
            </a:r>
            <a:r>
              <a:rPr kumimoji="0" lang="el-GR" altLang="en-US" sz="1200" b="1" i="0" u="none" strike="noStrike" cap="none" normalizeH="0" dirty="0">
                <a:ln>
                  <a:noFill/>
                </a:ln>
                <a:solidFill>
                  <a:srgbClr val="000000"/>
                </a:solidFill>
                <a:effectLst/>
                <a:latin typeface="Arial" panose="020B0604020202020204" pitchFamily="34" charset="0"/>
                <a:ea typeface="Times New Roman" panose="02020603050405020304" pitchFamily="18" charset="0"/>
              </a:rPr>
              <a:t> </a:t>
            </a: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Πόσα bit κωδικοποιούνται σε κάθε σύμβολο και ποια είναι η χωρητικότητα του modem εάν ο ρυθμός μεταφοράς συμβόλων είναι 4000 baud (= 4000 σύμβολα / sec);</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(β) </a:t>
            </a:r>
            <a:r>
              <a:rPr kumimoji="0" lang="el-GR"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Πόσες καταστάσεις συμβόλων πρέπει να χρησιμοποιηθούν εάν ο χρήστης επιθυμεί να στείλει την πληροφορία του στο μισό χρόνο;</a:t>
            </a:r>
            <a:endParaRPr kumimoji="0" lang="en-US" altLang="en-US" sz="700" b="0" i="0" u="none" strike="noStrike" cap="none" normalizeH="0" baseline="0" dirty="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133814" y="3340720"/>
            <a:ext cx="174712"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7"/>
          <p:cNvSpPr>
            <a:spLocks noChangeArrowheads="1"/>
          </p:cNvSpPr>
          <p:nvPr/>
        </p:nvSpPr>
        <p:spPr bwMode="auto">
          <a:xfrm>
            <a:off x="796498" y="3877564"/>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69874423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ChangeArrowheads="1"/>
          </p:cNvSpPr>
          <p:nvPr/>
        </p:nvSpPr>
        <p:spPr bwMode="auto">
          <a:xfrm>
            <a:off x="133814" y="3340720"/>
            <a:ext cx="174712"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7"/>
          <p:cNvSpPr>
            <a:spLocks noChangeArrowheads="1"/>
          </p:cNvSpPr>
          <p:nvPr/>
        </p:nvSpPr>
        <p:spPr bwMode="auto">
          <a:xfrm>
            <a:off x="796498" y="3877564"/>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TextBox 1"/>
          <p:cNvSpPr txBox="1"/>
          <p:nvPr/>
        </p:nvSpPr>
        <p:spPr>
          <a:xfrm>
            <a:off x="0" y="1087208"/>
            <a:ext cx="8953501" cy="2246769"/>
          </a:xfrm>
          <a:prstGeom prst="rect">
            <a:avLst/>
          </a:prstGeom>
          <a:noFill/>
        </p:spPr>
        <p:txBody>
          <a:bodyPr wrap="square" rtlCol="0">
            <a:spAutoFit/>
          </a:bodyPr>
          <a:lstStyle/>
          <a:p>
            <a:pPr algn="just"/>
            <a:r>
              <a:rPr lang="el-GR" sz="2000" b="1" dirty="0"/>
              <a:t>Παράδειγμα 2: </a:t>
            </a:r>
          </a:p>
          <a:p>
            <a:pPr algn="just"/>
            <a:r>
              <a:rPr lang="el-GR" sz="2000" dirty="0"/>
              <a:t>Μια τηλεφωνική επικοινωνιακή ζεύξη διαθέτει χρήσιμο εύρος ζώνης καναλιού από 0 έως 3.1 kHz, το οποίο μπορεί να θεωρηθεί ότι είναι εντελώς επίπεδο και απαλλαγμένο από παραμόρφωση. Απαιτείται να στέλνει πληροφορία με ρυθμό 28.8 kbps σε αυτό το κανάλι. Ποιος είναι ο ελάχιστος αριθμός καταστάσεων συμβόλων που απαιτούνται ώστε να υποστηριχθεί αυτός ο ρυθμός μετάδοσης δεδομένων;</a:t>
            </a:r>
            <a:endParaRPr lang="en-US" sz="2000" dirty="0"/>
          </a:p>
        </p:txBody>
      </p:sp>
      <p:sp>
        <p:nvSpPr>
          <p:cNvPr id="10" name="Rectangle 2"/>
          <p:cNvSpPr>
            <a:spLocks noChangeArrowheads="1"/>
          </p:cNvSpPr>
          <p:nvPr/>
        </p:nvSpPr>
        <p:spPr bwMode="auto">
          <a:xfrm>
            <a:off x="308525" y="3641545"/>
            <a:ext cx="1049735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6" name="Rectangle 5"/>
          <p:cNvSpPr>
            <a:spLocks noChangeArrowheads="1"/>
          </p:cNvSpPr>
          <p:nvPr/>
        </p:nvSpPr>
        <p:spPr bwMode="auto">
          <a:xfrm>
            <a:off x="343023" y="4427000"/>
            <a:ext cx="1107686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8" name="Rectangle 7"/>
          <p:cNvSpPr>
            <a:spLocks noChangeArrowheads="1"/>
          </p:cNvSpPr>
          <p:nvPr/>
        </p:nvSpPr>
        <p:spPr bwMode="auto">
          <a:xfrm>
            <a:off x="4680857" y="3565961"/>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9" name="Object 18"/>
          <p:cNvSpPr txBox="1"/>
          <p:nvPr/>
        </p:nvSpPr>
        <p:spPr bwMode="auto">
          <a:xfrm>
            <a:off x="261938" y="5165725"/>
            <a:ext cx="3384550" cy="644525"/>
          </a:xfrm>
          <a:prstGeom prst="rect">
            <a:avLst/>
          </a:prstGeom>
          <a:noFill/>
        </p:spPr>
        <p:txBody>
          <a:bodyPr>
            <a:normAutofit/>
          </a:bodyPr>
          <a:lstStyle/>
          <a:p>
            <a:endParaRPr lang="el-GR" dirty="0"/>
          </a:p>
        </p:txBody>
      </p:sp>
    </p:spTree>
    <p:extLst>
      <p:ext uri="{BB962C8B-B14F-4D97-AF65-F5344CB8AC3E}">
        <p14:creationId xmlns:p14="http://schemas.microsoft.com/office/powerpoint/2010/main" val="387628182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ChangeArrowheads="1"/>
          </p:cNvSpPr>
          <p:nvPr/>
        </p:nvSpPr>
        <p:spPr bwMode="auto">
          <a:xfrm>
            <a:off x="133814" y="3340720"/>
            <a:ext cx="174712"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p:cNvSpPr txBox="1"/>
          <p:nvPr/>
        </p:nvSpPr>
        <p:spPr>
          <a:xfrm>
            <a:off x="0" y="1001488"/>
            <a:ext cx="8953501" cy="1323439"/>
          </a:xfrm>
          <a:prstGeom prst="rect">
            <a:avLst/>
          </a:prstGeom>
          <a:noFill/>
        </p:spPr>
        <p:txBody>
          <a:bodyPr wrap="square" rtlCol="0">
            <a:spAutoFit/>
          </a:bodyPr>
          <a:lstStyle/>
          <a:p>
            <a:pPr algn="just"/>
            <a:r>
              <a:rPr lang="el-GR" sz="2000" b="1" dirty="0"/>
              <a:t>Παράδειγμα </a:t>
            </a:r>
            <a:r>
              <a:rPr lang="en-US" sz="2000" b="1" dirty="0"/>
              <a:t>3</a:t>
            </a:r>
            <a:r>
              <a:rPr lang="el-GR" sz="2000" b="1" dirty="0"/>
              <a:t>: </a:t>
            </a:r>
          </a:p>
          <a:p>
            <a:pPr algn="just"/>
            <a:r>
              <a:rPr lang="el-GR" sz="2000" dirty="0"/>
              <a:t>Εάν ένα modem 64 καταστάσεων συμβόλων σχεδιάζεται για να μεταφέρει δεδομένα με ρυθμό 2.0480 Mbps, ποιο πρέπει να είναι το ελάχιστο εύρος ζώνης του καλωδίου σύνδεσης, εφόσον η μετάδοση γίνεται σε βασική ζώνη</a:t>
            </a:r>
            <a:r>
              <a:rPr lang="en-US" sz="2000" dirty="0"/>
              <a:t>;</a:t>
            </a:r>
          </a:p>
        </p:txBody>
      </p:sp>
    </p:spTree>
    <p:extLst>
      <p:ext uri="{BB962C8B-B14F-4D97-AF65-F5344CB8AC3E}">
        <p14:creationId xmlns:p14="http://schemas.microsoft.com/office/powerpoint/2010/main" val="220606112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ChangeArrowheads="1"/>
          </p:cNvSpPr>
          <p:nvPr/>
        </p:nvSpPr>
        <p:spPr bwMode="auto">
          <a:xfrm>
            <a:off x="133814" y="3340720"/>
            <a:ext cx="174712"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p:cNvSpPr txBox="1"/>
          <p:nvPr/>
        </p:nvSpPr>
        <p:spPr>
          <a:xfrm>
            <a:off x="0" y="1001488"/>
            <a:ext cx="8953501" cy="3170099"/>
          </a:xfrm>
          <a:prstGeom prst="rect">
            <a:avLst/>
          </a:prstGeom>
          <a:noFill/>
        </p:spPr>
        <p:txBody>
          <a:bodyPr wrap="square" rtlCol="0">
            <a:spAutoFit/>
          </a:bodyPr>
          <a:lstStyle/>
          <a:p>
            <a:pPr algn="just"/>
            <a:r>
              <a:rPr lang="el-GR" sz="2000" b="1" dirty="0"/>
              <a:t>Παράδειγμα </a:t>
            </a:r>
            <a:r>
              <a:rPr lang="en-US" sz="2000" b="1" dirty="0"/>
              <a:t>4</a:t>
            </a:r>
            <a:r>
              <a:rPr lang="el-GR" sz="2000" b="1" dirty="0"/>
              <a:t>: </a:t>
            </a:r>
          </a:p>
          <a:p>
            <a:pPr algn="just"/>
            <a:r>
              <a:rPr lang="el-GR" sz="2000" dirty="0"/>
              <a:t>Οι προδιαγραφές μιας τηλεφωνικής ζεύξης Κατηγορίας 1 εγγυώνται επίπεδο εύρος ζώνης μεταξύ 300 και 3400 Hz και ελάχιστο λόγο σήματος προς θόρυβο 40 dB. Οι προδιαγραφές της αντίστοιχης Κατηγορίας 2 εγγυώνται επίπεδο εύρος ζώνης μεταξύ 600 και 2800 Hz και ελάχιστο λόγο σήματος προς θόρυβο 30 dB. Μια εταιρεία πρέπει να αποστείλει δεδομένα μέσω τηλεφωνικής σύνδεσης με ρυθμό πληροφορίας 20 kbps χωρίς σφάλματα. Ποια υπηρεσία θα προτείνατε στην εταιρεία να επιλέξει: την πιο ακριβή Κατηγορία 1 ή την οικονομικότερη Κατηγορία 2; Δικαιολογήστε την απάντησή σας.</a:t>
            </a:r>
            <a:endParaRPr lang="en-US" sz="2000" dirty="0"/>
          </a:p>
        </p:txBody>
      </p:sp>
      <p:sp>
        <p:nvSpPr>
          <p:cNvPr id="5" name="Object 4"/>
          <p:cNvSpPr txBox="1"/>
          <p:nvPr/>
        </p:nvSpPr>
        <p:spPr bwMode="auto">
          <a:xfrm>
            <a:off x="308525" y="4565773"/>
            <a:ext cx="2058987" cy="720725"/>
          </a:xfrm>
          <a:prstGeom prst="rect">
            <a:avLst/>
          </a:prstGeom>
          <a:noFill/>
        </p:spPr>
        <p:txBody>
          <a:bodyPr>
            <a:normAutofit/>
          </a:bodyPr>
          <a:lstStyle/>
          <a:p>
            <a:endParaRPr lang="el-GR" dirty="0"/>
          </a:p>
        </p:txBody>
      </p:sp>
      <p:sp>
        <p:nvSpPr>
          <p:cNvPr id="9" name="Object 8"/>
          <p:cNvSpPr txBox="1"/>
          <p:nvPr/>
        </p:nvSpPr>
        <p:spPr bwMode="auto">
          <a:xfrm>
            <a:off x="1116013" y="5470525"/>
            <a:ext cx="4643437" cy="438150"/>
          </a:xfrm>
          <a:prstGeom prst="rect">
            <a:avLst/>
          </a:prstGeom>
          <a:noFill/>
        </p:spPr>
        <p:txBody>
          <a:bodyPr>
            <a:normAutofit/>
          </a:bodyPr>
          <a:lstStyle/>
          <a:p>
            <a:endParaRPr lang="el-GR" dirty="0"/>
          </a:p>
        </p:txBody>
      </p:sp>
      <p:sp>
        <p:nvSpPr>
          <p:cNvPr id="15" name="Object 14"/>
          <p:cNvSpPr txBox="1"/>
          <p:nvPr/>
        </p:nvSpPr>
        <p:spPr bwMode="auto">
          <a:xfrm>
            <a:off x="1116013" y="6188075"/>
            <a:ext cx="4195762" cy="407988"/>
          </a:xfrm>
          <a:prstGeom prst="rect">
            <a:avLst/>
          </a:prstGeom>
          <a:noFill/>
        </p:spPr>
        <p:txBody>
          <a:bodyPr>
            <a:normAutofit/>
          </a:bodyPr>
          <a:lstStyle/>
          <a:p>
            <a:endParaRPr lang="el-GR" dirty="0"/>
          </a:p>
        </p:txBody>
      </p:sp>
    </p:spTree>
    <p:extLst>
      <p:ext uri="{BB962C8B-B14F-4D97-AF65-F5344CB8AC3E}">
        <p14:creationId xmlns:p14="http://schemas.microsoft.com/office/powerpoint/2010/main" val="8299612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315C6-2255-DEBB-7442-069542E0BB09}"/>
            </a:ext>
          </a:extLst>
        </p:cNvPr>
        <p:cNvGrpSpPr/>
        <p:nvPr/>
      </p:nvGrpSpPr>
      <p:grpSpPr>
        <a:xfrm>
          <a:off x="0" y="0"/>
          <a:ext cx="0" cy="0"/>
          <a:chOff x="0" y="0"/>
          <a:chExt cx="0" cy="0"/>
        </a:xfrm>
      </p:grpSpPr>
      <p:sp>
        <p:nvSpPr>
          <p:cNvPr id="7" name="Rectangle 5">
            <a:extLst>
              <a:ext uri="{FF2B5EF4-FFF2-40B4-BE49-F238E27FC236}">
                <a16:creationId xmlns:a16="http://schemas.microsoft.com/office/drawing/2014/main" id="{2644EE49-5A42-10E8-2C2F-93DF663DEE86}"/>
              </a:ext>
            </a:extLst>
          </p:cNvPr>
          <p:cNvSpPr>
            <a:spLocks noChangeArrowheads="1"/>
          </p:cNvSpPr>
          <p:nvPr/>
        </p:nvSpPr>
        <p:spPr bwMode="auto">
          <a:xfrm>
            <a:off x="133814" y="3340720"/>
            <a:ext cx="174712"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F44F0D72-CBF5-055F-2683-989E4EA0787D}"/>
              </a:ext>
            </a:extLst>
          </p:cNvPr>
          <p:cNvSpPr txBox="1"/>
          <p:nvPr/>
        </p:nvSpPr>
        <p:spPr>
          <a:xfrm>
            <a:off x="0" y="1001488"/>
            <a:ext cx="8953501" cy="1015663"/>
          </a:xfrm>
          <a:prstGeom prst="rect">
            <a:avLst/>
          </a:prstGeom>
          <a:noFill/>
        </p:spPr>
        <p:txBody>
          <a:bodyPr wrap="square" rtlCol="0">
            <a:spAutoFit/>
          </a:bodyPr>
          <a:lstStyle/>
          <a:p>
            <a:pPr algn="just"/>
            <a:r>
              <a:rPr lang="el-GR" sz="2000" b="1" dirty="0"/>
              <a:t>Παράδειγμα </a:t>
            </a:r>
            <a:r>
              <a:rPr lang="en-US" sz="2000" b="1" dirty="0"/>
              <a:t>5</a:t>
            </a:r>
            <a:r>
              <a:rPr lang="el-GR" sz="2000" b="1" dirty="0"/>
              <a:t>: </a:t>
            </a:r>
          </a:p>
          <a:p>
            <a:pPr algn="just"/>
            <a:r>
              <a:rPr lang="el-GR" sz="2000" dirty="0"/>
              <a:t>Εάν η χωρητικότητα ενός καναλιού είναι 2400 </a:t>
            </a:r>
            <a:r>
              <a:rPr lang="en-US" sz="2000" dirty="0"/>
              <a:t>bps</a:t>
            </a:r>
            <a:r>
              <a:rPr lang="el-GR" sz="2000" dirty="0"/>
              <a:t>, πόσος χρόνος απαιτείται για την μεταφορά 1</a:t>
            </a:r>
            <a:r>
              <a:rPr lang="en-US" sz="2000" dirty="0"/>
              <a:t>Mbyte </a:t>
            </a:r>
            <a:r>
              <a:rPr lang="el-GR" sz="2000" dirty="0"/>
              <a:t>μεταξύ δύο υπολογιστών; </a:t>
            </a:r>
            <a:endParaRPr lang="en-US" sz="2000" dirty="0"/>
          </a:p>
        </p:txBody>
      </p:sp>
      <p:sp>
        <p:nvSpPr>
          <p:cNvPr id="5" name="Object 4">
            <a:extLst>
              <a:ext uri="{FF2B5EF4-FFF2-40B4-BE49-F238E27FC236}">
                <a16:creationId xmlns:a16="http://schemas.microsoft.com/office/drawing/2014/main" id="{A1A2214B-A94D-A51B-7970-CF552DF6EF4B}"/>
              </a:ext>
            </a:extLst>
          </p:cNvPr>
          <p:cNvSpPr txBox="1"/>
          <p:nvPr/>
        </p:nvSpPr>
        <p:spPr bwMode="auto">
          <a:xfrm>
            <a:off x="308525" y="4565773"/>
            <a:ext cx="2058987" cy="720725"/>
          </a:xfrm>
          <a:prstGeom prst="rect">
            <a:avLst/>
          </a:prstGeom>
          <a:noFill/>
        </p:spPr>
        <p:txBody>
          <a:bodyPr>
            <a:normAutofit/>
          </a:bodyPr>
          <a:lstStyle/>
          <a:p>
            <a:endParaRPr lang="el-GR" dirty="0"/>
          </a:p>
        </p:txBody>
      </p:sp>
      <p:sp>
        <p:nvSpPr>
          <p:cNvPr id="9" name="Object 8">
            <a:extLst>
              <a:ext uri="{FF2B5EF4-FFF2-40B4-BE49-F238E27FC236}">
                <a16:creationId xmlns:a16="http://schemas.microsoft.com/office/drawing/2014/main" id="{764E7294-45F7-3E27-D131-5AF5E9B86E8F}"/>
              </a:ext>
            </a:extLst>
          </p:cNvPr>
          <p:cNvSpPr txBox="1"/>
          <p:nvPr/>
        </p:nvSpPr>
        <p:spPr bwMode="auto">
          <a:xfrm>
            <a:off x="1116013" y="5470525"/>
            <a:ext cx="4643437" cy="438150"/>
          </a:xfrm>
          <a:prstGeom prst="rect">
            <a:avLst/>
          </a:prstGeom>
          <a:noFill/>
        </p:spPr>
        <p:txBody>
          <a:bodyPr>
            <a:normAutofit/>
          </a:bodyPr>
          <a:lstStyle/>
          <a:p>
            <a:endParaRPr lang="el-GR" dirty="0"/>
          </a:p>
        </p:txBody>
      </p:sp>
      <p:sp>
        <p:nvSpPr>
          <p:cNvPr id="15" name="Object 14">
            <a:extLst>
              <a:ext uri="{FF2B5EF4-FFF2-40B4-BE49-F238E27FC236}">
                <a16:creationId xmlns:a16="http://schemas.microsoft.com/office/drawing/2014/main" id="{012EA706-564A-7951-9EE6-42B7D307333E}"/>
              </a:ext>
            </a:extLst>
          </p:cNvPr>
          <p:cNvSpPr txBox="1"/>
          <p:nvPr/>
        </p:nvSpPr>
        <p:spPr bwMode="auto">
          <a:xfrm>
            <a:off x="1116013" y="6188075"/>
            <a:ext cx="4195762" cy="407988"/>
          </a:xfrm>
          <a:prstGeom prst="rect">
            <a:avLst/>
          </a:prstGeom>
          <a:noFill/>
        </p:spPr>
        <p:txBody>
          <a:bodyPr>
            <a:normAutofit/>
          </a:bodyPr>
          <a:lstStyle/>
          <a:p>
            <a:endParaRPr lang="el-GR" dirty="0"/>
          </a:p>
        </p:txBody>
      </p:sp>
    </p:spTree>
    <p:extLst>
      <p:ext uri="{BB962C8B-B14F-4D97-AF65-F5344CB8AC3E}">
        <p14:creationId xmlns:p14="http://schemas.microsoft.com/office/powerpoint/2010/main" val="281552918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3131E-DF29-703C-3535-35C754077CAC}"/>
            </a:ext>
          </a:extLst>
        </p:cNvPr>
        <p:cNvGrpSpPr/>
        <p:nvPr/>
      </p:nvGrpSpPr>
      <p:grpSpPr>
        <a:xfrm>
          <a:off x="0" y="0"/>
          <a:ext cx="0" cy="0"/>
          <a:chOff x="0" y="0"/>
          <a:chExt cx="0" cy="0"/>
        </a:xfrm>
      </p:grpSpPr>
      <p:sp>
        <p:nvSpPr>
          <p:cNvPr id="7" name="Rectangle 5">
            <a:extLst>
              <a:ext uri="{FF2B5EF4-FFF2-40B4-BE49-F238E27FC236}">
                <a16:creationId xmlns:a16="http://schemas.microsoft.com/office/drawing/2014/main" id="{1C6C4FF1-7676-87C6-CA4B-E57EF5B20DF5}"/>
              </a:ext>
            </a:extLst>
          </p:cNvPr>
          <p:cNvSpPr>
            <a:spLocks noChangeArrowheads="1"/>
          </p:cNvSpPr>
          <p:nvPr/>
        </p:nvSpPr>
        <p:spPr bwMode="auto">
          <a:xfrm>
            <a:off x="133814" y="3340720"/>
            <a:ext cx="174712"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3D5005E4-A278-F5F5-C8A3-F5C760DD5732}"/>
              </a:ext>
            </a:extLst>
          </p:cNvPr>
          <p:cNvSpPr txBox="1"/>
          <p:nvPr/>
        </p:nvSpPr>
        <p:spPr>
          <a:xfrm>
            <a:off x="0" y="1001488"/>
            <a:ext cx="8953501" cy="1015663"/>
          </a:xfrm>
          <a:prstGeom prst="rect">
            <a:avLst/>
          </a:prstGeom>
          <a:noFill/>
        </p:spPr>
        <p:txBody>
          <a:bodyPr wrap="square" rtlCol="0">
            <a:spAutoFit/>
          </a:bodyPr>
          <a:lstStyle/>
          <a:p>
            <a:pPr algn="just"/>
            <a:r>
              <a:rPr lang="el-GR" sz="2000" b="1" dirty="0"/>
              <a:t>Παράδειγμα 6: </a:t>
            </a:r>
          </a:p>
          <a:p>
            <a:pPr algn="just"/>
            <a:r>
              <a:rPr lang="el-GR" sz="2000" dirty="0"/>
              <a:t>Ένα </a:t>
            </a:r>
            <a:r>
              <a:rPr lang="en-US" sz="2000" dirty="0"/>
              <a:t>modem </a:t>
            </a:r>
            <a:r>
              <a:rPr lang="el-GR" sz="2000" dirty="0"/>
              <a:t>μεταδίδει πληροφορία με ρυθμό 56</a:t>
            </a:r>
            <a:r>
              <a:rPr lang="en-US" sz="2000" dirty="0"/>
              <a:t>kbps </a:t>
            </a:r>
            <a:r>
              <a:rPr lang="el-GR" sz="2000" dirty="0"/>
              <a:t>χρησιμοποιώντας 128 καταστάσεις. Ποιος είναι ο ρυθμός συμβόλων; </a:t>
            </a:r>
            <a:endParaRPr lang="en-US" sz="2000" dirty="0"/>
          </a:p>
        </p:txBody>
      </p:sp>
      <p:sp>
        <p:nvSpPr>
          <p:cNvPr id="5" name="Object 4">
            <a:extLst>
              <a:ext uri="{FF2B5EF4-FFF2-40B4-BE49-F238E27FC236}">
                <a16:creationId xmlns:a16="http://schemas.microsoft.com/office/drawing/2014/main" id="{BBDE94C9-6A13-9806-148D-09E2D4F595BC}"/>
              </a:ext>
            </a:extLst>
          </p:cNvPr>
          <p:cNvSpPr txBox="1"/>
          <p:nvPr/>
        </p:nvSpPr>
        <p:spPr bwMode="auto">
          <a:xfrm>
            <a:off x="308525" y="4565773"/>
            <a:ext cx="2058987" cy="720725"/>
          </a:xfrm>
          <a:prstGeom prst="rect">
            <a:avLst/>
          </a:prstGeom>
          <a:noFill/>
        </p:spPr>
        <p:txBody>
          <a:bodyPr>
            <a:normAutofit/>
          </a:bodyPr>
          <a:lstStyle/>
          <a:p>
            <a:endParaRPr lang="el-GR" dirty="0"/>
          </a:p>
        </p:txBody>
      </p:sp>
      <p:sp>
        <p:nvSpPr>
          <p:cNvPr id="9" name="Object 8">
            <a:extLst>
              <a:ext uri="{FF2B5EF4-FFF2-40B4-BE49-F238E27FC236}">
                <a16:creationId xmlns:a16="http://schemas.microsoft.com/office/drawing/2014/main" id="{7AB473AB-DEEC-D1C8-0000-E4621489E4A5}"/>
              </a:ext>
            </a:extLst>
          </p:cNvPr>
          <p:cNvSpPr txBox="1"/>
          <p:nvPr/>
        </p:nvSpPr>
        <p:spPr bwMode="auto">
          <a:xfrm>
            <a:off x="1116013" y="5470525"/>
            <a:ext cx="4643437" cy="438150"/>
          </a:xfrm>
          <a:prstGeom prst="rect">
            <a:avLst/>
          </a:prstGeom>
          <a:noFill/>
        </p:spPr>
        <p:txBody>
          <a:bodyPr>
            <a:normAutofit/>
          </a:bodyPr>
          <a:lstStyle/>
          <a:p>
            <a:endParaRPr lang="el-GR" dirty="0"/>
          </a:p>
        </p:txBody>
      </p:sp>
      <p:sp>
        <p:nvSpPr>
          <p:cNvPr id="15" name="Object 14">
            <a:extLst>
              <a:ext uri="{FF2B5EF4-FFF2-40B4-BE49-F238E27FC236}">
                <a16:creationId xmlns:a16="http://schemas.microsoft.com/office/drawing/2014/main" id="{556FD544-FF51-76B6-B714-30BF674EB1D0}"/>
              </a:ext>
            </a:extLst>
          </p:cNvPr>
          <p:cNvSpPr txBox="1"/>
          <p:nvPr/>
        </p:nvSpPr>
        <p:spPr bwMode="auto">
          <a:xfrm>
            <a:off x="1116013" y="6188075"/>
            <a:ext cx="4195762" cy="407988"/>
          </a:xfrm>
          <a:prstGeom prst="rect">
            <a:avLst/>
          </a:prstGeom>
          <a:noFill/>
        </p:spPr>
        <p:txBody>
          <a:bodyPr>
            <a:normAutofit/>
          </a:bodyPr>
          <a:lstStyle/>
          <a:p>
            <a:endParaRPr lang="el-GR" dirty="0"/>
          </a:p>
        </p:txBody>
      </p:sp>
    </p:spTree>
    <p:extLst>
      <p:ext uri="{BB962C8B-B14F-4D97-AF65-F5344CB8AC3E}">
        <p14:creationId xmlns:p14="http://schemas.microsoft.com/office/powerpoint/2010/main" val="174319207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4D93E-DBF5-1B16-04C1-A56162215063}"/>
            </a:ext>
          </a:extLst>
        </p:cNvPr>
        <p:cNvGrpSpPr/>
        <p:nvPr/>
      </p:nvGrpSpPr>
      <p:grpSpPr>
        <a:xfrm>
          <a:off x="0" y="0"/>
          <a:ext cx="0" cy="0"/>
          <a:chOff x="0" y="0"/>
          <a:chExt cx="0" cy="0"/>
        </a:xfrm>
      </p:grpSpPr>
      <p:sp>
        <p:nvSpPr>
          <p:cNvPr id="7" name="Rectangle 5">
            <a:extLst>
              <a:ext uri="{FF2B5EF4-FFF2-40B4-BE49-F238E27FC236}">
                <a16:creationId xmlns:a16="http://schemas.microsoft.com/office/drawing/2014/main" id="{3F6D32AF-2489-F195-C1A0-0E06298FC93D}"/>
              </a:ext>
            </a:extLst>
          </p:cNvPr>
          <p:cNvSpPr>
            <a:spLocks noChangeArrowheads="1"/>
          </p:cNvSpPr>
          <p:nvPr/>
        </p:nvSpPr>
        <p:spPr bwMode="auto">
          <a:xfrm>
            <a:off x="133814" y="3340720"/>
            <a:ext cx="174712"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EF44BB1-D9B9-A11D-A3E0-0DFEEE0A57E1}"/>
              </a:ext>
            </a:extLst>
          </p:cNvPr>
          <p:cNvSpPr txBox="1"/>
          <p:nvPr/>
        </p:nvSpPr>
        <p:spPr>
          <a:xfrm>
            <a:off x="0" y="1001488"/>
            <a:ext cx="8953501" cy="2246769"/>
          </a:xfrm>
          <a:prstGeom prst="rect">
            <a:avLst/>
          </a:prstGeom>
          <a:noFill/>
        </p:spPr>
        <p:txBody>
          <a:bodyPr wrap="square" rtlCol="0">
            <a:spAutoFit/>
          </a:bodyPr>
          <a:lstStyle/>
          <a:p>
            <a:pPr algn="just"/>
            <a:r>
              <a:rPr lang="el-GR" sz="2000" b="1" dirty="0"/>
              <a:t>Παράδειγμα 7: </a:t>
            </a:r>
          </a:p>
          <a:p>
            <a:pPr algn="just"/>
            <a:r>
              <a:rPr lang="el-GR" sz="2000" dirty="0"/>
              <a:t>Ένα υποβρύχιο κανάλι επικοινωνίας παρουσιάζει πολύ υψηλή απώλεια σήματος σε μικρή απόσταση, με αποτέλεσμα η μέγιστη τιμή </a:t>
            </a:r>
            <a:r>
              <a:rPr lang="el-GR" sz="2000" dirty="0" err="1"/>
              <a:t>Eb</a:t>
            </a:r>
            <a:r>
              <a:rPr lang="el-GR" sz="2000" dirty="0"/>
              <a:t>/N0 που μπορεί να επιτευχθεί στην απαιτούμενη εμβέλεια να είναι μόλις -0.6 </a:t>
            </a:r>
            <a:r>
              <a:rPr lang="el-GR" sz="2000" dirty="0" err="1"/>
              <a:t>dB</a:t>
            </a:r>
            <a:r>
              <a:rPr lang="el-GR" sz="2000" dirty="0"/>
              <a:t>. Ποια είναι η μέγιστη φασματική απόδοση που θα μπορούσε να αναμένεται για αυτό το κανάλι στο όριο της εμβέλειας, και ποιος είναι ο ρυθμός μετάδοσης πληροφορίας που μπορεί να επιτευχθεί σε ένα εύρος ζώνης 3400 </a:t>
            </a:r>
            <a:r>
              <a:rPr lang="el-GR" sz="2000" dirty="0" err="1"/>
              <a:t>Hz</a:t>
            </a:r>
            <a:r>
              <a:rPr lang="el-GR" sz="2000" dirty="0"/>
              <a:t>;</a:t>
            </a:r>
            <a:endParaRPr lang="en-US" sz="2000" dirty="0"/>
          </a:p>
        </p:txBody>
      </p:sp>
      <p:sp>
        <p:nvSpPr>
          <p:cNvPr id="5" name="Object 4">
            <a:extLst>
              <a:ext uri="{FF2B5EF4-FFF2-40B4-BE49-F238E27FC236}">
                <a16:creationId xmlns:a16="http://schemas.microsoft.com/office/drawing/2014/main" id="{782A0EEB-3012-1984-7EA0-2501EDF2568F}"/>
              </a:ext>
            </a:extLst>
          </p:cNvPr>
          <p:cNvSpPr txBox="1"/>
          <p:nvPr/>
        </p:nvSpPr>
        <p:spPr bwMode="auto">
          <a:xfrm>
            <a:off x="308525" y="4565773"/>
            <a:ext cx="2058987" cy="720725"/>
          </a:xfrm>
          <a:prstGeom prst="rect">
            <a:avLst/>
          </a:prstGeom>
          <a:noFill/>
        </p:spPr>
        <p:txBody>
          <a:bodyPr>
            <a:normAutofit/>
          </a:bodyPr>
          <a:lstStyle/>
          <a:p>
            <a:endParaRPr lang="el-GR" dirty="0"/>
          </a:p>
        </p:txBody>
      </p:sp>
      <p:sp>
        <p:nvSpPr>
          <p:cNvPr id="9" name="Object 8">
            <a:extLst>
              <a:ext uri="{FF2B5EF4-FFF2-40B4-BE49-F238E27FC236}">
                <a16:creationId xmlns:a16="http://schemas.microsoft.com/office/drawing/2014/main" id="{8C8A8F4D-09F2-141A-59A5-BAC7D943CC86}"/>
              </a:ext>
            </a:extLst>
          </p:cNvPr>
          <p:cNvSpPr txBox="1"/>
          <p:nvPr/>
        </p:nvSpPr>
        <p:spPr bwMode="auto">
          <a:xfrm>
            <a:off x="1116013" y="5470525"/>
            <a:ext cx="4643437" cy="438150"/>
          </a:xfrm>
          <a:prstGeom prst="rect">
            <a:avLst/>
          </a:prstGeom>
          <a:noFill/>
        </p:spPr>
        <p:txBody>
          <a:bodyPr>
            <a:normAutofit/>
          </a:bodyPr>
          <a:lstStyle/>
          <a:p>
            <a:endParaRPr lang="el-GR" dirty="0"/>
          </a:p>
        </p:txBody>
      </p:sp>
      <p:sp>
        <p:nvSpPr>
          <p:cNvPr id="15" name="Object 14">
            <a:extLst>
              <a:ext uri="{FF2B5EF4-FFF2-40B4-BE49-F238E27FC236}">
                <a16:creationId xmlns:a16="http://schemas.microsoft.com/office/drawing/2014/main" id="{C0ECC025-E5EE-FC14-B647-9623D622067D}"/>
              </a:ext>
            </a:extLst>
          </p:cNvPr>
          <p:cNvSpPr txBox="1"/>
          <p:nvPr/>
        </p:nvSpPr>
        <p:spPr bwMode="auto">
          <a:xfrm>
            <a:off x="1116013" y="6188075"/>
            <a:ext cx="4195762" cy="407988"/>
          </a:xfrm>
          <a:prstGeom prst="rect">
            <a:avLst/>
          </a:prstGeom>
          <a:noFill/>
        </p:spPr>
        <p:txBody>
          <a:bodyPr>
            <a:normAutofit/>
          </a:bodyPr>
          <a:lstStyle/>
          <a:p>
            <a:endParaRPr lang="el-GR" dirty="0"/>
          </a:p>
        </p:txBody>
      </p:sp>
    </p:spTree>
    <p:extLst>
      <p:ext uri="{BB962C8B-B14F-4D97-AF65-F5344CB8AC3E}">
        <p14:creationId xmlns:p14="http://schemas.microsoft.com/office/powerpoint/2010/main" val="252031606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695FE-C101-B754-A9BD-4AEE592B91B9}"/>
            </a:ext>
          </a:extLst>
        </p:cNvPr>
        <p:cNvGrpSpPr/>
        <p:nvPr/>
      </p:nvGrpSpPr>
      <p:grpSpPr>
        <a:xfrm>
          <a:off x="0" y="0"/>
          <a:ext cx="0" cy="0"/>
          <a:chOff x="0" y="0"/>
          <a:chExt cx="0" cy="0"/>
        </a:xfrm>
      </p:grpSpPr>
      <p:sp>
        <p:nvSpPr>
          <p:cNvPr id="7" name="Rectangle 5">
            <a:extLst>
              <a:ext uri="{FF2B5EF4-FFF2-40B4-BE49-F238E27FC236}">
                <a16:creationId xmlns:a16="http://schemas.microsoft.com/office/drawing/2014/main" id="{E1E595AB-2D49-3792-FDC0-1A6DACC172B2}"/>
              </a:ext>
            </a:extLst>
          </p:cNvPr>
          <p:cNvSpPr>
            <a:spLocks noChangeArrowheads="1"/>
          </p:cNvSpPr>
          <p:nvPr/>
        </p:nvSpPr>
        <p:spPr bwMode="auto">
          <a:xfrm>
            <a:off x="133814" y="3340720"/>
            <a:ext cx="174712"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EA9480D4-F933-1947-CF2D-3D117B4AD25C}"/>
              </a:ext>
            </a:extLst>
          </p:cNvPr>
          <p:cNvSpPr txBox="1"/>
          <p:nvPr/>
        </p:nvSpPr>
        <p:spPr>
          <a:xfrm>
            <a:off x="0" y="1001488"/>
            <a:ext cx="8953501" cy="2862322"/>
          </a:xfrm>
          <a:prstGeom prst="rect">
            <a:avLst/>
          </a:prstGeom>
          <a:noFill/>
        </p:spPr>
        <p:txBody>
          <a:bodyPr wrap="square" rtlCol="0">
            <a:spAutoFit/>
          </a:bodyPr>
          <a:lstStyle/>
          <a:p>
            <a:pPr algn="just"/>
            <a:r>
              <a:rPr lang="el-GR" sz="2000" b="1" dirty="0"/>
              <a:t>Παράδειγμα 8: </a:t>
            </a:r>
          </a:p>
          <a:p>
            <a:pPr algn="just"/>
            <a:r>
              <a:rPr lang="el-GR" sz="2000" dirty="0"/>
              <a:t>Οι σειριακές θύρες δύο υπολογιστών που χρησιμοποιούν δυαδική σηματοδότηση συνδέονται με ένα συνεστραμμένο ζεύγος καλωδίων. Το καλώδιο έχει ομαλή απόκριση συχνότητας μέχρι 12 </a:t>
            </a:r>
            <a:r>
              <a:rPr lang="el-GR" sz="2000" dirty="0" err="1"/>
              <a:t>kHz</a:t>
            </a:r>
            <a:r>
              <a:rPr lang="el-GR" sz="2000" dirty="0"/>
              <a:t>, με αμελητέα παραμόρφωση. α) Ποιος είναι ο μέγιστος ρυθμός μεταφοράς πληροφοριών που μπορεί να υποστηρίξει το καλώδιο, υποθέτοντας ένα περιβάλλον χωρίς θόρυβο; β) Εάν ο θόρυβος που εισάγεται από το καλώδιο είναι -40 </a:t>
            </a:r>
            <a:r>
              <a:rPr lang="el-GR" sz="2000" dirty="0" err="1"/>
              <a:t>dB</a:t>
            </a:r>
            <a:r>
              <a:rPr lang="el-GR" sz="2000" dirty="0"/>
              <a:t> σε σχέση με την ισχύ του σήματος, ποιος είναι ο μέγιστος ρυθμός μεταφοράς πληροφορίας που επιτυγχάνεται;</a:t>
            </a:r>
            <a:endParaRPr lang="en-US" sz="2000" dirty="0"/>
          </a:p>
        </p:txBody>
      </p:sp>
      <p:sp>
        <p:nvSpPr>
          <p:cNvPr id="5" name="Object 4">
            <a:extLst>
              <a:ext uri="{FF2B5EF4-FFF2-40B4-BE49-F238E27FC236}">
                <a16:creationId xmlns:a16="http://schemas.microsoft.com/office/drawing/2014/main" id="{A0477C4F-6198-0CC3-50B4-2C3CD37BD8B9}"/>
              </a:ext>
            </a:extLst>
          </p:cNvPr>
          <p:cNvSpPr txBox="1"/>
          <p:nvPr/>
        </p:nvSpPr>
        <p:spPr bwMode="auto">
          <a:xfrm>
            <a:off x="308525" y="4565773"/>
            <a:ext cx="2058987" cy="720725"/>
          </a:xfrm>
          <a:prstGeom prst="rect">
            <a:avLst/>
          </a:prstGeom>
          <a:noFill/>
        </p:spPr>
        <p:txBody>
          <a:bodyPr>
            <a:normAutofit/>
          </a:bodyPr>
          <a:lstStyle/>
          <a:p>
            <a:endParaRPr lang="el-GR" dirty="0"/>
          </a:p>
        </p:txBody>
      </p:sp>
      <p:sp>
        <p:nvSpPr>
          <p:cNvPr id="9" name="Object 8">
            <a:extLst>
              <a:ext uri="{FF2B5EF4-FFF2-40B4-BE49-F238E27FC236}">
                <a16:creationId xmlns:a16="http://schemas.microsoft.com/office/drawing/2014/main" id="{61E831FC-87AF-DA9D-2A92-8611D2FCC3CA}"/>
              </a:ext>
            </a:extLst>
          </p:cNvPr>
          <p:cNvSpPr txBox="1"/>
          <p:nvPr/>
        </p:nvSpPr>
        <p:spPr bwMode="auto">
          <a:xfrm>
            <a:off x="1116013" y="5470525"/>
            <a:ext cx="4643437" cy="438150"/>
          </a:xfrm>
          <a:prstGeom prst="rect">
            <a:avLst/>
          </a:prstGeom>
          <a:noFill/>
        </p:spPr>
        <p:txBody>
          <a:bodyPr>
            <a:normAutofit/>
          </a:bodyPr>
          <a:lstStyle/>
          <a:p>
            <a:endParaRPr lang="el-GR" dirty="0"/>
          </a:p>
        </p:txBody>
      </p:sp>
      <p:sp>
        <p:nvSpPr>
          <p:cNvPr id="15" name="Object 14">
            <a:extLst>
              <a:ext uri="{FF2B5EF4-FFF2-40B4-BE49-F238E27FC236}">
                <a16:creationId xmlns:a16="http://schemas.microsoft.com/office/drawing/2014/main" id="{F793E03F-754E-E77B-8676-DBEC7E93FF79}"/>
              </a:ext>
            </a:extLst>
          </p:cNvPr>
          <p:cNvSpPr txBox="1"/>
          <p:nvPr/>
        </p:nvSpPr>
        <p:spPr bwMode="auto">
          <a:xfrm>
            <a:off x="1116013" y="6188075"/>
            <a:ext cx="4195762" cy="407988"/>
          </a:xfrm>
          <a:prstGeom prst="rect">
            <a:avLst/>
          </a:prstGeom>
          <a:noFill/>
        </p:spPr>
        <p:txBody>
          <a:bodyPr>
            <a:normAutofit/>
          </a:bodyPr>
          <a:lstStyle/>
          <a:p>
            <a:endParaRPr lang="el-GR" dirty="0"/>
          </a:p>
        </p:txBody>
      </p:sp>
    </p:spTree>
    <p:extLst>
      <p:ext uri="{BB962C8B-B14F-4D97-AF65-F5344CB8AC3E}">
        <p14:creationId xmlns:p14="http://schemas.microsoft.com/office/powerpoint/2010/main" val="3568839276"/>
      </p:ext>
    </p:extLst>
  </p:cSld>
  <p:clrMapOvr>
    <a:masterClrMapping/>
  </p:clrMapOvr>
  <p:transition/>
</p:sld>
</file>

<file path=ppt/theme/theme1.xml><?xml version="1.0" encoding="utf-8"?>
<a:theme xmlns:a="http://schemas.openxmlformats.org/drawingml/2006/main" name="ti">
  <a:themeElements>
    <a:clrScheme name="">
      <a:dk1>
        <a:srgbClr val="FFFFFF"/>
      </a:dk1>
      <a:lt1>
        <a:srgbClr val="FFFFFF"/>
      </a:lt1>
      <a:dk2>
        <a:srgbClr val="FFFF00"/>
      </a:dk2>
      <a:lt2>
        <a:srgbClr val="081D58"/>
      </a:lt2>
      <a:accent1>
        <a:srgbClr val="FF8000"/>
      </a:accent1>
      <a:accent2>
        <a:srgbClr val="00FF00"/>
      </a:accent2>
      <a:accent3>
        <a:srgbClr val="FFFFFF"/>
      </a:accent3>
      <a:accent4>
        <a:srgbClr val="DADADA"/>
      </a:accent4>
      <a:accent5>
        <a:srgbClr val="FFC0AA"/>
      </a:accent5>
      <a:accent6>
        <a:srgbClr val="00E700"/>
      </a:accent6>
      <a:hlink>
        <a:srgbClr val="FF0000"/>
      </a:hlink>
      <a:folHlink>
        <a:srgbClr val="8080FF"/>
      </a:folHlink>
    </a:clrScheme>
    <a:fontScheme name="t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6350" cap="flat" cmpd="sng" algn="ctr">
          <a:solidFill>
            <a:srgbClr val="000000"/>
          </a:solidFill>
          <a:prstDash val="solid"/>
          <a:round/>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400" b="0" i="0" u="none" strike="noStrike" cap="none" normalizeH="0" baseline="0" smtClean="0">
            <a:ln>
              <a:noFill/>
            </a:ln>
            <a:solidFill>
              <a:srgbClr val="000000"/>
            </a:solidFill>
            <a:effectLst/>
            <a:latin typeface="Helvetica" panose="020B0604020202020204" pitchFamily="34" charset="0"/>
          </a:defRPr>
        </a:defPPr>
      </a:lstStyle>
    </a:spDef>
    <a:lnDef>
      <a:spPr bwMode="auto">
        <a:xfrm>
          <a:off x="0" y="0"/>
          <a:ext cx="1" cy="1"/>
        </a:xfrm>
        <a:custGeom>
          <a:avLst/>
          <a:gdLst/>
          <a:ahLst/>
          <a:cxnLst/>
          <a:rect l="0" t="0" r="0" b="0"/>
          <a:pathLst/>
        </a:custGeom>
        <a:noFill/>
        <a:ln w="6350" cap="flat" cmpd="sng" algn="ctr">
          <a:solidFill>
            <a:srgbClr val="000000"/>
          </a:solidFill>
          <a:prstDash val="solid"/>
          <a:round/>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400" b="0" i="0" u="none" strike="noStrike" cap="none" normalizeH="0" baseline="0" smtClean="0">
            <a:ln>
              <a:noFill/>
            </a:ln>
            <a:solidFill>
              <a:srgbClr val="000000"/>
            </a:solidFill>
            <a:effectLst/>
            <a:latin typeface="Helvetica" panose="020B0604020202020204" pitchFamily="34" charset="0"/>
          </a:defRPr>
        </a:defPPr>
      </a:lstStyle>
    </a:lnDef>
  </a:objectDefaults>
  <a:extraClrSchemeLst>
    <a:extraClrScheme>
      <a:clrScheme name="ti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i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i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i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i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i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i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d:\msoffice\powerpnt\template\clrovrhd\ti.ppt</Template>
  <TotalTime>402</TotalTime>
  <Pages>14</Pages>
  <Words>1869</Words>
  <Application>Microsoft Office PowerPoint</Application>
  <PresentationFormat>Προσαρμογή</PresentationFormat>
  <Paragraphs>183</Paragraphs>
  <Slides>21</Slides>
  <Notes>10</Notes>
  <HiddenSlides>0</HiddenSlides>
  <MMClips>0</MMClips>
  <ScaleCrop>false</ScaleCrop>
  <HeadingPairs>
    <vt:vector size="8" baseType="variant">
      <vt:variant>
        <vt:lpstr>Γραμματοσειρές που χρησιμοποιούνται</vt:lpstr>
      </vt:variant>
      <vt:variant>
        <vt:i4>9</vt:i4>
      </vt:variant>
      <vt:variant>
        <vt:lpstr>Θέμα</vt:lpstr>
      </vt:variant>
      <vt:variant>
        <vt:i4>1</vt:i4>
      </vt:variant>
      <vt:variant>
        <vt:lpstr>Ενσωματωμένοι διακομιστές OLE</vt:lpstr>
      </vt:variant>
      <vt:variant>
        <vt:i4>2</vt:i4>
      </vt:variant>
      <vt:variant>
        <vt:lpstr>Τίτλοι διαφανειών</vt:lpstr>
      </vt:variant>
      <vt:variant>
        <vt:i4>21</vt:i4>
      </vt:variant>
    </vt:vector>
  </HeadingPairs>
  <TitlesOfParts>
    <vt:vector size="33" baseType="lpstr">
      <vt:lpstr>ＭＳ 明朝</vt:lpstr>
      <vt:lpstr>ＭＳ 明朝</vt:lpstr>
      <vt:lpstr>Arial</vt:lpstr>
      <vt:lpstr>Book Antiqua</vt:lpstr>
      <vt:lpstr>Calibri</vt:lpstr>
      <vt:lpstr>Cambria Math</vt:lpstr>
      <vt:lpstr>Helvetica</vt:lpstr>
      <vt:lpstr>Monotype Sorts</vt:lpstr>
      <vt:lpstr>Times New Roman</vt:lpstr>
      <vt:lpstr>ti</vt:lpstr>
      <vt:lpstr>Equation.3</vt:lpstr>
      <vt:lpstr>Equation</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DSP?</dc:title>
  <dc:subject/>
  <dc:creator>m b akhan</dc:creator>
  <cp:keywords/>
  <dc:description/>
  <cp:lastModifiedBy>Nikos Piperigkos</cp:lastModifiedBy>
  <cp:revision>263</cp:revision>
  <cp:lastPrinted>1998-03-17T19:32:38Z</cp:lastPrinted>
  <dcterms:created xsi:type="dcterms:W3CDTF">1995-10-24T16:03:36Z</dcterms:created>
  <dcterms:modified xsi:type="dcterms:W3CDTF">2024-11-14T11:31:21Z</dcterms:modified>
</cp:coreProperties>
</file>
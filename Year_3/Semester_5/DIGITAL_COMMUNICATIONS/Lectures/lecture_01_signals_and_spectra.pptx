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9" r:id="rId3"/>
    <p:sldId id="338" r:id="rId4"/>
    <p:sldId id="339" r:id="rId5"/>
    <p:sldId id="340" r:id="rId6"/>
    <p:sldId id="370" r:id="rId7"/>
    <p:sldId id="341" r:id="rId8"/>
    <p:sldId id="371" r:id="rId9"/>
    <p:sldId id="342" r:id="rId10"/>
    <p:sldId id="343" r:id="rId11"/>
    <p:sldId id="344" r:id="rId12"/>
    <p:sldId id="346" r:id="rId13"/>
    <p:sldId id="372" r:id="rId14"/>
    <p:sldId id="347" r:id="rId15"/>
    <p:sldId id="348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63" r:id="rId31"/>
    <p:sldId id="364" r:id="rId32"/>
    <p:sldId id="365" r:id="rId33"/>
    <p:sldId id="366" r:id="rId34"/>
    <p:sldId id="368" r:id="rId35"/>
    <p:sldId id="373" r:id="rId36"/>
    <p:sldId id="374" r:id="rId37"/>
    <p:sldId id="375" r:id="rId38"/>
    <p:sldId id="376" r:id="rId39"/>
    <p:sldId id="377" r:id="rId40"/>
    <p:sldId id="378" r:id="rId41"/>
    <p:sldId id="379" r:id="rId42"/>
    <p:sldId id="380" r:id="rId43"/>
    <p:sldId id="381" r:id="rId44"/>
    <p:sldId id="382" r:id="rId45"/>
    <p:sldId id="383" r:id="rId46"/>
    <p:sldId id="384" r:id="rId47"/>
    <p:sldId id="385" r:id="rId48"/>
    <p:sldId id="386" r:id="rId49"/>
    <p:sldId id="399" r:id="rId50"/>
    <p:sldId id="387" r:id="rId51"/>
    <p:sldId id="388" r:id="rId52"/>
    <p:sldId id="389" r:id="rId53"/>
    <p:sldId id="400" r:id="rId54"/>
    <p:sldId id="390" r:id="rId55"/>
    <p:sldId id="401" r:id="rId56"/>
    <p:sldId id="391" r:id="rId57"/>
    <p:sldId id="392" r:id="rId58"/>
    <p:sldId id="393" r:id="rId59"/>
    <p:sldId id="394" r:id="rId60"/>
    <p:sldId id="395" r:id="rId61"/>
    <p:sldId id="396" r:id="rId62"/>
    <p:sldId id="397" r:id="rId63"/>
    <p:sldId id="398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9EBA00-42BC-4A1A-9472-DBFA4858DD70}" v="18" dt="2024-11-07T11:16:41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6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s Piperigkos" userId="b361276a-3497-4fae-9245-3cd0ad5fb2cd" providerId="ADAL" clId="{D59EBA00-42BC-4A1A-9472-DBFA4858DD70}"/>
    <pc:docChg chg="custSel addSld modSld">
      <pc:chgData name="Nikos Piperigkos" userId="b361276a-3497-4fae-9245-3cd0ad5fb2cd" providerId="ADAL" clId="{D59EBA00-42BC-4A1A-9472-DBFA4858DD70}" dt="2024-11-07T11:16:46.554" v="42" actId="1076"/>
      <pc:docMkLst>
        <pc:docMk/>
      </pc:docMkLst>
      <pc:sldChg chg="modSp">
        <pc:chgData name="Nikos Piperigkos" userId="b361276a-3497-4fae-9245-3cd0ad5fb2cd" providerId="ADAL" clId="{D59EBA00-42BC-4A1A-9472-DBFA4858DD70}" dt="2024-10-31T11:25:19.410" v="14" actId="20577"/>
        <pc:sldMkLst>
          <pc:docMk/>
          <pc:sldMk cId="953258347" sldId="375"/>
        </pc:sldMkLst>
        <pc:spChg chg="mod">
          <ac:chgData name="Nikos Piperigkos" userId="b361276a-3497-4fae-9245-3cd0ad5fb2cd" providerId="ADAL" clId="{D59EBA00-42BC-4A1A-9472-DBFA4858DD70}" dt="2024-10-31T11:25:19.410" v="14" actId="20577"/>
          <ac:spMkLst>
            <pc:docMk/>
            <pc:sldMk cId="953258347" sldId="375"/>
            <ac:spMk id="6153" creationId="{00000000-0000-0000-0000-000000000000}"/>
          </ac:spMkLst>
        </pc:spChg>
      </pc:sldChg>
      <pc:sldChg chg="modSp">
        <pc:chgData name="Nikos Piperigkos" userId="b361276a-3497-4fae-9245-3cd0ad5fb2cd" providerId="ADAL" clId="{D59EBA00-42BC-4A1A-9472-DBFA4858DD70}" dt="2024-10-31T11:24:58.927" v="12" actId="20577"/>
        <pc:sldMkLst>
          <pc:docMk/>
          <pc:sldMk cId="668213133" sldId="377"/>
        </pc:sldMkLst>
        <pc:spChg chg="mod">
          <ac:chgData name="Nikos Piperigkos" userId="b361276a-3497-4fae-9245-3cd0ad5fb2cd" providerId="ADAL" clId="{D59EBA00-42BC-4A1A-9472-DBFA4858DD70}" dt="2024-10-31T11:24:58.927" v="12" actId="20577"/>
          <ac:spMkLst>
            <pc:docMk/>
            <pc:sldMk cId="668213133" sldId="377"/>
            <ac:spMk id="14" creationId="{00000000-0000-0000-0000-000000000000}"/>
          </ac:spMkLst>
        </pc:spChg>
      </pc:sldChg>
      <pc:sldChg chg="addSp delSp modSp mod">
        <pc:chgData name="Nikos Piperigkos" userId="b361276a-3497-4fae-9245-3cd0ad5fb2cd" providerId="ADAL" clId="{D59EBA00-42BC-4A1A-9472-DBFA4858DD70}" dt="2024-11-06T13:27:20.474" v="29" actId="478"/>
        <pc:sldMkLst>
          <pc:docMk/>
          <pc:sldMk cId="3966516308" sldId="386"/>
        </pc:sldMkLst>
        <pc:graphicFrameChg chg="del">
          <ac:chgData name="Nikos Piperigkos" userId="b361276a-3497-4fae-9245-3cd0ad5fb2cd" providerId="ADAL" clId="{D59EBA00-42BC-4A1A-9472-DBFA4858DD70}" dt="2024-11-06T13:27:20.474" v="29" actId="478"/>
          <ac:graphicFrameMkLst>
            <pc:docMk/>
            <pc:sldMk cId="3966516308" sldId="386"/>
            <ac:graphicFrameMk id="17419" creationId="{00000000-0000-0000-0000-000000000000}"/>
          </ac:graphicFrameMkLst>
        </pc:graphicFrameChg>
        <pc:picChg chg="add mod">
          <ac:chgData name="Nikos Piperigkos" userId="b361276a-3497-4fae-9245-3cd0ad5fb2cd" providerId="ADAL" clId="{D59EBA00-42BC-4A1A-9472-DBFA4858DD70}" dt="2024-10-31T10:22:24.691" v="1" actId="1076"/>
          <ac:picMkLst>
            <pc:docMk/>
            <pc:sldMk cId="3966516308" sldId="386"/>
            <ac:picMk id="4" creationId="{E8CF621E-A072-B019-AEB2-E84D57E138D8}"/>
          </ac:picMkLst>
        </pc:picChg>
      </pc:sldChg>
      <pc:sldChg chg="addSp modSp mod">
        <pc:chgData name="Nikos Piperigkos" userId="b361276a-3497-4fae-9245-3cd0ad5fb2cd" providerId="ADAL" clId="{D59EBA00-42BC-4A1A-9472-DBFA4858DD70}" dt="2024-10-31T13:19:37.155" v="27" actId="1076"/>
        <pc:sldMkLst>
          <pc:docMk/>
          <pc:sldMk cId="2910266643" sldId="387"/>
        </pc:sldMkLst>
        <pc:picChg chg="add mod">
          <ac:chgData name="Nikos Piperigkos" userId="b361276a-3497-4fae-9245-3cd0ad5fb2cd" providerId="ADAL" clId="{D59EBA00-42BC-4A1A-9472-DBFA4858DD70}" dt="2024-10-31T13:19:37.155" v="27" actId="1076"/>
          <ac:picMkLst>
            <pc:docMk/>
            <pc:sldMk cId="2910266643" sldId="387"/>
            <ac:picMk id="3" creationId="{B0B3C2A8-4D32-34E6-5E64-ED3E4254D49C}"/>
          </ac:picMkLst>
        </pc:picChg>
        <pc:picChg chg="add mod">
          <ac:chgData name="Nikos Piperigkos" userId="b361276a-3497-4fae-9245-3cd0ad5fb2cd" providerId="ADAL" clId="{D59EBA00-42BC-4A1A-9472-DBFA4858DD70}" dt="2024-10-31T13:19:12.127" v="23" actId="1076"/>
          <ac:picMkLst>
            <pc:docMk/>
            <pc:sldMk cId="2910266643" sldId="387"/>
            <ac:picMk id="4" creationId="{E4B506F9-9BB2-3525-864B-EA59F94B9CA1}"/>
          </ac:picMkLst>
        </pc:picChg>
        <pc:picChg chg="mod">
          <ac:chgData name="Nikos Piperigkos" userId="b361276a-3497-4fae-9245-3cd0ad5fb2cd" providerId="ADAL" clId="{D59EBA00-42BC-4A1A-9472-DBFA4858DD70}" dt="2024-10-31T13:11:16.256" v="17" actId="1076"/>
          <ac:picMkLst>
            <pc:docMk/>
            <pc:sldMk cId="2910266643" sldId="387"/>
            <ac:picMk id="18436" creationId="{00000000-0000-0000-0000-000000000000}"/>
          </ac:picMkLst>
        </pc:picChg>
        <pc:cxnChg chg="add mod">
          <ac:chgData name="Nikos Piperigkos" userId="b361276a-3497-4fae-9245-3cd0ad5fb2cd" providerId="ADAL" clId="{D59EBA00-42BC-4A1A-9472-DBFA4858DD70}" dt="2024-10-31T13:19:37.155" v="27" actId="1076"/>
          <ac:cxnSpMkLst>
            <pc:docMk/>
            <pc:sldMk cId="2910266643" sldId="387"/>
            <ac:cxnSpMk id="11" creationId="{9A1FB31F-2188-F661-2237-807EA57BD347}"/>
          </ac:cxnSpMkLst>
        </pc:cxnChg>
      </pc:sldChg>
      <pc:sldChg chg="delSp mod">
        <pc:chgData name="Nikos Piperigkos" userId="b361276a-3497-4fae-9245-3cd0ad5fb2cd" providerId="ADAL" clId="{D59EBA00-42BC-4A1A-9472-DBFA4858DD70}" dt="2024-11-06T13:27:38.960" v="32" actId="478"/>
        <pc:sldMkLst>
          <pc:docMk/>
          <pc:sldMk cId="632706255" sldId="389"/>
        </pc:sldMkLst>
        <pc:spChg chg="del">
          <ac:chgData name="Nikos Piperigkos" userId="b361276a-3497-4fae-9245-3cd0ad5fb2cd" providerId="ADAL" clId="{D59EBA00-42BC-4A1A-9472-DBFA4858DD70}" dt="2024-11-06T13:27:38.443" v="31" actId="478"/>
          <ac:spMkLst>
            <pc:docMk/>
            <pc:sldMk cId="632706255" sldId="389"/>
            <ac:spMk id="20496" creationId="{00000000-0000-0000-0000-000000000000}"/>
          </ac:spMkLst>
        </pc:spChg>
        <pc:graphicFrameChg chg="del">
          <ac:chgData name="Nikos Piperigkos" userId="b361276a-3497-4fae-9245-3cd0ad5fb2cd" providerId="ADAL" clId="{D59EBA00-42BC-4A1A-9472-DBFA4858DD70}" dt="2024-11-06T13:27:38.960" v="32" actId="478"/>
          <ac:graphicFrameMkLst>
            <pc:docMk/>
            <pc:sldMk cId="632706255" sldId="389"/>
            <ac:graphicFrameMk id="20495" creationId="{00000000-0000-0000-0000-000000000000}"/>
          </ac:graphicFrameMkLst>
        </pc:graphicFrameChg>
      </pc:sldChg>
      <pc:sldChg chg="delSp mod">
        <pc:chgData name="Nikos Piperigkos" userId="b361276a-3497-4fae-9245-3cd0ad5fb2cd" providerId="ADAL" clId="{D59EBA00-42BC-4A1A-9472-DBFA4858DD70}" dt="2024-11-06T13:30:31.779" v="35" actId="478"/>
        <pc:sldMkLst>
          <pc:docMk/>
          <pc:sldMk cId="1716601990" sldId="390"/>
        </pc:sldMkLst>
        <pc:graphicFrameChg chg="del">
          <ac:chgData name="Nikos Piperigkos" userId="b361276a-3497-4fae-9245-3cd0ad5fb2cd" providerId="ADAL" clId="{D59EBA00-42BC-4A1A-9472-DBFA4858DD70}" dt="2024-11-06T13:30:26.323" v="34" actId="478"/>
          <ac:graphicFrameMkLst>
            <pc:docMk/>
            <pc:sldMk cId="1716601990" sldId="390"/>
            <ac:graphicFrameMk id="21511" creationId="{00000000-0000-0000-0000-000000000000}"/>
          </ac:graphicFrameMkLst>
        </pc:graphicFrameChg>
        <pc:picChg chg="del">
          <ac:chgData name="Nikos Piperigkos" userId="b361276a-3497-4fae-9245-3cd0ad5fb2cd" providerId="ADAL" clId="{D59EBA00-42BC-4A1A-9472-DBFA4858DD70}" dt="2024-11-06T13:30:31.779" v="35" actId="478"/>
          <ac:picMkLst>
            <pc:docMk/>
            <pc:sldMk cId="1716601990" sldId="390"/>
            <ac:picMk id="21508" creationId="{00000000-0000-0000-0000-000000000000}"/>
          </ac:picMkLst>
        </pc:picChg>
      </pc:sldChg>
      <pc:sldChg chg="modSp mod">
        <pc:chgData name="Nikos Piperigkos" userId="b361276a-3497-4fae-9245-3cd0ad5fb2cd" providerId="ADAL" clId="{D59EBA00-42BC-4A1A-9472-DBFA4858DD70}" dt="2024-11-07T11:15:56.597" v="36" actId="20577"/>
        <pc:sldMkLst>
          <pc:docMk/>
          <pc:sldMk cId="825753729" sldId="395"/>
        </pc:sldMkLst>
        <pc:spChg chg="mod">
          <ac:chgData name="Nikos Piperigkos" userId="b361276a-3497-4fae-9245-3cd0ad5fb2cd" providerId="ADAL" clId="{D59EBA00-42BC-4A1A-9472-DBFA4858DD70}" dt="2024-11-07T11:15:56.597" v="36" actId="20577"/>
          <ac:spMkLst>
            <pc:docMk/>
            <pc:sldMk cId="825753729" sldId="395"/>
            <ac:spMk id="26626" creationId="{00000000-0000-0000-0000-000000000000}"/>
          </ac:spMkLst>
        </pc:spChg>
      </pc:sldChg>
      <pc:sldChg chg="modSp mod">
        <pc:chgData name="Nikos Piperigkos" userId="b361276a-3497-4fae-9245-3cd0ad5fb2cd" providerId="ADAL" clId="{D59EBA00-42BC-4A1A-9472-DBFA4858DD70}" dt="2024-11-07T11:15:59.401" v="37" actId="20577"/>
        <pc:sldMkLst>
          <pc:docMk/>
          <pc:sldMk cId="3948254715" sldId="396"/>
        </pc:sldMkLst>
        <pc:spChg chg="mod">
          <ac:chgData name="Nikos Piperigkos" userId="b361276a-3497-4fae-9245-3cd0ad5fb2cd" providerId="ADAL" clId="{D59EBA00-42BC-4A1A-9472-DBFA4858DD70}" dt="2024-11-07T11:15:59.401" v="37" actId="20577"/>
          <ac:spMkLst>
            <pc:docMk/>
            <pc:sldMk cId="3948254715" sldId="396"/>
            <ac:spMk id="27650" creationId="{00000000-0000-0000-0000-000000000000}"/>
          </ac:spMkLst>
        </pc:spChg>
      </pc:sldChg>
      <pc:sldChg chg="addSp delSp modSp mod">
        <pc:chgData name="Nikos Piperigkos" userId="b361276a-3497-4fae-9245-3cd0ad5fb2cd" providerId="ADAL" clId="{D59EBA00-42BC-4A1A-9472-DBFA4858DD70}" dt="2024-11-07T11:16:46.554" v="42" actId="1076"/>
        <pc:sldMkLst>
          <pc:docMk/>
          <pc:sldMk cId="2733258471" sldId="397"/>
        </pc:sldMkLst>
        <pc:spChg chg="mod">
          <ac:chgData name="Nikos Piperigkos" userId="b361276a-3497-4fae-9245-3cd0ad5fb2cd" providerId="ADAL" clId="{D59EBA00-42BC-4A1A-9472-DBFA4858DD70}" dt="2024-11-07T11:16:03.230" v="38" actId="20577"/>
          <ac:spMkLst>
            <pc:docMk/>
            <pc:sldMk cId="2733258471" sldId="397"/>
            <ac:spMk id="28674" creationId="{00000000-0000-0000-0000-000000000000}"/>
          </ac:spMkLst>
        </pc:spChg>
        <pc:picChg chg="add mod">
          <ac:chgData name="Nikos Piperigkos" userId="b361276a-3497-4fae-9245-3cd0ad5fb2cd" providerId="ADAL" clId="{D59EBA00-42BC-4A1A-9472-DBFA4858DD70}" dt="2024-11-07T11:16:46.554" v="42" actId="1076"/>
          <ac:picMkLst>
            <pc:docMk/>
            <pc:sldMk cId="2733258471" sldId="397"/>
            <ac:picMk id="3" creationId="{241D5218-3B10-7B8B-3E9D-1B870B4E9786}"/>
          </ac:picMkLst>
        </pc:picChg>
        <pc:picChg chg="del">
          <ac:chgData name="Nikos Piperigkos" userId="b361276a-3497-4fae-9245-3cd0ad5fb2cd" providerId="ADAL" clId="{D59EBA00-42BC-4A1A-9472-DBFA4858DD70}" dt="2024-11-07T11:16:41.774" v="39" actId="478"/>
          <ac:picMkLst>
            <pc:docMk/>
            <pc:sldMk cId="2733258471" sldId="397"/>
            <ac:picMk id="28675" creationId="{00000000-0000-0000-0000-000000000000}"/>
          </ac:picMkLst>
        </pc:picChg>
      </pc:sldChg>
      <pc:sldChg chg="add">
        <pc:chgData name="Nikos Piperigkos" userId="b361276a-3497-4fae-9245-3cd0ad5fb2cd" providerId="ADAL" clId="{D59EBA00-42BC-4A1A-9472-DBFA4858DD70}" dt="2024-11-06T13:27:16.283" v="28" actId="2890"/>
        <pc:sldMkLst>
          <pc:docMk/>
          <pc:sldMk cId="2669927159" sldId="399"/>
        </pc:sldMkLst>
      </pc:sldChg>
      <pc:sldChg chg="add">
        <pc:chgData name="Nikos Piperigkos" userId="b361276a-3497-4fae-9245-3cd0ad5fb2cd" providerId="ADAL" clId="{D59EBA00-42BC-4A1A-9472-DBFA4858DD70}" dt="2024-11-06T13:27:34.536" v="30" actId="2890"/>
        <pc:sldMkLst>
          <pc:docMk/>
          <pc:sldMk cId="2782413328" sldId="400"/>
        </pc:sldMkLst>
      </pc:sldChg>
      <pc:sldChg chg="add">
        <pc:chgData name="Nikos Piperigkos" userId="b361276a-3497-4fae-9245-3cd0ad5fb2cd" providerId="ADAL" clId="{D59EBA00-42BC-4A1A-9472-DBFA4858DD70}" dt="2024-11-06T13:30:21.516" v="33" actId="2890"/>
        <pc:sldMkLst>
          <pc:docMk/>
          <pc:sldMk cId="97177289" sldId="40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07BA-9F0A-471D-B34D-1751D3AF3D7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9251-1857-411E-BA74-647AB613E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559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07BA-9F0A-471D-B34D-1751D3AF3D7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9251-1857-411E-BA74-647AB613E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0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07BA-9F0A-471D-B34D-1751D3AF3D7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9251-1857-411E-BA74-647AB613E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071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07BA-9F0A-471D-B34D-1751D3AF3D7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9251-1857-411E-BA74-647AB613E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46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07BA-9F0A-471D-B34D-1751D3AF3D7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9251-1857-411E-BA74-647AB613E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88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07BA-9F0A-471D-B34D-1751D3AF3D7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9251-1857-411E-BA74-647AB613E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1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07BA-9F0A-471D-B34D-1751D3AF3D7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9251-1857-411E-BA74-647AB613E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72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07BA-9F0A-471D-B34D-1751D3AF3D7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9251-1857-411E-BA74-647AB613E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0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07BA-9F0A-471D-B34D-1751D3AF3D7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9251-1857-411E-BA74-647AB613E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1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07BA-9F0A-471D-B34D-1751D3AF3D7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9251-1857-411E-BA74-647AB613E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81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007BA-9F0A-471D-B34D-1751D3AF3D7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D9251-1857-411E-BA74-647AB613E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8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007BA-9F0A-471D-B34D-1751D3AF3D7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CD9251-1857-411E-BA74-647AB613E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81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22.wmf"/><Relationship Id="rId5" Type="http://schemas.openxmlformats.org/officeDocument/2006/relationships/image" Target="../media/image19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21.wmf"/><Relationship Id="rId1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8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9.wmf"/><Relationship Id="rId10" Type="http://schemas.openxmlformats.org/officeDocument/2006/relationships/image" Target="../media/image29.png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3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9.wmf"/><Relationship Id="rId10" Type="http://schemas.openxmlformats.org/officeDocument/2006/relationships/image" Target="../media/image29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3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12" Type="http://schemas.openxmlformats.org/officeDocument/2006/relationships/image" Target="../media/image30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11" Type="http://schemas.openxmlformats.org/officeDocument/2006/relationships/oleObject" Target="../embeddings/oleObject21.bin"/><Relationship Id="rId5" Type="http://schemas.openxmlformats.org/officeDocument/2006/relationships/image" Target="../media/image19.wmf"/><Relationship Id="rId10" Type="http://schemas.openxmlformats.org/officeDocument/2006/relationships/image" Target="../media/image29.png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3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22.wmf"/><Relationship Id="rId7" Type="http://schemas.openxmlformats.org/officeDocument/2006/relationships/image" Target="../media/image32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3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image" Target="../media/image23.wmf"/><Relationship Id="rId7" Type="http://schemas.openxmlformats.org/officeDocument/2006/relationships/image" Target="../media/image34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6.wmf"/><Relationship Id="rId5" Type="http://schemas.openxmlformats.org/officeDocument/2006/relationships/image" Target="../media/image30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5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28.png"/><Relationship Id="rId3" Type="http://schemas.openxmlformats.org/officeDocument/2006/relationships/image" Target="../media/image18.wmf"/><Relationship Id="rId7" Type="http://schemas.openxmlformats.org/officeDocument/2006/relationships/image" Target="../media/image33.wmf"/><Relationship Id="rId12" Type="http://schemas.openxmlformats.org/officeDocument/2006/relationships/image" Target="../media/image38.png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37.wmf"/><Relationship Id="rId5" Type="http://schemas.openxmlformats.org/officeDocument/2006/relationships/image" Target="../media/image31.wmf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36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0.png"/><Relationship Id="rId5" Type="http://schemas.openxmlformats.org/officeDocument/2006/relationships/image" Target="../media/image19.wmf"/><Relationship Id="rId10" Type="http://schemas.openxmlformats.org/officeDocument/2006/relationships/image" Target="../media/image39.png"/><Relationship Id="rId4" Type="http://schemas.openxmlformats.org/officeDocument/2006/relationships/oleObject" Target="../embeddings/oleObject40.bin"/><Relationship Id="rId9" Type="http://schemas.openxmlformats.org/officeDocument/2006/relationships/image" Target="../media/image23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41.wmf"/><Relationship Id="rId4" Type="http://schemas.openxmlformats.org/officeDocument/2006/relationships/oleObject" Target="../embeddings/oleObject44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40.png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2.wmf"/><Relationship Id="rId4" Type="http://schemas.openxmlformats.org/officeDocument/2006/relationships/oleObject" Target="../embeddings/oleObject46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7" Type="http://schemas.openxmlformats.org/officeDocument/2006/relationships/image" Target="../media/image40.png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34.wmf"/><Relationship Id="rId4" Type="http://schemas.openxmlformats.org/officeDocument/2006/relationships/oleObject" Target="../embeddings/oleObject48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8.wmf"/><Relationship Id="rId7" Type="http://schemas.openxmlformats.org/officeDocument/2006/relationships/image" Target="../media/image45.png"/><Relationship Id="rId12" Type="http://schemas.openxmlformats.org/officeDocument/2006/relationships/image" Target="../media/image46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45.wmf"/><Relationship Id="rId4" Type="http://schemas.openxmlformats.org/officeDocument/2006/relationships/image" Target="../media/image44.png"/><Relationship Id="rId9" Type="http://schemas.openxmlformats.org/officeDocument/2006/relationships/oleObject" Target="../embeddings/oleObject51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54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48.png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56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1.wmf"/><Relationship Id="rId7" Type="http://schemas.openxmlformats.org/officeDocument/2006/relationships/image" Target="../media/image50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9.bin"/><Relationship Id="rId5" Type="http://schemas.openxmlformats.org/officeDocument/2006/relationships/image" Target="../media/image49.wmf"/><Relationship Id="rId4" Type="http://schemas.openxmlformats.org/officeDocument/2006/relationships/oleObject" Target="../embeddings/oleObject58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image" Target="../media/image51.wmf"/><Relationship Id="rId7" Type="http://schemas.openxmlformats.org/officeDocument/2006/relationships/image" Target="../media/image53.w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52.wmf"/><Relationship Id="rId4" Type="http://schemas.openxmlformats.org/officeDocument/2006/relationships/oleObject" Target="../embeddings/oleObject61.bin"/><Relationship Id="rId9" Type="http://schemas.openxmlformats.org/officeDocument/2006/relationships/image" Target="../media/image46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54.wmf"/><Relationship Id="rId7" Type="http://schemas.openxmlformats.org/officeDocument/2006/relationships/image" Target="../media/image46.w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65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image" Target="../media/image65.png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2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wmf"/><Relationship Id="rId11" Type="http://schemas.openxmlformats.org/officeDocument/2006/relationships/image" Target="../media/image64.png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69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image" Target="../media/image66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oleObject" Target="../embeddings/oleObject74.bin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wmf"/><Relationship Id="rId11" Type="http://schemas.openxmlformats.org/officeDocument/2006/relationships/image" Target="../media/image64.png"/><Relationship Id="rId5" Type="http://schemas.openxmlformats.org/officeDocument/2006/relationships/oleObject" Target="../embeddings/oleObject71.bin"/><Relationship Id="rId15" Type="http://schemas.openxmlformats.org/officeDocument/2006/relationships/image" Target="../media/image65.png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oleObject" Target="../embeddings/oleObject7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80.bin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6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wmf"/><Relationship Id="rId11" Type="http://schemas.openxmlformats.org/officeDocument/2006/relationships/image" Target="../media/image71.wmf"/><Relationship Id="rId5" Type="http://schemas.openxmlformats.org/officeDocument/2006/relationships/oleObject" Target="../embeddings/oleObject77.bin"/><Relationship Id="rId15" Type="http://schemas.openxmlformats.org/officeDocument/2006/relationships/image" Target="../media/image29.png"/><Relationship Id="rId10" Type="http://schemas.openxmlformats.org/officeDocument/2006/relationships/oleObject" Target="../embeddings/oleObject79.bin"/><Relationship Id="rId4" Type="http://schemas.openxmlformats.org/officeDocument/2006/relationships/image" Target="../media/image60.wmf"/><Relationship Id="rId9" Type="http://schemas.openxmlformats.org/officeDocument/2006/relationships/image" Target="../media/image64.png"/><Relationship Id="rId14" Type="http://schemas.openxmlformats.org/officeDocument/2006/relationships/image" Target="../media/image72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image" Target="../media/image73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oleObject" Target="../embeddings/oleObject85.bin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wmf"/><Relationship Id="rId11" Type="http://schemas.openxmlformats.org/officeDocument/2006/relationships/image" Target="../media/image71.wmf"/><Relationship Id="rId5" Type="http://schemas.openxmlformats.org/officeDocument/2006/relationships/oleObject" Target="../embeddings/oleObject82.bin"/><Relationship Id="rId10" Type="http://schemas.openxmlformats.org/officeDocument/2006/relationships/oleObject" Target="../embeddings/oleObject84.bin"/><Relationship Id="rId4" Type="http://schemas.openxmlformats.org/officeDocument/2006/relationships/image" Target="../media/image60.wmf"/><Relationship Id="rId9" Type="http://schemas.openxmlformats.org/officeDocument/2006/relationships/image" Target="../media/image64.png"/><Relationship Id="rId14" Type="http://schemas.openxmlformats.org/officeDocument/2006/relationships/image" Target="../media/image29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image" Target="../media/image73.w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12" Type="http://schemas.openxmlformats.org/officeDocument/2006/relationships/oleObject" Target="../embeddings/oleObject90.bin"/><Relationship Id="rId2" Type="http://schemas.openxmlformats.org/officeDocument/2006/relationships/image" Target="../media/image70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wmf"/><Relationship Id="rId11" Type="http://schemas.openxmlformats.org/officeDocument/2006/relationships/image" Target="../media/image71.wmf"/><Relationship Id="rId5" Type="http://schemas.openxmlformats.org/officeDocument/2006/relationships/oleObject" Target="../embeddings/oleObject87.bin"/><Relationship Id="rId15" Type="http://schemas.openxmlformats.org/officeDocument/2006/relationships/image" Target="../media/image74.wmf"/><Relationship Id="rId10" Type="http://schemas.openxmlformats.org/officeDocument/2006/relationships/oleObject" Target="../embeddings/oleObject89.bin"/><Relationship Id="rId4" Type="http://schemas.openxmlformats.org/officeDocument/2006/relationships/image" Target="../media/image60.wmf"/><Relationship Id="rId9" Type="http://schemas.openxmlformats.org/officeDocument/2006/relationships/image" Target="../media/image64.png"/><Relationship Id="rId14" Type="http://schemas.openxmlformats.org/officeDocument/2006/relationships/oleObject" Target="../embeddings/oleObject91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oleObject" Target="../embeddings/oleObject92.bin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75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image" Target="../media/image73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oleObject" Target="../embeddings/oleObject99.bin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wmf"/><Relationship Id="rId11" Type="http://schemas.openxmlformats.org/officeDocument/2006/relationships/image" Target="../media/image71.wmf"/><Relationship Id="rId5" Type="http://schemas.openxmlformats.org/officeDocument/2006/relationships/oleObject" Target="../embeddings/oleObject96.bin"/><Relationship Id="rId10" Type="http://schemas.openxmlformats.org/officeDocument/2006/relationships/oleObject" Target="../embeddings/oleObject98.bin"/><Relationship Id="rId4" Type="http://schemas.openxmlformats.org/officeDocument/2006/relationships/image" Target="../media/image60.wmf"/><Relationship Id="rId9" Type="http://schemas.openxmlformats.org/officeDocument/2006/relationships/image" Target="../media/image64.png"/><Relationship Id="rId14" Type="http://schemas.openxmlformats.org/officeDocument/2006/relationships/image" Target="../media/image2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wmf"/><Relationship Id="rId4" Type="http://schemas.openxmlformats.org/officeDocument/2006/relationships/oleObject" Target="../embeddings/oleObject100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oleObject" Target="../embeddings/oleObject10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wmf"/><Relationship Id="rId4" Type="http://schemas.openxmlformats.org/officeDocument/2006/relationships/oleObject" Target="../embeddings/oleObject102.bin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l-GR" b="1" dirty="0"/>
              <a:t>ΨΗΦΙΑΚΕΣ ΤΗΛΕΠΙΚΟΙΝΩΝΙΕΣ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77433"/>
            <a:ext cx="9144000" cy="1876519"/>
          </a:xfrm>
        </p:spPr>
        <p:txBody>
          <a:bodyPr>
            <a:noAutofit/>
          </a:bodyPr>
          <a:lstStyle/>
          <a:p>
            <a:r>
              <a:rPr lang="el-GR" dirty="0"/>
              <a:t>Κεφάλαιο 1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5" name="TextBox 4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9918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392943" y="765559"/>
            <a:ext cx="74536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1.1	ΟΡΙΣΜΟΙ ΕΝΝΟΙΩΝ</a:t>
            </a:r>
            <a:r>
              <a:rPr lang="en-GB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8" name="TextBox 7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416859" y="1239410"/>
            <a:ext cx="9466079" cy="53292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3375" indent="-333375">
              <a:lnSpc>
                <a:spcPct val="100000"/>
              </a:lnSpc>
              <a:buClr>
                <a:srgbClr val="FF63B1"/>
              </a:buClr>
              <a:buSzPct val="75000"/>
              <a:buFont typeface="Wingdings" panose="05000000000000000000" pitchFamily="2" charset="2"/>
              <a:buChar char="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l-GR" altLang="en-US" dirty="0">
                <a:latin typeface="Calibri" panose="020F0502020204030204" pitchFamily="34" charset="0"/>
                <a:cs typeface="Calibri" panose="020F0502020204030204" pitchFamily="34" charset="0"/>
              </a:rPr>
              <a:t>Πλεονεκτήματα Ψηφιακών Τηλεπικοινωνιών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33425" lvl="1" indent="-276225">
              <a:lnSpc>
                <a:spcPct val="100000"/>
              </a:lnSpc>
              <a:buClr>
                <a:srgbClr val="FF822D"/>
              </a:buClr>
              <a:buSzPct val="65000"/>
              <a:buFont typeface="Wingdings" panose="05000000000000000000" pitchFamily="2" charset="2"/>
              <a:buChar char="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l-GR" altLang="en-US" dirty="0">
                <a:latin typeface="Calibri" panose="020F0502020204030204" pitchFamily="34" charset="0"/>
                <a:cs typeface="Calibri" panose="020F0502020204030204" pitchFamily="34" charset="0"/>
              </a:rPr>
              <a:t>Δέκτης επαναδημιουργίας σήματος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3425" lvl="1" indent="-276225">
              <a:lnSpc>
                <a:spcPct val="100000"/>
              </a:lnSpc>
              <a:buSzPct val="65000"/>
              <a:buFontTx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3425" lvl="1" indent="-276225">
              <a:lnSpc>
                <a:spcPct val="100000"/>
              </a:lnSpc>
              <a:buSzPct val="65000"/>
              <a:buFontTx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3425" lvl="1" indent="-276225">
              <a:lnSpc>
                <a:spcPct val="100000"/>
              </a:lnSpc>
              <a:buSzPct val="65000"/>
              <a:buFontTx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3425" lvl="1" indent="-276225">
              <a:lnSpc>
                <a:spcPct val="100000"/>
              </a:lnSpc>
              <a:buSzPct val="65000"/>
              <a:buFontTx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3425" lvl="1" indent="-276225">
              <a:lnSpc>
                <a:spcPct val="100000"/>
              </a:lnSpc>
              <a:buSzPct val="65000"/>
              <a:buFontTx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3425" lvl="1" indent="-276225">
              <a:lnSpc>
                <a:spcPct val="100000"/>
              </a:lnSpc>
              <a:buClr>
                <a:srgbClr val="FF822D"/>
              </a:buClr>
              <a:buSzPct val="65000"/>
              <a:buFont typeface="Wingdings" panose="05000000000000000000" pitchFamily="2" charset="2"/>
              <a:buChar char="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l-GR" altLang="en-US" dirty="0">
                <a:latin typeface="Calibri" panose="020F0502020204030204" pitchFamily="34" charset="0"/>
                <a:cs typeface="Calibri" panose="020F0502020204030204" pitchFamily="34" charset="0"/>
              </a:rPr>
              <a:t>Διαφορετικά είδη ψηφιακών σημάτων αντιμετωπίζονται ενιαία.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3425" lvl="1" indent="-276225">
              <a:lnSpc>
                <a:spcPct val="100000"/>
              </a:lnSpc>
              <a:buClr>
                <a:srgbClr val="FF822D"/>
              </a:buClr>
              <a:buSzPct val="65000"/>
              <a:buFont typeface="Wingdings" panose="05000000000000000000" pitchFamily="2" charset="2"/>
              <a:buChar char="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3425" lvl="1" indent="-276225">
              <a:lnSpc>
                <a:spcPct val="100000"/>
              </a:lnSpc>
              <a:buClr>
                <a:srgbClr val="FF822D"/>
              </a:buClr>
              <a:buSzPct val="65000"/>
              <a:buFont typeface="Wingdings" panose="05000000000000000000" pitchFamily="2" charset="2"/>
              <a:buChar char="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3425" lvl="1" indent="-276225">
              <a:lnSpc>
                <a:spcPct val="100000"/>
              </a:lnSpc>
              <a:buClr>
                <a:srgbClr val="FF822D"/>
              </a:buClr>
              <a:buSzPct val="65000"/>
              <a:buFont typeface="Wingdings" panose="05000000000000000000" pitchFamily="2" charset="2"/>
              <a:buChar char="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3425" lvl="1" indent="-276225">
              <a:lnSpc>
                <a:spcPct val="100000"/>
              </a:lnSpc>
              <a:buClr>
                <a:srgbClr val="FF822D"/>
              </a:buClr>
              <a:buSzPct val="65000"/>
              <a:buFont typeface="Wingdings" panose="05000000000000000000" pitchFamily="2" charset="2"/>
              <a:buChar char="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3425" lvl="1" indent="-276225">
              <a:lnSpc>
                <a:spcPct val="100000"/>
              </a:lnSpc>
              <a:buClr>
                <a:srgbClr val="FF822D"/>
              </a:buClr>
              <a:buSzPct val="65000"/>
              <a:buFont typeface="Wingdings" panose="05000000000000000000" pitchFamily="2" charset="2"/>
              <a:buChar char="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l-GR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Μετάδοση περισσοτέρων του ενός </a:t>
            </a: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bit</a:t>
            </a:r>
            <a:r>
              <a:rPr lang="el-GR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ταυτόχρονα</a:t>
            </a:r>
            <a:endParaRPr lang="en-US" altLang="en-US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Oval 3"/>
          <p:cNvSpPr>
            <a:spLocks noChangeArrowheads="1"/>
          </p:cNvSpPr>
          <p:nvPr/>
        </p:nvSpPr>
        <p:spPr bwMode="auto">
          <a:xfrm>
            <a:off x="1353671" y="4828748"/>
            <a:ext cx="1219200" cy="533400"/>
          </a:xfrm>
          <a:prstGeom prst="ellipse">
            <a:avLst/>
          </a:prstGeom>
          <a:solidFill>
            <a:srgbClr val="FFFF66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lang="en-GB" altLang="en-US" dirty="0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18" name="Oval 4"/>
          <p:cNvSpPr>
            <a:spLocks noChangeArrowheads="1"/>
          </p:cNvSpPr>
          <p:nvPr/>
        </p:nvSpPr>
        <p:spPr bwMode="auto">
          <a:xfrm>
            <a:off x="3030071" y="4447748"/>
            <a:ext cx="1219200" cy="533400"/>
          </a:xfrm>
          <a:prstGeom prst="ellipse">
            <a:avLst/>
          </a:prstGeom>
          <a:solidFill>
            <a:srgbClr val="66FF66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lang="en-GB" altLang="en-US">
                <a:solidFill>
                  <a:srgbClr val="000000"/>
                </a:solidFill>
              </a:rPr>
              <a:t>Voice</a:t>
            </a:r>
          </a:p>
        </p:txBody>
      </p:sp>
      <p:sp>
        <p:nvSpPr>
          <p:cNvPr id="19" name="Oval 5"/>
          <p:cNvSpPr>
            <a:spLocks noChangeArrowheads="1"/>
          </p:cNvSpPr>
          <p:nvPr/>
        </p:nvSpPr>
        <p:spPr bwMode="auto">
          <a:xfrm>
            <a:off x="2664946" y="5279598"/>
            <a:ext cx="1371600" cy="533400"/>
          </a:xfrm>
          <a:prstGeom prst="ellipse">
            <a:avLst/>
          </a:prstGeom>
          <a:solidFill>
            <a:srgbClr val="FF66CC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lang="en-GB" altLang="en-US">
                <a:solidFill>
                  <a:srgbClr val="000000"/>
                </a:solidFill>
              </a:rPr>
              <a:t>Media</a:t>
            </a:r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auto">
          <a:xfrm>
            <a:off x="4477871" y="4904948"/>
            <a:ext cx="1066800" cy="381000"/>
          </a:xfrm>
          <a:prstGeom prst="rightArrow">
            <a:avLst>
              <a:gd name="adj1" fmla="val 50000"/>
              <a:gd name="adj2" fmla="val 70000"/>
            </a:avLst>
          </a:prstGeom>
          <a:gradFill rotWithShape="0">
            <a:gsLst>
              <a:gs pos="0">
                <a:srgbClr val="FF0000"/>
              </a:gs>
              <a:gs pos="100000">
                <a:srgbClr val="FFFFFF"/>
              </a:gs>
            </a:gsLst>
            <a:lin ang="10800000" scaled="1"/>
          </a:gradFill>
          <a:ln w="12600">
            <a:solidFill>
              <a:srgbClr val="FF7C8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2" name="AutoShape 18"/>
          <p:cNvSpPr>
            <a:spLocks noChangeArrowheads="1"/>
          </p:cNvSpPr>
          <p:nvPr/>
        </p:nvSpPr>
        <p:spPr bwMode="auto">
          <a:xfrm>
            <a:off x="5697071" y="4828748"/>
            <a:ext cx="2057400" cy="533400"/>
          </a:xfrm>
          <a:prstGeom prst="roundRect">
            <a:avLst>
              <a:gd name="adj" fmla="val 16667"/>
            </a:avLst>
          </a:prstGeom>
          <a:noFill/>
          <a:ln w="12600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lang="en-GB" altLang="en-US">
                <a:solidFill>
                  <a:srgbClr val="0000FF"/>
                </a:solidFill>
              </a:rPr>
              <a:t>A bit is a bit!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995083" y="2468555"/>
            <a:ext cx="8229600" cy="1320800"/>
            <a:chOff x="439271" y="2767379"/>
            <a:chExt cx="8229600" cy="1320800"/>
          </a:xfrm>
        </p:grpSpPr>
        <p:sp>
          <p:nvSpPr>
            <p:cNvPr id="21" name="Line 7"/>
            <p:cNvSpPr>
              <a:spLocks noChangeShapeType="1"/>
            </p:cNvSpPr>
            <p:nvPr/>
          </p:nvSpPr>
          <p:spPr bwMode="auto">
            <a:xfrm>
              <a:off x="1048871" y="3605579"/>
              <a:ext cx="6781800" cy="1588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8"/>
            <p:cNvSpPr>
              <a:spLocks noChangeArrowheads="1"/>
            </p:cNvSpPr>
            <p:nvPr/>
          </p:nvSpPr>
          <p:spPr bwMode="auto">
            <a:xfrm>
              <a:off x="1506071" y="2919779"/>
              <a:ext cx="533400" cy="609600"/>
            </a:xfrm>
            <a:custGeom>
              <a:avLst/>
              <a:gdLst>
                <a:gd name="T0" fmla="*/ 0 w 336"/>
                <a:gd name="T1" fmla="*/ 2147483646 h 384"/>
                <a:gd name="T2" fmla="*/ 2147483646 w 336"/>
                <a:gd name="T3" fmla="*/ 2147483646 h 384"/>
                <a:gd name="T4" fmla="*/ 2147483646 w 336"/>
                <a:gd name="T5" fmla="*/ 0 h 384"/>
                <a:gd name="T6" fmla="*/ 2147483646 w 336"/>
                <a:gd name="T7" fmla="*/ 0 h 384"/>
                <a:gd name="T8" fmla="*/ 2147483646 w 336"/>
                <a:gd name="T9" fmla="*/ 2147483646 h 384"/>
                <a:gd name="T10" fmla="*/ 2147483646 w 336"/>
                <a:gd name="T11" fmla="*/ 2147483646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6"/>
                <a:gd name="T19" fmla="*/ 0 h 384"/>
                <a:gd name="T20" fmla="*/ 336 w 336"/>
                <a:gd name="T21" fmla="*/ 384 h 3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6" h="384">
                  <a:moveTo>
                    <a:pt x="0" y="384"/>
                  </a:moveTo>
                  <a:lnTo>
                    <a:pt x="96" y="384"/>
                  </a:lnTo>
                  <a:lnTo>
                    <a:pt x="96" y="0"/>
                  </a:lnTo>
                  <a:lnTo>
                    <a:pt x="240" y="0"/>
                  </a:lnTo>
                  <a:lnTo>
                    <a:pt x="240" y="384"/>
                  </a:lnTo>
                  <a:lnTo>
                    <a:pt x="336" y="384"/>
                  </a:lnTo>
                </a:path>
              </a:pathLst>
            </a:cu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Freeform 9"/>
            <p:cNvSpPr>
              <a:spLocks noChangeArrowheads="1"/>
            </p:cNvSpPr>
            <p:nvPr/>
          </p:nvSpPr>
          <p:spPr bwMode="auto">
            <a:xfrm>
              <a:off x="6687671" y="2919779"/>
              <a:ext cx="533400" cy="609600"/>
            </a:xfrm>
            <a:custGeom>
              <a:avLst/>
              <a:gdLst>
                <a:gd name="T0" fmla="*/ 0 w 336"/>
                <a:gd name="T1" fmla="*/ 2147483646 h 384"/>
                <a:gd name="T2" fmla="*/ 2147483646 w 336"/>
                <a:gd name="T3" fmla="*/ 2147483646 h 384"/>
                <a:gd name="T4" fmla="*/ 2147483646 w 336"/>
                <a:gd name="T5" fmla="*/ 0 h 384"/>
                <a:gd name="T6" fmla="*/ 2147483646 w 336"/>
                <a:gd name="T7" fmla="*/ 0 h 384"/>
                <a:gd name="T8" fmla="*/ 2147483646 w 336"/>
                <a:gd name="T9" fmla="*/ 2147483646 h 384"/>
                <a:gd name="T10" fmla="*/ 2147483646 w 336"/>
                <a:gd name="T11" fmla="*/ 2147483646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6"/>
                <a:gd name="T19" fmla="*/ 0 h 384"/>
                <a:gd name="T20" fmla="*/ 336 w 336"/>
                <a:gd name="T21" fmla="*/ 384 h 3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6" h="384">
                  <a:moveTo>
                    <a:pt x="0" y="384"/>
                  </a:moveTo>
                  <a:lnTo>
                    <a:pt x="96" y="384"/>
                  </a:lnTo>
                  <a:lnTo>
                    <a:pt x="96" y="0"/>
                  </a:lnTo>
                  <a:lnTo>
                    <a:pt x="240" y="0"/>
                  </a:lnTo>
                  <a:lnTo>
                    <a:pt x="240" y="384"/>
                  </a:lnTo>
                  <a:lnTo>
                    <a:pt x="336" y="384"/>
                  </a:lnTo>
                </a:path>
              </a:pathLst>
            </a:cu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Freeform 10"/>
            <p:cNvSpPr>
              <a:spLocks noChangeArrowheads="1"/>
            </p:cNvSpPr>
            <p:nvPr/>
          </p:nvSpPr>
          <p:spPr bwMode="auto">
            <a:xfrm>
              <a:off x="3563471" y="2919779"/>
              <a:ext cx="774700" cy="609600"/>
            </a:xfrm>
            <a:custGeom>
              <a:avLst/>
              <a:gdLst>
                <a:gd name="T0" fmla="*/ 0 w 488"/>
                <a:gd name="T1" fmla="*/ 2147483646 h 296"/>
                <a:gd name="T2" fmla="*/ 2147483646 w 488"/>
                <a:gd name="T3" fmla="*/ 2147483646 h 296"/>
                <a:gd name="T4" fmla="*/ 2147483646 w 488"/>
                <a:gd name="T5" fmla="*/ 2147483646 h 296"/>
                <a:gd name="T6" fmla="*/ 2147483646 w 488"/>
                <a:gd name="T7" fmla="*/ 2147483646 h 296"/>
                <a:gd name="T8" fmla="*/ 2147483646 w 488"/>
                <a:gd name="T9" fmla="*/ 0 h 296"/>
                <a:gd name="T10" fmla="*/ 2147483646 w 488"/>
                <a:gd name="T11" fmla="*/ 2147483646 h 296"/>
                <a:gd name="T12" fmla="*/ 2147483646 w 488"/>
                <a:gd name="T13" fmla="*/ 2147483646 h 296"/>
                <a:gd name="T14" fmla="*/ 2147483646 w 488"/>
                <a:gd name="T15" fmla="*/ 2147483646 h 296"/>
                <a:gd name="T16" fmla="*/ 2147483646 w 488"/>
                <a:gd name="T17" fmla="*/ 2147483646 h 29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88"/>
                <a:gd name="T28" fmla="*/ 0 h 296"/>
                <a:gd name="T29" fmla="*/ 488 w 488"/>
                <a:gd name="T30" fmla="*/ 296 h 29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88" h="296">
                  <a:moveTo>
                    <a:pt x="0" y="288"/>
                  </a:moveTo>
                  <a:cubicBezTo>
                    <a:pt x="37" y="285"/>
                    <a:pt x="76" y="289"/>
                    <a:pt x="112" y="280"/>
                  </a:cubicBezTo>
                  <a:cubicBezTo>
                    <a:pt x="127" y="276"/>
                    <a:pt x="134" y="232"/>
                    <a:pt x="136" y="224"/>
                  </a:cubicBezTo>
                  <a:cubicBezTo>
                    <a:pt x="151" y="171"/>
                    <a:pt x="152" y="120"/>
                    <a:pt x="200" y="88"/>
                  </a:cubicBezTo>
                  <a:cubicBezTo>
                    <a:pt x="226" y="49"/>
                    <a:pt x="217" y="26"/>
                    <a:pt x="256" y="0"/>
                  </a:cubicBezTo>
                  <a:cubicBezTo>
                    <a:pt x="305" y="73"/>
                    <a:pt x="332" y="109"/>
                    <a:pt x="360" y="192"/>
                  </a:cubicBezTo>
                  <a:cubicBezTo>
                    <a:pt x="371" y="224"/>
                    <a:pt x="381" y="256"/>
                    <a:pt x="392" y="288"/>
                  </a:cubicBezTo>
                  <a:cubicBezTo>
                    <a:pt x="395" y="296"/>
                    <a:pt x="408" y="293"/>
                    <a:pt x="416" y="296"/>
                  </a:cubicBezTo>
                  <a:cubicBezTo>
                    <a:pt x="440" y="293"/>
                    <a:pt x="488" y="288"/>
                    <a:pt x="488" y="288"/>
                  </a:cubicBezTo>
                </a:path>
              </a:pathLst>
            </a:cu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Freeform 11"/>
            <p:cNvSpPr>
              <a:spLocks noChangeArrowheads="1"/>
            </p:cNvSpPr>
            <p:nvPr/>
          </p:nvSpPr>
          <p:spPr bwMode="auto">
            <a:xfrm>
              <a:off x="4604871" y="3148379"/>
              <a:ext cx="787400" cy="381000"/>
            </a:xfrm>
            <a:custGeom>
              <a:avLst/>
              <a:gdLst>
                <a:gd name="T0" fmla="*/ 0 w 496"/>
                <a:gd name="T1" fmla="*/ 2147483646 h 176"/>
                <a:gd name="T2" fmla="*/ 2147483646 w 496"/>
                <a:gd name="T3" fmla="*/ 2147483646 h 176"/>
                <a:gd name="T4" fmla="*/ 2147483646 w 496"/>
                <a:gd name="T5" fmla="*/ 2147483646 h 176"/>
                <a:gd name="T6" fmla="*/ 2147483646 w 496"/>
                <a:gd name="T7" fmla="*/ 2147483646 h 176"/>
                <a:gd name="T8" fmla="*/ 2147483646 w 496"/>
                <a:gd name="T9" fmla="*/ 0 h 176"/>
                <a:gd name="T10" fmla="*/ 2147483646 w 496"/>
                <a:gd name="T11" fmla="*/ 2147483646 h 176"/>
                <a:gd name="T12" fmla="*/ 2147483646 w 496"/>
                <a:gd name="T13" fmla="*/ 2147483646 h 176"/>
                <a:gd name="T14" fmla="*/ 2147483646 w 496"/>
                <a:gd name="T15" fmla="*/ 2147483646 h 1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96"/>
                <a:gd name="T25" fmla="*/ 0 h 176"/>
                <a:gd name="T26" fmla="*/ 496 w 496"/>
                <a:gd name="T27" fmla="*/ 176 h 17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96" h="176">
                  <a:moveTo>
                    <a:pt x="0" y="176"/>
                  </a:moveTo>
                  <a:cubicBezTo>
                    <a:pt x="21" y="171"/>
                    <a:pt x="43" y="165"/>
                    <a:pt x="64" y="160"/>
                  </a:cubicBezTo>
                  <a:cubicBezTo>
                    <a:pt x="83" y="155"/>
                    <a:pt x="112" y="128"/>
                    <a:pt x="112" y="128"/>
                  </a:cubicBezTo>
                  <a:cubicBezTo>
                    <a:pt x="126" y="87"/>
                    <a:pt x="133" y="59"/>
                    <a:pt x="168" y="32"/>
                  </a:cubicBezTo>
                  <a:cubicBezTo>
                    <a:pt x="183" y="20"/>
                    <a:pt x="216" y="0"/>
                    <a:pt x="216" y="0"/>
                  </a:cubicBezTo>
                  <a:cubicBezTo>
                    <a:pt x="232" y="11"/>
                    <a:pt x="248" y="21"/>
                    <a:pt x="264" y="32"/>
                  </a:cubicBezTo>
                  <a:cubicBezTo>
                    <a:pt x="272" y="37"/>
                    <a:pt x="288" y="48"/>
                    <a:pt x="288" y="48"/>
                  </a:cubicBezTo>
                  <a:cubicBezTo>
                    <a:pt x="320" y="144"/>
                    <a:pt x="404" y="168"/>
                    <a:pt x="496" y="168"/>
                  </a:cubicBezTo>
                </a:path>
              </a:pathLst>
            </a:cu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Freeform 12"/>
            <p:cNvSpPr>
              <a:spLocks noChangeArrowheads="1"/>
            </p:cNvSpPr>
            <p:nvPr/>
          </p:nvSpPr>
          <p:spPr bwMode="auto">
            <a:xfrm>
              <a:off x="5544671" y="3338879"/>
              <a:ext cx="939800" cy="190500"/>
            </a:xfrm>
            <a:custGeom>
              <a:avLst/>
              <a:gdLst>
                <a:gd name="T0" fmla="*/ 0 w 592"/>
                <a:gd name="T1" fmla="*/ 2147483646 h 120"/>
                <a:gd name="T2" fmla="*/ 2147483646 w 592"/>
                <a:gd name="T3" fmla="*/ 2147483646 h 120"/>
                <a:gd name="T4" fmla="*/ 2147483646 w 592"/>
                <a:gd name="T5" fmla="*/ 0 h 120"/>
                <a:gd name="T6" fmla="*/ 2147483646 w 592"/>
                <a:gd name="T7" fmla="*/ 2147483646 h 120"/>
                <a:gd name="T8" fmla="*/ 2147483646 w 592"/>
                <a:gd name="T9" fmla="*/ 2147483646 h 120"/>
                <a:gd name="T10" fmla="*/ 2147483646 w 592"/>
                <a:gd name="T11" fmla="*/ 2147483646 h 120"/>
                <a:gd name="T12" fmla="*/ 2147483646 w 592"/>
                <a:gd name="T13" fmla="*/ 2147483646 h 1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92"/>
                <a:gd name="T22" fmla="*/ 0 h 120"/>
                <a:gd name="T23" fmla="*/ 592 w 592"/>
                <a:gd name="T24" fmla="*/ 120 h 12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92" h="120">
                  <a:moveTo>
                    <a:pt x="0" y="120"/>
                  </a:moveTo>
                  <a:cubicBezTo>
                    <a:pt x="38" y="111"/>
                    <a:pt x="50" y="89"/>
                    <a:pt x="88" y="80"/>
                  </a:cubicBezTo>
                  <a:cubicBezTo>
                    <a:pt x="122" y="46"/>
                    <a:pt x="162" y="15"/>
                    <a:pt x="208" y="0"/>
                  </a:cubicBezTo>
                  <a:cubicBezTo>
                    <a:pt x="263" y="18"/>
                    <a:pt x="324" y="22"/>
                    <a:pt x="376" y="48"/>
                  </a:cubicBezTo>
                  <a:cubicBezTo>
                    <a:pt x="395" y="58"/>
                    <a:pt x="411" y="76"/>
                    <a:pt x="432" y="80"/>
                  </a:cubicBezTo>
                  <a:cubicBezTo>
                    <a:pt x="463" y="86"/>
                    <a:pt x="496" y="85"/>
                    <a:pt x="528" y="88"/>
                  </a:cubicBezTo>
                  <a:cubicBezTo>
                    <a:pt x="582" y="106"/>
                    <a:pt x="561" y="96"/>
                    <a:pt x="592" y="112"/>
                  </a:cubicBezTo>
                </a:path>
              </a:pathLst>
            </a:cu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Text Box 13"/>
            <p:cNvSpPr txBox="1">
              <a:spLocks noChangeArrowheads="1"/>
            </p:cNvSpPr>
            <p:nvPr/>
          </p:nvSpPr>
          <p:spPr bwMode="auto">
            <a:xfrm>
              <a:off x="5355759" y="3719879"/>
              <a:ext cx="2246312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Propagation distance</a:t>
              </a:r>
            </a:p>
          </p:txBody>
        </p:sp>
        <p:sp>
          <p:nvSpPr>
            <p:cNvPr id="28" name="AutoShape 14"/>
            <p:cNvSpPr>
              <a:spLocks noChangeArrowheads="1"/>
            </p:cNvSpPr>
            <p:nvPr/>
          </p:nvSpPr>
          <p:spPr bwMode="auto">
            <a:xfrm>
              <a:off x="439271" y="2767379"/>
              <a:ext cx="990600" cy="533400"/>
            </a:xfrm>
            <a:prstGeom prst="roundRect">
              <a:avLst>
                <a:gd name="adj" fmla="val 16667"/>
              </a:avLst>
            </a:pr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 dirty="0">
                  <a:solidFill>
                    <a:srgbClr val="000000"/>
                  </a:solidFill>
                </a:rPr>
                <a:t>Original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 dirty="0">
                  <a:solidFill>
                    <a:srgbClr val="000000"/>
                  </a:solidFill>
                </a:rPr>
                <a:t>pulse</a:t>
              </a:r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>
              <a:off x="1429871" y="3072179"/>
              <a:ext cx="152400" cy="15240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AutoShape 16"/>
            <p:cNvSpPr>
              <a:spLocks noChangeArrowheads="1"/>
            </p:cNvSpPr>
            <p:nvPr/>
          </p:nvSpPr>
          <p:spPr bwMode="auto">
            <a:xfrm>
              <a:off x="7373471" y="2767379"/>
              <a:ext cx="1295400" cy="533400"/>
            </a:xfrm>
            <a:prstGeom prst="roundRect">
              <a:avLst>
                <a:gd name="adj" fmla="val 16667"/>
              </a:avLst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Regenerated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pulse</a:t>
              </a:r>
            </a:p>
          </p:txBody>
        </p:sp>
        <p:sp>
          <p:nvSpPr>
            <p:cNvPr id="31" name="Line 17"/>
            <p:cNvSpPr>
              <a:spLocks noChangeShapeType="1"/>
            </p:cNvSpPr>
            <p:nvPr/>
          </p:nvSpPr>
          <p:spPr bwMode="auto">
            <a:xfrm flipH="1">
              <a:off x="7135346" y="3072179"/>
              <a:ext cx="247650" cy="15240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9"/>
            <p:cNvSpPr>
              <a:spLocks noChangeArrowheads="1"/>
            </p:cNvSpPr>
            <p:nvPr/>
          </p:nvSpPr>
          <p:spPr bwMode="auto">
            <a:xfrm>
              <a:off x="2420471" y="2919779"/>
              <a:ext cx="609600" cy="609600"/>
            </a:xfrm>
            <a:custGeom>
              <a:avLst/>
              <a:gdLst>
                <a:gd name="T0" fmla="*/ 0 w 384"/>
                <a:gd name="T1" fmla="*/ 2147483646 h 384"/>
                <a:gd name="T2" fmla="*/ 2147483646 w 384"/>
                <a:gd name="T3" fmla="*/ 0 h 384"/>
                <a:gd name="T4" fmla="*/ 2147483646 w 384"/>
                <a:gd name="T5" fmla="*/ 2147483646 h 384"/>
                <a:gd name="T6" fmla="*/ 0 60000 65536"/>
                <a:gd name="T7" fmla="*/ 0 60000 65536"/>
                <a:gd name="T8" fmla="*/ 0 60000 65536"/>
                <a:gd name="T9" fmla="*/ 0 w 384"/>
                <a:gd name="T10" fmla="*/ 0 h 384"/>
                <a:gd name="T11" fmla="*/ 384 w 384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384">
                  <a:moveTo>
                    <a:pt x="0" y="384"/>
                  </a:moveTo>
                  <a:cubicBezTo>
                    <a:pt x="64" y="192"/>
                    <a:pt x="128" y="0"/>
                    <a:pt x="192" y="0"/>
                  </a:cubicBezTo>
                  <a:cubicBezTo>
                    <a:pt x="256" y="0"/>
                    <a:pt x="352" y="320"/>
                    <a:pt x="384" y="384"/>
                  </a:cubicBezTo>
                </a:path>
              </a:pathLst>
            </a:cu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886486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295835" y="765559"/>
            <a:ext cx="11429999" cy="4122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1.1	ΟΡΙΣΜΟΙ ΕΝΝΟΙΩΝ</a:t>
            </a:r>
            <a:r>
              <a:rPr lang="en-GB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1.1.1	Σύγχρονες και ασύγχρονες επικοινωνίες</a:t>
            </a: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Σύγχρονη μετάδοση</a:t>
            </a:r>
            <a:endParaRPr lang="el-GR" altLang="en-US" sz="2084" i="1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Ένα 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σύγχρονο (</a:t>
            </a:r>
            <a:r>
              <a:rPr lang="en-US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synchronous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σύστημα είναι αυτό, στο οποίο ο πομπός και ο δέκτης λειτουργούν συνεχώς, με τον </a:t>
            </a:r>
            <a:r>
              <a:rPr lang="el-GR" altLang="en-US" sz="2084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ίδιο αριθμό συμβόλων ανά δευτερόλεπτο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, και διατηρούνται σε μια επιθυμητή διαφορά φάσης με τη βοήθεια κατάλληλων λειτουργιών διόρθωσης</a:t>
            </a:r>
            <a:r>
              <a:rPr lang="en-US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Απαίτηση: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altLang="en-US" sz="2084" b="0" u="sng" dirty="0">
                <a:latin typeface="Calibri" panose="020F0502020204030204" pitchFamily="34" charset="0"/>
                <a:cs typeface="Calibri" panose="020F0502020204030204" pitchFamily="34" charset="0"/>
              </a:rPr>
              <a:t>Κύκλωμα χρονισμού στον δέκτη</a:t>
            </a:r>
            <a:r>
              <a:rPr lang="en-US" altLang="en-US" sz="2084" b="0" u="sn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altLang="en-US" sz="2084" b="0" u="sng" dirty="0">
                <a:latin typeface="Calibri" panose="020F0502020204030204" pitchFamily="34" charset="0"/>
                <a:cs typeface="Calibri" panose="020F0502020204030204" pitchFamily="34" charset="0"/>
              </a:rPr>
              <a:t>(σύμφωνα με τον τοπικό ταλαντωτή του πομπού)</a:t>
            </a:r>
            <a:endParaRPr lang="en-US" altLang="en-US" sz="2084" b="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Ασύγχρονη μετάδοση</a:t>
            </a:r>
            <a:endParaRPr lang="el-GR" altLang="en-US" sz="2084" i="1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Ένα 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ασύγχρονο (</a:t>
            </a:r>
            <a:r>
              <a:rPr lang="en-US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asynchronous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σύστημα είναι αυτό, στο οποίο </a:t>
            </a:r>
            <a:r>
              <a:rPr lang="el-GR" altLang="en-US" sz="2084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ο ρυθμός αποστολής συμβόλων μπορεί να μεταβάλλεται με το χρόνο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μέσα σε κάποια όρια και έτσι δεν υπάρχει αυστηρός περιορισμός χρονισμού</a:t>
            </a:r>
            <a:r>
              <a:rPr lang="en-US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του δέκτη.</a:t>
            </a: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6" name="TextBox 5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024514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278296" y="765559"/>
            <a:ext cx="11546151" cy="4699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87325" indent="-187325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1.1	ΟΡΙΣΜΟΙ ΕΝΝΟΙΩΝ</a:t>
            </a:r>
            <a:r>
              <a:rPr lang="en-GB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1.1.1	Σύγχρονες και ασύγχρονες επικοινωνίες</a:t>
            </a: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Πλεονεκτήματα σύγχρονης επικοινωνίας δεδομένων</a:t>
            </a: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FontTx/>
              <a:buChar char="•"/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Ανοχή στο θόρυβο λόγω</a:t>
            </a:r>
            <a:r>
              <a:rPr lang="en-US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του προσαρμοσμένου φιλτραρίσματος (</a:t>
            </a:r>
            <a:r>
              <a:rPr lang="en-US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matched filtering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), οπότε απορρίπτεται η επίδραση του θορύβου και των παρεμβολών και μεγιστοποιείται η ισχύς σήματος.</a:t>
            </a: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FontTx/>
              <a:buChar char="•"/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Δυνατότητα διαχείρισης μεγαλύτερων ρυθμών αποστολής δεδομένων από ότι η ασύγχρονη.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Μειονεκτήματα σύγχρονης επικοινωνίας δεδομένων</a:t>
            </a: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FontTx/>
              <a:buChar char="•"/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Ο συγχρονισμός του συστήματος πρέπει να γίνει σε πεπερασμένο χρόνο.</a:t>
            </a: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FontTx/>
              <a:buChar char="•"/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Είναι πιο ακριβή και περίπλοκη από την ασύγχρονη λειτουργία.</a:t>
            </a: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FontTx/>
              <a:buChar char="•"/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Δε μπορεί εύκολα να διαχειριστεί μεταβαλλόμενους ρυθμούς εκπομπής συμβόλων.</a:t>
            </a:r>
            <a:r>
              <a:rPr lang="en-GB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6" name="TextBox 5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0729511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392943" y="765559"/>
            <a:ext cx="7453652" cy="4122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1.1	ΟΡΙΣΜΟΙ ΕΝΝΟΙΩΝ</a:t>
            </a:r>
            <a:r>
              <a:rPr lang="en-GB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1.1.</a:t>
            </a:r>
            <a:r>
              <a:rPr lang="en-US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	Είδη Σημάτων</a:t>
            </a: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Αναλογικά Σήματα</a:t>
            </a:r>
            <a:endParaRPr lang="el-GR" altLang="en-US" sz="2084" i="1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Ένα 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αναλογικό σήμα (</a:t>
            </a:r>
            <a:r>
              <a:rPr lang="en-US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analogue signal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ορίζεται ως μια φυσική ποσότητα που μεταβάλλεται εν γένει ομαλά και συνεχώς με το χρόνο</a:t>
            </a:r>
            <a:r>
              <a:rPr lang="en-US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Ψηφιακά Σήματα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Ένα 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ψηφιακό σήμα (</a:t>
            </a:r>
            <a:r>
              <a:rPr lang="en-US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digital signal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discrete signal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αποτελείται από ξεχωριστά σύμβολα που έχουν επιλεγεί από ένα πεπερασμένο σύνολο.</a:t>
            </a: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523" y="1697601"/>
            <a:ext cx="2008588" cy="1222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7" descr="57b"/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740" y="3575305"/>
            <a:ext cx="2550695" cy="60759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8" name="TextBox 7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/>
          <p:cNvGrpSpPr/>
          <p:nvPr/>
        </p:nvGrpSpPr>
        <p:grpSpPr>
          <a:xfrm>
            <a:off x="110369" y="5050139"/>
            <a:ext cx="5172100" cy="873370"/>
            <a:chOff x="110369" y="5050139"/>
            <a:chExt cx="6400800" cy="1355724"/>
          </a:xfrm>
        </p:grpSpPr>
        <p:sp>
          <p:nvSpPr>
            <p:cNvPr id="11" name="Oval 3"/>
            <p:cNvSpPr>
              <a:spLocks noChangeArrowheads="1"/>
            </p:cNvSpPr>
            <p:nvPr/>
          </p:nvSpPr>
          <p:spPr bwMode="auto">
            <a:xfrm>
              <a:off x="110369" y="5421613"/>
              <a:ext cx="1219200" cy="533400"/>
            </a:xfrm>
            <a:prstGeom prst="ellipse">
              <a:avLst/>
            </a:prstGeom>
            <a:solidFill>
              <a:srgbClr val="FFFF66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dirty="0">
                  <a:solidFill>
                    <a:srgbClr val="000000"/>
                  </a:solidFill>
                </a:rPr>
                <a:t>Data</a:t>
              </a:r>
            </a:p>
          </p:txBody>
        </p:sp>
        <p:sp>
          <p:nvSpPr>
            <p:cNvPr id="12" name="Oval 4"/>
            <p:cNvSpPr>
              <a:spLocks noChangeArrowheads="1"/>
            </p:cNvSpPr>
            <p:nvPr/>
          </p:nvSpPr>
          <p:spPr bwMode="auto">
            <a:xfrm>
              <a:off x="1764919" y="5050139"/>
              <a:ext cx="1219200" cy="533400"/>
            </a:xfrm>
            <a:prstGeom prst="ellipse">
              <a:avLst/>
            </a:prstGeom>
            <a:solidFill>
              <a:srgbClr val="66FF66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>
                  <a:solidFill>
                    <a:srgbClr val="000000"/>
                  </a:solidFill>
                </a:rPr>
                <a:t>Voice</a:t>
              </a:r>
            </a:p>
          </p:txBody>
        </p:sp>
        <p:sp>
          <p:nvSpPr>
            <p:cNvPr id="13" name="Oval 5"/>
            <p:cNvSpPr>
              <a:spLocks noChangeArrowheads="1"/>
            </p:cNvSpPr>
            <p:nvPr/>
          </p:nvSpPr>
          <p:spPr bwMode="auto">
            <a:xfrm>
              <a:off x="1421644" y="5872463"/>
              <a:ext cx="1371600" cy="533400"/>
            </a:xfrm>
            <a:prstGeom prst="ellipse">
              <a:avLst/>
            </a:prstGeom>
            <a:solidFill>
              <a:srgbClr val="FF66CC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>
                  <a:solidFill>
                    <a:srgbClr val="000000"/>
                  </a:solidFill>
                </a:rPr>
                <a:t>Media</a:t>
              </a:r>
            </a:p>
          </p:txBody>
        </p:sp>
        <p:sp>
          <p:nvSpPr>
            <p:cNvPr id="14" name="AutoShape 6"/>
            <p:cNvSpPr>
              <a:spLocks noChangeArrowheads="1"/>
            </p:cNvSpPr>
            <p:nvPr/>
          </p:nvSpPr>
          <p:spPr bwMode="auto">
            <a:xfrm>
              <a:off x="3234569" y="5497813"/>
              <a:ext cx="1066800" cy="381000"/>
            </a:xfrm>
            <a:prstGeom prst="rightArrow">
              <a:avLst>
                <a:gd name="adj1" fmla="val 50000"/>
                <a:gd name="adj2" fmla="val 70000"/>
              </a:avLst>
            </a:prstGeom>
            <a:gradFill rotWithShape="0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10800000" scaled="1"/>
            </a:gradFill>
            <a:ln w="12600">
              <a:solidFill>
                <a:srgbClr val="FF7C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5" name="AutoShape 18"/>
            <p:cNvSpPr>
              <a:spLocks noChangeArrowheads="1"/>
            </p:cNvSpPr>
            <p:nvPr/>
          </p:nvSpPr>
          <p:spPr bwMode="auto">
            <a:xfrm>
              <a:off x="4453769" y="5421613"/>
              <a:ext cx="2057400" cy="533400"/>
            </a:xfrm>
            <a:prstGeom prst="roundRect">
              <a:avLst>
                <a:gd name="adj" fmla="val 16667"/>
              </a:avLst>
            </a:prstGeom>
            <a:noFill/>
            <a:ln w="12600">
              <a:solidFill>
                <a:srgbClr val="33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>
                  <a:solidFill>
                    <a:srgbClr val="0000FF"/>
                  </a:solidFill>
                </a:rPr>
                <a:t>A bit is a bit!</a:t>
              </a:r>
            </a:p>
          </p:txBody>
        </p:sp>
      </p:grpSp>
      <p:grpSp>
        <p:nvGrpSpPr>
          <p:cNvPr id="16" name="Group 3"/>
          <p:cNvGrpSpPr>
            <a:grpSpLocks/>
          </p:cNvGrpSpPr>
          <p:nvPr/>
        </p:nvGrpSpPr>
        <p:grpSpPr bwMode="auto">
          <a:xfrm>
            <a:off x="5802164" y="4239522"/>
            <a:ext cx="5996359" cy="2545996"/>
            <a:chOff x="1056" y="2443"/>
            <a:chExt cx="4079" cy="1676"/>
          </a:xfrm>
        </p:grpSpPr>
        <p:sp>
          <p:nvSpPr>
            <p:cNvPr id="17" name="Line 4"/>
            <p:cNvSpPr>
              <a:spLocks noChangeShapeType="1"/>
            </p:cNvSpPr>
            <p:nvPr/>
          </p:nvSpPr>
          <p:spPr bwMode="auto">
            <a:xfrm>
              <a:off x="3408" y="3264"/>
              <a:ext cx="1727" cy="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5"/>
            <p:cNvSpPr>
              <a:spLocks noChangeShapeType="1"/>
            </p:cNvSpPr>
            <p:nvPr/>
          </p:nvSpPr>
          <p:spPr bwMode="auto">
            <a:xfrm flipV="1">
              <a:off x="4128" y="2730"/>
              <a:ext cx="0" cy="63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6"/>
            <p:cNvSpPr>
              <a:spLocks noChangeShapeType="1"/>
            </p:cNvSpPr>
            <p:nvPr/>
          </p:nvSpPr>
          <p:spPr bwMode="auto">
            <a:xfrm flipV="1">
              <a:off x="3552" y="3114"/>
              <a:ext cx="0" cy="155"/>
            </a:xfrm>
            <a:prstGeom prst="line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7"/>
            <p:cNvSpPr>
              <a:spLocks noChangeShapeType="1"/>
            </p:cNvSpPr>
            <p:nvPr/>
          </p:nvSpPr>
          <p:spPr bwMode="auto">
            <a:xfrm flipV="1">
              <a:off x="4848" y="3018"/>
              <a:ext cx="0" cy="251"/>
            </a:xfrm>
            <a:prstGeom prst="line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8"/>
            <p:cNvSpPr>
              <a:spLocks noChangeShapeType="1"/>
            </p:cNvSpPr>
            <p:nvPr/>
          </p:nvSpPr>
          <p:spPr bwMode="auto">
            <a:xfrm flipV="1">
              <a:off x="3744" y="3066"/>
              <a:ext cx="0" cy="203"/>
            </a:xfrm>
            <a:prstGeom prst="line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9"/>
            <p:cNvSpPr>
              <a:spLocks noChangeShapeType="1"/>
            </p:cNvSpPr>
            <p:nvPr/>
          </p:nvSpPr>
          <p:spPr bwMode="auto">
            <a:xfrm flipV="1">
              <a:off x="4704" y="3114"/>
              <a:ext cx="0" cy="155"/>
            </a:xfrm>
            <a:prstGeom prst="line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0"/>
            <p:cNvSpPr>
              <a:spLocks noChangeShapeType="1"/>
            </p:cNvSpPr>
            <p:nvPr/>
          </p:nvSpPr>
          <p:spPr bwMode="auto">
            <a:xfrm flipV="1">
              <a:off x="4512" y="2922"/>
              <a:ext cx="0" cy="347"/>
            </a:xfrm>
            <a:prstGeom prst="line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1"/>
            <p:cNvSpPr>
              <a:spLocks noChangeShapeType="1"/>
            </p:cNvSpPr>
            <p:nvPr/>
          </p:nvSpPr>
          <p:spPr bwMode="auto">
            <a:xfrm flipV="1">
              <a:off x="3936" y="2922"/>
              <a:ext cx="0" cy="347"/>
            </a:xfrm>
            <a:prstGeom prst="line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2"/>
            <p:cNvSpPr>
              <a:spLocks noChangeShapeType="1"/>
            </p:cNvSpPr>
            <p:nvPr/>
          </p:nvSpPr>
          <p:spPr bwMode="auto">
            <a:xfrm flipV="1">
              <a:off x="4320" y="3258"/>
              <a:ext cx="0" cy="203"/>
            </a:xfrm>
            <a:prstGeom prst="line">
              <a:avLst/>
            </a:prstGeom>
            <a:noFill/>
            <a:ln w="28440">
              <a:solidFill>
                <a:srgbClr val="3333CC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3"/>
            <p:cNvSpPr>
              <a:spLocks noChangeShapeType="1"/>
            </p:cNvSpPr>
            <p:nvPr/>
          </p:nvSpPr>
          <p:spPr bwMode="auto">
            <a:xfrm flipV="1">
              <a:off x="4128" y="3018"/>
              <a:ext cx="0" cy="251"/>
            </a:xfrm>
            <a:prstGeom prst="line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Box 14"/>
            <p:cNvSpPr txBox="1">
              <a:spLocks noChangeArrowheads="1"/>
            </p:cNvSpPr>
            <p:nvPr/>
          </p:nvSpPr>
          <p:spPr bwMode="auto">
            <a:xfrm>
              <a:off x="3620" y="3552"/>
              <a:ext cx="113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 dirty="0">
                  <a:solidFill>
                    <a:srgbClr val="FF0000"/>
                  </a:solidFill>
                </a:rPr>
                <a:t>A discrete signal</a:t>
              </a:r>
            </a:p>
          </p:txBody>
        </p:sp>
        <p:sp>
          <p:nvSpPr>
            <p:cNvPr id="28" name="Line 15"/>
            <p:cNvSpPr>
              <a:spLocks noChangeShapeType="1"/>
            </p:cNvSpPr>
            <p:nvPr/>
          </p:nvSpPr>
          <p:spPr bwMode="auto">
            <a:xfrm>
              <a:off x="1056" y="3720"/>
              <a:ext cx="1727" cy="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6"/>
            <p:cNvSpPr>
              <a:spLocks noChangeShapeType="1"/>
            </p:cNvSpPr>
            <p:nvPr/>
          </p:nvSpPr>
          <p:spPr bwMode="auto">
            <a:xfrm flipV="1">
              <a:off x="1776" y="3186"/>
              <a:ext cx="0" cy="63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>
              <a:spLocks noChangeArrowheads="1"/>
            </p:cNvSpPr>
            <p:nvPr/>
          </p:nvSpPr>
          <p:spPr bwMode="auto">
            <a:xfrm>
              <a:off x="1192" y="3376"/>
              <a:ext cx="1452" cy="511"/>
            </a:xfrm>
            <a:custGeom>
              <a:avLst/>
              <a:gdLst>
                <a:gd name="T0" fmla="*/ 0 w 1453"/>
                <a:gd name="T1" fmla="*/ 282 h 512"/>
                <a:gd name="T2" fmla="*/ 48 w 1453"/>
                <a:gd name="T3" fmla="*/ 240 h 512"/>
                <a:gd name="T4" fmla="*/ 56 w 1453"/>
                <a:gd name="T5" fmla="*/ 216 h 512"/>
                <a:gd name="T6" fmla="*/ 104 w 1453"/>
                <a:gd name="T7" fmla="*/ 200 h 512"/>
                <a:gd name="T8" fmla="*/ 176 w 1453"/>
                <a:gd name="T9" fmla="*/ 232 h 512"/>
                <a:gd name="T10" fmla="*/ 304 w 1453"/>
                <a:gd name="T11" fmla="*/ 168 h 512"/>
                <a:gd name="T12" fmla="*/ 352 w 1453"/>
                <a:gd name="T13" fmla="*/ 136 h 512"/>
                <a:gd name="T14" fmla="*/ 448 w 1453"/>
                <a:gd name="T15" fmla="*/ 128 h 512"/>
                <a:gd name="T16" fmla="*/ 608 w 1453"/>
                <a:gd name="T17" fmla="*/ 32 h 512"/>
                <a:gd name="T18" fmla="*/ 680 w 1453"/>
                <a:gd name="T19" fmla="*/ 128 h 512"/>
                <a:gd name="T20" fmla="*/ 730 w 1453"/>
                <a:gd name="T21" fmla="*/ 216 h 512"/>
                <a:gd name="T22" fmla="*/ 810 w 1453"/>
                <a:gd name="T23" fmla="*/ 192 h 512"/>
                <a:gd name="T24" fmla="*/ 882 w 1453"/>
                <a:gd name="T25" fmla="*/ 306 h 512"/>
                <a:gd name="T26" fmla="*/ 914 w 1453"/>
                <a:gd name="T27" fmla="*/ 490 h 512"/>
                <a:gd name="T28" fmla="*/ 938 w 1453"/>
                <a:gd name="T29" fmla="*/ 506 h 512"/>
                <a:gd name="T30" fmla="*/ 1050 w 1453"/>
                <a:gd name="T31" fmla="*/ 402 h 512"/>
                <a:gd name="T32" fmla="*/ 1130 w 1453"/>
                <a:gd name="T33" fmla="*/ 240 h 512"/>
                <a:gd name="T34" fmla="*/ 1226 w 1453"/>
                <a:gd name="T35" fmla="*/ 0 h 512"/>
                <a:gd name="T36" fmla="*/ 1274 w 1453"/>
                <a:gd name="T37" fmla="*/ 16 h 512"/>
                <a:gd name="T38" fmla="*/ 1338 w 1453"/>
                <a:gd name="T39" fmla="*/ 120 h 512"/>
                <a:gd name="T40" fmla="*/ 1410 w 1453"/>
                <a:gd name="T41" fmla="*/ 240 h 512"/>
                <a:gd name="T42" fmla="*/ 1426 w 1453"/>
                <a:gd name="T43" fmla="*/ 266 h 51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453"/>
                <a:gd name="T67" fmla="*/ 0 h 512"/>
                <a:gd name="T68" fmla="*/ 1453 w 1453"/>
                <a:gd name="T69" fmla="*/ 512 h 512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453" h="512">
                  <a:moveTo>
                    <a:pt x="0" y="288"/>
                  </a:moveTo>
                  <a:cubicBezTo>
                    <a:pt x="16" y="272"/>
                    <a:pt x="41" y="261"/>
                    <a:pt x="48" y="240"/>
                  </a:cubicBezTo>
                  <a:cubicBezTo>
                    <a:pt x="51" y="232"/>
                    <a:pt x="49" y="221"/>
                    <a:pt x="56" y="216"/>
                  </a:cubicBezTo>
                  <a:cubicBezTo>
                    <a:pt x="70" y="206"/>
                    <a:pt x="104" y="200"/>
                    <a:pt x="104" y="200"/>
                  </a:cubicBezTo>
                  <a:cubicBezTo>
                    <a:pt x="130" y="209"/>
                    <a:pt x="150" y="223"/>
                    <a:pt x="176" y="232"/>
                  </a:cubicBezTo>
                  <a:cubicBezTo>
                    <a:pt x="219" y="211"/>
                    <a:pt x="263" y="191"/>
                    <a:pt x="304" y="168"/>
                  </a:cubicBezTo>
                  <a:cubicBezTo>
                    <a:pt x="321" y="159"/>
                    <a:pt x="352" y="136"/>
                    <a:pt x="352" y="136"/>
                  </a:cubicBezTo>
                  <a:cubicBezTo>
                    <a:pt x="392" y="156"/>
                    <a:pt x="411" y="153"/>
                    <a:pt x="448" y="128"/>
                  </a:cubicBezTo>
                  <a:cubicBezTo>
                    <a:pt x="485" y="73"/>
                    <a:pt x="544" y="48"/>
                    <a:pt x="608" y="32"/>
                  </a:cubicBezTo>
                  <a:cubicBezTo>
                    <a:pt x="641" y="54"/>
                    <a:pt x="664" y="91"/>
                    <a:pt x="680" y="128"/>
                  </a:cubicBezTo>
                  <a:cubicBezTo>
                    <a:pt x="705" y="184"/>
                    <a:pt x="686" y="191"/>
                    <a:pt x="736" y="216"/>
                  </a:cubicBezTo>
                  <a:cubicBezTo>
                    <a:pt x="763" y="207"/>
                    <a:pt x="789" y="201"/>
                    <a:pt x="816" y="192"/>
                  </a:cubicBezTo>
                  <a:cubicBezTo>
                    <a:pt x="866" y="209"/>
                    <a:pt x="866" y="269"/>
                    <a:pt x="888" y="312"/>
                  </a:cubicBezTo>
                  <a:cubicBezTo>
                    <a:pt x="891" y="340"/>
                    <a:pt x="901" y="467"/>
                    <a:pt x="920" y="496"/>
                  </a:cubicBezTo>
                  <a:cubicBezTo>
                    <a:pt x="925" y="504"/>
                    <a:pt x="936" y="507"/>
                    <a:pt x="944" y="512"/>
                  </a:cubicBezTo>
                  <a:cubicBezTo>
                    <a:pt x="992" y="488"/>
                    <a:pt x="1024" y="450"/>
                    <a:pt x="1056" y="408"/>
                  </a:cubicBezTo>
                  <a:cubicBezTo>
                    <a:pt x="1076" y="349"/>
                    <a:pt x="1108" y="296"/>
                    <a:pt x="1136" y="240"/>
                  </a:cubicBezTo>
                  <a:cubicBezTo>
                    <a:pt x="1147" y="184"/>
                    <a:pt x="1204" y="57"/>
                    <a:pt x="1232" y="0"/>
                  </a:cubicBezTo>
                  <a:cubicBezTo>
                    <a:pt x="1248" y="5"/>
                    <a:pt x="1266" y="7"/>
                    <a:pt x="1280" y="16"/>
                  </a:cubicBezTo>
                  <a:cubicBezTo>
                    <a:pt x="1313" y="38"/>
                    <a:pt x="1327" y="86"/>
                    <a:pt x="1344" y="120"/>
                  </a:cubicBezTo>
                  <a:cubicBezTo>
                    <a:pt x="1365" y="162"/>
                    <a:pt x="1390" y="201"/>
                    <a:pt x="1416" y="240"/>
                  </a:cubicBezTo>
                  <a:cubicBezTo>
                    <a:pt x="1453" y="295"/>
                    <a:pt x="1406" y="246"/>
                    <a:pt x="1432" y="272"/>
                  </a:cubicBezTo>
                </a:path>
              </a:pathLst>
            </a:custGeom>
            <a:noFill/>
            <a:ln w="28440">
              <a:solidFill>
                <a:srgbClr val="33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Rectangle 18"/>
            <p:cNvSpPr>
              <a:spLocks noChangeArrowheads="1"/>
            </p:cNvSpPr>
            <p:nvPr/>
          </p:nvSpPr>
          <p:spPr bwMode="auto">
            <a:xfrm>
              <a:off x="1297" y="3888"/>
              <a:ext cx="100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FF0000"/>
                  </a:solidFill>
                </a:rPr>
                <a:t>Analog signals</a:t>
              </a:r>
            </a:p>
          </p:txBody>
        </p:sp>
        <p:sp>
          <p:nvSpPr>
            <p:cNvPr id="32" name="Line 19"/>
            <p:cNvSpPr>
              <a:spLocks noChangeShapeType="1"/>
            </p:cNvSpPr>
            <p:nvPr/>
          </p:nvSpPr>
          <p:spPr bwMode="auto">
            <a:xfrm flipV="1">
              <a:off x="1776" y="2442"/>
              <a:ext cx="0" cy="63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Rectangle 20"/>
            <p:cNvSpPr>
              <a:spLocks noChangeArrowheads="1"/>
            </p:cNvSpPr>
            <p:nvPr/>
          </p:nvSpPr>
          <p:spPr bwMode="auto">
            <a:xfrm>
              <a:off x="1200" y="2832"/>
              <a:ext cx="95" cy="143"/>
            </a:xfrm>
            <a:prstGeom prst="rect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34" name="Rectangle 21"/>
            <p:cNvSpPr>
              <a:spLocks noChangeArrowheads="1"/>
            </p:cNvSpPr>
            <p:nvPr/>
          </p:nvSpPr>
          <p:spPr bwMode="auto">
            <a:xfrm>
              <a:off x="1968" y="2976"/>
              <a:ext cx="95" cy="191"/>
            </a:xfrm>
            <a:prstGeom prst="rect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35" name="Rectangle 22"/>
            <p:cNvSpPr>
              <a:spLocks noChangeArrowheads="1"/>
            </p:cNvSpPr>
            <p:nvPr/>
          </p:nvSpPr>
          <p:spPr bwMode="auto">
            <a:xfrm>
              <a:off x="1392" y="2784"/>
              <a:ext cx="95" cy="191"/>
            </a:xfrm>
            <a:prstGeom prst="rect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36" name="Rectangle 23"/>
            <p:cNvSpPr>
              <a:spLocks noChangeArrowheads="1"/>
            </p:cNvSpPr>
            <p:nvPr/>
          </p:nvSpPr>
          <p:spPr bwMode="auto">
            <a:xfrm>
              <a:off x="1584" y="2640"/>
              <a:ext cx="95" cy="335"/>
            </a:xfrm>
            <a:prstGeom prst="rect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37" name="Rectangle 24"/>
            <p:cNvSpPr>
              <a:spLocks noChangeArrowheads="1"/>
            </p:cNvSpPr>
            <p:nvPr/>
          </p:nvSpPr>
          <p:spPr bwMode="auto">
            <a:xfrm>
              <a:off x="1776" y="2736"/>
              <a:ext cx="95" cy="239"/>
            </a:xfrm>
            <a:prstGeom prst="rect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38" name="Rectangle 25"/>
            <p:cNvSpPr>
              <a:spLocks noChangeArrowheads="1"/>
            </p:cNvSpPr>
            <p:nvPr/>
          </p:nvSpPr>
          <p:spPr bwMode="auto">
            <a:xfrm>
              <a:off x="2352" y="2832"/>
              <a:ext cx="95" cy="143"/>
            </a:xfrm>
            <a:prstGeom prst="rect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39" name="Rectangle 26"/>
            <p:cNvSpPr>
              <a:spLocks noChangeArrowheads="1"/>
            </p:cNvSpPr>
            <p:nvPr/>
          </p:nvSpPr>
          <p:spPr bwMode="auto">
            <a:xfrm>
              <a:off x="2160" y="2640"/>
              <a:ext cx="95" cy="335"/>
            </a:xfrm>
            <a:prstGeom prst="rect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40" name="Line 27"/>
            <p:cNvSpPr>
              <a:spLocks noChangeShapeType="1"/>
            </p:cNvSpPr>
            <p:nvPr/>
          </p:nvSpPr>
          <p:spPr bwMode="auto">
            <a:xfrm>
              <a:off x="2592" y="2976"/>
              <a:ext cx="95" cy="0"/>
            </a:xfrm>
            <a:prstGeom prst="line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28"/>
            <p:cNvSpPr>
              <a:spLocks noChangeShapeType="1"/>
            </p:cNvSpPr>
            <p:nvPr/>
          </p:nvSpPr>
          <p:spPr bwMode="auto">
            <a:xfrm>
              <a:off x="1056" y="2976"/>
              <a:ext cx="1727" cy="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29"/>
            <p:cNvSpPr>
              <a:spLocks noChangeShapeType="1"/>
            </p:cNvSpPr>
            <p:nvPr/>
          </p:nvSpPr>
          <p:spPr bwMode="auto">
            <a:xfrm>
              <a:off x="2256" y="2976"/>
              <a:ext cx="95" cy="0"/>
            </a:xfrm>
            <a:prstGeom prst="line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30"/>
            <p:cNvSpPr>
              <a:spLocks noChangeShapeType="1"/>
            </p:cNvSpPr>
            <p:nvPr/>
          </p:nvSpPr>
          <p:spPr bwMode="auto">
            <a:xfrm>
              <a:off x="1296" y="2976"/>
              <a:ext cx="95" cy="0"/>
            </a:xfrm>
            <a:prstGeom prst="line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31"/>
            <p:cNvSpPr>
              <a:spLocks noChangeShapeType="1"/>
            </p:cNvSpPr>
            <p:nvPr/>
          </p:nvSpPr>
          <p:spPr bwMode="auto">
            <a:xfrm>
              <a:off x="1488" y="2976"/>
              <a:ext cx="95" cy="0"/>
            </a:xfrm>
            <a:prstGeom prst="line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32"/>
            <p:cNvSpPr>
              <a:spLocks noChangeShapeType="1"/>
            </p:cNvSpPr>
            <p:nvPr/>
          </p:nvSpPr>
          <p:spPr bwMode="auto">
            <a:xfrm>
              <a:off x="1680" y="2976"/>
              <a:ext cx="95" cy="0"/>
            </a:xfrm>
            <a:prstGeom prst="line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33"/>
            <p:cNvSpPr>
              <a:spLocks noChangeShapeType="1"/>
            </p:cNvSpPr>
            <p:nvPr/>
          </p:nvSpPr>
          <p:spPr bwMode="auto">
            <a:xfrm>
              <a:off x="2064" y="2976"/>
              <a:ext cx="95" cy="0"/>
            </a:xfrm>
            <a:prstGeom prst="line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34"/>
            <p:cNvSpPr>
              <a:spLocks noChangeShapeType="1"/>
            </p:cNvSpPr>
            <p:nvPr/>
          </p:nvSpPr>
          <p:spPr bwMode="auto">
            <a:xfrm>
              <a:off x="1872" y="2976"/>
              <a:ext cx="95" cy="0"/>
            </a:xfrm>
            <a:prstGeom prst="line">
              <a:avLst/>
            </a:prstGeom>
            <a:noFill/>
            <a:ln w="28440">
              <a:solidFill>
                <a:srgbClr val="33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48" name="Picture 3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0" y="2705"/>
              <a:ext cx="228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49" name="Picture 3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1" y="3311"/>
              <a:ext cx="50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50" name="Picture 3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2448"/>
              <a:ext cx="228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51" name="Picture 3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3216"/>
              <a:ext cx="228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52" name="Picture 39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7" y="3024"/>
              <a:ext cx="50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53" name="Picture 4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0" y="3805"/>
              <a:ext cx="50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1265389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392943" y="765559"/>
            <a:ext cx="7453652" cy="658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1.1	ΟΡΙΣΜΟΙ ΕΝΝΟΙΩΝ</a:t>
            </a:r>
            <a:r>
              <a:rPr lang="en-GB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1.1.</a:t>
            </a:r>
            <a:r>
              <a:rPr lang="en-US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	Είδη Σημάτων</a:t>
            </a: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8" name="TextBox 7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392943" y="1277938"/>
            <a:ext cx="7924800" cy="5329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3375" indent="-333375">
              <a:lnSpc>
                <a:spcPct val="100000"/>
              </a:lnSpc>
              <a:buClr>
                <a:srgbClr val="FF63B1"/>
              </a:buClr>
              <a:buSzPct val="75000"/>
              <a:buFont typeface="Wingdings" panose="05000000000000000000" pitchFamily="2" charset="2"/>
              <a:buChar char="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l-GR" altLang="en-US" dirty="0"/>
              <a:t>Περιοδικά &amp; μη-περιοδικά σήματα</a:t>
            </a:r>
            <a:endParaRPr lang="en-US" altLang="en-US" dirty="0"/>
          </a:p>
          <a:p>
            <a:pPr marL="735013" lvl="1" indent="-276225">
              <a:lnSpc>
                <a:spcPct val="100000"/>
              </a:lnSpc>
              <a:buSzPct val="65000"/>
              <a:buFontTx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US" altLang="en-US" dirty="0"/>
          </a:p>
          <a:p>
            <a:pPr lvl="2" indent="-227013">
              <a:lnSpc>
                <a:spcPct val="100000"/>
              </a:lnSpc>
              <a:buSzPct val="65000"/>
              <a:buFontTx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US" altLang="en-US" dirty="0"/>
          </a:p>
          <a:p>
            <a:pPr marL="735013" lvl="1" indent="-276225">
              <a:lnSpc>
                <a:spcPct val="100000"/>
              </a:lnSpc>
              <a:buSzPct val="65000"/>
              <a:buFontTx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US" altLang="en-US" dirty="0"/>
          </a:p>
          <a:p>
            <a:pPr marL="333375" indent="-333375">
              <a:lnSpc>
                <a:spcPct val="100000"/>
              </a:lnSpc>
              <a:buSzPct val="75000"/>
              <a:buFontTx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US" altLang="en-US" dirty="0"/>
          </a:p>
        </p:txBody>
      </p:sp>
      <p:grpSp>
        <p:nvGrpSpPr>
          <p:cNvPr id="55" name="Group 41"/>
          <p:cNvGrpSpPr>
            <a:grpSpLocks/>
          </p:cNvGrpSpPr>
          <p:nvPr/>
        </p:nvGrpSpPr>
        <p:grpSpPr bwMode="auto">
          <a:xfrm>
            <a:off x="1383543" y="1981200"/>
            <a:ext cx="6246813" cy="1524000"/>
            <a:chOff x="960" y="1152"/>
            <a:chExt cx="3935" cy="960"/>
          </a:xfrm>
        </p:grpSpPr>
        <p:sp>
          <p:nvSpPr>
            <p:cNvPr id="56" name="Line 42"/>
            <p:cNvSpPr>
              <a:spLocks noChangeShapeType="1"/>
            </p:cNvSpPr>
            <p:nvPr/>
          </p:nvSpPr>
          <p:spPr bwMode="auto">
            <a:xfrm>
              <a:off x="3168" y="1712"/>
              <a:ext cx="1727" cy="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43"/>
            <p:cNvSpPr>
              <a:spLocks noChangeShapeType="1"/>
            </p:cNvSpPr>
            <p:nvPr/>
          </p:nvSpPr>
          <p:spPr bwMode="auto">
            <a:xfrm flipV="1">
              <a:off x="3888" y="1178"/>
              <a:ext cx="0" cy="63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44"/>
            <p:cNvSpPr>
              <a:spLocks noChangeArrowheads="1"/>
            </p:cNvSpPr>
            <p:nvPr/>
          </p:nvSpPr>
          <p:spPr bwMode="auto">
            <a:xfrm>
              <a:off x="3312" y="1272"/>
              <a:ext cx="1391" cy="599"/>
            </a:xfrm>
            <a:custGeom>
              <a:avLst/>
              <a:gdLst>
                <a:gd name="T0" fmla="*/ 0 w 1392"/>
                <a:gd name="T1" fmla="*/ 434 h 600"/>
                <a:gd name="T2" fmla="*/ 192 w 1392"/>
                <a:gd name="T3" fmla="*/ 248 h 600"/>
                <a:gd name="T4" fmla="*/ 432 w 1392"/>
                <a:gd name="T5" fmla="*/ 200 h 600"/>
                <a:gd name="T6" fmla="*/ 672 w 1392"/>
                <a:gd name="T7" fmla="*/ 8 h 600"/>
                <a:gd name="T8" fmla="*/ 906 w 1392"/>
                <a:gd name="T9" fmla="*/ 152 h 600"/>
                <a:gd name="T10" fmla="*/ 1002 w 1392"/>
                <a:gd name="T11" fmla="*/ 338 h 600"/>
                <a:gd name="T12" fmla="*/ 1194 w 1392"/>
                <a:gd name="T13" fmla="*/ 578 h 600"/>
                <a:gd name="T14" fmla="*/ 1386 w 1392"/>
                <a:gd name="T15" fmla="*/ 434 h 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92"/>
                <a:gd name="T25" fmla="*/ 0 h 600"/>
                <a:gd name="T26" fmla="*/ 1392 w 1392"/>
                <a:gd name="T27" fmla="*/ 600 h 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92" h="600">
                  <a:moveTo>
                    <a:pt x="0" y="440"/>
                  </a:moveTo>
                  <a:cubicBezTo>
                    <a:pt x="60" y="364"/>
                    <a:pt x="120" y="288"/>
                    <a:pt x="192" y="248"/>
                  </a:cubicBezTo>
                  <a:cubicBezTo>
                    <a:pt x="264" y="208"/>
                    <a:pt x="352" y="240"/>
                    <a:pt x="432" y="200"/>
                  </a:cubicBezTo>
                  <a:cubicBezTo>
                    <a:pt x="512" y="160"/>
                    <a:pt x="592" y="16"/>
                    <a:pt x="672" y="8"/>
                  </a:cubicBezTo>
                  <a:cubicBezTo>
                    <a:pt x="752" y="0"/>
                    <a:pt x="856" y="96"/>
                    <a:pt x="912" y="152"/>
                  </a:cubicBezTo>
                  <a:cubicBezTo>
                    <a:pt x="968" y="208"/>
                    <a:pt x="960" y="272"/>
                    <a:pt x="1008" y="344"/>
                  </a:cubicBezTo>
                  <a:cubicBezTo>
                    <a:pt x="1056" y="416"/>
                    <a:pt x="1136" y="568"/>
                    <a:pt x="1200" y="584"/>
                  </a:cubicBezTo>
                  <a:cubicBezTo>
                    <a:pt x="1264" y="600"/>
                    <a:pt x="1328" y="520"/>
                    <a:pt x="1392" y="440"/>
                  </a:cubicBezTo>
                </a:path>
              </a:pathLst>
            </a:custGeom>
            <a:noFill/>
            <a:ln w="28440">
              <a:solidFill>
                <a:srgbClr val="33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Text Box 45"/>
            <p:cNvSpPr txBox="1">
              <a:spLocks noChangeArrowheads="1"/>
            </p:cNvSpPr>
            <p:nvPr/>
          </p:nvSpPr>
          <p:spPr bwMode="auto">
            <a:xfrm>
              <a:off x="3236" y="1881"/>
              <a:ext cx="1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FF0000"/>
                  </a:solidFill>
                </a:rPr>
                <a:t>A non-periodic signal</a:t>
              </a:r>
            </a:p>
          </p:txBody>
        </p:sp>
        <p:sp>
          <p:nvSpPr>
            <p:cNvPr id="60" name="Line 46"/>
            <p:cNvSpPr>
              <a:spLocks noChangeShapeType="1"/>
            </p:cNvSpPr>
            <p:nvPr/>
          </p:nvSpPr>
          <p:spPr bwMode="auto">
            <a:xfrm>
              <a:off x="1056" y="1728"/>
              <a:ext cx="1727" cy="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47"/>
            <p:cNvSpPr>
              <a:spLocks noChangeShapeType="1"/>
            </p:cNvSpPr>
            <p:nvPr/>
          </p:nvSpPr>
          <p:spPr bwMode="auto">
            <a:xfrm flipV="1">
              <a:off x="1776" y="1194"/>
              <a:ext cx="0" cy="63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2" name="Group 48"/>
            <p:cNvGrpSpPr>
              <a:grpSpLocks/>
            </p:cNvGrpSpPr>
            <p:nvPr/>
          </p:nvGrpSpPr>
          <p:grpSpPr bwMode="auto">
            <a:xfrm>
              <a:off x="1200" y="1339"/>
              <a:ext cx="1439" cy="393"/>
              <a:chOff x="1200" y="1339"/>
              <a:chExt cx="1439" cy="393"/>
            </a:xfrm>
          </p:grpSpPr>
          <p:grpSp>
            <p:nvGrpSpPr>
              <p:cNvPr id="70" name="Group 49"/>
              <p:cNvGrpSpPr>
                <a:grpSpLocks/>
              </p:cNvGrpSpPr>
              <p:nvPr/>
            </p:nvGrpSpPr>
            <p:grpSpPr bwMode="auto">
              <a:xfrm>
                <a:off x="1200" y="1339"/>
                <a:ext cx="1439" cy="393"/>
                <a:chOff x="1200" y="1339"/>
                <a:chExt cx="1439" cy="393"/>
              </a:xfrm>
            </p:grpSpPr>
            <p:grpSp>
              <p:nvGrpSpPr>
                <p:cNvPr id="72" name="Group 50"/>
                <p:cNvGrpSpPr>
                  <a:grpSpLocks/>
                </p:cNvGrpSpPr>
                <p:nvPr/>
              </p:nvGrpSpPr>
              <p:grpSpPr bwMode="auto">
                <a:xfrm>
                  <a:off x="1392" y="1339"/>
                  <a:ext cx="480" cy="393"/>
                  <a:chOff x="1392" y="1339"/>
                  <a:chExt cx="480" cy="393"/>
                </a:xfrm>
              </p:grpSpPr>
              <p:sp>
                <p:nvSpPr>
                  <p:cNvPr id="79" name="Line 5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92" y="1338"/>
                    <a:ext cx="287" cy="395"/>
                  </a:xfrm>
                  <a:prstGeom prst="line">
                    <a:avLst/>
                  </a:prstGeom>
                  <a:noFill/>
                  <a:ln w="28440">
                    <a:solidFill>
                      <a:srgbClr val="3333CC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0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1680" y="1344"/>
                    <a:ext cx="191" cy="0"/>
                  </a:xfrm>
                  <a:prstGeom prst="line">
                    <a:avLst/>
                  </a:prstGeom>
                  <a:noFill/>
                  <a:ln w="28440">
                    <a:solidFill>
                      <a:srgbClr val="3333CC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1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1872" y="1344"/>
                    <a:ext cx="0" cy="383"/>
                  </a:xfrm>
                  <a:prstGeom prst="line">
                    <a:avLst/>
                  </a:prstGeom>
                  <a:noFill/>
                  <a:ln w="28440">
                    <a:solidFill>
                      <a:srgbClr val="3333CC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73" name="Group 54"/>
                <p:cNvGrpSpPr>
                  <a:grpSpLocks/>
                </p:cNvGrpSpPr>
                <p:nvPr/>
              </p:nvGrpSpPr>
              <p:grpSpPr bwMode="auto">
                <a:xfrm>
                  <a:off x="1872" y="1339"/>
                  <a:ext cx="480" cy="393"/>
                  <a:chOff x="1872" y="1339"/>
                  <a:chExt cx="480" cy="393"/>
                </a:xfrm>
              </p:grpSpPr>
              <p:sp>
                <p:nvSpPr>
                  <p:cNvPr id="76" name="Line 5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72" y="1338"/>
                    <a:ext cx="287" cy="395"/>
                  </a:xfrm>
                  <a:prstGeom prst="line">
                    <a:avLst/>
                  </a:prstGeom>
                  <a:noFill/>
                  <a:ln w="28440">
                    <a:solidFill>
                      <a:srgbClr val="3333CC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7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2160" y="1344"/>
                    <a:ext cx="191" cy="0"/>
                  </a:xfrm>
                  <a:prstGeom prst="line">
                    <a:avLst/>
                  </a:prstGeom>
                  <a:noFill/>
                  <a:ln w="28440">
                    <a:solidFill>
                      <a:srgbClr val="3333CC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2352" y="1344"/>
                    <a:ext cx="0" cy="383"/>
                  </a:xfrm>
                  <a:prstGeom prst="line">
                    <a:avLst/>
                  </a:prstGeom>
                  <a:noFill/>
                  <a:ln w="28440">
                    <a:solidFill>
                      <a:srgbClr val="3333CC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4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2352" y="1338"/>
                  <a:ext cx="287" cy="395"/>
                </a:xfrm>
                <a:prstGeom prst="line">
                  <a:avLst/>
                </a:prstGeom>
                <a:noFill/>
                <a:ln w="28440">
                  <a:solidFill>
                    <a:srgbClr val="3333CC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" name="Line 59"/>
                <p:cNvSpPr>
                  <a:spLocks noChangeShapeType="1"/>
                </p:cNvSpPr>
                <p:nvPr/>
              </p:nvSpPr>
              <p:spPr bwMode="auto">
                <a:xfrm>
                  <a:off x="1200" y="1344"/>
                  <a:ext cx="191" cy="0"/>
                </a:xfrm>
                <a:prstGeom prst="line">
                  <a:avLst/>
                </a:prstGeom>
                <a:noFill/>
                <a:ln w="28440">
                  <a:solidFill>
                    <a:srgbClr val="3333CC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1" name="Line 60"/>
              <p:cNvSpPr>
                <a:spLocks noChangeShapeType="1"/>
              </p:cNvSpPr>
              <p:nvPr/>
            </p:nvSpPr>
            <p:spPr bwMode="auto">
              <a:xfrm>
                <a:off x="1392" y="1344"/>
                <a:ext cx="0" cy="383"/>
              </a:xfrm>
              <a:prstGeom prst="line">
                <a:avLst/>
              </a:prstGeom>
              <a:noFill/>
              <a:ln w="28440">
                <a:solidFill>
                  <a:srgbClr val="3333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3" name="Line 61"/>
            <p:cNvSpPr>
              <a:spLocks noChangeShapeType="1"/>
            </p:cNvSpPr>
            <p:nvPr/>
          </p:nvSpPr>
          <p:spPr bwMode="auto">
            <a:xfrm>
              <a:off x="2736" y="1536"/>
              <a:ext cx="143" cy="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62"/>
            <p:cNvSpPr>
              <a:spLocks noChangeShapeType="1"/>
            </p:cNvSpPr>
            <p:nvPr/>
          </p:nvSpPr>
          <p:spPr bwMode="auto">
            <a:xfrm>
              <a:off x="960" y="1536"/>
              <a:ext cx="143" cy="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Box 63"/>
            <p:cNvSpPr txBox="1">
              <a:spLocks noChangeArrowheads="1"/>
            </p:cNvSpPr>
            <p:nvPr/>
          </p:nvSpPr>
          <p:spPr bwMode="auto">
            <a:xfrm>
              <a:off x="1244" y="1833"/>
              <a:ext cx="11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FF0000"/>
                  </a:solidFill>
                </a:rPr>
                <a:t>A periodic signal</a:t>
              </a:r>
            </a:p>
          </p:txBody>
        </p:sp>
        <p:pic>
          <p:nvPicPr>
            <p:cNvPr id="66" name="Picture 6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1152"/>
              <a:ext cx="228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67" name="Picture 6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1" y="1152"/>
              <a:ext cx="228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68" name="Picture 6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0" y="1776"/>
              <a:ext cx="50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69" name="Picture 6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2" y="1776"/>
              <a:ext cx="50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1448102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466165" y="818500"/>
            <a:ext cx="11376211" cy="658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1.1	ΟΡΙΣΜΟΙ ΕΝΝΟΙΩΝ</a:t>
            </a:r>
            <a:r>
              <a:rPr lang="en-GB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1.1.3	Στοιχεία επικοινωνιακής ζεύξης</a:t>
            </a: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6" name="TextBox 5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 1"/>
          <p:cNvSpPr txBox="1">
            <a:spLocks noChangeArrowheads="1"/>
          </p:cNvSpPr>
          <p:nvPr/>
        </p:nvSpPr>
        <p:spPr>
          <a:xfrm>
            <a:off x="1360300" y="1564808"/>
            <a:ext cx="7924800" cy="5424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A Digital Communication System</a:t>
            </a:r>
          </a:p>
        </p:txBody>
      </p:sp>
      <p:grpSp>
        <p:nvGrpSpPr>
          <p:cNvPr id="10" name="Group 2"/>
          <p:cNvGrpSpPr>
            <a:grpSpLocks/>
          </p:cNvGrpSpPr>
          <p:nvPr/>
        </p:nvGrpSpPr>
        <p:grpSpPr bwMode="auto">
          <a:xfrm>
            <a:off x="1393677" y="2075329"/>
            <a:ext cx="8455025" cy="4113213"/>
            <a:chOff x="145" y="1008"/>
            <a:chExt cx="5326" cy="2591"/>
          </a:xfrm>
        </p:grpSpPr>
        <p:sp>
          <p:nvSpPr>
            <p:cNvPr id="11" name="Rectangle 3"/>
            <p:cNvSpPr>
              <a:spLocks noChangeArrowheads="1"/>
            </p:cNvSpPr>
            <p:nvPr/>
          </p:nvSpPr>
          <p:spPr bwMode="auto">
            <a:xfrm>
              <a:off x="2633" y="1680"/>
              <a:ext cx="576" cy="383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b="1">
                  <a:solidFill>
                    <a:srgbClr val="000000"/>
                  </a:solidFill>
                </a:rPr>
                <a:t>Encode</a:t>
              </a:r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4702" y="1584"/>
              <a:ext cx="769" cy="383"/>
            </a:xfrm>
            <a:prstGeom prst="rect">
              <a:avLst/>
            </a:prstGeom>
            <a:noFill/>
            <a:ln w="38160">
              <a:solidFill>
                <a:srgbClr val="FF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Transmit</a:t>
              </a:r>
            </a:p>
          </p:txBody>
        </p:sp>
        <p:sp>
          <p:nvSpPr>
            <p:cNvPr id="13" name="Rectangle 5"/>
            <p:cNvSpPr>
              <a:spLocks noChangeArrowheads="1"/>
            </p:cNvSpPr>
            <p:nvPr/>
          </p:nvSpPr>
          <p:spPr bwMode="auto">
            <a:xfrm>
              <a:off x="3547" y="1536"/>
              <a:ext cx="865" cy="479"/>
            </a:xfrm>
            <a:prstGeom prst="rect">
              <a:avLst/>
            </a:prstGeom>
            <a:solidFill>
              <a:srgbClr val="66FF66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2000">
                  <a:solidFill>
                    <a:srgbClr val="000000"/>
                  </a:solidFill>
                </a:rPr>
                <a:t>Pulse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2000">
                  <a:solidFill>
                    <a:srgbClr val="000000"/>
                  </a:solidFill>
                </a:rPr>
                <a:t>modulate</a:t>
              </a:r>
            </a:p>
          </p:txBody>
        </p:sp>
        <p:sp>
          <p:nvSpPr>
            <p:cNvPr id="14" name="Rectangle 6"/>
            <p:cNvSpPr>
              <a:spLocks noChangeArrowheads="1"/>
            </p:cNvSpPr>
            <p:nvPr/>
          </p:nvSpPr>
          <p:spPr bwMode="auto">
            <a:xfrm>
              <a:off x="1190" y="1680"/>
              <a:ext cx="576" cy="383"/>
            </a:xfrm>
            <a:prstGeom prst="rect">
              <a:avLst/>
            </a:prstGeom>
            <a:solidFill>
              <a:srgbClr val="9999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Sample</a:t>
              </a:r>
            </a:p>
          </p:txBody>
        </p:sp>
        <p:sp>
          <p:nvSpPr>
            <p:cNvPr id="15" name="Rectangle 7"/>
            <p:cNvSpPr>
              <a:spLocks noChangeArrowheads="1"/>
            </p:cNvSpPr>
            <p:nvPr/>
          </p:nvSpPr>
          <p:spPr bwMode="auto">
            <a:xfrm>
              <a:off x="1912" y="1680"/>
              <a:ext cx="576" cy="383"/>
            </a:xfrm>
            <a:prstGeom prst="rect">
              <a:avLst/>
            </a:prstGeom>
            <a:solidFill>
              <a:srgbClr val="FF99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Quantize</a:t>
              </a:r>
            </a:p>
          </p:txBody>
        </p:sp>
        <p:sp>
          <p:nvSpPr>
            <p:cNvPr id="16" name="Rectangle 8"/>
            <p:cNvSpPr>
              <a:spLocks noChangeArrowheads="1"/>
            </p:cNvSpPr>
            <p:nvPr/>
          </p:nvSpPr>
          <p:spPr bwMode="auto">
            <a:xfrm>
              <a:off x="1094" y="1440"/>
              <a:ext cx="2212" cy="719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3547" y="2688"/>
              <a:ext cx="865" cy="479"/>
            </a:xfrm>
            <a:prstGeom prst="rect">
              <a:avLst/>
            </a:prstGeom>
            <a:solidFill>
              <a:srgbClr val="CCFF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Demodulate/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Detect</a:t>
              </a: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702" y="2160"/>
              <a:ext cx="769" cy="383"/>
            </a:xfrm>
            <a:prstGeom prst="rect">
              <a:avLst/>
            </a:prstGeom>
            <a:noFill/>
            <a:ln w="38160">
              <a:solidFill>
                <a:srgbClr val="66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Channel</a:t>
              </a: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>
              <a:off x="4702" y="2736"/>
              <a:ext cx="769" cy="383"/>
            </a:xfrm>
            <a:prstGeom prst="rect">
              <a:avLst/>
            </a:prstGeom>
            <a:noFill/>
            <a:ln w="38160">
              <a:solidFill>
                <a:srgbClr val="FF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Receive</a:t>
              </a:r>
            </a:p>
          </p:txBody>
        </p:sp>
        <p:sp>
          <p:nvSpPr>
            <p:cNvPr id="20" name="Rectangle 12"/>
            <p:cNvSpPr>
              <a:spLocks noChangeArrowheads="1"/>
            </p:cNvSpPr>
            <p:nvPr/>
          </p:nvSpPr>
          <p:spPr bwMode="auto">
            <a:xfrm>
              <a:off x="1190" y="2640"/>
              <a:ext cx="576" cy="383"/>
            </a:xfrm>
            <a:prstGeom prst="rect">
              <a:avLst/>
            </a:prstGeom>
            <a:solidFill>
              <a:srgbClr val="99CC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b="1">
                  <a:solidFill>
                    <a:srgbClr val="000000"/>
                  </a:solidFill>
                </a:rPr>
                <a:t>Low-pass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b="1">
                  <a:solidFill>
                    <a:srgbClr val="000000"/>
                  </a:solidFill>
                </a:rPr>
                <a:t>filter</a:t>
              </a:r>
            </a:p>
          </p:txBody>
        </p:sp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1912" y="2640"/>
              <a:ext cx="576" cy="383"/>
            </a:xfrm>
            <a:prstGeom prst="rect">
              <a:avLst/>
            </a:prstGeom>
            <a:solidFill>
              <a:srgbClr val="FFCC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b="1">
                  <a:solidFill>
                    <a:srgbClr val="000000"/>
                  </a:solidFill>
                </a:rPr>
                <a:t>Decode</a:t>
              </a:r>
            </a:p>
          </p:txBody>
        </p:sp>
        <p:sp>
          <p:nvSpPr>
            <p:cNvPr id="22" name="Rectangle 14"/>
            <p:cNvSpPr>
              <a:spLocks noChangeArrowheads="1"/>
            </p:cNvSpPr>
            <p:nvPr/>
          </p:nvSpPr>
          <p:spPr bwMode="auto">
            <a:xfrm>
              <a:off x="1094" y="2544"/>
              <a:ext cx="1731" cy="719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3" name="Line 15"/>
            <p:cNvSpPr>
              <a:spLocks noChangeShapeType="1"/>
            </p:cNvSpPr>
            <p:nvPr/>
          </p:nvSpPr>
          <p:spPr bwMode="auto">
            <a:xfrm>
              <a:off x="1768" y="1920"/>
              <a:ext cx="143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6"/>
            <p:cNvSpPr>
              <a:spLocks noChangeShapeType="1"/>
            </p:cNvSpPr>
            <p:nvPr/>
          </p:nvSpPr>
          <p:spPr bwMode="auto">
            <a:xfrm>
              <a:off x="2489" y="1920"/>
              <a:ext cx="143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7"/>
            <p:cNvSpPr>
              <a:spLocks noChangeShapeType="1"/>
            </p:cNvSpPr>
            <p:nvPr/>
          </p:nvSpPr>
          <p:spPr bwMode="auto">
            <a:xfrm>
              <a:off x="902" y="1920"/>
              <a:ext cx="287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8"/>
            <p:cNvSpPr>
              <a:spLocks noChangeShapeType="1"/>
            </p:cNvSpPr>
            <p:nvPr/>
          </p:nvSpPr>
          <p:spPr bwMode="auto">
            <a:xfrm>
              <a:off x="3211" y="1920"/>
              <a:ext cx="336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9"/>
            <p:cNvSpPr>
              <a:spLocks/>
            </p:cNvSpPr>
            <p:nvPr/>
          </p:nvSpPr>
          <p:spPr bwMode="auto">
            <a:xfrm>
              <a:off x="902" y="1488"/>
              <a:ext cx="2020" cy="191"/>
            </a:xfrm>
            <a:custGeom>
              <a:avLst/>
              <a:gdLst>
                <a:gd name="T0" fmla="*/ 0 w 2016"/>
                <a:gd name="T1" fmla="*/ 0 h 144"/>
                <a:gd name="T2" fmla="*/ 2036 w 2016"/>
                <a:gd name="T3" fmla="*/ 0 h 144"/>
                <a:gd name="T4" fmla="*/ 2036 w 2016"/>
                <a:gd name="T5" fmla="*/ 592 h 144"/>
                <a:gd name="T6" fmla="*/ 0 60000 65536"/>
                <a:gd name="T7" fmla="*/ 0 60000 65536"/>
                <a:gd name="T8" fmla="*/ 0 60000 65536"/>
                <a:gd name="T9" fmla="*/ 0 w 2016"/>
                <a:gd name="T10" fmla="*/ 0 h 144"/>
                <a:gd name="T11" fmla="*/ 2016 w 2016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6" h="144">
                  <a:moveTo>
                    <a:pt x="0" y="0"/>
                  </a:moveTo>
                  <a:lnTo>
                    <a:pt x="2016" y="0"/>
                  </a:lnTo>
                  <a:lnTo>
                    <a:pt x="2016" y="144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Freeform 20"/>
            <p:cNvSpPr>
              <a:spLocks/>
            </p:cNvSpPr>
            <p:nvPr/>
          </p:nvSpPr>
          <p:spPr bwMode="auto">
            <a:xfrm>
              <a:off x="902" y="1200"/>
              <a:ext cx="2645" cy="479"/>
            </a:xfrm>
            <a:custGeom>
              <a:avLst/>
              <a:gdLst>
                <a:gd name="T0" fmla="*/ 0 w 2640"/>
                <a:gd name="T1" fmla="*/ 0 h 480"/>
                <a:gd name="T2" fmla="*/ 2473 w 2640"/>
                <a:gd name="T3" fmla="*/ 0 h 480"/>
                <a:gd name="T4" fmla="*/ 2473 w 2640"/>
                <a:gd name="T5" fmla="*/ 475 h 480"/>
                <a:gd name="T6" fmla="*/ 2665 w 2640"/>
                <a:gd name="T7" fmla="*/ 475 h 4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0"/>
                <a:gd name="T13" fmla="*/ 0 h 480"/>
                <a:gd name="T14" fmla="*/ 2640 w 2640"/>
                <a:gd name="T15" fmla="*/ 480 h 4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0" h="480">
                  <a:moveTo>
                    <a:pt x="0" y="0"/>
                  </a:moveTo>
                  <a:lnTo>
                    <a:pt x="2448" y="0"/>
                  </a:lnTo>
                  <a:lnTo>
                    <a:pt x="2448" y="480"/>
                  </a:lnTo>
                  <a:lnTo>
                    <a:pt x="2640" y="480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21"/>
            <p:cNvSpPr>
              <a:spLocks noChangeShapeType="1"/>
            </p:cNvSpPr>
            <p:nvPr/>
          </p:nvSpPr>
          <p:spPr bwMode="auto">
            <a:xfrm>
              <a:off x="4413" y="1776"/>
              <a:ext cx="287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2"/>
            <p:cNvSpPr>
              <a:spLocks noChangeShapeType="1"/>
            </p:cNvSpPr>
            <p:nvPr/>
          </p:nvSpPr>
          <p:spPr bwMode="auto">
            <a:xfrm>
              <a:off x="5087" y="1968"/>
              <a:ext cx="0" cy="1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3"/>
            <p:cNvSpPr>
              <a:spLocks noChangeShapeType="1"/>
            </p:cNvSpPr>
            <p:nvPr/>
          </p:nvSpPr>
          <p:spPr bwMode="auto">
            <a:xfrm>
              <a:off x="5087" y="2544"/>
              <a:ext cx="0" cy="1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4"/>
            <p:cNvSpPr>
              <a:spLocks noChangeShapeType="1"/>
            </p:cNvSpPr>
            <p:nvPr/>
          </p:nvSpPr>
          <p:spPr bwMode="auto">
            <a:xfrm flipH="1">
              <a:off x="4410" y="2928"/>
              <a:ext cx="295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25"/>
            <p:cNvSpPr>
              <a:spLocks noChangeShapeType="1"/>
            </p:cNvSpPr>
            <p:nvPr/>
          </p:nvSpPr>
          <p:spPr bwMode="auto">
            <a:xfrm flipH="1">
              <a:off x="2485" y="2832"/>
              <a:ext cx="1065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6"/>
            <p:cNvSpPr>
              <a:spLocks/>
            </p:cNvSpPr>
            <p:nvPr/>
          </p:nvSpPr>
          <p:spPr bwMode="auto">
            <a:xfrm>
              <a:off x="950" y="3024"/>
              <a:ext cx="1250" cy="143"/>
            </a:xfrm>
            <a:custGeom>
              <a:avLst/>
              <a:gdLst>
                <a:gd name="T0" fmla="*/ 1471 w 1200"/>
                <a:gd name="T1" fmla="*/ 0 h 144"/>
                <a:gd name="T2" fmla="*/ 1471 w 1200"/>
                <a:gd name="T3" fmla="*/ 139 h 144"/>
                <a:gd name="T4" fmla="*/ 0 w 1200"/>
                <a:gd name="T5" fmla="*/ 139 h 144"/>
                <a:gd name="T6" fmla="*/ 0 60000 65536"/>
                <a:gd name="T7" fmla="*/ 0 60000 65536"/>
                <a:gd name="T8" fmla="*/ 0 60000 65536"/>
                <a:gd name="T9" fmla="*/ 0 w 1200"/>
                <a:gd name="T10" fmla="*/ 0 h 144"/>
                <a:gd name="T11" fmla="*/ 1200 w 1200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0" h="144">
                  <a:moveTo>
                    <a:pt x="1200" y="0"/>
                  </a:moveTo>
                  <a:lnTo>
                    <a:pt x="1200" y="144"/>
                  </a:lnTo>
                  <a:lnTo>
                    <a:pt x="0" y="144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Freeform 27"/>
            <p:cNvSpPr>
              <a:spLocks/>
            </p:cNvSpPr>
            <p:nvPr/>
          </p:nvSpPr>
          <p:spPr bwMode="auto">
            <a:xfrm>
              <a:off x="950" y="3072"/>
              <a:ext cx="2597" cy="335"/>
            </a:xfrm>
            <a:custGeom>
              <a:avLst/>
              <a:gdLst>
                <a:gd name="T0" fmla="*/ 3043 w 2496"/>
                <a:gd name="T1" fmla="*/ 0 h 336"/>
                <a:gd name="T2" fmla="*/ 2868 w 2496"/>
                <a:gd name="T3" fmla="*/ 0 h 336"/>
                <a:gd name="T4" fmla="*/ 2868 w 2496"/>
                <a:gd name="T5" fmla="*/ 331 h 336"/>
                <a:gd name="T6" fmla="*/ 0 w 2496"/>
                <a:gd name="T7" fmla="*/ 331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96"/>
                <a:gd name="T13" fmla="*/ 0 h 336"/>
                <a:gd name="T14" fmla="*/ 2496 w 2496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96" h="336">
                  <a:moveTo>
                    <a:pt x="2496" y="0"/>
                  </a:moveTo>
                  <a:lnTo>
                    <a:pt x="2352" y="0"/>
                  </a:lnTo>
                  <a:lnTo>
                    <a:pt x="2352" y="336"/>
                  </a:lnTo>
                  <a:lnTo>
                    <a:pt x="0" y="336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28"/>
            <p:cNvSpPr>
              <a:spLocks noChangeShapeType="1"/>
            </p:cNvSpPr>
            <p:nvPr/>
          </p:nvSpPr>
          <p:spPr bwMode="auto">
            <a:xfrm flipH="1">
              <a:off x="1764" y="2832"/>
              <a:ext cx="151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29"/>
            <p:cNvSpPr>
              <a:spLocks noChangeShapeType="1"/>
            </p:cNvSpPr>
            <p:nvPr/>
          </p:nvSpPr>
          <p:spPr bwMode="auto">
            <a:xfrm flipH="1">
              <a:off x="945" y="2832"/>
              <a:ext cx="248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0"/>
            <p:cNvSpPr>
              <a:spLocks noChangeShapeType="1"/>
            </p:cNvSpPr>
            <p:nvPr/>
          </p:nvSpPr>
          <p:spPr bwMode="auto">
            <a:xfrm>
              <a:off x="3403" y="1968"/>
              <a:ext cx="0" cy="81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31"/>
            <p:cNvSpPr>
              <a:spLocks noChangeShapeType="1"/>
            </p:cNvSpPr>
            <p:nvPr/>
          </p:nvSpPr>
          <p:spPr bwMode="auto">
            <a:xfrm>
              <a:off x="4510" y="1824"/>
              <a:ext cx="0" cy="959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Box 32"/>
            <p:cNvSpPr txBox="1">
              <a:spLocks noChangeArrowheads="1"/>
            </p:cNvSpPr>
            <p:nvPr/>
          </p:nvSpPr>
          <p:spPr bwMode="auto">
            <a:xfrm>
              <a:off x="3936" y="2160"/>
              <a:ext cx="679" cy="3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Pulse</a:t>
              </a:r>
            </a:p>
            <a:p>
              <a:pPr algn="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waveforms</a:t>
              </a:r>
            </a:p>
          </p:txBody>
        </p:sp>
        <p:sp>
          <p:nvSpPr>
            <p:cNvPr id="41" name="Text Box 33"/>
            <p:cNvSpPr txBox="1">
              <a:spLocks noChangeArrowheads="1"/>
            </p:cNvSpPr>
            <p:nvPr/>
          </p:nvSpPr>
          <p:spPr bwMode="auto">
            <a:xfrm>
              <a:off x="3071" y="2256"/>
              <a:ext cx="639" cy="2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Bit stream</a:t>
              </a:r>
            </a:p>
          </p:txBody>
        </p:sp>
        <p:sp>
          <p:nvSpPr>
            <p:cNvPr id="42" name="Text Box 34"/>
            <p:cNvSpPr txBox="1">
              <a:spLocks noChangeArrowheads="1"/>
            </p:cNvSpPr>
            <p:nvPr/>
          </p:nvSpPr>
          <p:spPr bwMode="auto">
            <a:xfrm>
              <a:off x="1956" y="1276"/>
              <a:ext cx="480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Format</a:t>
              </a:r>
            </a:p>
          </p:txBody>
        </p:sp>
        <p:sp>
          <p:nvSpPr>
            <p:cNvPr id="43" name="Text Box 35"/>
            <p:cNvSpPr txBox="1">
              <a:spLocks noChangeArrowheads="1"/>
            </p:cNvSpPr>
            <p:nvPr/>
          </p:nvSpPr>
          <p:spPr bwMode="auto">
            <a:xfrm>
              <a:off x="1723" y="2380"/>
              <a:ext cx="480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Format</a:t>
              </a:r>
            </a:p>
          </p:txBody>
        </p:sp>
        <p:sp>
          <p:nvSpPr>
            <p:cNvPr id="44" name="Text Box 36"/>
            <p:cNvSpPr txBox="1">
              <a:spLocks noChangeArrowheads="1"/>
            </p:cNvSpPr>
            <p:nvPr/>
          </p:nvSpPr>
          <p:spPr bwMode="auto">
            <a:xfrm>
              <a:off x="640" y="1008"/>
              <a:ext cx="73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dirty="0">
                  <a:solidFill>
                    <a:srgbClr val="000000"/>
                  </a:solidFill>
                </a:rPr>
                <a:t>Digital info.</a:t>
              </a:r>
            </a:p>
          </p:txBody>
        </p:sp>
        <p:sp>
          <p:nvSpPr>
            <p:cNvPr id="45" name="Text Box 37"/>
            <p:cNvSpPr txBox="1">
              <a:spLocks noChangeArrowheads="1"/>
            </p:cNvSpPr>
            <p:nvPr/>
          </p:nvSpPr>
          <p:spPr bwMode="auto">
            <a:xfrm>
              <a:off x="615" y="1296"/>
              <a:ext cx="53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dirty="0">
                  <a:solidFill>
                    <a:srgbClr val="000000"/>
                  </a:solidFill>
                </a:rPr>
                <a:t>Textual 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dirty="0">
                  <a:solidFill>
                    <a:srgbClr val="000000"/>
                  </a:solidFill>
                </a:rPr>
                <a:t>info.</a:t>
              </a:r>
            </a:p>
          </p:txBody>
        </p:sp>
        <p:sp>
          <p:nvSpPr>
            <p:cNvPr id="46" name="Text Box 38"/>
            <p:cNvSpPr txBox="1">
              <a:spLocks noChangeArrowheads="1"/>
            </p:cNvSpPr>
            <p:nvPr/>
          </p:nvSpPr>
          <p:spPr bwMode="auto">
            <a:xfrm>
              <a:off x="615" y="1728"/>
              <a:ext cx="52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Analog 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info.</a:t>
              </a:r>
            </a:p>
          </p:txBody>
        </p:sp>
        <p:sp>
          <p:nvSpPr>
            <p:cNvPr id="47" name="Text Box 39"/>
            <p:cNvSpPr txBox="1">
              <a:spLocks noChangeArrowheads="1"/>
            </p:cNvSpPr>
            <p:nvPr/>
          </p:nvSpPr>
          <p:spPr bwMode="auto">
            <a:xfrm>
              <a:off x="615" y="2946"/>
              <a:ext cx="53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Textual 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info.</a:t>
              </a:r>
            </a:p>
          </p:txBody>
        </p:sp>
        <p:sp>
          <p:nvSpPr>
            <p:cNvPr id="48" name="Text Box 40"/>
            <p:cNvSpPr txBox="1">
              <a:spLocks noChangeArrowheads="1"/>
            </p:cNvSpPr>
            <p:nvPr/>
          </p:nvSpPr>
          <p:spPr bwMode="auto">
            <a:xfrm>
              <a:off x="615" y="2496"/>
              <a:ext cx="52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Analog 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info.</a:t>
              </a:r>
            </a:p>
          </p:txBody>
        </p:sp>
        <p:sp>
          <p:nvSpPr>
            <p:cNvPr id="49" name="Text Box 41"/>
            <p:cNvSpPr txBox="1">
              <a:spLocks noChangeArrowheads="1"/>
            </p:cNvSpPr>
            <p:nvPr/>
          </p:nvSpPr>
          <p:spPr bwMode="auto">
            <a:xfrm>
              <a:off x="664" y="3388"/>
              <a:ext cx="73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Digital info.</a:t>
              </a:r>
            </a:p>
          </p:txBody>
        </p:sp>
        <p:sp>
          <p:nvSpPr>
            <p:cNvPr id="50" name="AutoShape 42"/>
            <p:cNvSpPr>
              <a:spLocks/>
            </p:cNvSpPr>
            <p:nvPr/>
          </p:nvSpPr>
          <p:spPr bwMode="auto">
            <a:xfrm>
              <a:off x="613" y="1056"/>
              <a:ext cx="47" cy="1007"/>
            </a:xfrm>
            <a:prstGeom prst="leftBrace">
              <a:avLst>
                <a:gd name="adj1" fmla="val 178546"/>
                <a:gd name="adj2" fmla="val 50000"/>
              </a:avLst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51" name="AutoShape 43"/>
            <p:cNvSpPr>
              <a:spLocks/>
            </p:cNvSpPr>
            <p:nvPr/>
          </p:nvSpPr>
          <p:spPr bwMode="auto">
            <a:xfrm>
              <a:off x="613" y="2592"/>
              <a:ext cx="47" cy="1007"/>
            </a:xfrm>
            <a:prstGeom prst="leftBrace">
              <a:avLst>
                <a:gd name="adj1" fmla="val 178546"/>
                <a:gd name="adj2" fmla="val 50000"/>
              </a:avLst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52" name="Text Box 44"/>
            <p:cNvSpPr txBox="1">
              <a:spLocks noChangeArrowheads="1"/>
            </p:cNvSpPr>
            <p:nvPr/>
          </p:nvSpPr>
          <p:spPr bwMode="auto">
            <a:xfrm>
              <a:off x="145" y="1416"/>
              <a:ext cx="51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 dirty="0">
                  <a:solidFill>
                    <a:srgbClr val="000000"/>
                  </a:solidFill>
                </a:rPr>
                <a:t>source</a:t>
              </a:r>
            </a:p>
          </p:txBody>
        </p:sp>
        <p:sp>
          <p:nvSpPr>
            <p:cNvPr id="53" name="Text Box 45"/>
            <p:cNvSpPr txBox="1">
              <a:spLocks noChangeArrowheads="1"/>
            </p:cNvSpPr>
            <p:nvPr/>
          </p:nvSpPr>
          <p:spPr bwMode="auto">
            <a:xfrm>
              <a:off x="194" y="2985"/>
              <a:ext cx="3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sink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432025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280683" y="662541"/>
            <a:ext cx="5039490" cy="6142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1.1	ΟΡΙΣΜΟΙ ΕΝΝΟΙΩΝ</a:t>
            </a:r>
            <a:r>
              <a:rPr lang="en-GB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1.1.3	Στοιχεία επικοινωνιακής ζεύξης</a:t>
            </a: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Πομπός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Η βαθμίδα του πομπού (</a:t>
            </a:r>
            <a:r>
              <a:rPr lang="en-US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transmitter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TX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) επεξεργάζεται την πληροφορία με σκοπό να παράγει ένα σήμα που μπορεί να διέλθει αξιόπιστα και αποδοτικά μέσα από το κανάλι. </a:t>
            </a: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Περιλαμβάνει:</a:t>
            </a:r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 τη </a:t>
            </a:r>
            <a:r>
              <a:rPr lang="el-GR" altLang="en-US" sz="2084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διαμόρφωση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ενός φέροντος σήματος από το σήμα της πληροφορίας, </a:t>
            </a: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 την </a:t>
            </a:r>
            <a:r>
              <a:rPr lang="el-GR" altLang="en-US" sz="2084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κωδικοποίηση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του σήματος ώστε να μπορούν να διορθώνονται τα σφάλματα μετάδοσης,</a:t>
            </a: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 το </a:t>
            </a:r>
            <a:r>
              <a:rPr lang="el-GR" altLang="en-US" sz="2084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φιλτράρισμα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της πληροφορίας ή του διαμορφωμένου σήματος για να περιοριστεί το καταλαμβανόμενο εύρος ζώνης και </a:t>
            </a: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 την </a:t>
            </a:r>
            <a:r>
              <a:rPr lang="el-GR" altLang="en-US" sz="2084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ενίσχυση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ισχύος για να ξεπεραστούν οι απώλειες του καναλιού διάδοσης.</a:t>
            </a:r>
            <a:r>
              <a:rPr lang="en-GB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6" name="TextBox 5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2"/>
          <p:cNvGrpSpPr>
            <a:grpSpLocks/>
          </p:cNvGrpSpPr>
          <p:nvPr/>
        </p:nvGrpSpPr>
        <p:grpSpPr bwMode="auto">
          <a:xfrm>
            <a:off x="5513295" y="1604682"/>
            <a:ext cx="6508749" cy="3100963"/>
            <a:chOff x="145" y="1008"/>
            <a:chExt cx="5326" cy="2591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2633" y="1680"/>
              <a:ext cx="576" cy="383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b="1">
                  <a:solidFill>
                    <a:srgbClr val="000000"/>
                  </a:solidFill>
                </a:rPr>
                <a:t>Encode</a:t>
              </a:r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4702" y="1584"/>
              <a:ext cx="769" cy="383"/>
            </a:xfrm>
            <a:prstGeom prst="rect">
              <a:avLst/>
            </a:prstGeom>
            <a:noFill/>
            <a:ln w="38160">
              <a:solidFill>
                <a:srgbClr val="FF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Transmit</a:t>
              </a:r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3547" y="1536"/>
              <a:ext cx="865" cy="479"/>
            </a:xfrm>
            <a:prstGeom prst="rect">
              <a:avLst/>
            </a:prstGeom>
            <a:solidFill>
              <a:srgbClr val="66FF66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2000">
                  <a:solidFill>
                    <a:srgbClr val="000000"/>
                  </a:solidFill>
                </a:rPr>
                <a:t>Pulse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2000">
                  <a:solidFill>
                    <a:srgbClr val="000000"/>
                  </a:solidFill>
                </a:rPr>
                <a:t>modulate</a:t>
              </a:r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1190" y="1680"/>
              <a:ext cx="576" cy="383"/>
            </a:xfrm>
            <a:prstGeom prst="rect">
              <a:avLst/>
            </a:prstGeom>
            <a:solidFill>
              <a:srgbClr val="9999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Sample</a:t>
              </a:r>
            </a:p>
          </p:txBody>
        </p:sp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1912" y="1680"/>
              <a:ext cx="576" cy="383"/>
            </a:xfrm>
            <a:prstGeom prst="rect">
              <a:avLst/>
            </a:prstGeom>
            <a:solidFill>
              <a:srgbClr val="FF99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Quantize</a:t>
              </a:r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1094" y="1440"/>
              <a:ext cx="2212" cy="719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3547" y="2688"/>
              <a:ext cx="865" cy="479"/>
            </a:xfrm>
            <a:prstGeom prst="rect">
              <a:avLst/>
            </a:prstGeom>
            <a:solidFill>
              <a:srgbClr val="CCFF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Demodulate/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Detect</a:t>
              </a:r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4702" y="2160"/>
              <a:ext cx="769" cy="383"/>
            </a:xfrm>
            <a:prstGeom prst="rect">
              <a:avLst/>
            </a:prstGeom>
            <a:noFill/>
            <a:ln w="38160">
              <a:solidFill>
                <a:srgbClr val="66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Channel</a:t>
              </a:r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4702" y="2736"/>
              <a:ext cx="769" cy="383"/>
            </a:xfrm>
            <a:prstGeom prst="rect">
              <a:avLst/>
            </a:prstGeom>
            <a:noFill/>
            <a:ln w="38160">
              <a:solidFill>
                <a:srgbClr val="FF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Receive</a:t>
              </a:r>
            </a:p>
          </p:txBody>
        </p:sp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>
              <a:off x="1190" y="2640"/>
              <a:ext cx="576" cy="383"/>
            </a:xfrm>
            <a:prstGeom prst="rect">
              <a:avLst/>
            </a:prstGeom>
            <a:solidFill>
              <a:srgbClr val="99CC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b="1">
                  <a:solidFill>
                    <a:srgbClr val="000000"/>
                  </a:solidFill>
                </a:rPr>
                <a:t>Low-pass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b="1">
                  <a:solidFill>
                    <a:srgbClr val="000000"/>
                  </a:solidFill>
                </a:rPr>
                <a:t>filter</a:t>
              </a:r>
            </a:p>
          </p:txBody>
        </p:sp>
        <p:sp>
          <p:nvSpPr>
            <p:cNvPr id="20" name="Rectangle 13"/>
            <p:cNvSpPr>
              <a:spLocks noChangeArrowheads="1"/>
            </p:cNvSpPr>
            <p:nvPr/>
          </p:nvSpPr>
          <p:spPr bwMode="auto">
            <a:xfrm>
              <a:off x="1912" y="2640"/>
              <a:ext cx="576" cy="383"/>
            </a:xfrm>
            <a:prstGeom prst="rect">
              <a:avLst/>
            </a:prstGeom>
            <a:solidFill>
              <a:srgbClr val="FFCC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b="1">
                  <a:solidFill>
                    <a:srgbClr val="000000"/>
                  </a:solidFill>
                </a:rPr>
                <a:t>Decode</a:t>
              </a:r>
            </a:p>
          </p:txBody>
        </p:sp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>
              <a:off x="1094" y="2544"/>
              <a:ext cx="1731" cy="719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1768" y="1920"/>
              <a:ext cx="143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>
              <a:off x="2489" y="1920"/>
              <a:ext cx="143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>
              <a:off x="902" y="1920"/>
              <a:ext cx="287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8"/>
            <p:cNvSpPr>
              <a:spLocks noChangeShapeType="1"/>
            </p:cNvSpPr>
            <p:nvPr/>
          </p:nvSpPr>
          <p:spPr bwMode="auto">
            <a:xfrm>
              <a:off x="3211" y="1920"/>
              <a:ext cx="336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>
              <a:spLocks/>
            </p:cNvSpPr>
            <p:nvPr/>
          </p:nvSpPr>
          <p:spPr bwMode="auto">
            <a:xfrm>
              <a:off x="902" y="1488"/>
              <a:ext cx="2020" cy="191"/>
            </a:xfrm>
            <a:custGeom>
              <a:avLst/>
              <a:gdLst>
                <a:gd name="T0" fmla="*/ 0 w 2016"/>
                <a:gd name="T1" fmla="*/ 0 h 144"/>
                <a:gd name="T2" fmla="*/ 2036 w 2016"/>
                <a:gd name="T3" fmla="*/ 0 h 144"/>
                <a:gd name="T4" fmla="*/ 2036 w 2016"/>
                <a:gd name="T5" fmla="*/ 592 h 144"/>
                <a:gd name="T6" fmla="*/ 0 60000 65536"/>
                <a:gd name="T7" fmla="*/ 0 60000 65536"/>
                <a:gd name="T8" fmla="*/ 0 60000 65536"/>
                <a:gd name="T9" fmla="*/ 0 w 2016"/>
                <a:gd name="T10" fmla="*/ 0 h 144"/>
                <a:gd name="T11" fmla="*/ 2016 w 2016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6" h="144">
                  <a:moveTo>
                    <a:pt x="0" y="0"/>
                  </a:moveTo>
                  <a:lnTo>
                    <a:pt x="2016" y="0"/>
                  </a:lnTo>
                  <a:lnTo>
                    <a:pt x="2016" y="144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/>
            </p:cNvSpPr>
            <p:nvPr/>
          </p:nvSpPr>
          <p:spPr bwMode="auto">
            <a:xfrm>
              <a:off x="902" y="1200"/>
              <a:ext cx="2645" cy="479"/>
            </a:xfrm>
            <a:custGeom>
              <a:avLst/>
              <a:gdLst>
                <a:gd name="T0" fmla="*/ 0 w 2640"/>
                <a:gd name="T1" fmla="*/ 0 h 480"/>
                <a:gd name="T2" fmla="*/ 2473 w 2640"/>
                <a:gd name="T3" fmla="*/ 0 h 480"/>
                <a:gd name="T4" fmla="*/ 2473 w 2640"/>
                <a:gd name="T5" fmla="*/ 475 h 480"/>
                <a:gd name="T6" fmla="*/ 2665 w 2640"/>
                <a:gd name="T7" fmla="*/ 475 h 4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0"/>
                <a:gd name="T13" fmla="*/ 0 h 480"/>
                <a:gd name="T14" fmla="*/ 2640 w 2640"/>
                <a:gd name="T15" fmla="*/ 480 h 4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0" h="480">
                  <a:moveTo>
                    <a:pt x="0" y="0"/>
                  </a:moveTo>
                  <a:lnTo>
                    <a:pt x="2448" y="0"/>
                  </a:lnTo>
                  <a:lnTo>
                    <a:pt x="2448" y="480"/>
                  </a:lnTo>
                  <a:lnTo>
                    <a:pt x="2640" y="480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>
              <a:off x="4413" y="1776"/>
              <a:ext cx="287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2"/>
            <p:cNvSpPr>
              <a:spLocks noChangeShapeType="1"/>
            </p:cNvSpPr>
            <p:nvPr/>
          </p:nvSpPr>
          <p:spPr bwMode="auto">
            <a:xfrm>
              <a:off x="5087" y="1968"/>
              <a:ext cx="0" cy="1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3"/>
            <p:cNvSpPr>
              <a:spLocks noChangeShapeType="1"/>
            </p:cNvSpPr>
            <p:nvPr/>
          </p:nvSpPr>
          <p:spPr bwMode="auto">
            <a:xfrm>
              <a:off x="5087" y="2544"/>
              <a:ext cx="0" cy="1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4"/>
            <p:cNvSpPr>
              <a:spLocks noChangeShapeType="1"/>
            </p:cNvSpPr>
            <p:nvPr/>
          </p:nvSpPr>
          <p:spPr bwMode="auto">
            <a:xfrm flipH="1">
              <a:off x="4410" y="2928"/>
              <a:ext cx="295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5"/>
            <p:cNvSpPr>
              <a:spLocks noChangeShapeType="1"/>
            </p:cNvSpPr>
            <p:nvPr/>
          </p:nvSpPr>
          <p:spPr bwMode="auto">
            <a:xfrm flipH="1">
              <a:off x="2485" y="2832"/>
              <a:ext cx="1065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/>
            </p:cNvSpPr>
            <p:nvPr/>
          </p:nvSpPr>
          <p:spPr bwMode="auto">
            <a:xfrm>
              <a:off x="950" y="3024"/>
              <a:ext cx="1250" cy="143"/>
            </a:xfrm>
            <a:custGeom>
              <a:avLst/>
              <a:gdLst>
                <a:gd name="T0" fmla="*/ 1471 w 1200"/>
                <a:gd name="T1" fmla="*/ 0 h 144"/>
                <a:gd name="T2" fmla="*/ 1471 w 1200"/>
                <a:gd name="T3" fmla="*/ 139 h 144"/>
                <a:gd name="T4" fmla="*/ 0 w 1200"/>
                <a:gd name="T5" fmla="*/ 139 h 144"/>
                <a:gd name="T6" fmla="*/ 0 60000 65536"/>
                <a:gd name="T7" fmla="*/ 0 60000 65536"/>
                <a:gd name="T8" fmla="*/ 0 60000 65536"/>
                <a:gd name="T9" fmla="*/ 0 w 1200"/>
                <a:gd name="T10" fmla="*/ 0 h 144"/>
                <a:gd name="T11" fmla="*/ 1200 w 1200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0" h="144">
                  <a:moveTo>
                    <a:pt x="1200" y="0"/>
                  </a:moveTo>
                  <a:lnTo>
                    <a:pt x="1200" y="144"/>
                  </a:lnTo>
                  <a:lnTo>
                    <a:pt x="0" y="144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Freeform 27"/>
            <p:cNvSpPr>
              <a:spLocks/>
            </p:cNvSpPr>
            <p:nvPr/>
          </p:nvSpPr>
          <p:spPr bwMode="auto">
            <a:xfrm>
              <a:off x="950" y="3072"/>
              <a:ext cx="2597" cy="335"/>
            </a:xfrm>
            <a:custGeom>
              <a:avLst/>
              <a:gdLst>
                <a:gd name="T0" fmla="*/ 3043 w 2496"/>
                <a:gd name="T1" fmla="*/ 0 h 336"/>
                <a:gd name="T2" fmla="*/ 2868 w 2496"/>
                <a:gd name="T3" fmla="*/ 0 h 336"/>
                <a:gd name="T4" fmla="*/ 2868 w 2496"/>
                <a:gd name="T5" fmla="*/ 331 h 336"/>
                <a:gd name="T6" fmla="*/ 0 w 2496"/>
                <a:gd name="T7" fmla="*/ 331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96"/>
                <a:gd name="T13" fmla="*/ 0 h 336"/>
                <a:gd name="T14" fmla="*/ 2496 w 2496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96" h="336">
                  <a:moveTo>
                    <a:pt x="2496" y="0"/>
                  </a:moveTo>
                  <a:lnTo>
                    <a:pt x="2352" y="0"/>
                  </a:lnTo>
                  <a:lnTo>
                    <a:pt x="2352" y="336"/>
                  </a:lnTo>
                  <a:lnTo>
                    <a:pt x="0" y="336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28"/>
            <p:cNvSpPr>
              <a:spLocks noChangeShapeType="1"/>
            </p:cNvSpPr>
            <p:nvPr/>
          </p:nvSpPr>
          <p:spPr bwMode="auto">
            <a:xfrm flipH="1">
              <a:off x="1764" y="2832"/>
              <a:ext cx="151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29"/>
            <p:cNvSpPr>
              <a:spLocks noChangeShapeType="1"/>
            </p:cNvSpPr>
            <p:nvPr/>
          </p:nvSpPr>
          <p:spPr bwMode="auto">
            <a:xfrm flipH="1">
              <a:off x="945" y="2832"/>
              <a:ext cx="248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30"/>
            <p:cNvSpPr>
              <a:spLocks noChangeShapeType="1"/>
            </p:cNvSpPr>
            <p:nvPr/>
          </p:nvSpPr>
          <p:spPr bwMode="auto">
            <a:xfrm>
              <a:off x="3403" y="1968"/>
              <a:ext cx="0" cy="81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1"/>
            <p:cNvSpPr>
              <a:spLocks noChangeShapeType="1"/>
            </p:cNvSpPr>
            <p:nvPr/>
          </p:nvSpPr>
          <p:spPr bwMode="auto">
            <a:xfrm>
              <a:off x="4510" y="1824"/>
              <a:ext cx="0" cy="959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Box 32"/>
            <p:cNvSpPr txBox="1">
              <a:spLocks noChangeArrowheads="1"/>
            </p:cNvSpPr>
            <p:nvPr/>
          </p:nvSpPr>
          <p:spPr bwMode="auto">
            <a:xfrm>
              <a:off x="3936" y="2160"/>
              <a:ext cx="679" cy="3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Pulse</a:t>
              </a:r>
            </a:p>
            <a:p>
              <a:pPr algn="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waveforms</a:t>
              </a:r>
            </a:p>
          </p:txBody>
        </p:sp>
        <p:sp>
          <p:nvSpPr>
            <p:cNvPr id="40" name="Text Box 33"/>
            <p:cNvSpPr txBox="1">
              <a:spLocks noChangeArrowheads="1"/>
            </p:cNvSpPr>
            <p:nvPr/>
          </p:nvSpPr>
          <p:spPr bwMode="auto">
            <a:xfrm>
              <a:off x="3071" y="2256"/>
              <a:ext cx="639" cy="2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Bit stream</a:t>
              </a:r>
            </a:p>
          </p:txBody>
        </p:sp>
        <p:sp>
          <p:nvSpPr>
            <p:cNvPr id="41" name="Text Box 34"/>
            <p:cNvSpPr txBox="1">
              <a:spLocks noChangeArrowheads="1"/>
            </p:cNvSpPr>
            <p:nvPr/>
          </p:nvSpPr>
          <p:spPr bwMode="auto">
            <a:xfrm>
              <a:off x="1956" y="1276"/>
              <a:ext cx="480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Format</a:t>
              </a:r>
            </a:p>
          </p:txBody>
        </p:sp>
        <p:sp>
          <p:nvSpPr>
            <p:cNvPr id="42" name="Text Box 35"/>
            <p:cNvSpPr txBox="1">
              <a:spLocks noChangeArrowheads="1"/>
            </p:cNvSpPr>
            <p:nvPr/>
          </p:nvSpPr>
          <p:spPr bwMode="auto">
            <a:xfrm>
              <a:off x="1723" y="2380"/>
              <a:ext cx="480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Format</a:t>
              </a:r>
            </a:p>
          </p:txBody>
        </p:sp>
        <p:sp>
          <p:nvSpPr>
            <p:cNvPr id="43" name="Text Box 36"/>
            <p:cNvSpPr txBox="1">
              <a:spLocks noChangeArrowheads="1"/>
            </p:cNvSpPr>
            <p:nvPr/>
          </p:nvSpPr>
          <p:spPr bwMode="auto">
            <a:xfrm>
              <a:off x="640" y="1008"/>
              <a:ext cx="73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dirty="0">
                  <a:solidFill>
                    <a:srgbClr val="000000"/>
                  </a:solidFill>
                </a:rPr>
                <a:t>Digital info.</a:t>
              </a:r>
            </a:p>
          </p:txBody>
        </p:sp>
        <p:sp>
          <p:nvSpPr>
            <p:cNvPr id="44" name="Text Box 37"/>
            <p:cNvSpPr txBox="1">
              <a:spLocks noChangeArrowheads="1"/>
            </p:cNvSpPr>
            <p:nvPr/>
          </p:nvSpPr>
          <p:spPr bwMode="auto">
            <a:xfrm>
              <a:off x="615" y="1296"/>
              <a:ext cx="53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dirty="0">
                  <a:solidFill>
                    <a:srgbClr val="000000"/>
                  </a:solidFill>
                </a:rPr>
                <a:t>Textual 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dirty="0">
                  <a:solidFill>
                    <a:srgbClr val="000000"/>
                  </a:solidFill>
                </a:rPr>
                <a:t>info.</a:t>
              </a:r>
            </a:p>
          </p:txBody>
        </p:sp>
        <p:sp>
          <p:nvSpPr>
            <p:cNvPr id="45" name="Text Box 38"/>
            <p:cNvSpPr txBox="1">
              <a:spLocks noChangeArrowheads="1"/>
            </p:cNvSpPr>
            <p:nvPr/>
          </p:nvSpPr>
          <p:spPr bwMode="auto">
            <a:xfrm>
              <a:off x="615" y="1728"/>
              <a:ext cx="52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Analog 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info.</a:t>
              </a:r>
            </a:p>
          </p:txBody>
        </p:sp>
        <p:sp>
          <p:nvSpPr>
            <p:cNvPr id="46" name="Text Box 39"/>
            <p:cNvSpPr txBox="1">
              <a:spLocks noChangeArrowheads="1"/>
            </p:cNvSpPr>
            <p:nvPr/>
          </p:nvSpPr>
          <p:spPr bwMode="auto">
            <a:xfrm>
              <a:off x="615" y="2946"/>
              <a:ext cx="53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Textual 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info.</a:t>
              </a:r>
            </a:p>
          </p:txBody>
        </p:sp>
        <p:sp>
          <p:nvSpPr>
            <p:cNvPr id="47" name="Text Box 40"/>
            <p:cNvSpPr txBox="1">
              <a:spLocks noChangeArrowheads="1"/>
            </p:cNvSpPr>
            <p:nvPr/>
          </p:nvSpPr>
          <p:spPr bwMode="auto">
            <a:xfrm>
              <a:off x="615" y="2496"/>
              <a:ext cx="52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Analog 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info.</a:t>
              </a:r>
            </a:p>
          </p:txBody>
        </p:sp>
        <p:sp>
          <p:nvSpPr>
            <p:cNvPr id="48" name="Text Box 41"/>
            <p:cNvSpPr txBox="1">
              <a:spLocks noChangeArrowheads="1"/>
            </p:cNvSpPr>
            <p:nvPr/>
          </p:nvSpPr>
          <p:spPr bwMode="auto">
            <a:xfrm>
              <a:off x="664" y="3388"/>
              <a:ext cx="73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Digital info.</a:t>
              </a:r>
            </a:p>
          </p:txBody>
        </p:sp>
        <p:sp>
          <p:nvSpPr>
            <p:cNvPr id="49" name="AutoShape 42"/>
            <p:cNvSpPr>
              <a:spLocks/>
            </p:cNvSpPr>
            <p:nvPr/>
          </p:nvSpPr>
          <p:spPr bwMode="auto">
            <a:xfrm>
              <a:off x="613" y="1056"/>
              <a:ext cx="47" cy="1007"/>
            </a:xfrm>
            <a:prstGeom prst="leftBrace">
              <a:avLst>
                <a:gd name="adj1" fmla="val 178546"/>
                <a:gd name="adj2" fmla="val 50000"/>
              </a:avLst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50" name="AutoShape 43"/>
            <p:cNvSpPr>
              <a:spLocks/>
            </p:cNvSpPr>
            <p:nvPr/>
          </p:nvSpPr>
          <p:spPr bwMode="auto">
            <a:xfrm>
              <a:off x="613" y="2592"/>
              <a:ext cx="47" cy="1007"/>
            </a:xfrm>
            <a:prstGeom prst="leftBrace">
              <a:avLst>
                <a:gd name="adj1" fmla="val 178546"/>
                <a:gd name="adj2" fmla="val 50000"/>
              </a:avLst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51" name="Text Box 44"/>
            <p:cNvSpPr txBox="1">
              <a:spLocks noChangeArrowheads="1"/>
            </p:cNvSpPr>
            <p:nvPr/>
          </p:nvSpPr>
          <p:spPr bwMode="auto">
            <a:xfrm>
              <a:off x="145" y="1416"/>
              <a:ext cx="51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source</a:t>
              </a:r>
            </a:p>
          </p:txBody>
        </p:sp>
        <p:sp>
          <p:nvSpPr>
            <p:cNvPr id="52" name="Text Box 45"/>
            <p:cNvSpPr txBox="1">
              <a:spLocks noChangeArrowheads="1"/>
            </p:cNvSpPr>
            <p:nvPr/>
          </p:nvSpPr>
          <p:spPr bwMode="auto">
            <a:xfrm>
              <a:off x="194" y="2985"/>
              <a:ext cx="3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sink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605801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403412" y="765558"/>
            <a:ext cx="5098885" cy="4410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1.1	ΟΡΙΣΜΟΙ ΕΝΝΟΙΩΝ</a:t>
            </a:r>
            <a:r>
              <a:rPr lang="en-GB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1.1.3	Στοιχεία επικοινωνιακής ζεύξης</a:t>
            </a: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Κανάλι μετάδοσης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Ορίζεται, με όχι αυστηρό τρόπο, ως το ηλεκτρικό μέσο μεταξύ της πηγής και του προορισμού, και είναι για παράδειγμα καλώδιο, οπτική ίνα ή ελεύθερος χώρος.</a:t>
            </a: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Χαρακτηρίζεται από:</a:t>
            </a:r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 την 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απώλεια/εξασθένιση, </a:t>
            </a:r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 το 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εύρος ζώνης, </a:t>
            </a:r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 το 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θόρυβο/παρεμβολή 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και </a:t>
            </a:r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 την 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παραμόρφωση 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που επιφέρει στο σήμα.</a:t>
            </a:r>
            <a:r>
              <a:rPr lang="en-GB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6" name="TextBox 5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2"/>
          <p:cNvGrpSpPr>
            <a:grpSpLocks/>
          </p:cNvGrpSpPr>
          <p:nvPr/>
        </p:nvGrpSpPr>
        <p:grpSpPr bwMode="auto">
          <a:xfrm>
            <a:off x="5513295" y="1604682"/>
            <a:ext cx="6508749" cy="3100963"/>
            <a:chOff x="145" y="1008"/>
            <a:chExt cx="5326" cy="2591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2633" y="1680"/>
              <a:ext cx="576" cy="383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b="1">
                  <a:solidFill>
                    <a:srgbClr val="000000"/>
                  </a:solidFill>
                </a:rPr>
                <a:t>Encode</a:t>
              </a:r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4702" y="1584"/>
              <a:ext cx="769" cy="383"/>
            </a:xfrm>
            <a:prstGeom prst="rect">
              <a:avLst/>
            </a:prstGeom>
            <a:noFill/>
            <a:ln w="38160">
              <a:solidFill>
                <a:srgbClr val="FF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Transmit</a:t>
              </a:r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3547" y="1536"/>
              <a:ext cx="865" cy="479"/>
            </a:xfrm>
            <a:prstGeom prst="rect">
              <a:avLst/>
            </a:prstGeom>
            <a:solidFill>
              <a:srgbClr val="66FF66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2000">
                  <a:solidFill>
                    <a:srgbClr val="000000"/>
                  </a:solidFill>
                </a:rPr>
                <a:t>Pulse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2000">
                  <a:solidFill>
                    <a:srgbClr val="000000"/>
                  </a:solidFill>
                </a:rPr>
                <a:t>modulate</a:t>
              </a:r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1190" y="1680"/>
              <a:ext cx="576" cy="383"/>
            </a:xfrm>
            <a:prstGeom prst="rect">
              <a:avLst/>
            </a:prstGeom>
            <a:solidFill>
              <a:srgbClr val="9999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Sample</a:t>
              </a:r>
            </a:p>
          </p:txBody>
        </p:sp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1912" y="1680"/>
              <a:ext cx="576" cy="383"/>
            </a:xfrm>
            <a:prstGeom prst="rect">
              <a:avLst/>
            </a:prstGeom>
            <a:solidFill>
              <a:srgbClr val="FF99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Quantize</a:t>
              </a:r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1094" y="1440"/>
              <a:ext cx="2212" cy="719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3547" y="2688"/>
              <a:ext cx="865" cy="479"/>
            </a:xfrm>
            <a:prstGeom prst="rect">
              <a:avLst/>
            </a:prstGeom>
            <a:solidFill>
              <a:srgbClr val="CCFF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Demodulate/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Detect</a:t>
              </a:r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4702" y="2160"/>
              <a:ext cx="769" cy="383"/>
            </a:xfrm>
            <a:prstGeom prst="rect">
              <a:avLst/>
            </a:prstGeom>
            <a:noFill/>
            <a:ln w="38160">
              <a:solidFill>
                <a:srgbClr val="66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Channel</a:t>
              </a:r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4702" y="2736"/>
              <a:ext cx="769" cy="383"/>
            </a:xfrm>
            <a:prstGeom prst="rect">
              <a:avLst/>
            </a:prstGeom>
            <a:noFill/>
            <a:ln w="38160">
              <a:solidFill>
                <a:srgbClr val="FF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Receive</a:t>
              </a:r>
            </a:p>
          </p:txBody>
        </p:sp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>
              <a:off x="1190" y="2640"/>
              <a:ext cx="576" cy="383"/>
            </a:xfrm>
            <a:prstGeom prst="rect">
              <a:avLst/>
            </a:prstGeom>
            <a:solidFill>
              <a:srgbClr val="99CC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b="1">
                  <a:solidFill>
                    <a:srgbClr val="000000"/>
                  </a:solidFill>
                </a:rPr>
                <a:t>Low-pass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b="1">
                  <a:solidFill>
                    <a:srgbClr val="000000"/>
                  </a:solidFill>
                </a:rPr>
                <a:t>filter</a:t>
              </a:r>
            </a:p>
          </p:txBody>
        </p:sp>
        <p:sp>
          <p:nvSpPr>
            <p:cNvPr id="20" name="Rectangle 13"/>
            <p:cNvSpPr>
              <a:spLocks noChangeArrowheads="1"/>
            </p:cNvSpPr>
            <p:nvPr/>
          </p:nvSpPr>
          <p:spPr bwMode="auto">
            <a:xfrm>
              <a:off x="1912" y="2640"/>
              <a:ext cx="576" cy="383"/>
            </a:xfrm>
            <a:prstGeom prst="rect">
              <a:avLst/>
            </a:prstGeom>
            <a:solidFill>
              <a:srgbClr val="FFCC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b="1">
                  <a:solidFill>
                    <a:srgbClr val="000000"/>
                  </a:solidFill>
                </a:rPr>
                <a:t>Decode</a:t>
              </a:r>
            </a:p>
          </p:txBody>
        </p:sp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>
              <a:off x="1094" y="2544"/>
              <a:ext cx="1731" cy="719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1768" y="1920"/>
              <a:ext cx="143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>
              <a:off x="2489" y="1920"/>
              <a:ext cx="143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>
              <a:off x="902" y="1920"/>
              <a:ext cx="287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8"/>
            <p:cNvSpPr>
              <a:spLocks noChangeShapeType="1"/>
            </p:cNvSpPr>
            <p:nvPr/>
          </p:nvSpPr>
          <p:spPr bwMode="auto">
            <a:xfrm>
              <a:off x="3211" y="1920"/>
              <a:ext cx="336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>
              <a:spLocks/>
            </p:cNvSpPr>
            <p:nvPr/>
          </p:nvSpPr>
          <p:spPr bwMode="auto">
            <a:xfrm>
              <a:off x="902" y="1488"/>
              <a:ext cx="2020" cy="191"/>
            </a:xfrm>
            <a:custGeom>
              <a:avLst/>
              <a:gdLst>
                <a:gd name="T0" fmla="*/ 0 w 2016"/>
                <a:gd name="T1" fmla="*/ 0 h 144"/>
                <a:gd name="T2" fmla="*/ 2036 w 2016"/>
                <a:gd name="T3" fmla="*/ 0 h 144"/>
                <a:gd name="T4" fmla="*/ 2036 w 2016"/>
                <a:gd name="T5" fmla="*/ 592 h 144"/>
                <a:gd name="T6" fmla="*/ 0 60000 65536"/>
                <a:gd name="T7" fmla="*/ 0 60000 65536"/>
                <a:gd name="T8" fmla="*/ 0 60000 65536"/>
                <a:gd name="T9" fmla="*/ 0 w 2016"/>
                <a:gd name="T10" fmla="*/ 0 h 144"/>
                <a:gd name="T11" fmla="*/ 2016 w 2016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6" h="144">
                  <a:moveTo>
                    <a:pt x="0" y="0"/>
                  </a:moveTo>
                  <a:lnTo>
                    <a:pt x="2016" y="0"/>
                  </a:lnTo>
                  <a:lnTo>
                    <a:pt x="2016" y="144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/>
            </p:cNvSpPr>
            <p:nvPr/>
          </p:nvSpPr>
          <p:spPr bwMode="auto">
            <a:xfrm>
              <a:off x="902" y="1200"/>
              <a:ext cx="2645" cy="479"/>
            </a:xfrm>
            <a:custGeom>
              <a:avLst/>
              <a:gdLst>
                <a:gd name="T0" fmla="*/ 0 w 2640"/>
                <a:gd name="T1" fmla="*/ 0 h 480"/>
                <a:gd name="T2" fmla="*/ 2473 w 2640"/>
                <a:gd name="T3" fmla="*/ 0 h 480"/>
                <a:gd name="T4" fmla="*/ 2473 w 2640"/>
                <a:gd name="T5" fmla="*/ 475 h 480"/>
                <a:gd name="T6" fmla="*/ 2665 w 2640"/>
                <a:gd name="T7" fmla="*/ 475 h 4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0"/>
                <a:gd name="T13" fmla="*/ 0 h 480"/>
                <a:gd name="T14" fmla="*/ 2640 w 2640"/>
                <a:gd name="T15" fmla="*/ 480 h 4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0" h="480">
                  <a:moveTo>
                    <a:pt x="0" y="0"/>
                  </a:moveTo>
                  <a:lnTo>
                    <a:pt x="2448" y="0"/>
                  </a:lnTo>
                  <a:lnTo>
                    <a:pt x="2448" y="480"/>
                  </a:lnTo>
                  <a:lnTo>
                    <a:pt x="2640" y="480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>
              <a:off x="4413" y="1776"/>
              <a:ext cx="287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2"/>
            <p:cNvSpPr>
              <a:spLocks noChangeShapeType="1"/>
            </p:cNvSpPr>
            <p:nvPr/>
          </p:nvSpPr>
          <p:spPr bwMode="auto">
            <a:xfrm>
              <a:off x="5087" y="1968"/>
              <a:ext cx="0" cy="1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3"/>
            <p:cNvSpPr>
              <a:spLocks noChangeShapeType="1"/>
            </p:cNvSpPr>
            <p:nvPr/>
          </p:nvSpPr>
          <p:spPr bwMode="auto">
            <a:xfrm>
              <a:off x="5087" y="2544"/>
              <a:ext cx="0" cy="1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4"/>
            <p:cNvSpPr>
              <a:spLocks noChangeShapeType="1"/>
            </p:cNvSpPr>
            <p:nvPr/>
          </p:nvSpPr>
          <p:spPr bwMode="auto">
            <a:xfrm flipH="1">
              <a:off x="4410" y="2928"/>
              <a:ext cx="295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5"/>
            <p:cNvSpPr>
              <a:spLocks noChangeShapeType="1"/>
            </p:cNvSpPr>
            <p:nvPr/>
          </p:nvSpPr>
          <p:spPr bwMode="auto">
            <a:xfrm flipH="1">
              <a:off x="2485" y="2832"/>
              <a:ext cx="1065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/>
            </p:cNvSpPr>
            <p:nvPr/>
          </p:nvSpPr>
          <p:spPr bwMode="auto">
            <a:xfrm>
              <a:off x="950" y="3024"/>
              <a:ext cx="1250" cy="143"/>
            </a:xfrm>
            <a:custGeom>
              <a:avLst/>
              <a:gdLst>
                <a:gd name="T0" fmla="*/ 1471 w 1200"/>
                <a:gd name="T1" fmla="*/ 0 h 144"/>
                <a:gd name="T2" fmla="*/ 1471 w 1200"/>
                <a:gd name="T3" fmla="*/ 139 h 144"/>
                <a:gd name="T4" fmla="*/ 0 w 1200"/>
                <a:gd name="T5" fmla="*/ 139 h 144"/>
                <a:gd name="T6" fmla="*/ 0 60000 65536"/>
                <a:gd name="T7" fmla="*/ 0 60000 65536"/>
                <a:gd name="T8" fmla="*/ 0 60000 65536"/>
                <a:gd name="T9" fmla="*/ 0 w 1200"/>
                <a:gd name="T10" fmla="*/ 0 h 144"/>
                <a:gd name="T11" fmla="*/ 1200 w 1200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0" h="144">
                  <a:moveTo>
                    <a:pt x="1200" y="0"/>
                  </a:moveTo>
                  <a:lnTo>
                    <a:pt x="1200" y="144"/>
                  </a:lnTo>
                  <a:lnTo>
                    <a:pt x="0" y="144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Freeform 27"/>
            <p:cNvSpPr>
              <a:spLocks/>
            </p:cNvSpPr>
            <p:nvPr/>
          </p:nvSpPr>
          <p:spPr bwMode="auto">
            <a:xfrm>
              <a:off x="950" y="3072"/>
              <a:ext cx="2597" cy="335"/>
            </a:xfrm>
            <a:custGeom>
              <a:avLst/>
              <a:gdLst>
                <a:gd name="T0" fmla="*/ 3043 w 2496"/>
                <a:gd name="T1" fmla="*/ 0 h 336"/>
                <a:gd name="T2" fmla="*/ 2868 w 2496"/>
                <a:gd name="T3" fmla="*/ 0 h 336"/>
                <a:gd name="T4" fmla="*/ 2868 w 2496"/>
                <a:gd name="T5" fmla="*/ 331 h 336"/>
                <a:gd name="T6" fmla="*/ 0 w 2496"/>
                <a:gd name="T7" fmla="*/ 331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96"/>
                <a:gd name="T13" fmla="*/ 0 h 336"/>
                <a:gd name="T14" fmla="*/ 2496 w 2496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96" h="336">
                  <a:moveTo>
                    <a:pt x="2496" y="0"/>
                  </a:moveTo>
                  <a:lnTo>
                    <a:pt x="2352" y="0"/>
                  </a:lnTo>
                  <a:lnTo>
                    <a:pt x="2352" y="336"/>
                  </a:lnTo>
                  <a:lnTo>
                    <a:pt x="0" y="336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28"/>
            <p:cNvSpPr>
              <a:spLocks noChangeShapeType="1"/>
            </p:cNvSpPr>
            <p:nvPr/>
          </p:nvSpPr>
          <p:spPr bwMode="auto">
            <a:xfrm flipH="1">
              <a:off x="1764" y="2832"/>
              <a:ext cx="151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29"/>
            <p:cNvSpPr>
              <a:spLocks noChangeShapeType="1"/>
            </p:cNvSpPr>
            <p:nvPr/>
          </p:nvSpPr>
          <p:spPr bwMode="auto">
            <a:xfrm flipH="1">
              <a:off x="945" y="2832"/>
              <a:ext cx="248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30"/>
            <p:cNvSpPr>
              <a:spLocks noChangeShapeType="1"/>
            </p:cNvSpPr>
            <p:nvPr/>
          </p:nvSpPr>
          <p:spPr bwMode="auto">
            <a:xfrm>
              <a:off x="3403" y="1968"/>
              <a:ext cx="0" cy="81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1"/>
            <p:cNvSpPr>
              <a:spLocks noChangeShapeType="1"/>
            </p:cNvSpPr>
            <p:nvPr/>
          </p:nvSpPr>
          <p:spPr bwMode="auto">
            <a:xfrm>
              <a:off x="4510" y="1824"/>
              <a:ext cx="0" cy="959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Box 32"/>
            <p:cNvSpPr txBox="1">
              <a:spLocks noChangeArrowheads="1"/>
            </p:cNvSpPr>
            <p:nvPr/>
          </p:nvSpPr>
          <p:spPr bwMode="auto">
            <a:xfrm>
              <a:off x="3936" y="2160"/>
              <a:ext cx="679" cy="3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Pulse</a:t>
              </a:r>
            </a:p>
            <a:p>
              <a:pPr algn="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waveforms</a:t>
              </a:r>
            </a:p>
          </p:txBody>
        </p:sp>
        <p:sp>
          <p:nvSpPr>
            <p:cNvPr id="40" name="Text Box 33"/>
            <p:cNvSpPr txBox="1">
              <a:spLocks noChangeArrowheads="1"/>
            </p:cNvSpPr>
            <p:nvPr/>
          </p:nvSpPr>
          <p:spPr bwMode="auto">
            <a:xfrm>
              <a:off x="3071" y="2256"/>
              <a:ext cx="639" cy="2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Bit stream</a:t>
              </a:r>
            </a:p>
          </p:txBody>
        </p:sp>
        <p:sp>
          <p:nvSpPr>
            <p:cNvPr id="41" name="Text Box 34"/>
            <p:cNvSpPr txBox="1">
              <a:spLocks noChangeArrowheads="1"/>
            </p:cNvSpPr>
            <p:nvPr/>
          </p:nvSpPr>
          <p:spPr bwMode="auto">
            <a:xfrm>
              <a:off x="1956" y="1276"/>
              <a:ext cx="480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Format</a:t>
              </a:r>
            </a:p>
          </p:txBody>
        </p:sp>
        <p:sp>
          <p:nvSpPr>
            <p:cNvPr id="42" name="Text Box 35"/>
            <p:cNvSpPr txBox="1">
              <a:spLocks noChangeArrowheads="1"/>
            </p:cNvSpPr>
            <p:nvPr/>
          </p:nvSpPr>
          <p:spPr bwMode="auto">
            <a:xfrm>
              <a:off x="1723" y="2380"/>
              <a:ext cx="480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Format</a:t>
              </a:r>
            </a:p>
          </p:txBody>
        </p:sp>
        <p:sp>
          <p:nvSpPr>
            <p:cNvPr id="43" name="Text Box 36"/>
            <p:cNvSpPr txBox="1">
              <a:spLocks noChangeArrowheads="1"/>
            </p:cNvSpPr>
            <p:nvPr/>
          </p:nvSpPr>
          <p:spPr bwMode="auto">
            <a:xfrm>
              <a:off x="640" y="1008"/>
              <a:ext cx="73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dirty="0">
                  <a:solidFill>
                    <a:srgbClr val="000000"/>
                  </a:solidFill>
                </a:rPr>
                <a:t>Digital info.</a:t>
              </a:r>
            </a:p>
          </p:txBody>
        </p:sp>
        <p:sp>
          <p:nvSpPr>
            <p:cNvPr id="44" name="Text Box 37"/>
            <p:cNvSpPr txBox="1">
              <a:spLocks noChangeArrowheads="1"/>
            </p:cNvSpPr>
            <p:nvPr/>
          </p:nvSpPr>
          <p:spPr bwMode="auto">
            <a:xfrm>
              <a:off x="615" y="1296"/>
              <a:ext cx="53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dirty="0">
                  <a:solidFill>
                    <a:srgbClr val="000000"/>
                  </a:solidFill>
                </a:rPr>
                <a:t>Textual 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dirty="0">
                  <a:solidFill>
                    <a:srgbClr val="000000"/>
                  </a:solidFill>
                </a:rPr>
                <a:t>info.</a:t>
              </a:r>
            </a:p>
          </p:txBody>
        </p:sp>
        <p:sp>
          <p:nvSpPr>
            <p:cNvPr id="45" name="Text Box 38"/>
            <p:cNvSpPr txBox="1">
              <a:spLocks noChangeArrowheads="1"/>
            </p:cNvSpPr>
            <p:nvPr/>
          </p:nvSpPr>
          <p:spPr bwMode="auto">
            <a:xfrm>
              <a:off x="615" y="1728"/>
              <a:ext cx="52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Analog 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info.</a:t>
              </a:r>
            </a:p>
          </p:txBody>
        </p:sp>
        <p:sp>
          <p:nvSpPr>
            <p:cNvPr id="46" name="Text Box 39"/>
            <p:cNvSpPr txBox="1">
              <a:spLocks noChangeArrowheads="1"/>
            </p:cNvSpPr>
            <p:nvPr/>
          </p:nvSpPr>
          <p:spPr bwMode="auto">
            <a:xfrm>
              <a:off x="615" y="2946"/>
              <a:ext cx="53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Textual 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info.</a:t>
              </a:r>
            </a:p>
          </p:txBody>
        </p:sp>
        <p:sp>
          <p:nvSpPr>
            <p:cNvPr id="47" name="Text Box 40"/>
            <p:cNvSpPr txBox="1">
              <a:spLocks noChangeArrowheads="1"/>
            </p:cNvSpPr>
            <p:nvPr/>
          </p:nvSpPr>
          <p:spPr bwMode="auto">
            <a:xfrm>
              <a:off x="615" y="2496"/>
              <a:ext cx="52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Analog 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info.</a:t>
              </a:r>
            </a:p>
          </p:txBody>
        </p:sp>
        <p:sp>
          <p:nvSpPr>
            <p:cNvPr id="48" name="Text Box 41"/>
            <p:cNvSpPr txBox="1">
              <a:spLocks noChangeArrowheads="1"/>
            </p:cNvSpPr>
            <p:nvPr/>
          </p:nvSpPr>
          <p:spPr bwMode="auto">
            <a:xfrm>
              <a:off x="664" y="3388"/>
              <a:ext cx="73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Digital info.</a:t>
              </a:r>
            </a:p>
          </p:txBody>
        </p:sp>
        <p:sp>
          <p:nvSpPr>
            <p:cNvPr id="49" name="AutoShape 42"/>
            <p:cNvSpPr>
              <a:spLocks/>
            </p:cNvSpPr>
            <p:nvPr/>
          </p:nvSpPr>
          <p:spPr bwMode="auto">
            <a:xfrm>
              <a:off x="613" y="1056"/>
              <a:ext cx="47" cy="1007"/>
            </a:xfrm>
            <a:prstGeom prst="leftBrace">
              <a:avLst>
                <a:gd name="adj1" fmla="val 178546"/>
                <a:gd name="adj2" fmla="val 50000"/>
              </a:avLst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50" name="AutoShape 43"/>
            <p:cNvSpPr>
              <a:spLocks/>
            </p:cNvSpPr>
            <p:nvPr/>
          </p:nvSpPr>
          <p:spPr bwMode="auto">
            <a:xfrm>
              <a:off x="613" y="2592"/>
              <a:ext cx="47" cy="1007"/>
            </a:xfrm>
            <a:prstGeom prst="leftBrace">
              <a:avLst>
                <a:gd name="adj1" fmla="val 178546"/>
                <a:gd name="adj2" fmla="val 50000"/>
              </a:avLst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51" name="Text Box 44"/>
            <p:cNvSpPr txBox="1">
              <a:spLocks noChangeArrowheads="1"/>
            </p:cNvSpPr>
            <p:nvPr/>
          </p:nvSpPr>
          <p:spPr bwMode="auto">
            <a:xfrm>
              <a:off x="145" y="1416"/>
              <a:ext cx="51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source</a:t>
              </a:r>
            </a:p>
          </p:txBody>
        </p:sp>
        <p:sp>
          <p:nvSpPr>
            <p:cNvPr id="52" name="Text Box 45"/>
            <p:cNvSpPr txBox="1">
              <a:spLocks noChangeArrowheads="1"/>
            </p:cNvSpPr>
            <p:nvPr/>
          </p:nvSpPr>
          <p:spPr bwMode="auto">
            <a:xfrm>
              <a:off x="194" y="2985"/>
              <a:ext cx="3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sink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520856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67" name="Text Box 1027"/>
          <p:cNvSpPr txBox="1">
            <a:spLocks noChangeArrowheads="1"/>
          </p:cNvSpPr>
          <p:nvPr/>
        </p:nvSpPr>
        <p:spPr bwMode="auto">
          <a:xfrm>
            <a:off x="322729" y="765559"/>
            <a:ext cx="5238227" cy="6142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1.1	ΟΡΙΣΜΟΙ ΕΝΝΟΙΩΝ</a:t>
            </a:r>
            <a:r>
              <a:rPr lang="en-GB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1.1.3	Στοιχεία επικοινωνιακής ζεύξης</a:t>
            </a: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Δέκτης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Η</a:t>
            </a: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λειτουργία του 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δέκτη (</a:t>
            </a:r>
            <a:r>
              <a:rPr lang="en-US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receiver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RX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είναι να αντιστρέφει τη διαδικασία διαμόρφωσης που εκτέλεσε ο πομπός και έτσι να ανακτά το αρχικό σήμα-πληροφορία, καθώς και να αντισταθμίζει την υποβάθμιση</a:t>
            </a: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του σήματος που τυχόν έχει προκαλέσει το κανάλι μετάδοσης. </a:t>
            </a: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Περιλαμβάνει:</a:t>
            </a:r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  ενίσχυση,</a:t>
            </a:r>
            <a:r>
              <a:rPr lang="el-GR" altLang="en-US" sz="2084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  φιλτράρισμα, </a:t>
            </a:r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  αποδιαμόρφωση 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και </a:t>
            </a:r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  αποκωδικοποίηση 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Είναι εν γένει πιο περίπλοκες από τις αντίστοιχες διαδικασίες που πραγματο</a:t>
            </a:r>
            <a:r>
              <a:rPr lang="en-US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ποιούνται στον πομπό.</a:t>
            </a: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6" name="TextBox 5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2"/>
          <p:cNvGrpSpPr>
            <a:grpSpLocks/>
          </p:cNvGrpSpPr>
          <p:nvPr/>
        </p:nvGrpSpPr>
        <p:grpSpPr bwMode="auto">
          <a:xfrm>
            <a:off x="5513295" y="1604682"/>
            <a:ext cx="6508749" cy="3100963"/>
            <a:chOff x="145" y="1008"/>
            <a:chExt cx="5326" cy="2591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2633" y="1680"/>
              <a:ext cx="576" cy="383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b="1">
                  <a:solidFill>
                    <a:srgbClr val="000000"/>
                  </a:solidFill>
                </a:rPr>
                <a:t>Encode</a:t>
              </a:r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4702" y="1584"/>
              <a:ext cx="769" cy="383"/>
            </a:xfrm>
            <a:prstGeom prst="rect">
              <a:avLst/>
            </a:prstGeom>
            <a:noFill/>
            <a:ln w="38160">
              <a:solidFill>
                <a:srgbClr val="FF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Transmit</a:t>
              </a:r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3547" y="1536"/>
              <a:ext cx="865" cy="479"/>
            </a:xfrm>
            <a:prstGeom prst="rect">
              <a:avLst/>
            </a:prstGeom>
            <a:solidFill>
              <a:srgbClr val="66FF66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2000">
                  <a:solidFill>
                    <a:srgbClr val="000000"/>
                  </a:solidFill>
                </a:rPr>
                <a:t>Pulse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2000">
                  <a:solidFill>
                    <a:srgbClr val="000000"/>
                  </a:solidFill>
                </a:rPr>
                <a:t>modulate</a:t>
              </a:r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1190" y="1680"/>
              <a:ext cx="576" cy="383"/>
            </a:xfrm>
            <a:prstGeom prst="rect">
              <a:avLst/>
            </a:prstGeom>
            <a:solidFill>
              <a:srgbClr val="9999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Sample</a:t>
              </a:r>
            </a:p>
          </p:txBody>
        </p:sp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1912" y="1680"/>
              <a:ext cx="576" cy="383"/>
            </a:xfrm>
            <a:prstGeom prst="rect">
              <a:avLst/>
            </a:prstGeom>
            <a:solidFill>
              <a:srgbClr val="FF99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Quantize</a:t>
              </a:r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1094" y="1440"/>
              <a:ext cx="2212" cy="719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3547" y="2688"/>
              <a:ext cx="865" cy="479"/>
            </a:xfrm>
            <a:prstGeom prst="rect">
              <a:avLst/>
            </a:prstGeom>
            <a:solidFill>
              <a:srgbClr val="CCFF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Demodulate/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Detect</a:t>
              </a:r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4702" y="2160"/>
              <a:ext cx="769" cy="383"/>
            </a:xfrm>
            <a:prstGeom prst="rect">
              <a:avLst/>
            </a:prstGeom>
            <a:noFill/>
            <a:ln w="38160">
              <a:solidFill>
                <a:srgbClr val="66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Channel</a:t>
              </a:r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4702" y="2736"/>
              <a:ext cx="769" cy="383"/>
            </a:xfrm>
            <a:prstGeom prst="rect">
              <a:avLst/>
            </a:prstGeom>
            <a:noFill/>
            <a:ln w="38160">
              <a:solidFill>
                <a:srgbClr val="FF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Receive</a:t>
              </a:r>
            </a:p>
          </p:txBody>
        </p:sp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>
              <a:off x="1190" y="2640"/>
              <a:ext cx="576" cy="383"/>
            </a:xfrm>
            <a:prstGeom prst="rect">
              <a:avLst/>
            </a:prstGeom>
            <a:solidFill>
              <a:srgbClr val="99CC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b="1">
                  <a:solidFill>
                    <a:srgbClr val="000000"/>
                  </a:solidFill>
                </a:rPr>
                <a:t>Low-pass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b="1">
                  <a:solidFill>
                    <a:srgbClr val="000000"/>
                  </a:solidFill>
                </a:rPr>
                <a:t>filter</a:t>
              </a:r>
            </a:p>
          </p:txBody>
        </p:sp>
        <p:sp>
          <p:nvSpPr>
            <p:cNvPr id="20" name="Rectangle 13"/>
            <p:cNvSpPr>
              <a:spLocks noChangeArrowheads="1"/>
            </p:cNvSpPr>
            <p:nvPr/>
          </p:nvSpPr>
          <p:spPr bwMode="auto">
            <a:xfrm>
              <a:off x="1912" y="2640"/>
              <a:ext cx="576" cy="383"/>
            </a:xfrm>
            <a:prstGeom prst="rect">
              <a:avLst/>
            </a:prstGeom>
            <a:solidFill>
              <a:srgbClr val="FFCC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b="1">
                  <a:solidFill>
                    <a:srgbClr val="000000"/>
                  </a:solidFill>
                </a:rPr>
                <a:t>Decode</a:t>
              </a:r>
            </a:p>
          </p:txBody>
        </p:sp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>
              <a:off x="1094" y="2544"/>
              <a:ext cx="1731" cy="719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1768" y="1920"/>
              <a:ext cx="143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>
              <a:off x="2489" y="1920"/>
              <a:ext cx="143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>
              <a:off x="902" y="1920"/>
              <a:ext cx="287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8"/>
            <p:cNvSpPr>
              <a:spLocks noChangeShapeType="1"/>
            </p:cNvSpPr>
            <p:nvPr/>
          </p:nvSpPr>
          <p:spPr bwMode="auto">
            <a:xfrm>
              <a:off x="3211" y="1920"/>
              <a:ext cx="336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>
              <a:spLocks/>
            </p:cNvSpPr>
            <p:nvPr/>
          </p:nvSpPr>
          <p:spPr bwMode="auto">
            <a:xfrm>
              <a:off x="902" y="1488"/>
              <a:ext cx="2020" cy="191"/>
            </a:xfrm>
            <a:custGeom>
              <a:avLst/>
              <a:gdLst>
                <a:gd name="T0" fmla="*/ 0 w 2016"/>
                <a:gd name="T1" fmla="*/ 0 h 144"/>
                <a:gd name="T2" fmla="*/ 2036 w 2016"/>
                <a:gd name="T3" fmla="*/ 0 h 144"/>
                <a:gd name="T4" fmla="*/ 2036 w 2016"/>
                <a:gd name="T5" fmla="*/ 592 h 144"/>
                <a:gd name="T6" fmla="*/ 0 60000 65536"/>
                <a:gd name="T7" fmla="*/ 0 60000 65536"/>
                <a:gd name="T8" fmla="*/ 0 60000 65536"/>
                <a:gd name="T9" fmla="*/ 0 w 2016"/>
                <a:gd name="T10" fmla="*/ 0 h 144"/>
                <a:gd name="T11" fmla="*/ 2016 w 2016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6" h="144">
                  <a:moveTo>
                    <a:pt x="0" y="0"/>
                  </a:moveTo>
                  <a:lnTo>
                    <a:pt x="2016" y="0"/>
                  </a:lnTo>
                  <a:lnTo>
                    <a:pt x="2016" y="144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/>
            </p:cNvSpPr>
            <p:nvPr/>
          </p:nvSpPr>
          <p:spPr bwMode="auto">
            <a:xfrm>
              <a:off x="902" y="1200"/>
              <a:ext cx="2645" cy="479"/>
            </a:xfrm>
            <a:custGeom>
              <a:avLst/>
              <a:gdLst>
                <a:gd name="T0" fmla="*/ 0 w 2640"/>
                <a:gd name="T1" fmla="*/ 0 h 480"/>
                <a:gd name="T2" fmla="*/ 2473 w 2640"/>
                <a:gd name="T3" fmla="*/ 0 h 480"/>
                <a:gd name="T4" fmla="*/ 2473 w 2640"/>
                <a:gd name="T5" fmla="*/ 475 h 480"/>
                <a:gd name="T6" fmla="*/ 2665 w 2640"/>
                <a:gd name="T7" fmla="*/ 475 h 4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0"/>
                <a:gd name="T13" fmla="*/ 0 h 480"/>
                <a:gd name="T14" fmla="*/ 2640 w 2640"/>
                <a:gd name="T15" fmla="*/ 480 h 4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0" h="480">
                  <a:moveTo>
                    <a:pt x="0" y="0"/>
                  </a:moveTo>
                  <a:lnTo>
                    <a:pt x="2448" y="0"/>
                  </a:lnTo>
                  <a:lnTo>
                    <a:pt x="2448" y="480"/>
                  </a:lnTo>
                  <a:lnTo>
                    <a:pt x="2640" y="480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>
              <a:off x="4413" y="1776"/>
              <a:ext cx="287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2"/>
            <p:cNvSpPr>
              <a:spLocks noChangeShapeType="1"/>
            </p:cNvSpPr>
            <p:nvPr/>
          </p:nvSpPr>
          <p:spPr bwMode="auto">
            <a:xfrm>
              <a:off x="5087" y="1968"/>
              <a:ext cx="0" cy="1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3"/>
            <p:cNvSpPr>
              <a:spLocks noChangeShapeType="1"/>
            </p:cNvSpPr>
            <p:nvPr/>
          </p:nvSpPr>
          <p:spPr bwMode="auto">
            <a:xfrm>
              <a:off x="5087" y="2544"/>
              <a:ext cx="0" cy="19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4"/>
            <p:cNvSpPr>
              <a:spLocks noChangeShapeType="1"/>
            </p:cNvSpPr>
            <p:nvPr/>
          </p:nvSpPr>
          <p:spPr bwMode="auto">
            <a:xfrm flipH="1">
              <a:off x="4410" y="2928"/>
              <a:ext cx="295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5"/>
            <p:cNvSpPr>
              <a:spLocks noChangeShapeType="1"/>
            </p:cNvSpPr>
            <p:nvPr/>
          </p:nvSpPr>
          <p:spPr bwMode="auto">
            <a:xfrm flipH="1">
              <a:off x="2485" y="2832"/>
              <a:ext cx="1065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/>
            </p:cNvSpPr>
            <p:nvPr/>
          </p:nvSpPr>
          <p:spPr bwMode="auto">
            <a:xfrm>
              <a:off x="950" y="3024"/>
              <a:ext cx="1250" cy="143"/>
            </a:xfrm>
            <a:custGeom>
              <a:avLst/>
              <a:gdLst>
                <a:gd name="T0" fmla="*/ 1471 w 1200"/>
                <a:gd name="T1" fmla="*/ 0 h 144"/>
                <a:gd name="T2" fmla="*/ 1471 w 1200"/>
                <a:gd name="T3" fmla="*/ 139 h 144"/>
                <a:gd name="T4" fmla="*/ 0 w 1200"/>
                <a:gd name="T5" fmla="*/ 139 h 144"/>
                <a:gd name="T6" fmla="*/ 0 60000 65536"/>
                <a:gd name="T7" fmla="*/ 0 60000 65536"/>
                <a:gd name="T8" fmla="*/ 0 60000 65536"/>
                <a:gd name="T9" fmla="*/ 0 w 1200"/>
                <a:gd name="T10" fmla="*/ 0 h 144"/>
                <a:gd name="T11" fmla="*/ 1200 w 1200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0" h="144">
                  <a:moveTo>
                    <a:pt x="1200" y="0"/>
                  </a:moveTo>
                  <a:lnTo>
                    <a:pt x="1200" y="144"/>
                  </a:lnTo>
                  <a:lnTo>
                    <a:pt x="0" y="144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Freeform 27"/>
            <p:cNvSpPr>
              <a:spLocks/>
            </p:cNvSpPr>
            <p:nvPr/>
          </p:nvSpPr>
          <p:spPr bwMode="auto">
            <a:xfrm>
              <a:off x="950" y="3072"/>
              <a:ext cx="2597" cy="335"/>
            </a:xfrm>
            <a:custGeom>
              <a:avLst/>
              <a:gdLst>
                <a:gd name="T0" fmla="*/ 3043 w 2496"/>
                <a:gd name="T1" fmla="*/ 0 h 336"/>
                <a:gd name="T2" fmla="*/ 2868 w 2496"/>
                <a:gd name="T3" fmla="*/ 0 h 336"/>
                <a:gd name="T4" fmla="*/ 2868 w 2496"/>
                <a:gd name="T5" fmla="*/ 331 h 336"/>
                <a:gd name="T6" fmla="*/ 0 w 2496"/>
                <a:gd name="T7" fmla="*/ 331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96"/>
                <a:gd name="T13" fmla="*/ 0 h 336"/>
                <a:gd name="T14" fmla="*/ 2496 w 2496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96" h="336">
                  <a:moveTo>
                    <a:pt x="2496" y="0"/>
                  </a:moveTo>
                  <a:lnTo>
                    <a:pt x="2352" y="0"/>
                  </a:lnTo>
                  <a:lnTo>
                    <a:pt x="2352" y="336"/>
                  </a:lnTo>
                  <a:lnTo>
                    <a:pt x="0" y="336"/>
                  </a:lnTo>
                </a:path>
              </a:pathLst>
            </a:cu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28"/>
            <p:cNvSpPr>
              <a:spLocks noChangeShapeType="1"/>
            </p:cNvSpPr>
            <p:nvPr/>
          </p:nvSpPr>
          <p:spPr bwMode="auto">
            <a:xfrm flipH="1">
              <a:off x="1764" y="2832"/>
              <a:ext cx="151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29"/>
            <p:cNvSpPr>
              <a:spLocks noChangeShapeType="1"/>
            </p:cNvSpPr>
            <p:nvPr/>
          </p:nvSpPr>
          <p:spPr bwMode="auto">
            <a:xfrm flipH="1">
              <a:off x="945" y="2832"/>
              <a:ext cx="248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30"/>
            <p:cNvSpPr>
              <a:spLocks noChangeShapeType="1"/>
            </p:cNvSpPr>
            <p:nvPr/>
          </p:nvSpPr>
          <p:spPr bwMode="auto">
            <a:xfrm>
              <a:off x="3403" y="1968"/>
              <a:ext cx="0" cy="81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1"/>
            <p:cNvSpPr>
              <a:spLocks noChangeShapeType="1"/>
            </p:cNvSpPr>
            <p:nvPr/>
          </p:nvSpPr>
          <p:spPr bwMode="auto">
            <a:xfrm>
              <a:off x="4510" y="1824"/>
              <a:ext cx="0" cy="959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Box 32"/>
            <p:cNvSpPr txBox="1">
              <a:spLocks noChangeArrowheads="1"/>
            </p:cNvSpPr>
            <p:nvPr/>
          </p:nvSpPr>
          <p:spPr bwMode="auto">
            <a:xfrm>
              <a:off x="3936" y="2160"/>
              <a:ext cx="679" cy="3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Pulse</a:t>
              </a:r>
            </a:p>
            <a:p>
              <a:pPr algn="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waveforms</a:t>
              </a:r>
            </a:p>
          </p:txBody>
        </p:sp>
        <p:sp>
          <p:nvSpPr>
            <p:cNvPr id="40" name="Text Box 33"/>
            <p:cNvSpPr txBox="1">
              <a:spLocks noChangeArrowheads="1"/>
            </p:cNvSpPr>
            <p:nvPr/>
          </p:nvSpPr>
          <p:spPr bwMode="auto">
            <a:xfrm>
              <a:off x="3071" y="2256"/>
              <a:ext cx="639" cy="2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Bit stream</a:t>
              </a:r>
            </a:p>
          </p:txBody>
        </p:sp>
        <p:sp>
          <p:nvSpPr>
            <p:cNvPr id="41" name="Text Box 34"/>
            <p:cNvSpPr txBox="1">
              <a:spLocks noChangeArrowheads="1"/>
            </p:cNvSpPr>
            <p:nvPr/>
          </p:nvSpPr>
          <p:spPr bwMode="auto">
            <a:xfrm>
              <a:off x="1956" y="1276"/>
              <a:ext cx="480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Format</a:t>
              </a:r>
            </a:p>
          </p:txBody>
        </p:sp>
        <p:sp>
          <p:nvSpPr>
            <p:cNvPr id="42" name="Text Box 35"/>
            <p:cNvSpPr txBox="1">
              <a:spLocks noChangeArrowheads="1"/>
            </p:cNvSpPr>
            <p:nvPr/>
          </p:nvSpPr>
          <p:spPr bwMode="auto">
            <a:xfrm>
              <a:off x="1723" y="2380"/>
              <a:ext cx="480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Format</a:t>
              </a:r>
            </a:p>
          </p:txBody>
        </p:sp>
        <p:sp>
          <p:nvSpPr>
            <p:cNvPr id="43" name="Text Box 36"/>
            <p:cNvSpPr txBox="1">
              <a:spLocks noChangeArrowheads="1"/>
            </p:cNvSpPr>
            <p:nvPr/>
          </p:nvSpPr>
          <p:spPr bwMode="auto">
            <a:xfrm>
              <a:off x="640" y="1008"/>
              <a:ext cx="73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dirty="0">
                  <a:solidFill>
                    <a:srgbClr val="000000"/>
                  </a:solidFill>
                </a:rPr>
                <a:t>Digital info.</a:t>
              </a:r>
            </a:p>
          </p:txBody>
        </p:sp>
        <p:sp>
          <p:nvSpPr>
            <p:cNvPr id="44" name="Text Box 37"/>
            <p:cNvSpPr txBox="1">
              <a:spLocks noChangeArrowheads="1"/>
            </p:cNvSpPr>
            <p:nvPr/>
          </p:nvSpPr>
          <p:spPr bwMode="auto">
            <a:xfrm>
              <a:off x="615" y="1296"/>
              <a:ext cx="53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dirty="0">
                  <a:solidFill>
                    <a:srgbClr val="000000"/>
                  </a:solidFill>
                </a:rPr>
                <a:t>Textual 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 dirty="0">
                  <a:solidFill>
                    <a:srgbClr val="000000"/>
                  </a:solidFill>
                </a:rPr>
                <a:t>info.</a:t>
              </a:r>
            </a:p>
          </p:txBody>
        </p:sp>
        <p:sp>
          <p:nvSpPr>
            <p:cNvPr id="45" name="Text Box 38"/>
            <p:cNvSpPr txBox="1">
              <a:spLocks noChangeArrowheads="1"/>
            </p:cNvSpPr>
            <p:nvPr/>
          </p:nvSpPr>
          <p:spPr bwMode="auto">
            <a:xfrm>
              <a:off x="615" y="1728"/>
              <a:ext cx="52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Analog 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info.</a:t>
              </a:r>
            </a:p>
          </p:txBody>
        </p:sp>
        <p:sp>
          <p:nvSpPr>
            <p:cNvPr id="46" name="Text Box 39"/>
            <p:cNvSpPr txBox="1">
              <a:spLocks noChangeArrowheads="1"/>
            </p:cNvSpPr>
            <p:nvPr/>
          </p:nvSpPr>
          <p:spPr bwMode="auto">
            <a:xfrm>
              <a:off x="615" y="2946"/>
              <a:ext cx="53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Textual 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info.</a:t>
              </a:r>
            </a:p>
          </p:txBody>
        </p:sp>
        <p:sp>
          <p:nvSpPr>
            <p:cNvPr id="47" name="Text Box 40"/>
            <p:cNvSpPr txBox="1">
              <a:spLocks noChangeArrowheads="1"/>
            </p:cNvSpPr>
            <p:nvPr/>
          </p:nvSpPr>
          <p:spPr bwMode="auto">
            <a:xfrm>
              <a:off x="615" y="2496"/>
              <a:ext cx="52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Analog </a:t>
              </a:r>
            </a:p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info.</a:t>
              </a:r>
            </a:p>
          </p:txBody>
        </p:sp>
        <p:sp>
          <p:nvSpPr>
            <p:cNvPr id="48" name="Text Box 41"/>
            <p:cNvSpPr txBox="1">
              <a:spLocks noChangeArrowheads="1"/>
            </p:cNvSpPr>
            <p:nvPr/>
          </p:nvSpPr>
          <p:spPr bwMode="auto">
            <a:xfrm>
              <a:off x="664" y="3388"/>
              <a:ext cx="73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600">
                  <a:solidFill>
                    <a:srgbClr val="000000"/>
                  </a:solidFill>
                </a:rPr>
                <a:t>Digital info.</a:t>
              </a:r>
            </a:p>
          </p:txBody>
        </p:sp>
        <p:sp>
          <p:nvSpPr>
            <p:cNvPr id="49" name="AutoShape 42"/>
            <p:cNvSpPr>
              <a:spLocks/>
            </p:cNvSpPr>
            <p:nvPr/>
          </p:nvSpPr>
          <p:spPr bwMode="auto">
            <a:xfrm>
              <a:off x="613" y="1056"/>
              <a:ext cx="47" cy="1007"/>
            </a:xfrm>
            <a:prstGeom prst="leftBrace">
              <a:avLst>
                <a:gd name="adj1" fmla="val 178546"/>
                <a:gd name="adj2" fmla="val 50000"/>
              </a:avLst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50" name="AutoShape 43"/>
            <p:cNvSpPr>
              <a:spLocks/>
            </p:cNvSpPr>
            <p:nvPr/>
          </p:nvSpPr>
          <p:spPr bwMode="auto">
            <a:xfrm>
              <a:off x="613" y="2592"/>
              <a:ext cx="47" cy="1007"/>
            </a:xfrm>
            <a:prstGeom prst="leftBrace">
              <a:avLst>
                <a:gd name="adj1" fmla="val 178546"/>
                <a:gd name="adj2" fmla="val 50000"/>
              </a:avLst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51" name="Text Box 44"/>
            <p:cNvSpPr txBox="1">
              <a:spLocks noChangeArrowheads="1"/>
            </p:cNvSpPr>
            <p:nvPr/>
          </p:nvSpPr>
          <p:spPr bwMode="auto">
            <a:xfrm>
              <a:off x="145" y="1416"/>
              <a:ext cx="51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source</a:t>
              </a:r>
            </a:p>
          </p:txBody>
        </p:sp>
        <p:sp>
          <p:nvSpPr>
            <p:cNvPr id="52" name="Text Box 45"/>
            <p:cNvSpPr txBox="1">
              <a:spLocks noChangeArrowheads="1"/>
            </p:cNvSpPr>
            <p:nvPr/>
          </p:nvSpPr>
          <p:spPr bwMode="auto">
            <a:xfrm>
              <a:off x="194" y="2985"/>
              <a:ext cx="3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000000"/>
                  </a:solidFill>
                </a:rPr>
                <a:t>sink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316183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91" name="Text Box 1027"/>
          <p:cNvSpPr txBox="1">
            <a:spLocks noChangeArrowheads="1"/>
          </p:cNvSpPr>
          <p:nvPr/>
        </p:nvSpPr>
        <p:spPr bwMode="auto">
          <a:xfrm>
            <a:off x="385482" y="872290"/>
            <a:ext cx="11376211" cy="5565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1.1	ΟΡΙΣΜΟΙ ΕΝΝΟΙΩΝ</a:t>
            </a:r>
            <a:r>
              <a:rPr lang="en-GB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1.1.4	Αιτίες υποβάθμισης της ζεύξης</a:t>
            </a:r>
            <a:r>
              <a:rPr lang="en-GB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Παραμόρφωση (</a:t>
            </a:r>
            <a:r>
              <a:rPr lang="en-US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distortion</a:t>
            </a: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l-GR" altLang="en-US" sz="2084" b="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Μεταβολές φάσης εξαρτώμενες από τη συχνότητα, οι οποίες δημιουργούν διαφορική καθυστέρηση ομάδας</a:t>
            </a:r>
          </a:p>
          <a:p>
            <a:pPr algn="just">
              <a:lnSpc>
                <a:spcPct val="90000"/>
              </a:lnSpc>
            </a:pPr>
            <a:endParaRPr lang="el-GR" altLang="en-US" sz="2084" b="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Μεταβολές της απολαβής με τη συχνότητα, που προκαλούνται από το φιλτράρισμα που πραγματοποιεί το κανάλι</a:t>
            </a:r>
          </a:p>
          <a:p>
            <a:pPr algn="just">
              <a:lnSpc>
                <a:spcPct val="90000"/>
              </a:lnSpc>
            </a:pPr>
            <a:endParaRPr lang="el-GR" altLang="en-US" sz="2084" b="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Μεταβολές της απολαβής με το χρόνο, όπως συμβαίνουν σε ένα κανάλι ραδιοσυχνοτήτων ή κανάλι υπερύθρων</a:t>
            </a:r>
          </a:p>
          <a:p>
            <a:pPr algn="just">
              <a:lnSpc>
                <a:spcPct val="90000"/>
              </a:lnSpc>
            </a:pPr>
            <a:endParaRPr lang="el-GR" altLang="en-US" sz="2084" b="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  <a:buFontTx/>
              <a:buChar char="•"/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Μετατοπίσεις συχνότητας ανάμεσα στον πομπό και το δέκτη λόγω Μετατόπισης </a:t>
            </a:r>
            <a:r>
              <a:rPr lang="en-US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Doppler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ή σφαλμάτων του τοπικού ταλαντωτή</a:t>
            </a: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  <a:buFontTx/>
              <a:buChar char="•"/>
            </a:pPr>
            <a:endParaRPr lang="en-US" altLang="en-US" sz="2084" b="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Παρεμβολή (</a:t>
            </a:r>
            <a:r>
              <a:rPr lang="en-US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interference</a:t>
            </a: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Δημιουργείται όταν το κανάλι "μολύνεται" από εξωτερικά σήματα.</a:t>
            </a: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  <a:buFontTx/>
              <a:buChar char="•"/>
            </a:pPr>
            <a:endParaRPr lang="en-US" altLang="en-US" sz="2084" b="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6" name="TextBox 5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9727234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358589" y="872290"/>
            <a:ext cx="11474824" cy="325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1.1	ΟΡΙΣΜΟΙ ΕΝΝΟΙΩΝ</a:t>
            </a:r>
            <a:r>
              <a:rPr lang="en-GB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1.1.4	Αιτίες υποβάθμισης της ζεύξης</a:t>
            </a:r>
            <a:r>
              <a:rPr lang="en-GB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Θόρυβος (</a:t>
            </a:r>
            <a:r>
              <a:rPr lang="en-US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noise</a:t>
            </a: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l-GR" altLang="en-US" sz="2084" b="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Χαρακτηρίζεται ως </a:t>
            </a:r>
            <a:r>
              <a:rPr lang="el-GR" altLang="en-US" sz="2084" b="0" i="1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τυχαίος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και είναι 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απρόβλεπτα ηλεκτρικά σήματα από φυσικές πηγές, 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όπως είναι ο ατμοσφαιρικός θόρυβος, ο θερμικός θόρυβος, ο θόρυβος βολής κ.α.</a:t>
            </a:r>
            <a:r>
              <a:rPr lang="en-GB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Μοντελοποίηση Θορύβου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Προσθετικός Λευκός Γκαουσιανός Θόρυβος (</a:t>
            </a:r>
            <a:r>
              <a:rPr lang="en-US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Additive White Gaussian Noise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084" b="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AWGN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altLang="en-US" sz="2084" b="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6" name="TextBox 5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509946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421341" y="782268"/>
            <a:ext cx="11385177" cy="123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1.1	ΟΡΙΣΜΟΙ ΕΝΝΟΙΩΝ</a:t>
            </a:r>
            <a:r>
              <a:rPr lang="en-GB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1.1.4	Αιτίες υποβάθμισης της ζεύξης</a:t>
            </a:r>
            <a:r>
              <a:rPr lang="en-GB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Θόρυβος (</a:t>
            </a:r>
            <a:r>
              <a:rPr lang="en-US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noise</a:t>
            </a: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 Προσθετικός Λευκός Γκαουσιανός Θόρυβος (</a:t>
            </a:r>
            <a:r>
              <a:rPr lang="en-US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Additive White Gaussian Noise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AWGN</a:t>
            </a:r>
            <a:r>
              <a:rPr lang="el-GR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altLang="en-US" sz="2084" b="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6" name="TextBox 5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/>
          <p:cNvGrpSpPr/>
          <p:nvPr/>
        </p:nvGrpSpPr>
        <p:grpSpPr>
          <a:xfrm>
            <a:off x="685800" y="3388659"/>
            <a:ext cx="8074025" cy="3276600"/>
            <a:chOff x="381000" y="3048000"/>
            <a:chExt cx="8074025" cy="3276600"/>
          </a:xfrm>
        </p:grpSpPr>
        <p:grpSp>
          <p:nvGrpSpPr>
            <p:cNvPr id="9" name="Group 3"/>
            <p:cNvGrpSpPr>
              <a:grpSpLocks/>
            </p:cNvGrpSpPr>
            <p:nvPr/>
          </p:nvGrpSpPr>
          <p:grpSpPr bwMode="auto">
            <a:xfrm>
              <a:off x="381000" y="3048000"/>
              <a:ext cx="3579813" cy="2813050"/>
              <a:chOff x="240" y="1920"/>
              <a:chExt cx="2255" cy="1772"/>
            </a:xfrm>
          </p:grpSpPr>
          <p:grpSp>
            <p:nvGrpSpPr>
              <p:cNvPr id="10" name="Group 4"/>
              <p:cNvGrpSpPr>
                <a:grpSpLocks/>
              </p:cNvGrpSpPr>
              <p:nvPr/>
            </p:nvGrpSpPr>
            <p:grpSpPr bwMode="auto">
              <a:xfrm>
                <a:off x="240" y="2160"/>
                <a:ext cx="2255" cy="1532"/>
                <a:chOff x="240" y="2160"/>
                <a:chExt cx="2255" cy="1532"/>
              </a:xfrm>
            </p:grpSpPr>
            <p:pic>
              <p:nvPicPr>
                <p:cNvPr id="13" name="Picture 5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40" y="2160"/>
                  <a:ext cx="2255" cy="15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" name="Line 6"/>
                <p:cNvSpPr>
                  <a:spLocks noChangeShapeType="1"/>
                </p:cNvSpPr>
                <p:nvPr/>
              </p:nvSpPr>
              <p:spPr bwMode="auto">
                <a:xfrm>
                  <a:off x="528" y="3525"/>
                  <a:ext cx="1775" cy="0"/>
                </a:xfrm>
                <a:prstGeom prst="line">
                  <a:avLst/>
                </a:prstGeom>
                <a:noFill/>
                <a:ln w="2844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1404" y="2319"/>
                  <a:ext cx="0" cy="1355"/>
                </a:xfrm>
                <a:prstGeom prst="line">
                  <a:avLst/>
                </a:prstGeom>
                <a:noFill/>
                <a:ln w="2844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1" name="Picture 8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1" y="1920"/>
                <a:ext cx="1842" cy="3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  <p:pic>
            <p:nvPicPr>
              <p:cNvPr id="12" name="Picture 9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68" y="3600"/>
                <a:ext cx="103" cy="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6" name="Group 10"/>
            <p:cNvGrpSpPr>
              <a:grpSpLocks/>
            </p:cNvGrpSpPr>
            <p:nvPr/>
          </p:nvGrpSpPr>
          <p:grpSpPr bwMode="auto">
            <a:xfrm>
              <a:off x="6096000" y="4953000"/>
              <a:ext cx="2208213" cy="1216025"/>
              <a:chOff x="3840" y="3120"/>
              <a:chExt cx="1391" cy="766"/>
            </a:xfrm>
          </p:grpSpPr>
          <p:pic>
            <p:nvPicPr>
              <p:cNvPr id="17" name="Picture 11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84" y="3120"/>
                <a:ext cx="123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  <p:sp>
            <p:nvSpPr>
              <p:cNvPr id="18" name="Line 12"/>
              <p:cNvSpPr>
                <a:spLocks noChangeShapeType="1"/>
              </p:cNvSpPr>
              <p:nvPr/>
            </p:nvSpPr>
            <p:spPr bwMode="auto">
              <a:xfrm>
                <a:off x="3840" y="3738"/>
                <a:ext cx="1391" cy="0"/>
              </a:xfrm>
              <a:prstGeom prst="line">
                <a:avLst/>
              </a:prstGeom>
              <a:noFill/>
              <a:ln w="2844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Line 13"/>
              <p:cNvSpPr>
                <a:spLocks noChangeShapeType="1"/>
              </p:cNvSpPr>
              <p:nvPr/>
            </p:nvSpPr>
            <p:spPr bwMode="auto">
              <a:xfrm flipV="1">
                <a:off x="4560" y="3296"/>
                <a:ext cx="0" cy="591"/>
              </a:xfrm>
              <a:prstGeom prst="line">
                <a:avLst/>
              </a:prstGeom>
              <a:noFill/>
              <a:ln w="2844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Line 14"/>
              <p:cNvSpPr>
                <a:spLocks noChangeShapeType="1"/>
              </p:cNvSpPr>
              <p:nvPr/>
            </p:nvSpPr>
            <p:spPr bwMode="auto">
              <a:xfrm flipV="1">
                <a:off x="4560" y="3400"/>
                <a:ext cx="0" cy="347"/>
              </a:xfrm>
              <a:prstGeom prst="line">
                <a:avLst/>
              </a:prstGeom>
              <a:noFill/>
              <a:ln w="28440">
                <a:solidFill>
                  <a:srgbClr val="3333CC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1" name="Picture 15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40" y="3786"/>
                <a:ext cx="95" cy="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2" name="Group 16"/>
            <p:cNvGrpSpPr>
              <a:grpSpLocks/>
            </p:cNvGrpSpPr>
            <p:nvPr/>
          </p:nvGrpSpPr>
          <p:grpSpPr bwMode="auto">
            <a:xfrm>
              <a:off x="6019800" y="3429000"/>
              <a:ext cx="2435225" cy="1401763"/>
              <a:chOff x="3792" y="2160"/>
              <a:chExt cx="1534" cy="883"/>
            </a:xfrm>
          </p:grpSpPr>
          <p:sp>
            <p:nvSpPr>
              <p:cNvPr id="23" name="Line 17"/>
              <p:cNvSpPr>
                <a:spLocks noChangeShapeType="1"/>
              </p:cNvSpPr>
              <p:nvPr/>
            </p:nvSpPr>
            <p:spPr bwMode="auto">
              <a:xfrm>
                <a:off x="3792" y="2842"/>
                <a:ext cx="1391" cy="0"/>
              </a:xfrm>
              <a:prstGeom prst="line">
                <a:avLst/>
              </a:prstGeom>
              <a:noFill/>
              <a:ln w="2844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Line 18"/>
              <p:cNvSpPr>
                <a:spLocks noChangeShapeType="1"/>
              </p:cNvSpPr>
              <p:nvPr/>
            </p:nvSpPr>
            <p:spPr bwMode="auto">
              <a:xfrm flipV="1">
                <a:off x="4512" y="2414"/>
                <a:ext cx="0" cy="575"/>
              </a:xfrm>
              <a:prstGeom prst="line">
                <a:avLst/>
              </a:prstGeom>
              <a:noFill/>
              <a:ln w="2844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5" name="Picture 19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27" y="2180"/>
                <a:ext cx="92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  <p:sp>
            <p:nvSpPr>
              <p:cNvPr id="26" name="Text Box 20"/>
              <p:cNvSpPr txBox="1">
                <a:spLocks noChangeArrowheads="1"/>
              </p:cNvSpPr>
              <p:nvPr/>
            </p:nvSpPr>
            <p:spPr bwMode="auto">
              <a:xfrm>
                <a:off x="4851" y="2160"/>
                <a:ext cx="475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lnSpc>
                    <a:spcPct val="78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>
                  <a:lnSpc>
                    <a:spcPct val="78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>
                  <a:lnSpc>
                    <a:spcPct val="78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>
                  <a:lnSpc>
                    <a:spcPct val="78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>
                  <a:lnSpc>
                    <a:spcPct val="78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78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78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78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78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buClrTx/>
                  <a:buFontTx/>
                  <a:buNone/>
                </a:pPr>
                <a:r>
                  <a:rPr lang="en-GB" altLang="en-US" sz="1600">
                    <a:solidFill>
                      <a:srgbClr val="000000"/>
                    </a:solidFill>
                  </a:rPr>
                  <a:t>[w/Hz]</a:t>
                </a:r>
              </a:p>
            </p:txBody>
          </p:sp>
          <p:sp>
            <p:nvSpPr>
              <p:cNvPr id="27" name="Line 21"/>
              <p:cNvSpPr>
                <a:spLocks noChangeShapeType="1"/>
              </p:cNvSpPr>
              <p:nvPr/>
            </p:nvSpPr>
            <p:spPr bwMode="auto">
              <a:xfrm>
                <a:off x="3936" y="2612"/>
                <a:ext cx="1055" cy="0"/>
              </a:xfrm>
              <a:prstGeom prst="line">
                <a:avLst/>
              </a:prstGeom>
              <a:noFill/>
              <a:ln w="28440">
                <a:solidFill>
                  <a:srgbClr val="3333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8" name="Picture 22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00" y="2892"/>
                <a:ext cx="87" cy="1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</p:grpSp>
        <p:sp>
          <p:nvSpPr>
            <p:cNvPr id="29" name="Text Box 23"/>
            <p:cNvSpPr txBox="1">
              <a:spLocks noChangeArrowheads="1"/>
            </p:cNvSpPr>
            <p:nvPr/>
          </p:nvSpPr>
          <p:spPr bwMode="auto">
            <a:xfrm>
              <a:off x="762000" y="5943600"/>
              <a:ext cx="2916238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GB" altLang="en-US" sz="1800" b="1">
                  <a:solidFill>
                    <a:srgbClr val="FF0000"/>
                  </a:solidFill>
                </a:rPr>
                <a:t>Probability density function</a:t>
              </a:r>
            </a:p>
          </p:txBody>
        </p:sp>
        <p:grpSp>
          <p:nvGrpSpPr>
            <p:cNvPr id="30" name="Group 24"/>
            <p:cNvGrpSpPr>
              <a:grpSpLocks/>
            </p:cNvGrpSpPr>
            <p:nvPr/>
          </p:nvGrpSpPr>
          <p:grpSpPr bwMode="auto">
            <a:xfrm>
              <a:off x="4322763" y="3886200"/>
              <a:ext cx="1697037" cy="685800"/>
              <a:chOff x="2723" y="2448"/>
              <a:chExt cx="1069" cy="432"/>
            </a:xfrm>
          </p:grpSpPr>
          <p:sp>
            <p:nvSpPr>
              <p:cNvPr id="31" name="Text Box 25"/>
              <p:cNvSpPr txBox="1">
                <a:spLocks noChangeArrowheads="1"/>
              </p:cNvSpPr>
              <p:nvPr/>
            </p:nvSpPr>
            <p:spPr bwMode="auto">
              <a:xfrm>
                <a:off x="2723" y="2476"/>
                <a:ext cx="1069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lnSpc>
                    <a:spcPct val="78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>
                  <a:lnSpc>
                    <a:spcPct val="78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>
                  <a:lnSpc>
                    <a:spcPct val="78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>
                  <a:lnSpc>
                    <a:spcPct val="78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>
                  <a:lnSpc>
                    <a:spcPct val="78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78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78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78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78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buClrTx/>
                  <a:buFontTx/>
                  <a:buNone/>
                </a:pPr>
                <a:r>
                  <a:rPr lang="en-GB" altLang="en-US" sz="1800" b="1">
                    <a:solidFill>
                      <a:srgbClr val="FF0000"/>
                    </a:solidFill>
                  </a:rPr>
                  <a:t>Power spectral </a:t>
                </a:r>
              </a:p>
              <a:p>
                <a:pPr algn="ctr">
                  <a:lnSpc>
                    <a:spcPct val="100000"/>
                  </a:lnSpc>
                  <a:buClrTx/>
                  <a:buFontTx/>
                  <a:buNone/>
                </a:pPr>
                <a:r>
                  <a:rPr lang="en-GB" altLang="en-US" sz="1800" b="1">
                    <a:solidFill>
                      <a:srgbClr val="FF0000"/>
                    </a:solidFill>
                  </a:rPr>
                  <a:t>density</a:t>
                </a:r>
              </a:p>
            </p:txBody>
          </p:sp>
          <p:sp>
            <p:nvSpPr>
              <p:cNvPr id="32" name="AutoShape 26"/>
              <p:cNvSpPr>
                <a:spLocks noChangeArrowheads="1"/>
              </p:cNvSpPr>
              <p:nvPr/>
            </p:nvSpPr>
            <p:spPr bwMode="auto">
              <a:xfrm>
                <a:off x="2724" y="2448"/>
                <a:ext cx="1055" cy="431"/>
              </a:xfrm>
              <a:prstGeom prst="homePlate">
                <a:avLst>
                  <a:gd name="adj" fmla="val 20398"/>
                </a:avLst>
              </a:prstGeom>
              <a:noFill/>
              <a:ln w="126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78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</p:grpSp>
        <p:grpSp>
          <p:nvGrpSpPr>
            <p:cNvPr id="33" name="Group 27"/>
            <p:cNvGrpSpPr>
              <a:grpSpLocks/>
            </p:cNvGrpSpPr>
            <p:nvPr/>
          </p:nvGrpSpPr>
          <p:grpSpPr bwMode="auto">
            <a:xfrm>
              <a:off x="4267200" y="5257800"/>
              <a:ext cx="1800225" cy="685800"/>
              <a:chOff x="2688" y="3312"/>
              <a:chExt cx="1134" cy="432"/>
            </a:xfrm>
          </p:grpSpPr>
          <p:sp>
            <p:nvSpPr>
              <p:cNvPr id="34" name="Text Box 28"/>
              <p:cNvSpPr txBox="1">
                <a:spLocks noChangeArrowheads="1"/>
              </p:cNvSpPr>
              <p:nvPr/>
            </p:nvSpPr>
            <p:spPr bwMode="auto">
              <a:xfrm>
                <a:off x="2688" y="3340"/>
                <a:ext cx="113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lnSpc>
                    <a:spcPct val="78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>
                  <a:lnSpc>
                    <a:spcPct val="78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>
                  <a:lnSpc>
                    <a:spcPct val="78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>
                  <a:lnSpc>
                    <a:spcPct val="78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>
                  <a:lnSpc>
                    <a:spcPct val="78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78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78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78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78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bg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buClrTx/>
                  <a:buFontTx/>
                  <a:buNone/>
                </a:pPr>
                <a:r>
                  <a:rPr lang="en-GB" altLang="en-US" sz="1800" b="1">
                    <a:solidFill>
                      <a:srgbClr val="FF0000"/>
                    </a:solidFill>
                  </a:rPr>
                  <a:t>Autocorrelation </a:t>
                </a:r>
              </a:p>
              <a:p>
                <a:pPr algn="ctr">
                  <a:lnSpc>
                    <a:spcPct val="100000"/>
                  </a:lnSpc>
                  <a:buClrTx/>
                  <a:buFontTx/>
                  <a:buNone/>
                </a:pPr>
                <a:r>
                  <a:rPr lang="en-GB" altLang="en-US" sz="1800" b="1">
                    <a:solidFill>
                      <a:srgbClr val="FF0000"/>
                    </a:solidFill>
                  </a:rPr>
                  <a:t>function</a:t>
                </a:r>
              </a:p>
            </p:txBody>
          </p:sp>
          <p:sp>
            <p:nvSpPr>
              <p:cNvPr id="35" name="AutoShape 29"/>
              <p:cNvSpPr>
                <a:spLocks noChangeArrowheads="1"/>
              </p:cNvSpPr>
              <p:nvPr/>
            </p:nvSpPr>
            <p:spPr bwMode="auto">
              <a:xfrm>
                <a:off x="2722" y="3312"/>
                <a:ext cx="1055" cy="431"/>
              </a:xfrm>
              <a:prstGeom prst="homePlate">
                <a:avLst>
                  <a:gd name="adj" fmla="val 20398"/>
                </a:avLst>
              </a:prstGeom>
              <a:noFill/>
              <a:ln w="126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78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</p:grpSp>
        <p:sp>
          <p:nvSpPr>
            <p:cNvPr id="36" name="AutoShape 30"/>
            <p:cNvSpPr>
              <a:spLocks noChangeArrowheads="1"/>
            </p:cNvSpPr>
            <p:nvPr/>
          </p:nvSpPr>
          <p:spPr bwMode="auto">
            <a:xfrm rot="16200000">
              <a:off x="1952625" y="4667250"/>
              <a:ext cx="457200" cy="2857500"/>
            </a:xfrm>
            <a:prstGeom prst="homePlate">
              <a:avLst>
                <a:gd name="adj" fmla="val 25000"/>
              </a:avLst>
            </a:prstGeom>
            <a:noFill/>
            <a:ln w="126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78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pic>
          <p:nvPicPr>
            <p:cNvPr id="37" name="Picture 31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6063" y="4724400"/>
              <a:ext cx="566737" cy="147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</p:grpSp>
      <p:sp>
        <p:nvSpPr>
          <p:cNvPr id="38" name="Rectangle 2"/>
          <p:cNvSpPr>
            <a:spLocks noChangeArrowheads="1"/>
          </p:cNvSpPr>
          <p:nvPr/>
        </p:nvSpPr>
        <p:spPr bwMode="auto">
          <a:xfrm>
            <a:off x="421341" y="2093646"/>
            <a:ext cx="11609294" cy="1090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33375" indent="-333375"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81050" algn="l"/>
                <a:tab pos="1230313" algn="l"/>
                <a:tab pos="1679575" algn="l"/>
                <a:tab pos="2128838" algn="l"/>
                <a:tab pos="2578100" algn="l"/>
                <a:tab pos="3027363" algn="l"/>
                <a:tab pos="3476625" algn="l"/>
                <a:tab pos="3925888" algn="l"/>
                <a:tab pos="4375150" algn="l"/>
                <a:tab pos="4824413" algn="l"/>
                <a:tab pos="5273675" algn="l"/>
                <a:tab pos="5722938" algn="l"/>
                <a:tab pos="6172200" algn="l"/>
                <a:tab pos="6621463" algn="l"/>
                <a:tab pos="7070725" algn="l"/>
                <a:tab pos="7519988" algn="l"/>
                <a:tab pos="7969250" algn="l"/>
                <a:tab pos="8418513" algn="l"/>
                <a:tab pos="8867775" algn="l"/>
                <a:tab pos="93170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81050" algn="l"/>
                <a:tab pos="1230313" algn="l"/>
                <a:tab pos="1679575" algn="l"/>
                <a:tab pos="2128838" algn="l"/>
                <a:tab pos="2578100" algn="l"/>
                <a:tab pos="3027363" algn="l"/>
                <a:tab pos="3476625" algn="l"/>
                <a:tab pos="3925888" algn="l"/>
                <a:tab pos="4375150" algn="l"/>
                <a:tab pos="4824413" algn="l"/>
                <a:tab pos="5273675" algn="l"/>
                <a:tab pos="5722938" algn="l"/>
                <a:tab pos="6172200" algn="l"/>
                <a:tab pos="6621463" algn="l"/>
                <a:tab pos="7070725" algn="l"/>
                <a:tab pos="7519988" algn="l"/>
                <a:tab pos="7969250" algn="l"/>
                <a:tab pos="8418513" algn="l"/>
                <a:tab pos="8867775" algn="l"/>
                <a:tab pos="93170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81050" algn="l"/>
                <a:tab pos="1230313" algn="l"/>
                <a:tab pos="1679575" algn="l"/>
                <a:tab pos="2128838" algn="l"/>
                <a:tab pos="2578100" algn="l"/>
                <a:tab pos="3027363" algn="l"/>
                <a:tab pos="3476625" algn="l"/>
                <a:tab pos="3925888" algn="l"/>
                <a:tab pos="4375150" algn="l"/>
                <a:tab pos="4824413" algn="l"/>
                <a:tab pos="5273675" algn="l"/>
                <a:tab pos="5722938" algn="l"/>
                <a:tab pos="6172200" algn="l"/>
                <a:tab pos="6621463" algn="l"/>
                <a:tab pos="7070725" algn="l"/>
                <a:tab pos="7519988" algn="l"/>
                <a:tab pos="7969250" algn="l"/>
                <a:tab pos="8418513" algn="l"/>
                <a:tab pos="8867775" algn="l"/>
                <a:tab pos="93170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81050" algn="l"/>
                <a:tab pos="1230313" algn="l"/>
                <a:tab pos="1679575" algn="l"/>
                <a:tab pos="2128838" algn="l"/>
                <a:tab pos="2578100" algn="l"/>
                <a:tab pos="3027363" algn="l"/>
                <a:tab pos="3476625" algn="l"/>
                <a:tab pos="3925888" algn="l"/>
                <a:tab pos="4375150" algn="l"/>
                <a:tab pos="4824413" algn="l"/>
                <a:tab pos="5273675" algn="l"/>
                <a:tab pos="5722938" algn="l"/>
                <a:tab pos="6172200" algn="l"/>
                <a:tab pos="6621463" algn="l"/>
                <a:tab pos="7070725" algn="l"/>
                <a:tab pos="7519988" algn="l"/>
                <a:tab pos="7969250" algn="l"/>
                <a:tab pos="8418513" algn="l"/>
                <a:tab pos="8867775" algn="l"/>
                <a:tab pos="93170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>
              <a:lnSpc>
                <a:spcPct val="7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81050" algn="l"/>
                <a:tab pos="1230313" algn="l"/>
                <a:tab pos="1679575" algn="l"/>
                <a:tab pos="2128838" algn="l"/>
                <a:tab pos="2578100" algn="l"/>
                <a:tab pos="3027363" algn="l"/>
                <a:tab pos="3476625" algn="l"/>
                <a:tab pos="3925888" algn="l"/>
                <a:tab pos="4375150" algn="l"/>
                <a:tab pos="4824413" algn="l"/>
                <a:tab pos="5273675" algn="l"/>
                <a:tab pos="5722938" algn="l"/>
                <a:tab pos="6172200" algn="l"/>
                <a:tab pos="6621463" algn="l"/>
                <a:tab pos="7070725" algn="l"/>
                <a:tab pos="7519988" algn="l"/>
                <a:tab pos="7969250" algn="l"/>
                <a:tab pos="8418513" algn="l"/>
                <a:tab pos="8867775" algn="l"/>
                <a:tab pos="93170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81050" algn="l"/>
                <a:tab pos="1230313" algn="l"/>
                <a:tab pos="1679575" algn="l"/>
                <a:tab pos="2128838" algn="l"/>
                <a:tab pos="2578100" algn="l"/>
                <a:tab pos="3027363" algn="l"/>
                <a:tab pos="3476625" algn="l"/>
                <a:tab pos="3925888" algn="l"/>
                <a:tab pos="4375150" algn="l"/>
                <a:tab pos="4824413" algn="l"/>
                <a:tab pos="5273675" algn="l"/>
                <a:tab pos="5722938" algn="l"/>
                <a:tab pos="6172200" algn="l"/>
                <a:tab pos="6621463" algn="l"/>
                <a:tab pos="7070725" algn="l"/>
                <a:tab pos="7519988" algn="l"/>
                <a:tab pos="7969250" algn="l"/>
                <a:tab pos="8418513" algn="l"/>
                <a:tab pos="8867775" algn="l"/>
                <a:tab pos="93170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81050" algn="l"/>
                <a:tab pos="1230313" algn="l"/>
                <a:tab pos="1679575" algn="l"/>
                <a:tab pos="2128838" algn="l"/>
                <a:tab pos="2578100" algn="l"/>
                <a:tab pos="3027363" algn="l"/>
                <a:tab pos="3476625" algn="l"/>
                <a:tab pos="3925888" algn="l"/>
                <a:tab pos="4375150" algn="l"/>
                <a:tab pos="4824413" algn="l"/>
                <a:tab pos="5273675" algn="l"/>
                <a:tab pos="5722938" algn="l"/>
                <a:tab pos="6172200" algn="l"/>
                <a:tab pos="6621463" algn="l"/>
                <a:tab pos="7070725" algn="l"/>
                <a:tab pos="7519988" algn="l"/>
                <a:tab pos="7969250" algn="l"/>
                <a:tab pos="8418513" algn="l"/>
                <a:tab pos="8867775" algn="l"/>
                <a:tab pos="93170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81050" algn="l"/>
                <a:tab pos="1230313" algn="l"/>
                <a:tab pos="1679575" algn="l"/>
                <a:tab pos="2128838" algn="l"/>
                <a:tab pos="2578100" algn="l"/>
                <a:tab pos="3027363" algn="l"/>
                <a:tab pos="3476625" algn="l"/>
                <a:tab pos="3925888" algn="l"/>
                <a:tab pos="4375150" algn="l"/>
                <a:tab pos="4824413" algn="l"/>
                <a:tab pos="5273675" algn="l"/>
                <a:tab pos="5722938" algn="l"/>
                <a:tab pos="6172200" algn="l"/>
                <a:tab pos="6621463" algn="l"/>
                <a:tab pos="7070725" algn="l"/>
                <a:tab pos="7519988" algn="l"/>
                <a:tab pos="7969250" algn="l"/>
                <a:tab pos="8418513" algn="l"/>
                <a:tab pos="8867775" algn="l"/>
                <a:tab pos="93170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81050" algn="l"/>
                <a:tab pos="1230313" algn="l"/>
                <a:tab pos="1679575" algn="l"/>
                <a:tab pos="2128838" algn="l"/>
                <a:tab pos="2578100" algn="l"/>
                <a:tab pos="3027363" algn="l"/>
                <a:tab pos="3476625" algn="l"/>
                <a:tab pos="3925888" algn="l"/>
                <a:tab pos="4375150" algn="l"/>
                <a:tab pos="4824413" algn="l"/>
                <a:tab pos="5273675" algn="l"/>
                <a:tab pos="5722938" algn="l"/>
                <a:tab pos="6172200" algn="l"/>
                <a:tab pos="6621463" algn="l"/>
                <a:tab pos="7070725" algn="l"/>
                <a:tab pos="7519988" algn="l"/>
                <a:tab pos="7969250" algn="l"/>
                <a:tab pos="8418513" algn="l"/>
                <a:tab pos="8867775" algn="l"/>
                <a:tab pos="93170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500"/>
              </a:spcBef>
              <a:buClr>
                <a:srgbClr val="FF63B1"/>
              </a:buClr>
              <a:buSzPct val="75000"/>
              <a:buFont typeface="Wingdings" panose="05000000000000000000" pitchFamily="2" charset="2"/>
              <a:buChar char=""/>
            </a:pPr>
            <a:r>
              <a:rPr lang="en-GB" alt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Thermal noise is described by a zero-mean, Gaussian random process, n(t).</a:t>
            </a:r>
          </a:p>
          <a:p>
            <a:pPr eaLnBrk="1" hangingPunct="1">
              <a:lnSpc>
                <a:spcPct val="100000"/>
              </a:lnSpc>
              <a:spcBef>
                <a:spcPts val="500"/>
              </a:spcBef>
              <a:buClr>
                <a:srgbClr val="FF63B1"/>
              </a:buClr>
              <a:buSzPct val="75000"/>
              <a:buFont typeface="Wingdings" panose="05000000000000000000" pitchFamily="2" charset="2"/>
              <a:buChar char=""/>
            </a:pPr>
            <a:r>
              <a:rPr lang="en-GB" alt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Its PSD is flat, hence, it is called white noise.  </a:t>
            </a:r>
            <a:r>
              <a:rPr lang="en-GB" alt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 is the </a:t>
            </a:r>
            <a:r>
              <a:rPr lang="en-GB" altLang="en-US" sz="20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Standard Deviation</a:t>
            </a:r>
            <a:r>
              <a:rPr lang="en-GB" alt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and </a:t>
            </a:r>
            <a:r>
              <a:rPr lang="en-GB" altLang="en-US" sz="2000" baseline="30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2</a:t>
            </a:r>
            <a:r>
              <a:rPr lang="en-GB" alt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is the </a:t>
            </a:r>
            <a:r>
              <a:rPr lang="en-GB" altLang="en-US" sz="20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Variance</a:t>
            </a:r>
            <a:r>
              <a:rPr lang="en-GB" alt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of the random process.</a:t>
            </a:r>
            <a:endParaRPr lang="en-GB" altLang="en-US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96961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412377" y="872290"/>
            <a:ext cx="11313458" cy="5061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1.1	ΟΡΙΣΜΟΙ ΕΝΝΟΙΩΝ</a:t>
            </a:r>
            <a:r>
              <a:rPr lang="en-GB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1.1.</a:t>
            </a:r>
            <a:r>
              <a:rPr lang="en-US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5	</a:t>
            </a: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Πρωτόκολλα εκπομπής</a:t>
            </a:r>
            <a:r>
              <a:rPr lang="en-GB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Μονόδρομη (Simplex)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Μια επικοινωνιακή σύνδεση είναι simplex (μονόδρομη), όταν ροή πληροφορίας μπορεί να γίνει μόνο σε μια κατεύθυνση. 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π.χ.: ραδιοφωνικές και τηλεοπτικές εκπομπές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Ημι-αμφίδρομη (Half Duplex)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Μια επικοινωνιακή σύνδεση είναι half duplex (ημι-αμφίδρομη) όταν επιτρέπεται η επικοινωνία προς τις δύο κατευθύνσεις αλλά όχι ταυτόχρονα. 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π.χ.: ράδιο-CB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Πλήρως αμφίδρομη (Full Duplex)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Μια επικοινωνιακή σύνδεση είναι full duplex (πλήρως αμφίδρομη) όταν επιτρέπεται η ταυτόχρονη επικοινωνία προς τις δύο κατευθύνσεις. 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π.χ.: τηλέφωνο.</a:t>
            </a: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6" name="TextBox 5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470937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331695" y="872290"/>
            <a:ext cx="11546540" cy="946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1.1	ΟΡΙΣΜΟΙ ΕΝΝΟΙΩΝ</a:t>
            </a:r>
            <a:r>
              <a:rPr lang="en-GB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1.1.6	Μονοπολικές και διπολικές κυματομορφές</a:t>
            </a: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62" t="17534" r="15367" b="40085"/>
          <a:stretch>
            <a:fillRect/>
          </a:stretch>
        </p:blipFill>
        <p:spPr bwMode="auto">
          <a:xfrm>
            <a:off x="1367816" y="1672478"/>
            <a:ext cx="3567363" cy="2580774"/>
          </a:xfrm>
          <a:prstGeom prst="rect">
            <a:avLst/>
          </a:prstGeom>
          <a:noFill/>
          <a:ln w="28575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62" t="18242" r="15367" b="40555"/>
          <a:stretch>
            <a:fillRect/>
          </a:stretch>
        </p:blipFill>
        <p:spPr bwMode="auto">
          <a:xfrm>
            <a:off x="5971300" y="1672478"/>
            <a:ext cx="3663616" cy="2580774"/>
          </a:xfrm>
          <a:prstGeom prst="rect">
            <a:avLst/>
          </a:prstGeom>
          <a:noFill/>
          <a:ln w="28575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8" name="TextBox 7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9373930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448235" y="765559"/>
            <a:ext cx="11295530" cy="35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1.2	ΠΑΡΑΓΟΝΤΕΣ ΠΟΥ ΕΠΗΡΕΑΖΟΥΝ ΤΗ ΣΧΕΔΙΑΣΗ ΣΥΣΤΗΜΑΤΩΝ</a:t>
            </a:r>
            <a:r>
              <a:rPr lang="en-GB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n-US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1.2.1	</a:t>
            </a: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Τεχνολογικοί περιορισμοί</a:t>
            </a:r>
            <a:r>
              <a:rPr lang="en-GB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2084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b="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24863" indent="-324863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Διαθεσιμότητα υλικού και λογισμικού (hardware and software)</a:t>
            </a:r>
            <a:endParaRPr lang="el-GR" altLang="en-US" sz="2084" b="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π.χ.: GSM: επιλέχθηκε η μέθοδος διαμόρφωσης GMSK (Gaussian Minimum Shift Keying) αντί για την τεχνικά ανώτερη μέθοδο QPSK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π.χ.:</a:t>
            </a:r>
            <a:r>
              <a:rPr lang="en-US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 DSP</a:t>
            </a:r>
          </a:p>
          <a:p>
            <a:pPr algn="just">
              <a:lnSpc>
                <a:spcPct val="90000"/>
              </a:lnSpc>
            </a:pP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24863" indent="-324863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Κατανάλωση ισχύος</a:t>
            </a:r>
            <a:r>
              <a:rPr lang="en-GB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24863" indent="-324863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Μέγεθος συσκευών</a:t>
            </a:r>
            <a:endParaRPr lang="en-US" altLang="en-US" sz="2084" b="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6" name="TextBox 5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6529895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356938" y="729701"/>
            <a:ext cx="11467509" cy="469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1.2	ΠΑΡΑΓΟΝΤΕΣ ΠΟΥ ΕΠΗΡΕΑΖΟΥΝ ΤΗ ΣΧΕΔΙΑΣΗ ΣΥΣΤΗΜΑΤΩΝ</a:t>
            </a:r>
            <a:r>
              <a:rPr lang="en-GB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1.2.2	Κρατικές προδιαγραφές και πρότυπα</a:t>
            </a:r>
            <a:endParaRPr lang="en-US" altLang="en-US" sz="2084" b="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Ανάγκη θέσπισης προτύπων, ώστε να διασφαλίζεται η συμβατότητα μεταξύ των επιμέρους εξαρτημάτων και συσκευών. </a:t>
            </a: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ETS</a:t>
            </a:r>
            <a:r>
              <a:rPr lang="en-US" altLang="en-US" sz="2084" b="0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l-GR" altLang="en-US" sz="2084" b="0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(European Telecommunications Standards </a:t>
            </a:r>
            <a:r>
              <a:rPr lang="en-US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nstitute), που ευθύνεται για την προτυποποίηση των νέων προτύπων ασύρματης επικοινωνίας στην Ευρώπη</a:t>
            </a: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ITU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(International Telecommunications Union), που παρέχει προτυποποίηση για τις συσκευές ενσύρματης μετάδοσης, όπως τα modem τηλεφώνων και υπολογιστών και για συσκευές ασύρματης μετάδοσης</a:t>
            </a: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WARC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(Παγκόσμιο Συνέδριο Διαχείρισης Ραδιοφωνίας): απονομή συχνοτήτων σε παγκόσμιο επίπεδο</a:t>
            </a: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1.2.3	</a:t>
            </a: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Εμπορική πραγματικότητα</a:t>
            </a:r>
            <a:endParaRPr lang="en-US" altLang="en-US" sz="2084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6" name="TextBox 5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3314770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411" name="Text Box 1027"/>
          <p:cNvSpPr txBox="1">
            <a:spLocks noChangeArrowheads="1"/>
          </p:cNvSpPr>
          <p:nvPr/>
        </p:nvSpPr>
        <p:spPr bwMode="auto">
          <a:xfrm>
            <a:off x="348799" y="765559"/>
            <a:ext cx="11403930" cy="239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  <a:defRPr/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ΑΝΑΠΑΡΑΣΤΑΣΗ ΨΗΦΙΑΚΩΝ ΣΗΜΑΤΩΝ ΣΤΑ ΠΕΔΙΑ ΧΡΟΝΟΥ/ΣΥΧΝΟΤΗΤΑΣ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  <a:defRPr/>
            </a:pPr>
            <a:endParaRPr lang="en-US" altLang="en-US" sz="2084" b="0" dirty="0">
              <a:solidFill>
                <a:schemeClr val="accent5">
                  <a:lumMod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  <a:defRPr/>
            </a:pPr>
            <a:endParaRPr lang="en-US" altLang="en-US" sz="2084" b="0" dirty="0">
              <a:solidFill>
                <a:schemeClr val="accent5">
                  <a:lumMod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  <a:defRPr/>
            </a:pPr>
            <a:r>
              <a:rPr lang="el-GR" altLang="en-US" sz="2084" b="0" dirty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Οι επιδόσεις μιας ψηφιακής επικοινωνιακής ζεύξης περιορίζονται από δύο κεφαλαιώδεις παράγοντες: </a:t>
            </a:r>
            <a:endParaRPr lang="en-US" altLang="en-US" sz="2084" b="0" dirty="0">
              <a:solidFill>
                <a:schemeClr val="accent5">
                  <a:lumMod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  <a:defRPr/>
            </a:pPr>
            <a:endParaRPr lang="el-GR" altLang="en-US" sz="2084" b="0" dirty="0">
              <a:solidFill>
                <a:schemeClr val="accent5">
                  <a:lumMod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  <a:defRPr/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το εύρος ζώνης και </a:t>
            </a:r>
            <a:endParaRPr lang="el-GR" altLang="en-US" sz="2084" b="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  <a:defRPr/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l-GR" altLang="en-US" sz="2084" b="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  <a:defRPr/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το θόρυβο</a:t>
            </a:r>
            <a:r>
              <a:rPr lang="en-GB" altLang="en-US" sz="2084" b="0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l-GR" altLang="en-US" sz="2084" b="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461" name="Picture 10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97" t="19322" r="21844" b="54251"/>
          <a:stretch>
            <a:fillRect/>
          </a:stretch>
        </p:blipFill>
        <p:spPr bwMode="auto">
          <a:xfrm>
            <a:off x="2785813" y="3077077"/>
            <a:ext cx="6612856" cy="3419976"/>
          </a:xfrm>
          <a:prstGeom prst="rect">
            <a:avLst/>
          </a:prstGeom>
          <a:noFill/>
          <a:ln w="28575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7" name="TextBox 6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164063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295010" y="765559"/>
            <a:ext cx="11493578" cy="296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ΑΝΑΠΑΡΑΣΤΑΣΗ ΨΗΦΙΑΚΩΝ ΣΗΜΑΤΩΝ ΣΤΑ ΠΕΔΙΑ ΧΡΟΝΟΥ/ΣΥΧΝΟΤΗΤΑΣ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Τα μαθηματικά εργαλεία που απαιτούνται για τη μετάβαση από το πεδίο του χρόνου σε αυτό της συχνότητας είναι:</a:t>
            </a: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(α)   </a:t>
            </a: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Η αναπαράσταση με σειρές Fourier (για περιοδικά σήματα)</a:t>
            </a: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και 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(β)  </a:t>
            </a: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Ο μετασχηματισμός Fourier (για εν γένει περιοδικά και απεριοδικά σήματα)</a:t>
            </a:r>
            <a:endParaRPr lang="el-GR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6" name="TextBox 5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6338692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85219" y="665527"/>
            <a:ext cx="11431652" cy="1812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ΑΝΑΠΑΡΑΣΤΑΣΗ ΨΗΦΙΑΚΩΝ ΣΗΜΑΤΩΝ ΣΤΑ ΠΕΔΙΑ ΧΡΟΝΟΥ/ΣΥΧΝΟΤΗΤΑΣ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1.3.1	ΣΕΙΡΕΣ </a:t>
            </a:r>
            <a:r>
              <a:rPr lang="en-US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FOURIER</a:t>
            </a:r>
            <a:r>
              <a:rPr lang="en-GB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Οι σειρές Fourier μπορούν να αναπαραστήσουν κάθε σήμα που είναι περιοδικό στο πεδίο του χρόνου ως ένα άθροισμα αρμονικά (δηλαδή συχνοτικά) σχετιζόμενων ημιτονοειδών κυμάτων.</a:t>
            </a: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π.χ. Τετραγωνικός Παλμός = άπειρο</a:t>
            </a:r>
            <a:r>
              <a:rPr lang="en-GB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άθροισμα ημιτονικών όρων</a:t>
            </a:r>
          </a:p>
        </p:txBody>
      </p:sp>
      <p:pic>
        <p:nvPicPr>
          <p:cNvPr id="21509" name="Picture 5" descr="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83" t="-2547" r="-1968" b="-3082"/>
          <a:stretch>
            <a:fillRect/>
          </a:stretch>
        </p:blipFill>
        <p:spPr bwMode="auto">
          <a:xfrm>
            <a:off x="3369344" y="3032520"/>
            <a:ext cx="5114925" cy="3435016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99"/>
            </a:solidFill>
            <a:miter lim="800000"/>
            <a:headEnd/>
            <a:tailEnd/>
          </a:ln>
        </p:spPr>
      </p:pic>
      <p:grpSp>
        <p:nvGrpSpPr>
          <p:cNvPr id="6" name="Group 5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7" name="TextBox 6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6340793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250187" y="765559"/>
            <a:ext cx="11430825" cy="946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ΑΝΑΠΑΡΑΣΤΑΣΗ ΨΗΦΙΑΚΩΝ ΣΗΜΑΤΩΝ ΣΤΑ ΠΕΔΙΑ ΧΡΟΝΟΥ/ΣΥΧΝΟΤΗΤΑΣ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1.3.1	ΣΕΙΡΕΣ </a:t>
            </a:r>
            <a:r>
              <a:rPr lang="en-US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FOURIER</a:t>
            </a:r>
            <a:r>
              <a:rPr lang="en-GB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Αποτέλεσμα μείωσης εύρους ζώνης μετάδοσης</a:t>
            </a:r>
            <a:r>
              <a:rPr lang="en-GB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από κανάλι, φίλτρο, ενισχυτή, κ.λ.π.</a:t>
            </a:r>
          </a:p>
        </p:txBody>
      </p:sp>
      <p:pic>
        <p:nvPicPr>
          <p:cNvPr id="22533" name="Picture 9" descr="29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35" t="-3714" r="-2835" b="-4126"/>
          <a:stretch>
            <a:fillRect/>
          </a:stretch>
        </p:blipFill>
        <p:spPr bwMode="auto">
          <a:xfrm>
            <a:off x="3103351" y="2383315"/>
            <a:ext cx="5114925" cy="345757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99"/>
            </a:solidFill>
            <a:miter lim="800000"/>
            <a:headEnd/>
            <a:tailEnd/>
          </a:ln>
        </p:spPr>
      </p:pic>
      <p:grpSp>
        <p:nvGrpSpPr>
          <p:cNvPr id="6" name="Group 5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7" name="TextBox 6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4901374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394536" y="765559"/>
            <a:ext cx="11358193" cy="5565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ΑΝΑΠΑΡΑΣΤΑΣΗ ΨΗΦΙΑΚΩΝ ΣΗΜΑΤΩΝ ΣΤΑ ΠΕΔΙΑ ΧΡΟΝΟΥ/ΣΥΧΝΟΤΗΤΑΣ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1.3.1	ΣΕΙΡΕΣ </a:t>
            </a:r>
            <a:r>
              <a:rPr lang="en-US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FOURIER</a:t>
            </a:r>
            <a:r>
              <a:rPr lang="en-GB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Τριγωνομετρικό ανάπτυγμα:</a:t>
            </a:r>
          </a:p>
          <a:p>
            <a:pPr algn="just">
              <a:lnSpc>
                <a:spcPct val="90000"/>
              </a:lnSpc>
            </a:pPr>
            <a:endParaRPr lang="el-GR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Μιγαδικό εκθετικό ανάπτυγμα:</a:t>
            </a:r>
            <a:r>
              <a:rPr lang="en-GB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l-GR" altLang="en-US" sz="2084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355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833464"/>
              </p:ext>
            </p:extLst>
          </p:nvPr>
        </p:nvGraphicFramePr>
        <p:xfrm>
          <a:off x="844452" y="1628943"/>
          <a:ext cx="5770204" cy="877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19400" imgH="431800" progId="Equation.3">
                  <p:embed/>
                </p:oleObj>
              </mc:Choice>
              <mc:Fallback>
                <p:oleObj r:id="rId2" imgW="2819400" imgH="431800" progId="Equation.3">
                  <p:embed/>
                  <p:pic>
                    <p:nvPicPr>
                      <p:cNvPr id="2355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452" y="1628943"/>
                        <a:ext cx="5770204" cy="8772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155534"/>
              </p:ext>
            </p:extLst>
          </p:nvPr>
        </p:nvGraphicFramePr>
        <p:xfrm>
          <a:off x="793316" y="2367852"/>
          <a:ext cx="5935903" cy="862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40100" imgH="482600" progId="Equation.3">
                  <p:embed/>
                </p:oleObj>
              </mc:Choice>
              <mc:Fallback>
                <p:oleObj r:id="rId4" imgW="3340100" imgH="482600" progId="Equation.3">
                  <p:embed/>
                  <p:pic>
                    <p:nvPicPr>
                      <p:cNvPr id="2355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316" y="2367852"/>
                        <a:ext cx="5935903" cy="862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855096"/>
              </p:ext>
            </p:extLst>
          </p:nvPr>
        </p:nvGraphicFramePr>
        <p:xfrm>
          <a:off x="690060" y="5767563"/>
          <a:ext cx="2070402" cy="776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43000" imgH="431800" progId="Equation.3">
                  <p:embed/>
                </p:oleObj>
              </mc:Choice>
              <mc:Fallback>
                <p:oleObj r:id="rId6" imgW="1143000" imgH="431800" progId="Equation.3">
                  <p:embed/>
                  <p:pic>
                    <p:nvPicPr>
                      <p:cNvPr id="2355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060" y="5767563"/>
                        <a:ext cx="2070402" cy="7769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9073784"/>
              </p:ext>
            </p:extLst>
          </p:nvPr>
        </p:nvGraphicFramePr>
        <p:xfrm>
          <a:off x="3620251" y="5720989"/>
          <a:ext cx="2560149" cy="881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09088" imgH="482391" progId="Equation.3">
                  <p:embed/>
                </p:oleObj>
              </mc:Choice>
              <mc:Fallback>
                <p:oleObj r:id="rId8" imgW="1409088" imgH="482391" progId="Equation.3">
                  <p:embed/>
                  <p:pic>
                    <p:nvPicPr>
                      <p:cNvPr id="2356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0251" y="5720989"/>
                        <a:ext cx="2560149" cy="8814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880422"/>
              </p:ext>
            </p:extLst>
          </p:nvPr>
        </p:nvGraphicFramePr>
        <p:xfrm>
          <a:off x="793317" y="3217221"/>
          <a:ext cx="3004502" cy="906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612900" imgH="482600" progId="Equation.3">
                  <p:embed/>
                </p:oleObj>
              </mc:Choice>
              <mc:Fallback>
                <p:oleObj r:id="rId10" imgW="1612900" imgH="482600" progId="Equation.3">
                  <p:embed/>
                  <p:pic>
                    <p:nvPicPr>
                      <p:cNvPr id="23561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317" y="3217221"/>
                        <a:ext cx="3004502" cy="9064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275188"/>
              </p:ext>
            </p:extLst>
          </p:nvPr>
        </p:nvGraphicFramePr>
        <p:xfrm>
          <a:off x="844449" y="4055122"/>
          <a:ext cx="2885103" cy="891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574800" imgH="482600" progId="Equation.3">
                  <p:embed/>
                </p:oleObj>
              </mc:Choice>
              <mc:Fallback>
                <p:oleObj r:id="rId12" imgW="1574800" imgH="482600" progId="Equation.3">
                  <p:embed/>
                  <p:pic>
                    <p:nvPicPr>
                      <p:cNvPr id="2356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449" y="4055122"/>
                        <a:ext cx="2885103" cy="8918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12" name="TextBox 11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5" descr="29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83" t="-2547" r="-1968" b="-3082"/>
          <a:stretch>
            <a:fillRect/>
          </a:stretch>
        </p:blipFill>
        <p:spPr bwMode="auto">
          <a:xfrm>
            <a:off x="7087717" y="1499713"/>
            <a:ext cx="5114925" cy="3435016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99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9359009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366727" y="765559"/>
            <a:ext cx="11538402" cy="1812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ΑΝΑΠΑΡΑΣΤΑΣΗ ΨΗΦΙΑΚΩΝ ΣΗΜΑΤΩΝ ΣΤΑ ΠΕΔΙΑ ΧΡΟΝΟΥ/ΣΥΧΝΟΤΗΤΑΣ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1.3.1	ΣΕΙΡΕΣ </a:t>
            </a:r>
            <a:r>
              <a:rPr lang="en-US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FOURIER</a:t>
            </a:r>
            <a:r>
              <a:rPr lang="en-GB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Η αναπαράσταση ενός σήματος στο πεδίο της συχνότητας αναφέρεται ως το </a:t>
            </a:r>
            <a:r>
              <a:rPr lang="el-GR" altLang="en-US" sz="2084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φάσμα (spectrum) του σήματος. </a:t>
            </a:r>
          </a:p>
          <a:p>
            <a:pPr algn="just">
              <a:lnSpc>
                <a:spcPct val="90000"/>
              </a:lnSpc>
            </a:pPr>
            <a:endParaRPr lang="el-GR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581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39" t="16879" r="6902" b="28868"/>
          <a:stretch>
            <a:fillRect/>
          </a:stretch>
        </p:blipFill>
        <p:spPr bwMode="auto">
          <a:xfrm>
            <a:off x="481411" y="2375617"/>
            <a:ext cx="5687286" cy="4152930"/>
          </a:xfrm>
          <a:prstGeom prst="rect">
            <a:avLst/>
          </a:prstGeom>
          <a:solidFill>
            <a:schemeClr val="bg2"/>
          </a:solidFill>
          <a:ln w="28575">
            <a:solidFill>
              <a:srgbClr val="000099"/>
            </a:solidFill>
            <a:miter lim="800000"/>
            <a:headEnd/>
            <a:tailEnd/>
          </a:ln>
        </p:spPr>
      </p:pic>
      <p:pic>
        <p:nvPicPr>
          <p:cNvPr id="24582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17" t="17412" r="6921" b="28157"/>
          <a:stretch>
            <a:fillRect/>
          </a:stretch>
        </p:blipFill>
        <p:spPr bwMode="auto">
          <a:xfrm>
            <a:off x="6283381" y="2375617"/>
            <a:ext cx="5644059" cy="4152930"/>
          </a:xfrm>
          <a:prstGeom prst="rect">
            <a:avLst/>
          </a:prstGeom>
          <a:noFill/>
          <a:ln w="28575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8" name="TextBox 7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4795035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312940" y="765559"/>
            <a:ext cx="11466684" cy="4122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ΑΝΑΠΑΡΑΣΤΑΣΗ ΨΗΦΙΑΚΩΝ ΣΗΜΑΤΩΝ ΣΤΑ ΠΕΔΙΑ ΧΡΟΝΟΥ/ΣΥΧΝΟΤΗΤΑΣ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1.3.2	ΜΕΤΑΣΧΗΜΑΤΙΣΜΟΣ </a:t>
            </a:r>
            <a:r>
              <a:rPr lang="en-US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FOURIER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Ο μετασχηματισμός </a:t>
            </a:r>
            <a:r>
              <a:rPr lang="en-US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Fourier</a:t>
            </a:r>
            <a:r>
              <a:rPr lang="en-US" altLang="en-US" sz="2084" b="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χρησιμοποιείται ευρέως για τη μετατροπή οποιασδήποτε κυματομορφής από το πεδίο του χρόνου στην αντίστοιχή της στο πεδίο της συχνότητας, και έτσι μπορεί να θεωρηθεί ως γενίκευση του αναπτύγματος σε σειρά </a:t>
            </a:r>
            <a:r>
              <a:rPr lang="en-US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Fourier</a:t>
            </a:r>
            <a:r>
              <a:rPr lang="el-GR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GB" altLang="en-US" sz="2084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Ευθύς Μετασχηματισμός </a:t>
            </a:r>
            <a:r>
              <a:rPr lang="en-US" altLang="en-US" sz="2084" b="0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Fourier</a:t>
            </a:r>
          </a:p>
          <a:p>
            <a:pPr algn="just">
              <a:lnSpc>
                <a:spcPct val="90000"/>
              </a:lnSpc>
            </a:pPr>
            <a:endParaRPr lang="en-US" altLang="en-US" sz="2084" b="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b="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Αντίστροφος Μετασχηματισμός </a:t>
            </a:r>
            <a:r>
              <a:rPr lang="en-US" altLang="en-US" sz="2084" b="0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Fourier</a:t>
            </a:r>
            <a:endParaRPr lang="el-GR" altLang="en-US" sz="2084" b="0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560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1424443"/>
              </p:ext>
            </p:extLst>
          </p:nvPr>
        </p:nvGraphicFramePr>
        <p:xfrm>
          <a:off x="383920" y="3263094"/>
          <a:ext cx="3343275" cy="789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57400" imgH="482600" progId="Equation.3">
                  <p:embed/>
                </p:oleObj>
              </mc:Choice>
              <mc:Fallback>
                <p:oleObj r:id="rId2" imgW="2057400" imgH="482600" progId="Equation.3">
                  <p:embed/>
                  <p:pic>
                    <p:nvPicPr>
                      <p:cNvPr id="2560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920" y="3263094"/>
                        <a:ext cx="3343275" cy="7895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348118"/>
              </p:ext>
            </p:extLst>
          </p:nvPr>
        </p:nvGraphicFramePr>
        <p:xfrm>
          <a:off x="456108" y="4880310"/>
          <a:ext cx="3198897" cy="745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120900" imgH="495300" progId="Equation.3">
                  <p:embed/>
                </p:oleObj>
              </mc:Choice>
              <mc:Fallback>
                <p:oleObj r:id="rId4" imgW="2120900" imgH="495300" progId="Equation.3">
                  <p:embed/>
                  <p:pic>
                    <p:nvPicPr>
                      <p:cNvPr id="2560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108" y="4880310"/>
                        <a:ext cx="3198897" cy="7459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8" name="TextBox 7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34659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259151" y="711772"/>
            <a:ext cx="11511508" cy="946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ΑΝΑΠΑΡΑΣΤΑΣΗ ΨΗΦΙΑΚΩΝ ΣΗΜΑΤΩΝ ΣΤΑ ΠΕΔΙΑ ΧΡΟΝΟΥ/ΣΥΧΝΟΤΗΤΑΣ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1.3.2	ΜΕΤΑΣΧΗΜΑΤΙΣΜΟΣ </a:t>
            </a:r>
            <a:r>
              <a:rPr lang="en-US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FOURIER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662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50" t="24104" r="14883" b="18604"/>
          <a:stretch>
            <a:fillRect/>
          </a:stretch>
        </p:blipFill>
        <p:spPr bwMode="auto">
          <a:xfrm>
            <a:off x="1293188" y="1676370"/>
            <a:ext cx="7497578" cy="5011301"/>
          </a:xfrm>
          <a:prstGeom prst="rect">
            <a:avLst/>
          </a:prstGeom>
          <a:noFill/>
          <a:ln w="28575">
            <a:solidFill>
              <a:srgbClr val="000099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7" name="TextBox 6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687673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3"/>
          <p:cNvSpPr txBox="1">
            <a:spLocks noChangeArrowheads="1"/>
          </p:cNvSpPr>
          <p:nvPr/>
        </p:nvSpPr>
        <p:spPr bwMode="auto">
          <a:xfrm>
            <a:off x="277080" y="729701"/>
            <a:ext cx="11305320" cy="123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ΑΝΑΠΑΡΑΣΤΑΣΗ ΨΗΦΙΑΚΩΝ ΣΗΜΑΤΩΝ ΣΤΑ ΠΕΔΙΑ ΧΡΟΝΟΥ/ΣΥΧΝΟΤΗΤΑΣ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Παράδειγμα 1.1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Υπολογίστε τη σειρά Fourier με Τριγωνομετρικό Ανάπτυγμα του παρακάτω σήματος:</a:t>
            </a:r>
          </a:p>
        </p:txBody>
      </p:sp>
      <p:pic>
        <p:nvPicPr>
          <p:cNvPr id="27652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9" t="17268" r="4283" b="28435"/>
          <a:stretch>
            <a:fillRect/>
          </a:stretch>
        </p:blipFill>
        <p:spPr bwMode="auto">
          <a:xfrm>
            <a:off x="490464" y="2072146"/>
            <a:ext cx="5141997" cy="3744829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6" name="TextBox 5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62547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005541"/>
              </p:ext>
            </p:extLst>
          </p:nvPr>
        </p:nvGraphicFramePr>
        <p:xfrm>
          <a:off x="4941380" y="1965039"/>
          <a:ext cx="3788444" cy="576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19400" imgH="431800" progId="Equation.3">
                  <p:embed/>
                </p:oleObj>
              </mc:Choice>
              <mc:Fallback>
                <p:oleObj r:id="rId2" imgW="2819400" imgH="431800" progId="Equation.3">
                  <p:embed/>
                  <p:pic>
                    <p:nvPicPr>
                      <p:cNvPr id="286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380" y="1965039"/>
                        <a:ext cx="3788444" cy="576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059369"/>
              </p:ext>
            </p:extLst>
          </p:nvPr>
        </p:nvGraphicFramePr>
        <p:xfrm>
          <a:off x="4971458" y="2996747"/>
          <a:ext cx="3663616" cy="532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40100" imgH="482600" progId="Equation.3">
                  <p:embed/>
                </p:oleObj>
              </mc:Choice>
              <mc:Fallback>
                <p:oleObj r:id="rId4" imgW="3340100" imgH="482600" progId="Equation.3">
                  <p:embed/>
                  <p:pic>
                    <p:nvPicPr>
                      <p:cNvPr id="286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1458" y="2996747"/>
                        <a:ext cx="3663616" cy="532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437812"/>
              </p:ext>
            </p:extLst>
          </p:nvPr>
        </p:nvGraphicFramePr>
        <p:xfrm>
          <a:off x="4991010" y="3796847"/>
          <a:ext cx="1854367" cy="559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12900" imgH="482600" progId="Equation.3">
                  <p:embed/>
                </p:oleObj>
              </mc:Choice>
              <mc:Fallback>
                <p:oleObj r:id="rId6" imgW="1612900" imgH="482600" progId="Equation.3">
                  <p:embed/>
                  <p:pic>
                    <p:nvPicPr>
                      <p:cNvPr id="2867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010" y="3796847"/>
                        <a:ext cx="1854367" cy="559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9844719"/>
              </p:ext>
            </p:extLst>
          </p:nvPr>
        </p:nvGraphicFramePr>
        <p:xfrm>
          <a:off x="5009057" y="4608979"/>
          <a:ext cx="1780674" cy="550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574800" imgH="482600" progId="Equation.3">
                  <p:embed/>
                </p:oleObj>
              </mc:Choice>
              <mc:Fallback>
                <p:oleObj r:id="rId8" imgW="1574800" imgH="482600" progId="Equation.3">
                  <p:embed/>
                  <p:pic>
                    <p:nvPicPr>
                      <p:cNvPr id="2868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9057" y="4608979"/>
                        <a:ext cx="1780674" cy="5504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681" name="Picture 1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9" t="17268" r="4283" b="28435"/>
          <a:stretch>
            <a:fillRect/>
          </a:stretch>
        </p:blipFill>
        <p:spPr bwMode="auto">
          <a:xfrm>
            <a:off x="373714" y="2116055"/>
            <a:ext cx="3931318" cy="2863516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682" name="Text Box 16"/>
          <p:cNvSpPr txBox="1">
            <a:spLocks noChangeArrowheads="1"/>
          </p:cNvSpPr>
          <p:nvPr/>
        </p:nvSpPr>
        <p:spPr bwMode="auto">
          <a:xfrm>
            <a:off x="8872698" y="2079339"/>
            <a:ext cx="37382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(1)</a:t>
            </a:r>
            <a:endParaRPr lang="en-GB" altLang="en-US" sz="1326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683" name="Text Box 17"/>
          <p:cNvSpPr txBox="1">
            <a:spLocks noChangeArrowheads="1"/>
          </p:cNvSpPr>
          <p:nvPr/>
        </p:nvSpPr>
        <p:spPr bwMode="auto">
          <a:xfrm>
            <a:off x="8872698" y="3115558"/>
            <a:ext cx="37382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(2)</a:t>
            </a:r>
            <a:endParaRPr lang="en-GB" altLang="en-US" sz="1326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684" name="Text Box 18"/>
          <p:cNvSpPr txBox="1">
            <a:spLocks noChangeArrowheads="1"/>
          </p:cNvSpPr>
          <p:nvPr/>
        </p:nvSpPr>
        <p:spPr bwMode="auto">
          <a:xfrm>
            <a:off x="8872698" y="3902123"/>
            <a:ext cx="37382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(3)</a:t>
            </a:r>
            <a:endParaRPr lang="en-GB" altLang="en-US" sz="1326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685" name="Text Box 19"/>
          <p:cNvSpPr txBox="1">
            <a:spLocks noChangeArrowheads="1"/>
          </p:cNvSpPr>
          <p:nvPr/>
        </p:nvSpPr>
        <p:spPr bwMode="auto">
          <a:xfrm>
            <a:off x="8872698" y="4688687"/>
            <a:ext cx="37382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(4)</a:t>
            </a:r>
            <a:endParaRPr lang="en-GB" altLang="en-US" sz="1326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686" name="Text Box 21"/>
          <p:cNvSpPr txBox="1">
            <a:spLocks noChangeArrowheads="1"/>
          </p:cNvSpPr>
          <p:nvPr/>
        </p:nvSpPr>
        <p:spPr bwMode="auto">
          <a:xfrm>
            <a:off x="4881222" y="2635799"/>
            <a:ext cx="550151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όπου</a:t>
            </a:r>
            <a:endParaRPr lang="en-GB" altLang="en-US" sz="1326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16" name="TextBox 15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277080" y="729701"/>
            <a:ext cx="11305320" cy="123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ΑΝΑΠΑΡΑΣΤΑΣΗ ΨΗΦΙΑΚΩΝ ΣΗΜΑΤΩΝ ΣΤΑ ΠΕΔΙΑ ΧΡΟΝΟΥ/ΣΥΧΝΟΤΗΤΑΣ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Παράδειγμα 1.1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Υπολογίστε τη σειρά Fourier με Τριγωνομετρικό Ανάπτυγμα του παρακάτω σήματος:</a:t>
            </a:r>
          </a:p>
        </p:txBody>
      </p:sp>
    </p:spTree>
    <p:extLst>
      <p:ext uri="{BB962C8B-B14F-4D97-AF65-F5344CB8AC3E}">
        <p14:creationId xmlns:p14="http://schemas.microsoft.com/office/powerpoint/2010/main" val="170718893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8220504" y="4663121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97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4684487"/>
              </p:ext>
            </p:extLst>
          </p:nvPr>
        </p:nvGraphicFramePr>
        <p:xfrm>
          <a:off x="5158468" y="1965039"/>
          <a:ext cx="3788444" cy="576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19400" imgH="431800" progId="Equation.3">
                  <p:embed/>
                </p:oleObj>
              </mc:Choice>
              <mc:Fallback>
                <p:oleObj r:id="rId2" imgW="2819400" imgH="431800" progId="Equation.3">
                  <p:embed/>
                  <p:pic>
                    <p:nvPicPr>
                      <p:cNvPr id="297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8468" y="1965039"/>
                        <a:ext cx="3788444" cy="576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727670"/>
              </p:ext>
            </p:extLst>
          </p:nvPr>
        </p:nvGraphicFramePr>
        <p:xfrm>
          <a:off x="5188546" y="2996748"/>
          <a:ext cx="3663616" cy="532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40100" imgH="482600" progId="Equation.3">
                  <p:embed/>
                </p:oleObj>
              </mc:Choice>
              <mc:Fallback>
                <p:oleObj r:id="rId4" imgW="3340100" imgH="482600" progId="Equation.3">
                  <p:embed/>
                  <p:pic>
                    <p:nvPicPr>
                      <p:cNvPr id="297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8546" y="2996748"/>
                        <a:ext cx="3663616" cy="532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134745"/>
              </p:ext>
            </p:extLst>
          </p:nvPr>
        </p:nvGraphicFramePr>
        <p:xfrm>
          <a:off x="5208098" y="3796847"/>
          <a:ext cx="1854367" cy="559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12900" imgH="482600" progId="Equation.3">
                  <p:embed/>
                </p:oleObj>
              </mc:Choice>
              <mc:Fallback>
                <p:oleObj r:id="rId6" imgW="1612900" imgH="482600" progId="Equation.3">
                  <p:embed/>
                  <p:pic>
                    <p:nvPicPr>
                      <p:cNvPr id="297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8098" y="3796847"/>
                        <a:ext cx="1854367" cy="559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080008"/>
              </p:ext>
            </p:extLst>
          </p:nvPr>
        </p:nvGraphicFramePr>
        <p:xfrm>
          <a:off x="5226145" y="4608979"/>
          <a:ext cx="1780674" cy="550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574800" imgH="482600" progId="Equation.3">
                  <p:embed/>
                </p:oleObj>
              </mc:Choice>
              <mc:Fallback>
                <p:oleObj r:id="rId8" imgW="1574800" imgH="482600" progId="Equation.3">
                  <p:embed/>
                  <p:pic>
                    <p:nvPicPr>
                      <p:cNvPr id="2970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6145" y="4608979"/>
                        <a:ext cx="1780674" cy="5504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705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9" t="17268" r="4283" b="28435"/>
          <a:stretch>
            <a:fillRect/>
          </a:stretch>
        </p:blipFill>
        <p:spPr bwMode="auto">
          <a:xfrm>
            <a:off x="407445" y="2042360"/>
            <a:ext cx="3931318" cy="2863516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706" name="Text Box 11"/>
          <p:cNvSpPr txBox="1">
            <a:spLocks noChangeArrowheads="1"/>
          </p:cNvSpPr>
          <p:nvPr/>
        </p:nvSpPr>
        <p:spPr bwMode="auto">
          <a:xfrm>
            <a:off x="9089786" y="2079339"/>
            <a:ext cx="37382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(1)</a:t>
            </a:r>
            <a:endParaRPr lang="en-GB" altLang="en-US" sz="1326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707" name="Text Box 12"/>
          <p:cNvSpPr txBox="1">
            <a:spLocks noChangeArrowheads="1"/>
          </p:cNvSpPr>
          <p:nvPr/>
        </p:nvSpPr>
        <p:spPr bwMode="auto">
          <a:xfrm>
            <a:off x="9089786" y="3115558"/>
            <a:ext cx="37382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(2)</a:t>
            </a:r>
            <a:endParaRPr lang="en-GB" altLang="en-US" sz="1326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708" name="Text Box 13"/>
          <p:cNvSpPr txBox="1">
            <a:spLocks noChangeArrowheads="1"/>
          </p:cNvSpPr>
          <p:nvPr/>
        </p:nvSpPr>
        <p:spPr bwMode="auto">
          <a:xfrm>
            <a:off x="9089786" y="3902123"/>
            <a:ext cx="37382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(3)</a:t>
            </a:r>
            <a:endParaRPr lang="en-GB" altLang="en-US" sz="1326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709" name="Text Box 14"/>
          <p:cNvSpPr txBox="1">
            <a:spLocks noChangeArrowheads="1"/>
          </p:cNvSpPr>
          <p:nvPr/>
        </p:nvSpPr>
        <p:spPr bwMode="auto">
          <a:xfrm>
            <a:off x="9089786" y="4688687"/>
            <a:ext cx="37382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(4)</a:t>
            </a:r>
            <a:endParaRPr lang="en-GB" altLang="en-US" sz="1326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710" name="Text Box 16"/>
          <p:cNvSpPr txBox="1">
            <a:spLocks noChangeArrowheads="1"/>
          </p:cNvSpPr>
          <p:nvPr/>
        </p:nvSpPr>
        <p:spPr bwMode="auto">
          <a:xfrm>
            <a:off x="5098310" y="2635800"/>
            <a:ext cx="550151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όπου</a:t>
            </a:r>
            <a:endParaRPr lang="en-GB" altLang="en-US" sz="1326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711" name="Text Box 17"/>
          <p:cNvSpPr txBox="1">
            <a:spLocks noChangeArrowheads="1"/>
          </p:cNvSpPr>
          <p:nvPr/>
        </p:nvSpPr>
        <p:spPr bwMode="auto">
          <a:xfrm>
            <a:off x="407445" y="5629277"/>
            <a:ext cx="8618143" cy="1077218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600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Μεθοδολογία για τον υπολογισμό του φάσματος σημάτων με χρήση των σειρών </a:t>
            </a:r>
            <a:r>
              <a:rPr lang="en-US" altLang="en-US" sz="1600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Fourier (</a:t>
            </a:r>
            <a:r>
              <a:rPr lang="el-GR" altLang="en-US" sz="1600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με Τριγωνομετρικό Ανάπτυγμα</a:t>
            </a:r>
            <a:r>
              <a:rPr lang="en-US" altLang="en-US" sz="1600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):</a:t>
            </a:r>
          </a:p>
          <a:p>
            <a:r>
              <a:rPr lang="en-US" altLang="en-US" sz="1600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l-GR" altLang="en-US" sz="1600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Καθορισμός του σήματος στο διάστημα 0 -&gt; Τ</a:t>
            </a:r>
          </a:p>
          <a:p>
            <a:r>
              <a:rPr lang="en-US" altLang="en-US" sz="1600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l-GR" altLang="en-US" sz="1600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Υπολογισμός των συντελεστών </a:t>
            </a:r>
            <a:r>
              <a:rPr lang="en-US" altLang="en-US" sz="1600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1600" b="0" baseline="-2500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altLang="en-US" sz="1600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,a</a:t>
            </a:r>
            <a:r>
              <a:rPr lang="en-US" altLang="en-US" sz="1600" b="0" baseline="-2500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en-US" sz="1600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,b</a:t>
            </a:r>
            <a:r>
              <a:rPr lang="en-US" altLang="en-US" sz="1600" b="0" baseline="-2500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en-US" sz="1600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altLang="en-US" sz="1600" b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17" name="TextBox 16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277080" y="729701"/>
            <a:ext cx="11305320" cy="123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ΑΝΑΠΑΡΑΣΤΑΣΗ ΨΗΦΙΑΚΩΝ ΣΗΜΑΤΩΝ ΣΤΑ ΠΕΔΙΑ ΧΡΟΝΟΥ/ΣΥΧΝΟΤΗΤΑΣ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Παράδειγμα 1.1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Υπολογίστε τη σειρά Fourier με Τριγωνομετρικό Ανάπτυγμα του παρακάτω σήματος:</a:t>
            </a:r>
          </a:p>
        </p:txBody>
      </p:sp>
    </p:spTree>
    <p:extLst>
      <p:ext uri="{BB962C8B-B14F-4D97-AF65-F5344CB8AC3E}">
        <p14:creationId xmlns:p14="http://schemas.microsoft.com/office/powerpoint/2010/main" val="298846749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8909805"/>
              </p:ext>
            </p:extLst>
          </p:nvPr>
        </p:nvGraphicFramePr>
        <p:xfrm>
          <a:off x="5032765" y="2028435"/>
          <a:ext cx="3788444" cy="576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19400" imgH="431800" progId="Equation.3">
                  <p:embed/>
                </p:oleObj>
              </mc:Choice>
              <mc:Fallback>
                <p:oleObj r:id="rId2" imgW="2819400" imgH="431800" progId="Equation.3">
                  <p:embed/>
                  <p:pic>
                    <p:nvPicPr>
                      <p:cNvPr id="307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765" y="2028435"/>
                        <a:ext cx="3788444" cy="576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457507"/>
              </p:ext>
            </p:extLst>
          </p:nvPr>
        </p:nvGraphicFramePr>
        <p:xfrm>
          <a:off x="5062843" y="3060144"/>
          <a:ext cx="3663616" cy="532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40100" imgH="482600" progId="Equation.3">
                  <p:embed/>
                </p:oleObj>
              </mc:Choice>
              <mc:Fallback>
                <p:oleObj r:id="rId4" imgW="3340100" imgH="482600" progId="Equation.3">
                  <p:embed/>
                  <p:pic>
                    <p:nvPicPr>
                      <p:cNvPr id="307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2843" y="3060144"/>
                        <a:ext cx="3663616" cy="532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286649"/>
              </p:ext>
            </p:extLst>
          </p:nvPr>
        </p:nvGraphicFramePr>
        <p:xfrm>
          <a:off x="5082395" y="3860243"/>
          <a:ext cx="1854367" cy="559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12900" imgH="482600" progId="Equation.3">
                  <p:embed/>
                </p:oleObj>
              </mc:Choice>
              <mc:Fallback>
                <p:oleObj r:id="rId6" imgW="1612900" imgH="482600" progId="Equation.3">
                  <p:embed/>
                  <p:pic>
                    <p:nvPicPr>
                      <p:cNvPr id="307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2395" y="3860243"/>
                        <a:ext cx="1854367" cy="559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139476"/>
              </p:ext>
            </p:extLst>
          </p:nvPr>
        </p:nvGraphicFramePr>
        <p:xfrm>
          <a:off x="5100442" y="4672375"/>
          <a:ext cx="1780674" cy="550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574800" imgH="482600" progId="Equation.3">
                  <p:embed/>
                </p:oleObj>
              </mc:Choice>
              <mc:Fallback>
                <p:oleObj r:id="rId8" imgW="1574800" imgH="482600" progId="Equation.3">
                  <p:embed/>
                  <p:pic>
                    <p:nvPicPr>
                      <p:cNvPr id="307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0442" y="4672375"/>
                        <a:ext cx="1780674" cy="5504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29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9" t="17268" r="4283" b="28435"/>
          <a:stretch>
            <a:fillRect/>
          </a:stretch>
        </p:blipFill>
        <p:spPr bwMode="auto">
          <a:xfrm>
            <a:off x="436189" y="2048377"/>
            <a:ext cx="3931318" cy="2863516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07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95256"/>
              </p:ext>
            </p:extLst>
          </p:nvPr>
        </p:nvGraphicFramePr>
        <p:xfrm>
          <a:off x="4618339" y="5856372"/>
          <a:ext cx="1744579" cy="520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536700" imgH="457200" progId="Equation.3">
                  <p:embed/>
                </p:oleObj>
              </mc:Choice>
              <mc:Fallback>
                <p:oleObj r:id="rId11" imgW="1536700" imgH="457200" progId="Equation.3">
                  <p:embed/>
                  <p:pic>
                    <p:nvPicPr>
                      <p:cNvPr id="307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8339" y="5856372"/>
                        <a:ext cx="1744579" cy="5203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1" name="Text Box 11"/>
          <p:cNvSpPr txBox="1">
            <a:spLocks noChangeArrowheads="1"/>
          </p:cNvSpPr>
          <p:nvPr/>
        </p:nvSpPr>
        <p:spPr bwMode="auto">
          <a:xfrm>
            <a:off x="8964083" y="2142735"/>
            <a:ext cx="37382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(1)</a:t>
            </a:r>
            <a:endParaRPr lang="en-GB" altLang="en-US" sz="1326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8964083" y="3178954"/>
            <a:ext cx="37382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(2)</a:t>
            </a:r>
            <a:endParaRPr lang="en-GB" altLang="en-US" sz="1326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733" name="Text Box 13"/>
          <p:cNvSpPr txBox="1">
            <a:spLocks noChangeArrowheads="1"/>
          </p:cNvSpPr>
          <p:nvPr/>
        </p:nvSpPr>
        <p:spPr bwMode="auto">
          <a:xfrm>
            <a:off x="8964083" y="3965519"/>
            <a:ext cx="37382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(3)</a:t>
            </a:r>
            <a:endParaRPr lang="en-GB" altLang="en-US" sz="1326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8964083" y="4752083"/>
            <a:ext cx="37382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(4)</a:t>
            </a:r>
            <a:endParaRPr lang="en-GB" altLang="en-US" sz="1326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735" name="Text Box 15"/>
          <p:cNvSpPr txBox="1">
            <a:spLocks noChangeArrowheads="1"/>
          </p:cNvSpPr>
          <p:nvPr/>
        </p:nvSpPr>
        <p:spPr bwMode="auto">
          <a:xfrm>
            <a:off x="8447389" y="5913522"/>
            <a:ext cx="37382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(5)</a:t>
            </a:r>
            <a:endParaRPr lang="en-GB" altLang="en-US" sz="1326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736" name="Text Box 16"/>
          <p:cNvSpPr txBox="1">
            <a:spLocks noChangeArrowheads="1"/>
          </p:cNvSpPr>
          <p:nvPr/>
        </p:nvSpPr>
        <p:spPr bwMode="auto">
          <a:xfrm>
            <a:off x="4972607" y="2699196"/>
            <a:ext cx="550151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όπου</a:t>
            </a:r>
            <a:endParaRPr lang="en-GB" altLang="en-US" sz="1326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737" name="Text Box 17"/>
          <p:cNvSpPr txBox="1">
            <a:spLocks noChangeArrowheads="1"/>
          </p:cNvSpPr>
          <p:nvPr/>
        </p:nvSpPr>
        <p:spPr bwMode="auto">
          <a:xfrm>
            <a:off x="4364172" y="5570622"/>
            <a:ext cx="445770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Το σήμα </a:t>
            </a:r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x(t) </a:t>
            </a:r>
            <a:r>
              <a:rPr lang="el-GR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στο διάστημα 0 -&gt; Τ περιγράφεται από τη σχέση:</a:t>
            </a:r>
            <a:endParaRPr lang="en-GB" altLang="en-US" sz="1326" b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738" name="Text Box 18"/>
          <p:cNvSpPr txBox="1">
            <a:spLocks noChangeArrowheads="1"/>
          </p:cNvSpPr>
          <p:nvPr/>
        </p:nvSpPr>
        <p:spPr bwMode="auto">
          <a:xfrm>
            <a:off x="356152" y="5569119"/>
            <a:ext cx="3620002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326" b="0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l-GR" altLang="en-US" sz="1326" b="0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Καθορισμός του σήματος στο διάστημα 0 -&gt; Τ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20" name="TextBox 19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277080" y="729701"/>
            <a:ext cx="11305320" cy="123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ΑΝΑΠΑΡΑΣΤΑΣΗ ΨΗΦΙΑΚΩΝ ΣΗΜΑΤΩΝ ΣΤΑ ΠΕΔΙΑ ΧΡΟΝΟΥ/ΣΥΧΝΟΤΗΤΑΣ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Παράδειγμα 1.1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Υπολογίστε τη σειρά Fourier με Τριγωνομετρικό Ανάπτυγμα του παρακάτω σήματος:</a:t>
            </a:r>
          </a:p>
        </p:txBody>
      </p:sp>
    </p:spTree>
    <p:extLst>
      <p:ext uri="{BB962C8B-B14F-4D97-AF65-F5344CB8AC3E}">
        <p14:creationId xmlns:p14="http://schemas.microsoft.com/office/powerpoint/2010/main" val="316659094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17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0671780"/>
              </p:ext>
            </p:extLst>
          </p:nvPr>
        </p:nvGraphicFramePr>
        <p:xfrm>
          <a:off x="383877" y="2917789"/>
          <a:ext cx="3663616" cy="532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340100" imgH="482600" progId="Equation.3">
                  <p:embed/>
                </p:oleObj>
              </mc:Choice>
              <mc:Fallback>
                <p:oleObj r:id="rId2" imgW="3340100" imgH="482600" progId="Equation.3">
                  <p:embed/>
                  <p:pic>
                    <p:nvPicPr>
                      <p:cNvPr id="317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877" y="2917789"/>
                        <a:ext cx="3663616" cy="532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074115"/>
              </p:ext>
            </p:extLst>
          </p:nvPr>
        </p:nvGraphicFramePr>
        <p:xfrm>
          <a:off x="638045" y="4056277"/>
          <a:ext cx="1744579" cy="520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36700" imgH="457200" progId="Equation.3">
                  <p:embed/>
                </p:oleObj>
              </mc:Choice>
              <mc:Fallback>
                <p:oleObj r:id="rId4" imgW="1536700" imgH="457200" progId="Equation.3">
                  <p:embed/>
                  <p:pic>
                    <p:nvPicPr>
                      <p:cNvPr id="3175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045" y="4056277"/>
                        <a:ext cx="1744579" cy="5203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Text Box 9"/>
          <p:cNvSpPr txBox="1">
            <a:spLocks noChangeArrowheads="1"/>
          </p:cNvSpPr>
          <p:nvPr/>
        </p:nvSpPr>
        <p:spPr bwMode="auto">
          <a:xfrm>
            <a:off x="383877" y="3770527"/>
            <a:ext cx="445770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Το σήμα </a:t>
            </a:r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x(t) </a:t>
            </a:r>
            <a:r>
              <a:rPr lang="el-GR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στο διάστημα 0 -&gt; Τ περιγράφεται από τη σχέση:</a:t>
            </a:r>
            <a:endParaRPr lang="en-GB" altLang="en-US" sz="1326" b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752" name="Text Box 10"/>
          <p:cNvSpPr txBox="1">
            <a:spLocks noChangeArrowheads="1"/>
          </p:cNvSpPr>
          <p:nvPr/>
        </p:nvSpPr>
        <p:spPr bwMode="auto">
          <a:xfrm>
            <a:off x="383878" y="2162807"/>
            <a:ext cx="3620002" cy="50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l-GR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Υπολογισμός των συντελεστών </a:t>
            </a:r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1326" b="0" baseline="-2500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,a</a:t>
            </a:r>
            <a:r>
              <a:rPr lang="en-US" altLang="en-US" sz="1326" b="0" baseline="-2500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,b</a:t>
            </a:r>
            <a:r>
              <a:rPr lang="en-US" altLang="en-US" sz="1326" b="0" baseline="-2500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(a) </a:t>
            </a:r>
            <a:r>
              <a:rPr lang="el-GR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Υπολογισμός του </a:t>
            </a:r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1326" b="0" baseline="-2500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GB" altLang="en-US" sz="1326" b="0" baseline="-2500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175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1382022"/>
              </p:ext>
            </p:extLst>
          </p:nvPr>
        </p:nvGraphicFramePr>
        <p:xfrm>
          <a:off x="558336" y="5676028"/>
          <a:ext cx="573004" cy="47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69696" imgH="393529" progId="Equation.3">
                  <p:embed/>
                </p:oleObj>
              </mc:Choice>
              <mc:Fallback>
                <p:oleObj r:id="rId6" imgW="469696" imgH="393529" progId="Equation.3">
                  <p:embed/>
                  <p:pic>
                    <p:nvPicPr>
                      <p:cNvPr id="3175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336" y="5676028"/>
                        <a:ext cx="573004" cy="47976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4" name="Text Box 13"/>
          <p:cNvSpPr txBox="1">
            <a:spLocks noChangeArrowheads="1"/>
          </p:cNvSpPr>
          <p:nvPr/>
        </p:nvSpPr>
        <p:spPr bwMode="auto">
          <a:xfrm>
            <a:off x="499682" y="5146638"/>
            <a:ext cx="482824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Άρα</a:t>
            </a:r>
            <a:endParaRPr lang="en-GB" altLang="en-US" sz="1326" b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12" name="TextBox 11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277080" y="729701"/>
            <a:ext cx="11305320" cy="123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ΑΝΑΠΑΡΑΣΤΑΣΗ ΨΗΦΙΑΚΩΝ ΣΗΜΑΤΩΝ ΣΤΑ ΠΕΔΙΑ ΧΡΟΝΟΥ/ΣΥΧΝΟΤΗΤΑΣ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Παράδειγμα 1.1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Υπολογίστε τη σειρά Fourier με Τριγωνομετρικό Ανάπτυγμα του παρακάτω σήματος:</a:t>
            </a:r>
          </a:p>
        </p:txBody>
      </p:sp>
    </p:spTree>
    <p:extLst>
      <p:ext uri="{BB962C8B-B14F-4D97-AF65-F5344CB8AC3E}">
        <p14:creationId xmlns:p14="http://schemas.microsoft.com/office/powerpoint/2010/main" val="355082030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277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5624069"/>
              </p:ext>
            </p:extLst>
          </p:nvPr>
        </p:nvGraphicFramePr>
        <p:xfrm>
          <a:off x="354059" y="2946429"/>
          <a:ext cx="1854368" cy="559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12900" imgH="482600" progId="Equation.3">
                  <p:embed/>
                </p:oleObj>
              </mc:Choice>
              <mc:Fallback>
                <p:oleObj r:id="rId2" imgW="1612900" imgH="482600" progId="Equation.3">
                  <p:embed/>
                  <p:pic>
                    <p:nvPicPr>
                      <p:cNvPr id="3277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59" y="2946429"/>
                        <a:ext cx="1854368" cy="559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381569"/>
              </p:ext>
            </p:extLst>
          </p:nvPr>
        </p:nvGraphicFramePr>
        <p:xfrm>
          <a:off x="608227" y="4105973"/>
          <a:ext cx="1744579" cy="520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36700" imgH="457200" progId="Equation.3">
                  <p:embed/>
                </p:oleObj>
              </mc:Choice>
              <mc:Fallback>
                <p:oleObj r:id="rId4" imgW="1536700" imgH="457200" progId="Equation.3">
                  <p:embed/>
                  <p:pic>
                    <p:nvPicPr>
                      <p:cNvPr id="3277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227" y="4105973"/>
                        <a:ext cx="1744579" cy="5203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Text Box 9"/>
          <p:cNvSpPr txBox="1">
            <a:spLocks noChangeArrowheads="1"/>
          </p:cNvSpPr>
          <p:nvPr/>
        </p:nvSpPr>
        <p:spPr bwMode="auto">
          <a:xfrm>
            <a:off x="354059" y="3820223"/>
            <a:ext cx="445770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Το σήμα </a:t>
            </a:r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x(t) </a:t>
            </a:r>
            <a:r>
              <a:rPr lang="el-GR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στο διάστημα 0 -&gt; Τ περιγράφεται από τη σχέση:</a:t>
            </a:r>
            <a:endParaRPr lang="en-GB" altLang="en-US" sz="1326" b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776" name="Text Box 10"/>
          <p:cNvSpPr txBox="1">
            <a:spLocks noChangeArrowheads="1"/>
          </p:cNvSpPr>
          <p:nvPr/>
        </p:nvSpPr>
        <p:spPr bwMode="auto">
          <a:xfrm>
            <a:off x="354060" y="2212503"/>
            <a:ext cx="3620002" cy="50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l-GR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Υπολογισμός των συντελεστών </a:t>
            </a:r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1326" b="0" baseline="-2500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,a</a:t>
            </a:r>
            <a:r>
              <a:rPr lang="en-US" altLang="en-US" sz="1326" b="0" baseline="-2500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,b</a:t>
            </a:r>
            <a:r>
              <a:rPr lang="en-US" altLang="en-US" sz="1326" b="0" baseline="-2500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(b) </a:t>
            </a:r>
            <a:r>
              <a:rPr lang="el-GR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Υπολογισμός του </a:t>
            </a:r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1326" b="0" baseline="-2500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endParaRPr lang="en-GB" altLang="en-US" sz="1326" b="0" baseline="-2500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277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9943004"/>
              </p:ext>
            </p:extLst>
          </p:nvPr>
        </p:nvGraphicFramePr>
        <p:xfrm>
          <a:off x="354060" y="5021876"/>
          <a:ext cx="1594184" cy="463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45616" imgH="393529" progId="Equation.3">
                  <p:embed/>
                </p:oleObj>
              </mc:Choice>
              <mc:Fallback>
                <p:oleObj name="Equation" r:id="rId6" imgW="1345616" imgH="393529" progId="Equation.3">
                  <p:embed/>
                  <p:pic>
                    <p:nvPicPr>
                      <p:cNvPr id="3277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60" y="5021876"/>
                        <a:ext cx="1594184" cy="4632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0177893"/>
              </p:ext>
            </p:extLst>
          </p:nvPr>
        </p:nvGraphicFramePr>
        <p:xfrm>
          <a:off x="408201" y="5973876"/>
          <a:ext cx="583532" cy="31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19100" imgH="228600" progId="Equation.3">
                  <p:embed/>
                </p:oleObj>
              </mc:Choice>
              <mc:Fallback>
                <p:oleObj r:id="rId8" imgW="419100" imgH="228600" progId="Equation.3">
                  <p:embed/>
                  <p:pic>
                    <p:nvPicPr>
                      <p:cNvPr id="3277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201" y="5973876"/>
                        <a:ext cx="583532" cy="318837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9" name="Text Box 15"/>
          <p:cNvSpPr txBox="1">
            <a:spLocks noChangeArrowheads="1"/>
          </p:cNvSpPr>
          <p:nvPr/>
        </p:nvSpPr>
        <p:spPr bwMode="auto">
          <a:xfrm>
            <a:off x="460840" y="5593376"/>
            <a:ext cx="482824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Άρα</a:t>
            </a:r>
            <a:endParaRPr lang="en-GB" altLang="en-US" sz="1326" b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13" name="TextBox 12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277080" y="729701"/>
            <a:ext cx="11305320" cy="123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ΑΝΑΠΑΡΑΣΤΑΣΗ ΨΗΦΙΑΚΩΝ ΣΗΜΑΤΩΝ ΣΤΑ ΠΕΔΙΑ ΧΡΟΝΟΥ/ΣΥΧΝΟΤΗΤΑΣ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Παράδειγμα 1.1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Υπολογίστε τη σειρά Fourier με Τριγωνομετρικό Ανάπτυγμα του παρακάτω σήματος:</a:t>
            </a:r>
          </a:p>
        </p:txBody>
      </p:sp>
    </p:spTree>
    <p:extLst>
      <p:ext uri="{BB962C8B-B14F-4D97-AF65-F5344CB8AC3E}">
        <p14:creationId xmlns:p14="http://schemas.microsoft.com/office/powerpoint/2010/main" val="1069310259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145537"/>
              </p:ext>
            </p:extLst>
          </p:nvPr>
        </p:nvGraphicFramePr>
        <p:xfrm>
          <a:off x="363998" y="2726597"/>
          <a:ext cx="1780674" cy="550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74800" imgH="482600" progId="Equation.3">
                  <p:embed/>
                </p:oleObj>
              </mc:Choice>
              <mc:Fallback>
                <p:oleObj r:id="rId2" imgW="1574800" imgH="482600" progId="Equation.3">
                  <p:embed/>
                  <p:pic>
                    <p:nvPicPr>
                      <p:cNvPr id="3379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998" y="2726597"/>
                        <a:ext cx="1780674" cy="5504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585548"/>
              </p:ext>
            </p:extLst>
          </p:nvPr>
        </p:nvGraphicFramePr>
        <p:xfrm>
          <a:off x="618166" y="3680100"/>
          <a:ext cx="1744579" cy="520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36700" imgH="457200" progId="Equation.3">
                  <p:embed/>
                </p:oleObj>
              </mc:Choice>
              <mc:Fallback>
                <p:oleObj r:id="rId4" imgW="1536700" imgH="457200" progId="Equation.3">
                  <p:embed/>
                  <p:pic>
                    <p:nvPicPr>
                      <p:cNvPr id="3379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166" y="3680100"/>
                        <a:ext cx="1744579" cy="5203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9" name="Text Box 17"/>
          <p:cNvSpPr txBox="1">
            <a:spLocks noChangeArrowheads="1"/>
          </p:cNvSpPr>
          <p:nvPr/>
        </p:nvSpPr>
        <p:spPr bwMode="auto">
          <a:xfrm>
            <a:off x="363998" y="3394349"/>
            <a:ext cx="445770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Το σήμα </a:t>
            </a:r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x(t) </a:t>
            </a:r>
            <a:r>
              <a:rPr lang="el-GR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στο διάστημα 0 -&gt; Τ περιγράφεται από τη σχέση:</a:t>
            </a:r>
            <a:endParaRPr lang="en-GB" altLang="en-US" sz="1326" b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800" name="Text Box 18"/>
          <p:cNvSpPr txBox="1">
            <a:spLocks noChangeArrowheads="1"/>
          </p:cNvSpPr>
          <p:nvPr/>
        </p:nvSpPr>
        <p:spPr bwMode="auto">
          <a:xfrm>
            <a:off x="363999" y="2048316"/>
            <a:ext cx="3620002" cy="50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l-GR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Υπολογισμός των συντελεστών </a:t>
            </a:r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1326" b="0" baseline="-2500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,a</a:t>
            </a:r>
            <a:r>
              <a:rPr lang="en-US" altLang="en-US" sz="1326" b="0" baseline="-2500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,b</a:t>
            </a:r>
            <a:r>
              <a:rPr lang="en-US" altLang="en-US" sz="1326" b="0" baseline="-2500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(c) </a:t>
            </a:r>
            <a:r>
              <a:rPr lang="el-GR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Υπολογισμός του </a:t>
            </a:r>
            <a:r>
              <a:rPr lang="en-US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altLang="en-US" sz="1326" b="0" baseline="-2500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GB" altLang="en-US" sz="1326" b="0" baseline="-2500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380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421250"/>
              </p:ext>
            </p:extLst>
          </p:nvPr>
        </p:nvGraphicFramePr>
        <p:xfrm>
          <a:off x="363999" y="4310253"/>
          <a:ext cx="183632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73200" imgH="393700" progId="Equation.3">
                  <p:embed/>
                </p:oleObj>
              </mc:Choice>
              <mc:Fallback>
                <p:oleObj name="Equation" r:id="rId6" imgW="1473200" imgH="393700" progId="Equation.3">
                  <p:embed/>
                  <p:pic>
                    <p:nvPicPr>
                      <p:cNvPr id="3380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999" y="4310253"/>
                        <a:ext cx="183632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2" name="Text Box 21"/>
          <p:cNvSpPr txBox="1">
            <a:spLocks noChangeArrowheads="1"/>
          </p:cNvSpPr>
          <p:nvPr/>
        </p:nvSpPr>
        <p:spPr bwMode="auto">
          <a:xfrm>
            <a:off x="363998" y="5023124"/>
            <a:ext cx="482824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Άρα</a:t>
            </a:r>
            <a:endParaRPr lang="en-GB" altLang="en-US" sz="1326" b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380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520715"/>
              </p:ext>
            </p:extLst>
          </p:nvPr>
        </p:nvGraphicFramePr>
        <p:xfrm>
          <a:off x="478299" y="5441222"/>
          <a:ext cx="1547562" cy="484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44600" imgH="393700" progId="Equation.3">
                  <p:embed/>
                </p:oleObj>
              </mc:Choice>
              <mc:Fallback>
                <p:oleObj r:id="rId8" imgW="1244600" imgH="393700" progId="Equation.3">
                  <p:embed/>
                  <p:pic>
                    <p:nvPicPr>
                      <p:cNvPr id="3380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299" y="5441222"/>
                        <a:ext cx="1547562" cy="4842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4" name="Rectangle 25"/>
          <p:cNvSpPr>
            <a:spLocks noChangeArrowheads="1"/>
          </p:cNvSpPr>
          <p:nvPr/>
        </p:nvSpPr>
        <p:spPr bwMode="auto">
          <a:xfrm>
            <a:off x="2520659" y="5343465"/>
            <a:ext cx="6325603" cy="908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/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Για</a:t>
            </a:r>
          </a:p>
          <a:p>
            <a:pPr algn="just"/>
            <a:r>
              <a:rPr lang="en-US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άρτιος (2,4,6,8, ...) </a:t>
            </a:r>
            <a:r>
              <a:rPr lang="en-US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cos</a:t>
            </a:r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(π</a:t>
            </a:r>
            <a:r>
              <a:rPr lang="en-US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)=1</a:t>
            </a:r>
          </a:p>
          <a:p>
            <a:pPr algn="just"/>
            <a:r>
              <a:rPr lang="en-US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περιττός</a:t>
            </a:r>
            <a:r>
              <a:rPr lang="en-US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 (1,3,5,7, ...) cos(</a:t>
            </a:r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π</a:t>
            </a:r>
            <a:r>
              <a:rPr lang="en-US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n)=-1</a:t>
            </a:r>
            <a:endParaRPr lang="el-GR" altLang="en-US" sz="1326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Άρα:</a:t>
            </a:r>
            <a:r>
              <a:rPr lang="en-US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1326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3805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02352"/>
              </p:ext>
            </p:extLst>
          </p:nvPr>
        </p:nvGraphicFramePr>
        <p:xfrm>
          <a:off x="5513514" y="5537474"/>
          <a:ext cx="1950620" cy="467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625600" imgH="393700" progId="Equation.3">
                  <p:embed/>
                </p:oleObj>
              </mc:Choice>
              <mc:Fallback>
                <p:oleObj r:id="rId10" imgW="1625600" imgH="393700" progId="Equation.3">
                  <p:embed/>
                  <p:pic>
                    <p:nvPicPr>
                      <p:cNvPr id="3380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514" y="5537474"/>
                        <a:ext cx="1950620" cy="467728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15" name="TextBox 14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277080" y="729701"/>
            <a:ext cx="11305320" cy="123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ΑΝΑΠΑΡΑΣΤΑΣΗ ΨΗΦΙΑΚΩΝ ΣΗΜΑΤΩΝ ΣΤΑ ΠΕΔΙΑ ΧΡΟΝΟΥ/ΣΥΧΝΟΤΗΤΑΣ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Παράδειγμα 1.1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Υπολογίστε τη σειρά Fourier με Τριγωνομετρικό Ανάπτυγμα του παρακάτω σήματος:</a:t>
            </a:r>
          </a:p>
        </p:txBody>
      </p:sp>
    </p:spTree>
    <p:extLst>
      <p:ext uri="{BB962C8B-B14F-4D97-AF65-F5344CB8AC3E}">
        <p14:creationId xmlns:p14="http://schemas.microsoft.com/office/powerpoint/2010/main" val="780107369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n-US" altLang="en-US" sz="132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48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8788675"/>
              </p:ext>
            </p:extLst>
          </p:nvPr>
        </p:nvGraphicFramePr>
        <p:xfrm>
          <a:off x="474353" y="1965039"/>
          <a:ext cx="3788444" cy="57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19400" imgH="431800" progId="Equation.3">
                  <p:embed/>
                </p:oleObj>
              </mc:Choice>
              <mc:Fallback>
                <p:oleObj r:id="rId2" imgW="2819400" imgH="431800" progId="Equation.3">
                  <p:embed/>
                  <p:pic>
                    <p:nvPicPr>
                      <p:cNvPr id="348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53" y="1965039"/>
                        <a:ext cx="3788444" cy="57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Text Box 10"/>
          <p:cNvSpPr txBox="1">
            <a:spLocks noChangeArrowheads="1"/>
          </p:cNvSpPr>
          <p:nvPr/>
        </p:nvSpPr>
        <p:spPr bwMode="auto">
          <a:xfrm>
            <a:off x="4405671" y="2079339"/>
            <a:ext cx="37382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(1)</a:t>
            </a:r>
            <a:endParaRPr lang="en-GB" altLang="en-US" sz="1326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823" name="Text Box 14"/>
          <p:cNvSpPr txBox="1">
            <a:spLocks noChangeArrowheads="1"/>
          </p:cNvSpPr>
          <p:nvPr/>
        </p:nvSpPr>
        <p:spPr bwMode="auto">
          <a:xfrm>
            <a:off x="414195" y="2635799"/>
            <a:ext cx="550151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b="0">
                <a:latin typeface="Calibri" panose="020F0502020204030204" pitchFamily="34" charset="0"/>
                <a:cs typeface="Calibri" panose="020F0502020204030204" pitchFamily="34" charset="0"/>
              </a:rPr>
              <a:t>όπου</a:t>
            </a:r>
            <a:endParaRPr lang="en-GB" altLang="en-US" sz="1326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482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5176358"/>
              </p:ext>
            </p:extLst>
          </p:nvPr>
        </p:nvGraphicFramePr>
        <p:xfrm>
          <a:off x="459313" y="2966668"/>
          <a:ext cx="573004" cy="47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69696" imgH="393529" progId="Equation.3">
                  <p:embed/>
                </p:oleObj>
              </mc:Choice>
              <mc:Fallback>
                <p:oleObj r:id="rId4" imgW="469696" imgH="393529" progId="Equation.3">
                  <p:embed/>
                  <p:pic>
                    <p:nvPicPr>
                      <p:cNvPr id="3482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313" y="2966668"/>
                        <a:ext cx="573004" cy="47976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365870"/>
              </p:ext>
            </p:extLst>
          </p:nvPr>
        </p:nvGraphicFramePr>
        <p:xfrm>
          <a:off x="459313" y="3675027"/>
          <a:ext cx="583532" cy="31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19100" imgH="228600" progId="Equation.3">
                  <p:embed/>
                </p:oleObj>
              </mc:Choice>
              <mc:Fallback>
                <p:oleObj r:id="rId6" imgW="419100" imgH="228600" progId="Equation.3">
                  <p:embed/>
                  <p:pic>
                    <p:nvPicPr>
                      <p:cNvPr id="3482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313" y="3675027"/>
                        <a:ext cx="583532" cy="318837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744168"/>
              </p:ext>
            </p:extLst>
          </p:nvPr>
        </p:nvGraphicFramePr>
        <p:xfrm>
          <a:off x="459313" y="4269087"/>
          <a:ext cx="1950620" cy="467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625600" imgH="393700" progId="Equation.3">
                  <p:embed/>
                </p:oleObj>
              </mc:Choice>
              <mc:Fallback>
                <p:oleObj r:id="rId8" imgW="1625600" imgH="393700" progId="Equation.3">
                  <p:embed/>
                  <p:pic>
                    <p:nvPicPr>
                      <p:cNvPr id="34826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313" y="4269087"/>
                        <a:ext cx="1950620" cy="467728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664198"/>
              </p:ext>
            </p:extLst>
          </p:nvPr>
        </p:nvGraphicFramePr>
        <p:xfrm>
          <a:off x="486386" y="5079714"/>
          <a:ext cx="3276470" cy="716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044700" imgH="444500" progId="Equation.3">
                  <p:embed/>
                </p:oleObj>
              </mc:Choice>
              <mc:Fallback>
                <p:oleObj r:id="rId10" imgW="2044700" imgH="444500" progId="Equation.3">
                  <p:embed/>
                  <p:pic>
                    <p:nvPicPr>
                      <p:cNvPr id="34827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386" y="5079714"/>
                        <a:ext cx="3276470" cy="716346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4828" name="Picture 2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37" t="17140" r="6902" b="28706"/>
          <a:stretch>
            <a:fillRect/>
          </a:stretch>
        </p:blipFill>
        <p:spPr bwMode="auto">
          <a:xfrm>
            <a:off x="3820008" y="2541051"/>
            <a:ext cx="5908267" cy="418917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14" name="TextBox 13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277080" y="729701"/>
            <a:ext cx="11305320" cy="123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ΑΝΑΠΑΡΑΣΤΑΣΗ ΨΗΦΙΑΚΩΝ ΣΗΜΑΤΩΝ ΣΤΑ ΠΕΔΙΑ ΧΡΟΝΟΥ/ΣΥΧΝΟΤΗΤΑΣ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Παράδειγμα 1.1</a:t>
            </a:r>
            <a:endParaRPr lang="el-GR" altLang="en-US" sz="2084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Υπολογίστε τη σειρά Fourier με Τριγωνομετρικό Ανάπτυγμα του παρακάτω σήματος:</a:t>
            </a:r>
          </a:p>
        </p:txBody>
      </p:sp>
      <p:pic>
        <p:nvPicPr>
          <p:cNvPr id="18" name="Picture 7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50" t="24104" r="14883" b="18604"/>
          <a:stretch>
            <a:fillRect/>
          </a:stretch>
        </p:blipFill>
        <p:spPr bwMode="auto">
          <a:xfrm>
            <a:off x="7997408" y="1936989"/>
            <a:ext cx="4188915" cy="2799826"/>
          </a:xfrm>
          <a:prstGeom prst="rect">
            <a:avLst/>
          </a:prstGeom>
          <a:noFill/>
          <a:ln w="28575">
            <a:solidFill>
              <a:srgbClr val="000099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5517074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312940" y="711607"/>
            <a:ext cx="11421860" cy="1524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l-G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ΑΝΑΠΑΡΑΣΤΑΣΗ ΨΗΦΙΑΚΩΝ ΣΗΜΑΤΩΝ ΣΤΑ ΠΕΔΙΑ ΧΡΟΝΟΥ/ΣΥΧΝΟΤΗΤΑΣ</a:t>
            </a:r>
            <a:endParaRPr lang="en-GB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Άσκηση για το ΣΠΙΤΙ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0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Υπολογίστε τη σειρά Fourier με Τριγωνομετρικό Ανάπτυγμα του παρακάτω σήματος:</a:t>
            </a:r>
          </a:p>
          <a:p>
            <a:pPr algn="just">
              <a:lnSpc>
                <a:spcPct val="90000"/>
              </a:lnSpc>
            </a:pPr>
            <a:endParaRPr lang="el-GR" altLang="en-US" sz="2084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81111" y="2131225"/>
            <a:ext cx="6188046" cy="4468358"/>
            <a:chOff x="2121067" y="1803233"/>
            <a:chExt cx="5149516" cy="3627521"/>
          </a:xfrm>
        </p:grpSpPr>
        <p:pic>
          <p:nvPicPr>
            <p:cNvPr id="3686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062" t="18242" r="15367" b="40555"/>
            <a:stretch>
              <a:fillRect/>
            </a:stretch>
          </p:blipFill>
          <p:spPr bwMode="auto">
            <a:xfrm>
              <a:off x="2121067" y="1803233"/>
              <a:ext cx="5149516" cy="3627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69" name="Text Box 6"/>
            <p:cNvSpPr txBox="1">
              <a:spLocks noChangeArrowheads="1"/>
            </p:cNvSpPr>
            <p:nvPr/>
          </p:nvSpPr>
          <p:spPr bwMode="auto">
            <a:xfrm>
              <a:off x="3552826" y="3532773"/>
              <a:ext cx="224375" cy="2405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 b="1">
                  <a:solidFill>
                    <a:srgbClr val="000000"/>
                  </a:solidFill>
                  <a:latin typeface="Helvetica" panose="020B0604020202020204" pitchFamily="34" charset="0"/>
                </a:defRPr>
              </a:lvl1pPr>
              <a:lvl2pPr marL="742950" indent="-285750">
                <a:defRPr sz="1400" b="1">
                  <a:solidFill>
                    <a:srgbClr val="000000"/>
                  </a:solidFill>
                  <a:latin typeface="Helvetica" panose="020B0604020202020204" pitchFamily="34" charset="0"/>
                </a:defRPr>
              </a:lvl2pPr>
              <a:lvl3pPr marL="1143000" indent="-228600">
                <a:defRPr sz="1400" b="1">
                  <a:solidFill>
                    <a:srgbClr val="000000"/>
                  </a:solidFill>
                  <a:latin typeface="Helvetica" panose="020B0604020202020204" pitchFamily="34" charset="0"/>
                </a:defRPr>
              </a:lvl3pPr>
              <a:lvl4pPr marL="1600200" indent="-228600">
                <a:defRPr sz="1400" b="1">
                  <a:solidFill>
                    <a:srgbClr val="000000"/>
                  </a:solidFill>
                  <a:latin typeface="Helvetica" panose="020B0604020202020204" pitchFamily="34" charset="0"/>
                </a:defRPr>
              </a:lvl4pPr>
              <a:lvl5pPr marL="2057400" indent="-228600">
                <a:defRPr sz="1400" b="1">
                  <a:solidFill>
                    <a:srgbClr val="000000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Helvetica" panose="020B0604020202020204" pitchFamily="34" charset="0"/>
                </a:defRPr>
              </a:lvl9pPr>
            </a:lstStyle>
            <a:p>
              <a:r>
                <a:rPr lang="el-GR" altLang="en-US" sz="1326" dirty="0">
                  <a:latin typeface="Calibri" panose="020F0502020204030204" pitchFamily="34" charset="0"/>
                  <a:cs typeface="Calibri" panose="020F0502020204030204" pitchFamily="34" charset="0"/>
                </a:rPr>
                <a:t>Τ</a:t>
              </a:r>
              <a:endParaRPr lang="en-GB" altLang="en-US" sz="1326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7" name="TextBox 6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36108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l-GR" altLang="en-US" sz="1326"/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66907" y="1206166"/>
            <a:ext cx="11924370" cy="95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>
                <a:solidFill>
                  <a:srgbClr val="990000"/>
                </a:solidFill>
                <a:latin typeface="Times New Roman" panose="02020603050405020304" pitchFamily="18" charset="0"/>
              </a:rPr>
              <a:t>Παράδειγμα </a:t>
            </a:r>
            <a:r>
              <a:rPr lang="el-GR" altLang="en-US" sz="2084" b="1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2</a:t>
            </a:r>
            <a:endParaRPr lang="el-GR" altLang="en-US" sz="2084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Υπολογίστε τη σειρά Fourier με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Τριγωνομετρικό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Ανάπτυγμα του παρακάτω σήματος :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ΛΥΣΗ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66906" y="431720"/>
            <a:ext cx="11924371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US" sz="2274" b="1">
                <a:latin typeface="Times New Roman" panose="02020603050405020304" pitchFamily="18" charset="0"/>
              </a:rPr>
              <a:t>3</a:t>
            </a:r>
            <a:r>
              <a:rPr lang="el-GR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	ΑΝΑΠΑΡΑΣΤΑΣΗ ΨΗΦΙΑΚΩΝ ΣΗΜΑΤΩΝ ΣΤΑ ΠΕΔΙΑ ΧΡΟΝΟΥ/ΣΥΧΝΟΤΗΤΑΣ</a:t>
            </a:r>
            <a:endParaRPr lang="en-GB" altLang="en-US" sz="2274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101" name="Object 16"/>
          <p:cNvGraphicFramePr>
            <a:graphicFrameLocks noChangeAspect="1"/>
          </p:cNvGraphicFramePr>
          <p:nvPr/>
        </p:nvGraphicFramePr>
        <p:xfrm>
          <a:off x="6026819" y="2182228"/>
          <a:ext cx="3788444" cy="576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19400" imgH="431800" progId="Equation.3">
                  <p:embed/>
                </p:oleObj>
              </mc:Choice>
              <mc:Fallback>
                <p:oleObj r:id="rId2" imgW="2819400" imgH="431800" progId="Equation.3">
                  <p:embed/>
                  <p:pic>
                    <p:nvPicPr>
                      <p:cNvPr id="410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6819" y="2182228"/>
                        <a:ext cx="3788444" cy="576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17"/>
          <p:cNvGraphicFramePr>
            <a:graphicFrameLocks noChangeAspect="1"/>
          </p:cNvGraphicFramePr>
          <p:nvPr/>
        </p:nvGraphicFramePr>
        <p:xfrm>
          <a:off x="6056897" y="3213937"/>
          <a:ext cx="3663616" cy="532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40100" imgH="482600" progId="Equation.3">
                  <p:embed/>
                </p:oleObj>
              </mc:Choice>
              <mc:Fallback>
                <p:oleObj r:id="rId4" imgW="3340100" imgH="482600" progId="Equation.3">
                  <p:embed/>
                  <p:pic>
                    <p:nvPicPr>
                      <p:cNvPr id="410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6897" y="3213937"/>
                        <a:ext cx="3663616" cy="532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18"/>
          <p:cNvGraphicFramePr>
            <a:graphicFrameLocks noChangeAspect="1"/>
          </p:cNvGraphicFramePr>
          <p:nvPr/>
        </p:nvGraphicFramePr>
        <p:xfrm>
          <a:off x="6076449" y="4014036"/>
          <a:ext cx="1854367" cy="559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12900" imgH="482600" progId="Equation.3">
                  <p:embed/>
                </p:oleObj>
              </mc:Choice>
              <mc:Fallback>
                <p:oleObj r:id="rId6" imgW="1612900" imgH="482600" progId="Equation.3">
                  <p:embed/>
                  <p:pic>
                    <p:nvPicPr>
                      <p:cNvPr id="4103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6449" y="4014036"/>
                        <a:ext cx="1854367" cy="559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Object 19"/>
          <p:cNvGraphicFramePr>
            <a:graphicFrameLocks noChangeAspect="1"/>
          </p:cNvGraphicFramePr>
          <p:nvPr/>
        </p:nvGraphicFramePr>
        <p:xfrm>
          <a:off x="6094496" y="4826168"/>
          <a:ext cx="1780674" cy="550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574800" imgH="482600" progId="Equation.3">
                  <p:embed/>
                </p:oleObj>
              </mc:Choice>
              <mc:Fallback>
                <p:oleObj r:id="rId8" imgW="1574800" imgH="482600" progId="Equation.3">
                  <p:embed/>
                  <p:pic>
                    <p:nvPicPr>
                      <p:cNvPr id="4104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4496" y="4826168"/>
                        <a:ext cx="1780674" cy="5504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" name="Text Box 21"/>
          <p:cNvSpPr txBox="1">
            <a:spLocks noChangeArrowheads="1"/>
          </p:cNvSpPr>
          <p:nvPr/>
        </p:nvSpPr>
        <p:spPr bwMode="auto">
          <a:xfrm>
            <a:off x="9958137" y="2296528"/>
            <a:ext cx="391454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/>
              <a:t>(1)</a:t>
            </a:r>
            <a:endParaRPr lang="en-GB" altLang="en-US" sz="1326"/>
          </a:p>
        </p:txBody>
      </p:sp>
      <p:sp>
        <p:nvSpPr>
          <p:cNvPr id="4107" name="Text Box 22"/>
          <p:cNvSpPr txBox="1">
            <a:spLocks noChangeArrowheads="1"/>
          </p:cNvSpPr>
          <p:nvPr/>
        </p:nvSpPr>
        <p:spPr bwMode="auto">
          <a:xfrm>
            <a:off x="9958137" y="3332747"/>
            <a:ext cx="391454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/>
              <a:t>(2)</a:t>
            </a:r>
            <a:endParaRPr lang="en-GB" altLang="en-US" sz="1326"/>
          </a:p>
        </p:txBody>
      </p:sp>
      <p:sp>
        <p:nvSpPr>
          <p:cNvPr id="4108" name="Text Box 23"/>
          <p:cNvSpPr txBox="1">
            <a:spLocks noChangeArrowheads="1"/>
          </p:cNvSpPr>
          <p:nvPr/>
        </p:nvSpPr>
        <p:spPr bwMode="auto">
          <a:xfrm>
            <a:off x="9958137" y="4119312"/>
            <a:ext cx="391454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/>
              <a:t>(3)</a:t>
            </a:r>
            <a:endParaRPr lang="en-GB" altLang="en-US" sz="1326"/>
          </a:p>
        </p:txBody>
      </p:sp>
      <p:sp>
        <p:nvSpPr>
          <p:cNvPr id="4109" name="Text Box 24"/>
          <p:cNvSpPr txBox="1">
            <a:spLocks noChangeArrowheads="1"/>
          </p:cNvSpPr>
          <p:nvPr/>
        </p:nvSpPr>
        <p:spPr bwMode="auto">
          <a:xfrm>
            <a:off x="9958137" y="4905876"/>
            <a:ext cx="391454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/>
              <a:t>(4)</a:t>
            </a:r>
            <a:endParaRPr lang="en-GB" altLang="en-US" sz="1326"/>
          </a:p>
        </p:txBody>
      </p:sp>
      <p:sp>
        <p:nvSpPr>
          <p:cNvPr id="4110" name="Text Box 25"/>
          <p:cNvSpPr txBox="1">
            <a:spLocks noChangeArrowheads="1"/>
          </p:cNvSpPr>
          <p:nvPr/>
        </p:nvSpPr>
        <p:spPr bwMode="auto">
          <a:xfrm>
            <a:off x="9958137" y="5994734"/>
            <a:ext cx="391454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/>
              <a:t>(5)</a:t>
            </a:r>
            <a:endParaRPr lang="en-GB" altLang="en-US" sz="1326"/>
          </a:p>
        </p:txBody>
      </p:sp>
      <p:sp>
        <p:nvSpPr>
          <p:cNvPr id="4111" name="Text Box 26"/>
          <p:cNvSpPr txBox="1">
            <a:spLocks noChangeArrowheads="1"/>
          </p:cNvSpPr>
          <p:nvPr/>
        </p:nvSpPr>
        <p:spPr bwMode="auto">
          <a:xfrm>
            <a:off x="5966661" y="2852989"/>
            <a:ext cx="578941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/>
              <a:t>όπου</a:t>
            </a:r>
            <a:endParaRPr lang="en-GB" altLang="en-US" sz="1326"/>
          </a:p>
        </p:txBody>
      </p:sp>
      <p:sp>
        <p:nvSpPr>
          <p:cNvPr id="4112" name="Text Box 27"/>
          <p:cNvSpPr txBox="1">
            <a:spLocks noChangeArrowheads="1"/>
          </p:cNvSpPr>
          <p:nvPr/>
        </p:nvSpPr>
        <p:spPr bwMode="auto">
          <a:xfrm>
            <a:off x="5874920" y="5570621"/>
            <a:ext cx="445770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Το σήμα 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x(t) </a:t>
            </a:r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στο διάστημα 0 -&gt; Τ περιγράφεται από τη σχέση:</a:t>
            </a:r>
            <a:endParaRPr lang="en-GB" altLang="en-US" sz="1326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13" name="Text Box 28"/>
          <p:cNvSpPr txBox="1">
            <a:spLocks noChangeArrowheads="1"/>
          </p:cNvSpPr>
          <p:nvPr/>
        </p:nvSpPr>
        <p:spPr bwMode="auto">
          <a:xfrm>
            <a:off x="1866900" y="5569118"/>
            <a:ext cx="3620002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1. </a:t>
            </a:r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Καθορισμός του σήματος στο διάστημα 0 -&gt; Τ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20" name="TextBox 19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14C54D07-EB8B-994F-CFA6-9B4CF5C662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6306" y="2568095"/>
            <a:ext cx="3985209" cy="1687072"/>
          </a:xfrm>
          <a:prstGeom prst="rect">
            <a:avLst/>
          </a:prstGeom>
        </p:spPr>
      </p:pic>
      <p:pic>
        <p:nvPicPr>
          <p:cNvPr id="5" name="Εικόνα 4">
            <a:extLst>
              <a:ext uri="{FF2B5EF4-FFF2-40B4-BE49-F238E27FC236}">
                <a16:creationId xmlns:a16="http://schemas.microsoft.com/office/drawing/2014/main" id="{6155843A-92C9-2A30-E86B-128ED937BD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6131" y="5990882"/>
            <a:ext cx="2110923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07822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l-GR" altLang="en-US" sz="1326"/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26893" y="1206166"/>
            <a:ext cx="12046160" cy="95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Παράδειγμα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2</a:t>
            </a:r>
            <a:endParaRPr lang="el-GR" altLang="en-US" sz="2084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Υπολογίστε τη σειρά Fourier με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Τριγωνομετρικό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Ανάπτυγμα του παρακάτω σήματος: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ΛΥΣΗ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26892" y="463668"/>
            <a:ext cx="12046161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US" sz="2274" b="1" dirty="0">
                <a:latin typeface="Times New Roman" panose="02020603050405020304" pitchFamily="18" charset="0"/>
              </a:rPr>
              <a:t>3</a:t>
            </a:r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ΑΝΑΠΑΡΑΣΤΑΣΗ ΨΗΦΙΑΚΩΝ ΣΗΜΑΤΩΝ ΣΤΑ ΠΕΔΙΑ ΧΡΟΝΟΥ/ΣΥΧΝΟΤΗΤΑΣ</a:t>
            </a:r>
            <a:endParaRPr lang="en-GB" altLang="en-US" sz="2274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719239"/>
              </p:ext>
            </p:extLst>
          </p:nvPr>
        </p:nvGraphicFramePr>
        <p:xfrm>
          <a:off x="223421" y="2969487"/>
          <a:ext cx="3663616" cy="532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340100" imgH="482600" progId="Equation.3">
                  <p:embed/>
                </p:oleObj>
              </mc:Choice>
              <mc:Fallback>
                <p:oleObj r:id="rId2" imgW="3340100" imgH="482600" progId="Equation.3">
                  <p:embed/>
                  <p:pic>
                    <p:nvPicPr>
                      <p:cNvPr id="51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421" y="2969487"/>
                        <a:ext cx="3663616" cy="532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Text Box 7"/>
          <p:cNvSpPr txBox="1">
            <a:spLocks noChangeArrowheads="1"/>
          </p:cNvSpPr>
          <p:nvPr/>
        </p:nvSpPr>
        <p:spPr bwMode="auto">
          <a:xfrm>
            <a:off x="131322" y="3838767"/>
            <a:ext cx="445770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dirty="0">
                <a:solidFill>
                  <a:srgbClr val="990000"/>
                </a:solidFill>
                <a:latin typeface="Times New Roman" panose="02020603050405020304" pitchFamily="18" charset="0"/>
              </a:rPr>
              <a:t>Το σήμα </a:t>
            </a:r>
            <a:r>
              <a:rPr lang="en-US" altLang="en-US" sz="1326" dirty="0">
                <a:solidFill>
                  <a:srgbClr val="990000"/>
                </a:solidFill>
                <a:latin typeface="Times New Roman" panose="02020603050405020304" pitchFamily="18" charset="0"/>
              </a:rPr>
              <a:t>x(t) </a:t>
            </a:r>
            <a:r>
              <a:rPr lang="el-GR" altLang="en-US" sz="1326" dirty="0">
                <a:solidFill>
                  <a:srgbClr val="990000"/>
                </a:solidFill>
                <a:latin typeface="Times New Roman" panose="02020603050405020304" pitchFamily="18" charset="0"/>
              </a:rPr>
              <a:t>στο διάστημα 0 -&gt; Τ περιγράφεται από τη σχέση:</a:t>
            </a:r>
            <a:endParaRPr lang="en-GB" altLang="en-US" sz="1326" dirty="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223422" y="2214505"/>
            <a:ext cx="3620002" cy="50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2. </a:t>
            </a:r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Υπολογισμός των συντελεστών 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326" baseline="-25000">
                <a:solidFill>
                  <a:srgbClr val="99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,a</a:t>
            </a:r>
            <a:r>
              <a:rPr lang="en-US" altLang="en-US" sz="1326" baseline="-25000">
                <a:solidFill>
                  <a:srgbClr val="99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,b</a:t>
            </a:r>
            <a:r>
              <a:rPr lang="en-US" altLang="en-US" sz="1326" baseline="-25000">
                <a:solidFill>
                  <a:srgbClr val="99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.</a:t>
            </a:r>
          </a:p>
          <a:p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(a) </a:t>
            </a:r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Υπολογισμός του 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326" baseline="-25000">
                <a:solidFill>
                  <a:srgbClr val="990000"/>
                </a:solidFill>
                <a:latin typeface="Times New Roman" panose="02020603050405020304" pitchFamily="18" charset="0"/>
              </a:rPr>
              <a:t>0</a:t>
            </a:r>
            <a:endParaRPr lang="en-GB" altLang="en-US" sz="1326" baseline="-2500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12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004393"/>
              </p:ext>
            </p:extLst>
          </p:nvPr>
        </p:nvGraphicFramePr>
        <p:xfrm>
          <a:off x="291100" y="5727726"/>
          <a:ext cx="681288" cy="47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58720" imgH="393480" progId="Equation.3">
                  <p:embed/>
                </p:oleObj>
              </mc:Choice>
              <mc:Fallback>
                <p:oleObj name="Equation" r:id="rId4" imgW="558720" imgH="393480" progId="Equation.3">
                  <p:embed/>
                  <p:pic>
                    <p:nvPicPr>
                      <p:cNvPr id="512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100" y="5727726"/>
                        <a:ext cx="681288" cy="47976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9" name="Text Box 10"/>
          <p:cNvSpPr txBox="1">
            <a:spLocks noChangeArrowheads="1"/>
          </p:cNvSpPr>
          <p:nvPr/>
        </p:nvSpPr>
        <p:spPr bwMode="auto">
          <a:xfrm>
            <a:off x="339226" y="5198336"/>
            <a:ext cx="482824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Άρα</a:t>
            </a:r>
            <a:endParaRPr lang="en-GB" altLang="en-US" sz="1326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12" name="TextBox 11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AEF58BBD-06D8-776A-90AC-37D1DA84ED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38" y="4425823"/>
            <a:ext cx="2110923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4926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l-GR" altLang="en-US" sz="1326"/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26893" y="1206166"/>
            <a:ext cx="12046160" cy="95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Παράδειγμα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2</a:t>
            </a:r>
            <a:endParaRPr lang="el-GR" altLang="en-US" sz="2084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Υπολογίστε τη σειρά Fourier με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Τριγωνομετρικό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Ανάπτυγμα του παρακάτω σήματος: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ΛΥΣΗ</a:t>
            </a:r>
          </a:p>
        </p:txBody>
      </p:sp>
      <p:graphicFrame>
        <p:nvGraphicFramePr>
          <p:cNvPr id="61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7322558"/>
              </p:ext>
            </p:extLst>
          </p:nvPr>
        </p:nvGraphicFramePr>
        <p:xfrm>
          <a:off x="276047" y="2984827"/>
          <a:ext cx="1854368" cy="559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12900" imgH="482600" progId="Equation.3">
                  <p:embed/>
                </p:oleObj>
              </mc:Choice>
              <mc:Fallback>
                <p:oleObj r:id="rId2" imgW="1612900" imgH="482600" progId="Equation.3">
                  <p:embed/>
                  <p:pic>
                    <p:nvPicPr>
                      <p:cNvPr id="61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47" y="2984827"/>
                        <a:ext cx="1854368" cy="559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Text Box 7"/>
          <p:cNvSpPr txBox="1">
            <a:spLocks noChangeArrowheads="1"/>
          </p:cNvSpPr>
          <p:nvPr/>
        </p:nvSpPr>
        <p:spPr bwMode="auto">
          <a:xfrm>
            <a:off x="276047" y="3858621"/>
            <a:ext cx="445770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Το σήμα 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x(t) </a:t>
            </a:r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στο διάστημα 0 -&gt; Τ περιγράφεται από τη σχέση:</a:t>
            </a:r>
            <a:endParaRPr lang="en-GB" altLang="en-US" sz="1326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1" name="Text Box 8"/>
          <p:cNvSpPr txBox="1">
            <a:spLocks noChangeArrowheads="1"/>
          </p:cNvSpPr>
          <p:nvPr/>
        </p:nvSpPr>
        <p:spPr bwMode="auto">
          <a:xfrm>
            <a:off x="276048" y="2250901"/>
            <a:ext cx="3620002" cy="50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2. </a:t>
            </a:r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Υπολογισμός των συντελεστών 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326" baseline="-25000">
                <a:solidFill>
                  <a:srgbClr val="99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,a</a:t>
            </a:r>
            <a:r>
              <a:rPr lang="en-US" altLang="en-US" sz="1326" baseline="-25000">
                <a:solidFill>
                  <a:srgbClr val="99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,b</a:t>
            </a:r>
            <a:r>
              <a:rPr lang="en-US" altLang="en-US" sz="1326" baseline="-25000">
                <a:solidFill>
                  <a:srgbClr val="99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.</a:t>
            </a:r>
          </a:p>
          <a:p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(b) </a:t>
            </a:r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Υπολογισμός του 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326" baseline="-25000">
                <a:solidFill>
                  <a:srgbClr val="990000"/>
                </a:solidFill>
                <a:latin typeface="Times New Roman" panose="02020603050405020304" pitchFamily="18" charset="0"/>
              </a:rPr>
              <a:t>n</a:t>
            </a:r>
            <a:endParaRPr lang="en-GB" altLang="en-US" sz="1326" baseline="-2500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15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8351743"/>
              </p:ext>
            </p:extLst>
          </p:nvPr>
        </p:nvGraphicFramePr>
        <p:xfrm>
          <a:off x="276048" y="5060274"/>
          <a:ext cx="1594184" cy="463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5616" imgH="393529" progId="Equation.3">
                  <p:embed/>
                </p:oleObj>
              </mc:Choice>
              <mc:Fallback>
                <p:oleObj name="Equation" r:id="rId4" imgW="1345616" imgH="393529" progId="Equation.3">
                  <p:embed/>
                  <p:pic>
                    <p:nvPicPr>
                      <p:cNvPr id="615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48" y="5060274"/>
                        <a:ext cx="1594184" cy="4632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153" name="Object 10"/>
              <p:cNvSpPr txBox="1"/>
              <p:nvPr/>
            </p:nvSpPr>
            <p:spPr bwMode="auto">
              <a:xfrm>
                <a:off x="330200" y="6011863"/>
                <a:ext cx="4104148" cy="693737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l-GR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Τ</m:t>
                          </m:r>
                        </m:den>
                      </m:f>
                      <m:f>
                        <m:fPr>
                          <m:ctrlP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l-GR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l-GR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l-GR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sSub>
                                    <m:sSubPr>
                                      <m:ctrlPr>
                                        <a:rPr lang="el-GR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l-GR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l-GR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l-GR" sz="1400" dirty="0"/>
              </a:p>
            </p:txBody>
          </p:sp>
        </mc:Choice>
        <mc:Fallback xmlns="">
          <p:sp>
            <p:nvSpPr>
              <p:cNvPr id="6153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200" y="6011863"/>
                <a:ext cx="4104148" cy="6937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54" name="Text Box 11"/>
          <p:cNvSpPr txBox="1">
            <a:spLocks noChangeArrowheads="1"/>
          </p:cNvSpPr>
          <p:nvPr/>
        </p:nvSpPr>
        <p:spPr bwMode="auto">
          <a:xfrm>
            <a:off x="382828" y="5631774"/>
            <a:ext cx="482824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Άρα</a:t>
            </a:r>
            <a:endParaRPr lang="en-GB" altLang="en-US" sz="1326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13" name="TextBox 12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26892" y="463668"/>
            <a:ext cx="12046161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US" sz="2274" b="1" dirty="0">
                <a:latin typeface="Times New Roman" panose="02020603050405020304" pitchFamily="18" charset="0"/>
              </a:rPr>
              <a:t>3</a:t>
            </a:r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ΑΝΑΠΑΡΑΣΤΑΣΗ ΨΗΦΙΑΚΩΝ ΣΗΜΑΤΩΝ ΣΤΑ ΠΕΔΙΑ ΧΡΟΝΟΥ/ΣΥΧΝΟΤΗΤΑΣ</a:t>
            </a:r>
            <a:endParaRPr lang="en-GB" altLang="en-US" sz="2274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16848E27-DF82-1310-3DF0-7317D6C09B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189" y="4423002"/>
            <a:ext cx="2110923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258347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l-GR" altLang="en-US" sz="1326"/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26893" y="1206166"/>
            <a:ext cx="12046160" cy="95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Παράδειγμα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2</a:t>
            </a:r>
            <a:endParaRPr lang="el-GR" altLang="en-US" sz="2084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Υπολογίστε τη σειρά Fourier με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Τριγωνομετρικό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Ανάπτυγμα του παρακάτω σήματος: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ΛΥΣΗ</a:t>
            </a:r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917259"/>
              </p:ext>
            </p:extLst>
          </p:nvPr>
        </p:nvGraphicFramePr>
        <p:xfrm>
          <a:off x="229999" y="2842786"/>
          <a:ext cx="1780674" cy="550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74800" imgH="482600" progId="Equation.3">
                  <p:embed/>
                </p:oleObj>
              </mc:Choice>
              <mc:Fallback>
                <p:oleObj r:id="rId2" imgW="1574800" imgH="482600" progId="Equation.3">
                  <p:embed/>
                  <p:pic>
                    <p:nvPicPr>
                      <p:cNvPr id="71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999" y="2842786"/>
                        <a:ext cx="1780674" cy="5504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Text Box 7"/>
          <p:cNvSpPr txBox="1">
            <a:spLocks noChangeArrowheads="1"/>
          </p:cNvSpPr>
          <p:nvPr/>
        </p:nvSpPr>
        <p:spPr bwMode="auto">
          <a:xfrm>
            <a:off x="229999" y="3510538"/>
            <a:ext cx="4457700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Το σήμα 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x(t) </a:t>
            </a:r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στο διάστημα 0 -&gt; Τ περιγράφεται από τη σχέση:</a:t>
            </a:r>
            <a:endParaRPr lang="en-GB" altLang="en-US" sz="1326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5" name="Text Box 8"/>
          <p:cNvSpPr txBox="1">
            <a:spLocks noChangeArrowheads="1"/>
          </p:cNvSpPr>
          <p:nvPr/>
        </p:nvSpPr>
        <p:spPr bwMode="auto">
          <a:xfrm>
            <a:off x="230000" y="2164505"/>
            <a:ext cx="3620002" cy="50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2. </a:t>
            </a:r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Υπολογισμός των συντελεστών 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326" baseline="-25000">
                <a:solidFill>
                  <a:srgbClr val="99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,a</a:t>
            </a:r>
            <a:r>
              <a:rPr lang="en-US" altLang="en-US" sz="1326" baseline="-25000">
                <a:solidFill>
                  <a:srgbClr val="99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,b</a:t>
            </a:r>
            <a:r>
              <a:rPr lang="en-US" altLang="en-US" sz="1326" baseline="-25000">
                <a:solidFill>
                  <a:srgbClr val="99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.</a:t>
            </a:r>
          </a:p>
          <a:p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(c) </a:t>
            </a:r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Υπολογισμός του 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1326" baseline="-25000">
                <a:solidFill>
                  <a:srgbClr val="990000"/>
                </a:solidFill>
                <a:latin typeface="Times New Roman" panose="02020603050405020304" pitchFamily="18" charset="0"/>
              </a:rPr>
              <a:t>0</a:t>
            </a:r>
            <a:endParaRPr lang="en-GB" altLang="en-US" sz="1326" baseline="-2500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17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377008"/>
              </p:ext>
            </p:extLst>
          </p:nvPr>
        </p:nvGraphicFramePr>
        <p:xfrm>
          <a:off x="230000" y="4426442"/>
          <a:ext cx="183632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73200" imgH="393700" progId="Equation.3">
                  <p:embed/>
                </p:oleObj>
              </mc:Choice>
              <mc:Fallback>
                <p:oleObj name="Equation" r:id="rId4" imgW="1473200" imgH="393700" progId="Equation.3">
                  <p:embed/>
                  <p:pic>
                    <p:nvPicPr>
                      <p:cNvPr id="717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00" y="4426442"/>
                        <a:ext cx="183632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Text Box 10"/>
          <p:cNvSpPr txBox="1">
            <a:spLocks noChangeArrowheads="1"/>
          </p:cNvSpPr>
          <p:nvPr/>
        </p:nvSpPr>
        <p:spPr bwMode="auto">
          <a:xfrm>
            <a:off x="229999" y="5139313"/>
            <a:ext cx="482824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Άρα</a:t>
            </a:r>
            <a:endParaRPr lang="en-GB" altLang="en-US" sz="1326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8" name="Object 11"/>
              <p:cNvSpPr txBox="1"/>
              <p:nvPr/>
            </p:nvSpPr>
            <p:spPr bwMode="auto">
              <a:xfrm>
                <a:off x="333375" y="5654675"/>
                <a:ext cx="1677988" cy="484188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l-G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l-G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l-GR" dirty="0"/>
              </a:p>
            </p:txBody>
          </p:sp>
        </mc:Choice>
        <mc:Fallback xmlns="">
          <p:sp>
            <p:nvSpPr>
              <p:cNvPr id="7178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3375" y="5654675"/>
                <a:ext cx="1677988" cy="4841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13" name="TextBox 12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26892" y="463668"/>
            <a:ext cx="12046161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US" sz="2274" b="1" dirty="0">
                <a:latin typeface="Times New Roman" panose="02020603050405020304" pitchFamily="18" charset="0"/>
              </a:rPr>
              <a:t>3</a:t>
            </a:r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ΑΝΑΠΑΡΑΣΤΑΣΗ ΨΗΦΙΑΚΩΝ ΣΗΜΑΤΩΝ ΣΤΑ ΠΕΔΙΑ ΧΡΟΝΟΥ/ΣΥΧΝΟΤΗΤΑΣ</a:t>
            </a:r>
            <a:endParaRPr lang="en-GB" altLang="en-US" sz="2274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8EB82741-8D64-E265-34DD-28EC27EDEB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999" y="3888051"/>
            <a:ext cx="2110923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606649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9088855" y="4880310"/>
            <a:ext cx="794084" cy="303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l-GR" altLang="en-US" sz="1326"/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81776" y="1206166"/>
            <a:ext cx="11805423" cy="95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Παράδειγμα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2</a:t>
            </a:r>
            <a:endParaRPr lang="el-GR" altLang="en-US" sz="2084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Υπολογίστε τη σειρά Fourier με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Τριγωνομετρικό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Ανάπτυγμα του παρακάτω σήματος: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ΛΥΣΗ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81776" y="505154"/>
            <a:ext cx="11805424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US" sz="2274" b="1">
                <a:latin typeface="Times New Roman" panose="02020603050405020304" pitchFamily="18" charset="0"/>
              </a:rPr>
              <a:t>3</a:t>
            </a:r>
            <a:r>
              <a:rPr lang="el-GR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	ΑΝΑΠΑΡΑΣΤΑΣΗ ΨΗΦΙΑΚΩΝ ΣΗΜΑΤΩΝ ΣΤΑ ΠΕΔΙΑ ΧΡΟΝΟΥ/ΣΥΧΝΟΤΗΤΑΣ</a:t>
            </a:r>
            <a:endParaRPr lang="en-GB" altLang="en-US" sz="2274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1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246909"/>
              </p:ext>
            </p:extLst>
          </p:nvPr>
        </p:nvGraphicFramePr>
        <p:xfrm>
          <a:off x="204637" y="2235943"/>
          <a:ext cx="4573241" cy="695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19400" imgH="431800" progId="Equation.3">
                  <p:embed/>
                </p:oleObj>
              </mc:Choice>
              <mc:Fallback>
                <p:oleObj r:id="rId2" imgW="2819400" imgH="431800" progId="Equation.3">
                  <p:embed/>
                  <p:pic>
                    <p:nvPicPr>
                      <p:cNvPr id="81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37" y="2235943"/>
                        <a:ext cx="4573241" cy="6953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4844288" y="2400786"/>
            <a:ext cx="391454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dirty="0"/>
              <a:t>(1)</a:t>
            </a:r>
            <a:endParaRPr lang="en-GB" altLang="en-US" sz="1326" dirty="0"/>
          </a:p>
        </p:txBody>
      </p:sp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08" t="16583" r="6323" b="28555"/>
          <a:stretch>
            <a:fillRect/>
          </a:stretch>
        </p:blipFill>
        <p:spPr bwMode="auto">
          <a:xfrm>
            <a:off x="5907419" y="2312867"/>
            <a:ext cx="6206437" cy="4525720"/>
          </a:xfrm>
          <a:prstGeom prst="rect">
            <a:avLst/>
          </a:prstGeom>
          <a:noFill/>
          <a:ln w="1270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3056645"/>
              </p:ext>
            </p:extLst>
          </p:nvPr>
        </p:nvGraphicFramePr>
        <p:xfrm>
          <a:off x="204638" y="3138771"/>
          <a:ext cx="681288" cy="47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58720" imgH="393480" progId="Equation.3">
                  <p:embed/>
                </p:oleObj>
              </mc:Choice>
              <mc:Fallback>
                <p:oleObj name="Equation" r:id="rId5" imgW="558720" imgH="393480" progId="Equation.3">
                  <p:embed/>
                  <p:pic>
                    <p:nvPicPr>
                      <p:cNvPr id="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38" y="3138771"/>
                        <a:ext cx="681288" cy="47976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0"/>
              <p:cNvSpPr txBox="1"/>
              <p:nvPr/>
            </p:nvSpPr>
            <p:spPr bwMode="auto">
              <a:xfrm>
                <a:off x="204787" y="3817938"/>
                <a:ext cx="2420425" cy="568785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l-GR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Τ</m:t>
                          </m:r>
                        </m:den>
                      </m:f>
                      <m:f>
                        <m:fPr>
                          <m:ctrlP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l-GR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l-GR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l-GR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sSub>
                                    <m:sSubPr>
                                      <m:ctrlPr>
                                        <a:rPr lang="el-GR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l-GR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l-GR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l-G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l-GR" sz="1400" dirty="0"/>
              </a:p>
            </p:txBody>
          </p:sp>
        </mc:Choice>
        <mc:Fallback xmlns="">
          <p:sp>
            <p:nvSpPr>
              <p:cNvPr id="14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787" y="3817938"/>
                <a:ext cx="2420425" cy="5687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1"/>
              <p:cNvSpPr txBox="1"/>
              <p:nvPr/>
            </p:nvSpPr>
            <p:spPr bwMode="auto">
              <a:xfrm>
                <a:off x="204788" y="4656072"/>
                <a:ext cx="1676400" cy="319087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l-G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l-G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l-GR" dirty="0"/>
              </a:p>
            </p:txBody>
          </p:sp>
        </mc:Choice>
        <mc:Fallback xmlns="">
          <p:sp>
            <p:nvSpPr>
              <p:cNvPr id="1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788" y="4656072"/>
                <a:ext cx="1676400" cy="3190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17" name="TextBox 16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6137417"/>
              </p:ext>
            </p:extLst>
          </p:nvPr>
        </p:nvGraphicFramePr>
        <p:xfrm>
          <a:off x="204636" y="5244508"/>
          <a:ext cx="4596527" cy="676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97000" imgH="444240" progId="Equation.3">
                  <p:embed/>
                </p:oleObj>
              </mc:Choice>
              <mc:Fallback>
                <p:oleObj name="Equation" r:id="rId9" imgW="2997000" imgH="444240" progId="Equation.3">
                  <p:embed/>
                  <p:pic>
                    <p:nvPicPr>
                      <p:cNvPr id="2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36" y="5244508"/>
                        <a:ext cx="4596527" cy="67606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629033"/>
              </p:ext>
            </p:extLst>
          </p:nvPr>
        </p:nvGraphicFramePr>
        <p:xfrm>
          <a:off x="2080060" y="6189923"/>
          <a:ext cx="1719011" cy="592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129810" imgH="393529" progId="Equation.3">
                  <p:embed/>
                </p:oleObj>
              </mc:Choice>
              <mc:Fallback>
                <p:oleObj r:id="rId11" imgW="1129810" imgH="393529" progId="Equation.3">
                  <p:embed/>
                  <p:pic>
                    <p:nvPicPr>
                      <p:cNvPr id="2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0060" y="6189923"/>
                        <a:ext cx="1719011" cy="59255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8213133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3"/>
          <p:cNvSpPr txBox="1">
            <a:spLocks noChangeArrowheads="1"/>
          </p:cNvSpPr>
          <p:nvPr/>
        </p:nvSpPr>
        <p:spPr bwMode="auto">
          <a:xfrm>
            <a:off x="26893" y="1206166"/>
            <a:ext cx="12046160" cy="95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Παράδειγμα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3</a:t>
            </a:r>
            <a:endParaRPr lang="el-GR" altLang="en-US" sz="2084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Υπολογίστε τη σειρά Fourier με </a:t>
            </a:r>
            <a:r>
              <a:rPr lang="el-GR" altLang="en-US" sz="2084" b="1" dirty="0">
                <a:solidFill>
                  <a:srgbClr val="0000FF"/>
                </a:solidFill>
                <a:latin typeface="Times New Roman" panose="02020603050405020304" pitchFamily="18" charset="0"/>
              </a:rPr>
              <a:t>Μ</a:t>
            </a:r>
            <a:r>
              <a:rPr lang="el-GR" altLang="en-US" sz="2084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ιγαδικό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Ανάπτυγμα του παρακάτω σήματος: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ΛΥΣΗ</a:t>
            </a:r>
          </a:p>
        </p:txBody>
      </p:sp>
      <p:graphicFrame>
        <p:nvGraphicFramePr>
          <p:cNvPr id="9220" name="Object 19"/>
          <p:cNvGraphicFramePr>
            <a:graphicFrameLocks noChangeAspect="1"/>
          </p:cNvGraphicFramePr>
          <p:nvPr/>
        </p:nvGraphicFramePr>
        <p:xfrm>
          <a:off x="6253915" y="2129590"/>
          <a:ext cx="2081463" cy="780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43000" imgH="431800" progId="Equation.3">
                  <p:embed/>
                </p:oleObj>
              </mc:Choice>
              <mc:Fallback>
                <p:oleObj r:id="rId2" imgW="1143000" imgH="431800" progId="Equation.3">
                  <p:embed/>
                  <p:pic>
                    <p:nvPicPr>
                      <p:cNvPr id="92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3915" y="2129590"/>
                        <a:ext cx="2081463" cy="7805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21"/>
          <p:cNvGraphicFramePr>
            <a:graphicFrameLocks noChangeAspect="1"/>
          </p:cNvGraphicFramePr>
          <p:nvPr/>
        </p:nvGraphicFramePr>
        <p:xfrm>
          <a:off x="6250908" y="3465095"/>
          <a:ext cx="2565734" cy="884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09088" imgH="482391" progId="Equation.3">
                  <p:embed/>
                </p:oleObj>
              </mc:Choice>
              <mc:Fallback>
                <p:oleObj r:id="rId4" imgW="1409088" imgH="482391" progId="Equation.3">
                  <p:embed/>
                  <p:pic>
                    <p:nvPicPr>
                      <p:cNvPr id="922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0908" y="3465095"/>
                        <a:ext cx="2565734" cy="8843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Text Box 25"/>
          <p:cNvSpPr txBox="1">
            <a:spLocks noChangeArrowheads="1"/>
          </p:cNvSpPr>
          <p:nvPr/>
        </p:nvSpPr>
        <p:spPr bwMode="auto">
          <a:xfrm>
            <a:off x="9958137" y="2296528"/>
            <a:ext cx="391454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/>
              <a:t>(1)</a:t>
            </a:r>
            <a:endParaRPr lang="en-GB" altLang="en-US" sz="1326"/>
          </a:p>
        </p:txBody>
      </p:sp>
      <p:sp>
        <p:nvSpPr>
          <p:cNvPr id="9223" name="Text Box 26"/>
          <p:cNvSpPr txBox="1">
            <a:spLocks noChangeArrowheads="1"/>
          </p:cNvSpPr>
          <p:nvPr/>
        </p:nvSpPr>
        <p:spPr bwMode="auto">
          <a:xfrm>
            <a:off x="9958137" y="3756860"/>
            <a:ext cx="391454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/>
              <a:t>(2)</a:t>
            </a:r>
            <a:endParaRPr lang="en-GB" altLang="en-US" sz="1326"/>
          </a:p>
        </p:txBody>
      </p:sp>
      <p:sp>
        <p:nvSpPr>
          <p:cNvPr id="9224" name="Text Box 28"/>
          <p:cNvSpPr txBox="1">
            <a:spLocks noChangeArrowheads="1"/>
          </p:cNvSpPr>
          <p:nvPr/>
        </p:nvSpPr>
        <p:spPr bwMode="auto">
          <a:xfrm>
            <a:off x="6515602" y="3021431"/>
            <a:ext cx="578941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/>
              <a:t>όπου</a:t>
            </a:r>
            <a:endParaRPr lang="en-GB" altLang="en-US" sz="1326"/>
          </a:p>
        </p:txBody>
      </p:sp>
      <p:sp>
        <p:nvSpPr>
          <p:cNvPr id="9225" name="Text Box 30"/>
          <p:cNvSpPr txBox="1">
            <a:spLocks noChangeArrowheads="1"/>
          </p:cNvSpPr>
          <p:nvPr/>
        </p:nvSpPr>
        <p:spPr bwMode="auto">
          <a:xfrm>
            <a:off x="6118560" y="4905876"/>
            <a:ext cx="4053138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326" dirty="0">
                <a:solidFill>
                  <a:srgbClr val="990000"/>
                </a:solidFill>
                <a:latin typeface="Times New Roman" panose="02020603050405020304" pitchFamily="18" charset="0"/>
              </a:rPr>
              <a:t>1. </a:t>
            </a:r>
            <a:r>
              <a:rPr lang="el-GR" altLang="en-US" sz="1326" dirty="0">
                <a:solidFill>
                  <a:srgbClr val="990000"/>
                </a:solidFill>
                <a:latin typeface="Times New Roman" panose="02020603050405020304" pitchFamily="18" charset="0"/>
              </a:rPr>
              <a:t>Καθορισμός του σήματος στο διάστημα –Τ/2 -&gt; Τ/2 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12" name="TextBox 11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26892" y="463668"/>
            <a:ext cx="12046161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US" sz="2274" b="1" dirty="0">
                <a:latin typeface="Times New Roman" panose="02020603050405020304" pitchFamily="18" charset="0"/>
              </a:rPr>
              <a:t>3</a:t>
            </a:r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ΑΝΑΠΑΡΑΣΤΑΣΗ ΨΗΦΙΑΚΩΝ ΣΗΜΑΤΩΝ ΣΤΑ ΠΕΔΙΑ ΧΡΟΝΟΥ/ΣΥΧΝΟΤΗΤΑΣ</a:t>
            </a:r>
            <a:endParaRPr lang="en-GB" altLang="en-US" sz="2274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24CECEE1-4352-9E28-2454-75EDB5780E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9224" y="2592891"/>
            <a:ext cx="4335728" cy="175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628202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26893" y="1206166"/>
            <a:ext cx="10310240" cy="95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>
                <a:solidFill>
                  <a:srgbClr val="990000"/>
                </a:solidFill>
                <a:latin typeface="Times New Roman" panose="02020603050405020304" pitchFamily="18" charset="0"/>
              </a:rPr>
              <a:t>Παράδειγμα </a:t>
            </a:r>
            <a:r>
              <a:rPr lang="el-GR" altLang="en-US" sz="2084" b="1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l-GR" altLang="en-US" sz="2084" b="1">
                <a:solidFill>
                  <a:srgbClr val="990000"/>
                </a:solidFill>
                <a:latin typeface="Times New Roman" panose="02020603050405020304" pitchFamily="18" charset="0"/>
              </a:rPr>
              <a:t>3</a:t>
            </a:r>
            <a:endParaRPr lang="el-GR" altLang="en-US" sz="2084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1">
                <a:solidFill>
                  <a:srgbClr val="990000"/>
                </a:solidFill>
                <a:latin typeface="Times New Roman" panose="02020603050405020304" pitchFamily="18" charset="0"/>
              </a:rPr>
              <a:t>Υπολογίστε τη σειρά Fourier με </a:t>
            </a:r>
            <a:r>
              <a:rPr lang="el-GR" altLang="en-US" sz="2084" b="1">
                <a:solidFill>
                  <a:srgbClr val="0000FF"/>
                </a:solidFill>
                <a:latin typeface="Times New Roman" panose="02020603050405020304" pitchFamily="18" charset="0"/>
              </a:rPr>
              <a:t>Μ</a:t>
            </a:r>
            <a:r>
              <a:rPr lang="el-GR" altLang="en-US" sz="2084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ιγαδικό</a:t>
            </a:r>
            <a:r>
              <a:rPr lang="el-GR" altLang="en-US" sz="2084" b="1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2084" b="1">
                <a:solidFill>
                  <a:srgbClr val="990000"/>
                </a:solidFill>
                <a:latin typeface="Times New Roman" panose="02020603050405020304" pitchFamily="18" charset="0"/>
              </a:rPr>
              <a:t>Ανάπτυγμα του παρακάτω σήματος: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1">
                <a:solidFill>
                  <a:srgbClr val="990000"/>
                </a:solidFill>
                <a:latin typeface="Times New Roman" panose="02020603050405020304" pitchFamily="18" charset="0"/>
              </a:rPr>
              <a:t>ΛΥΣΗ</a:t>
            </a:r>
          </a:p>
        </p:txBody>
      </p:sp>
      <p:graphicFrame>
        <p:nvGraphicFramePr>
          <p:cNvPr id="10244" name="Object 5"/>
          <p:cNvGraphicFramePr>
            <a:graphicFrameLocks noChangeAspect="1"/>
          </p:cNvGraphicFramePr>
          <p:nvPr/>
        </p:nvGraphicFramePr>
        <p:xfrm>
          <a:off x="6253915" y="2129590"/>
          <a:ext cx="2081463" cy="780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43000" imgH="431800" progId="Equation.3">
                  <p:embed/>
                </p:oleObj>
              </mc:Choice>
              <mc:Fallback>
                <p:oleObj r:id="rId2" imgW="1143000" imgH="431800" progId="Equation.3">
                  <p:embed/>
                  <p:pic>
                    <p:nvPicPr>
                      <p:cNvPr id="1024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3915" y="2129590"/>
                        <a:ext cx="2081463" cy="7805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6"/>
          <p:cNvGraphicFramePr>
            <a:graphicFrameLocks noChangeAspect="1"/>
          </p:cNvGraphicFramePr>
          <p:nvPr/>
        </p:nvGraphicFramePr>
        <p:xfrm>
          <a:off x="6250908" y="3465095"/>
          <a:ext cx="2565734" cy="884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09088" imgH="482391" progId="Equation.3">
                  <p:embed/>
                </p:oleObj>
              </mc:Choice>
              <mc:Fallback>
                <p:oleObj r:id="rId4" imgW="1409088" imgH="482391" progId="Equation.3">
                  <p:embed/>
                  <p:pic>
                    <p:nvPicPr>
                      <p:cNvPr id="1024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0908" y="3465095"/>
                        <a:ext cx="2565734" cy="8843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Text Box 8"/>
          <p:cNvSpPr txBox="1">
            <a:spLocks noChangeArrowheads="1"/>
          </p:cNvSpPr>
          <p:nvPr/>
        </p:nvSpPr>
        <p:spPr bwMode="auto">
          <a:xfrm>
            <a:off x="9958137" y="2296528"/>
            <a:ext cx="391454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/>
              <a:t>(1)</a:t>
            </a:r>
            <a:endParaRPr lang="en-GB" altLang="en-US" sz="1326"/>
          </a:p>
        </p:txBody>
      </p:sp>
      <p:sp>
        <p:nvSpPr>
          <p:cNvPr id="10248" name="Text Box 9"/>
          <p:cNvSpPr txBox="1">
            <a:spLocks noChangeArrowheads="1"/>
          </p:cNvSpPr>
          <p:nvPr/>
        </p:nvSpPr>
        <p:spPr bwMode="auto">
          <a:xfrm>
            <a:off x="9958137" y="3756860"/>
            <a:ext cx="391454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/>
              <a:t>(2)</a:t>
            </a:r>
            <a:endParaRPr lang="en-GB" altLang="en-US" sz="1326"/>
          </a:p>
        </p:txBody>
      </p:sp>
      <p:sp>
        <p:nvSpPr>
          <p:cNvPr id="10249" name="Text Box 10"/>
          <p:cNvSpPr txBox="1">
            <a:spLocks noChangeArrowheads="1"/>
          </p:cNvSpPr>
          <p:nvPr/>
        </p:nvSpPr>
        <p:spPr bwMode="auto">
          <a:xfrm>
            <a:off x="9958137" y="5994734"/>
            <a:ext cx="391454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 dirty="0"/>
              <a:t>(3)</a:t>
            </a:r>
            <a:endParaRPr lang="en-GB" altLang="en-US" sz="1326" dirty="0"/>
          </a:p>
        </p:txBody>
      </p:sp>
      <p:sp>
        <p:nvSpPr>
          <p:cNvPr id="10250" name="Text Box 11"/>
          <p:cNvSpPr txBox="1">
            <a:spLocks noChangeArrowheads="1"/>
          </p:cNvSpPr>
          <p:nvPr/>
        </p:nvSpPr>
        <p:spPr bwMode="auto">
          <a:xfrm>
            <a:off x="6515602" y="3021431"/>
            <a:ext cx="578941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/>
              <a:t>όπου</a:t>
            </a:r>
            <a:endParaRPr lang="en-GB" altLang="en-US" sz="1326"/>
          </a:p>
        </p:txBody>
      </p:sp>
      <p:sp>
        <p:nvSpPr>
          <p:cNvPr id="10251" name="Text Box 12"/>
          <p:cNvSpPr txBox="1">
            <a:spLocks noChangeArrowheads="1"/>
          </p:cNvSpPr>
          <p:nvPr/>
        </p:nvSpPr>
        <p:spPr bwMode="auto">
          <a:xfrm>
            <a:off x="6417845" y="4784057"/>
            <a:ext cx="3919287" cy="50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Το σήμα 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x(t) </a:t>
            </a:r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στο διάστημα –Τ/2 -&gt; Τ/2 περιγράφεται από τη σχέση:</a:t>
            </a:r>
            <a:endParaRPr lang="en-GB" altLang="en-US" sz="1326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2" name="Text Box 13"/>
          <p:cNvSpPr txBox="1">
            <a:spLocks noChangeArrowheads="1"/>
          </p:cNvSpPr>
          <p:nvPr/>
        </p:nvSpPr>
        <p:spPr bwMode="auto">
          <a:xfrm>
            <a:off x="1866900" y="5569118"/>
            <a:ext cx="4053139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1. </a:t>
            </a:r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Καθορισμός του σήματος στο διάστημα –Τ/2 -&gt; Τ/2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15" name="TextBox 14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26892" y="463668"/>
            <a:ext cx="12046161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US" sz="2274" b="1" dirty="0">
                <a:latin typeface="Times New Roman" panose="02020603050405020304" pitchFamily="18" charset="0"/>
              </a:rPr>
              <a:t>3</a:t>
            </a:r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ΑΝΑΠΑΡΑΣΤΑΣΗ ΨΗΦΙΑΚΩΝ ΣΗΜΑΤΩΝ ΣΤΑ ΠΕΔΙΑ ΧΡΟΝΟΥ/ΣΥΧΝΟΤΗΤΑΣ</a:t>
            </a:r>
            <a:endParaRPr lang="en-GB" altLang="en-US" sz="2274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Εικόνα 1">
            <a:extLst>
              <a:ext uri="{FF2B5EF4-FFF2-40B4-BE49-F238E27FC236}">
                <a16:creationId xmlns:a16="http://schemas.microsoft.com/office/drawing/2014/main" id="{6945EE70-8A18-624E-9DD7-2C91C6543E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9224" y="2592891"/>
            <a:ext cx="4335728" cy="1756525"/>
          </a:xfrm>
          <a:prstGeom prst="rect">
            <a:avLst/>
          </a:prstGeom>
        </p:spPr>
      </p:pic>
      <p:pic>
        <p:nvPicPr>
          <p:cNvPr id="4" name="Εικόνα 3">
            <a:extLst>
              <a:ext uri="{FF2B5EF4-FFF2-40B4-BE49-F238E27FC236}">
                <a16:creationId xmlns:a16="http://schemas.microsoft.com/office/drawing/2014/main" id="{35136C28-C462-E12D-83EA-FD6ADE5B39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602" y="5647548"/>
            <a:ext cx="2514818" cy="5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641823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26893" y="1206166"/>
            <a:ext cx="10310240" cy="95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Παράδειγμα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3</a:t>
            </a:r>
            <a:endParaRPr lang="el-GR" altLang="en-US" sz="2084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Υπολογίστε τη σειρά Fourier με </a:t>
            </a:r>
            <a:r>
              <a:rPr lang="el-GR" altLang="en-US" sz="2084" b="1" dirty="0">
                <a:solidFill>
                  <a:srgbClr val="0000FF"/>
                </a:solidFill>
                <a:latin typeface="Times New Roman" panose="02020603050405020304" pitchFamily="18" charset="0"/>
              </a:rPr>
              <a:t>Μ</a:t>
            </a:r>
            <a:r>
              <a:rPr lang="el-GR" altLang="en-US" sz="2084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ιγαδικό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Ανάπτυγμα του παρακάτω σήματος: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ΛΥΣΗ</a:t>
            </a:r>
          </a:p>
        </p:txBody>
      </p:sp>
      <p:graphicFrame>
        <p:nvGraphicFramePr>
          <p:cNvPr id="11268" name="Object 6"/>
          <p:cNvGraphicFramePr>
            <a:graphicFrameLocks noChangeAspect="1"/>
          </p:cNvGraphicFramePr>
          <p:nvPr/>
        </p:nvGraphicFramePr>
        <p:xfrm>
          <a:off x="1973681" y="3013911"/>
          <a:ext cx="2643939" cy="911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09088" imgH="482391" progId="Equation.3">
                  <p:embed/>
                </p:oleObj>
              </mc:Choice>
              <mc:Fallback>
                <p:oleObj r:id="rId2" imgW="1409088" imgH="482391" progId="Equation.3">
                  <p:embed/>
                  <p:pic>
                    <p:nvPicPr>
                      <p:cNvPr id="1126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3681" y="3013911"/>
                        <a:ext cx="2643939" cy="911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Text Box 14"/>
          <p:cNvSpPr txBox="1">
            <a:spLocks noChangeArrowheads="1"/>
          </p:cNvSpPr>
          <p:nvPr/>
        </p:nvSpPr>
        <p:spPr bwMode="auto">
          <a:xfrm>
            <a:off x="1854869" y="2520616"/>
            <a:ext cx="3620002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2. </a:t>
            </a:r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Υπολογισμός του συντελεστή </a:t>
            </a:r>
            <a:r>
              <a:rPr lang="en-US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1326" baseline="-25000">
                <a:solidFill>
                  <a:srgbClr val="990000"/>
                </a:solidFill>
                <a:latin typeface="Times New Roman" panose="02020603050405020304" pitchFamily="18" charset="0"/>
              </a:rPr>
              <a:t>n</a:t>
            </a:r>
            <a:endParaRPr lang="en-US" altLang="en-US" sz="1326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1270" name="Object 15"/>
          <p:cNvGraphicFramePr>
            <a:graphicFrameLocks noChangeAspect="1"/>
          </p:cNvGraphicFramePr>
          <p:nvPr/>
        </p:nvGraphicFramePr>
        <p:xfrm>
          <a:off x="1973681" y="5674394"/>
          <a:ext cx="2410827" cy="634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25600" imgH="431800" progId="Equation.3">
                  <p:embed/>
                </p:oleObj>
              </mc:Choice>
              <mc:Fallback>
                <p:oleObj r:id="rId4" imgW="1625600" imgH="431800" progId="Equation.3">
                  <p:embed/>
                  <p:pic>
                    <p:nvPicPr>
                      <p:cNvPr id="1127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3681" y="5674394"/>
                        <a:ext cx="2410827" cy="6346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19"/>
          <p:cNvGraphicFramePr>
            <a:graphicFrameLocks noChangeAspect="1"/>
          </p:cNvGraphicFramePr>
          <p:nvPr/>
        </p:nvGraphicFramePr>
        <p:xfrm>
          <a:off x="5286876" y="5788694"/>
          <a:ext cx="2504073" cy="406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09700" imgH="228600" progId="Equation.3">
                  <p:embed/>
                </p:oleObj>
              </mc:Choice>
              <mc:Fallback>
                <p:oleObj name="Equation" r:id="rId6" imgW="1409700" imgH="228600" progId="Equation.3">
                  <p:embed/>
                  <p:pic>
                    <p:nvPicPr>
                      <p:cNvPr id="1127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876" y="5788694"/>
                        <a:ext cx="2504073" cy="406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10" name="TextBox 9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6892" y="463668"/>
            <a:ext cx="12046161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US" sz="2274" b="1" dirty="0">
                <a:latin typeface="Times New Roman" panose="02020603050405020304" pitchFamily="18" charset="0"/>
              </a:rPr>
              <a:t>3</a:t>
            </a:r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ΑΝΑΠΑΡΑΣΤΑΣΗ ΨΗΦΙΑΚΩΝ ΣΗΜΑΤΩΝ ΣΤΑ ΠΕΔΙΑ ΧΡΟΝΟΥ/ΣΥΧΝΟΤΗΤΑΣ</a:t>
            </a:r>
            <a:endParaRPr lang="en-GB" altLang="en-US" sz="2274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0C0F25CE-80EE-D453-6EAF-DEBDF34E25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4869" y="4518623"/>
            <a:ext cx="2514818" cy="5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70951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26893" y="1206166"/>
            <a:ext cx="10310240" cy="95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Παράδειγμα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3</a:t>
            </a:r>
            <a:endParaRPr lang="el-GR" altLang="en-US" sz="2084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Υπολογίστε τη σειρά Fourier με </a:t>
            </a:r>
            <a:r>
              <a:rPr lang="el-GR" altLang="en-US" sz="2084" b="1" dirty="0">
                <a:solidFill>
                  <a:srgbClr val="0000FF"/>
                </a:solidFill>
                <a:latin typeface="Times New Roman" panose="02020603050405020304" pitchFamily="18" charset="0"/>
              </a:rPr>
              <a:t>Μ</a:t>
            </a:r>
            <a:r>
              <a:rPr lang="el-GR" altLang="en-US" sz="2084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ιγαδικό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Ανάπτυγμα του παρακάτω σήματος: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ΛΥΣΗ</a:t>
            </a:r>
          </a:p>
        </p:txBody>
      </p:sp>
      <p:sp>
        <p:nvSpPr>
          <p:cNvPr id="12292" name="Text Box 6"/>
          <p:cNvSpPr txBox="1">
            <a:spLocks noChangeArrowheads="1"/>
          </p:cNvSpPr>
          <p:nvPr/>
        </p:nvSpPr>
        <p:spPr bwMode="auto">
          <a:xfrm>
            <a:off x="1854868" y="2520616"/>
            <a:ext cx="721895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Άρα:</a:t>
            </a:r>
            <a:endParaRPr lang="en-US" altLang="en-US" sz="1326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2293" name="Object 9"/>
          <p:cNvGraphicFramePr>
            <a:graphicFrameLocks noChangeAspect="1"/>
          </p:cNvGraphicFramePr>
          <p:nvPr/>
        </p:nvGraphicFramePr>
        <p:xfrm>
          <a:off x="2018799" y="2917658"/>
          <a:ext cx="1867903" cy="724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04900" imgH="431800" progId="Equation.3">
                  <p:embed/>
                </p:oleObj>
              </mc:Choice>
              <mc:Fallback>
                <p:oleObj r:id="rId2" imgW="1104900" imgH="431800" progId="Equation.3">
                  <p:embed/>
                  <p:pic>
                    <p:nvPicPr>
                      <p:cNvPr id="122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8799" y="2917658"/>
                        <a:ext cx="1867903" cy="7249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12"/>
          <p:cNvGraphicFramePr>
            <a:graphicFrameLocks noChangeAspect="1"/>
          </p:cNvGraphicFramePr>
          <p:nvPr/>
        </p:nvGraphicFramePr>
        <p:xfrm>
          <a:off x="1933074" y="4056146"/>
          <a:ext cx="5202154" cy="77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70200" imgH="431800" progId="Equation.3">
                  <p:embed/>
                </p:oleObj>
              </mc:Choice>
              <mc:Fallback>
                <p:oleObj name="Equation" r:id="rId4" imgW="2870200" imgH="431800" progId="Equation.3">
                  <p:embed/>
                  <p:pic>
                    <p:nvPicPr>
                      <p:cNvPr id="1229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074" y="4056146"/>
                        <a:ext cx="5202154" cy="77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14"/>
          <p:cNvGraphicFramePr>
            <a:graphicFrameLocks noChangeAspect="1"/>
          </p:cNvGraphicFramePr>
          <p:nvPr/>
        </p:nvGraphicFramePr>
        <p:xfrm>
          <a:off x="1976689" y="5108910"/>
          <a:ext cx="3874168" cy="1350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298700" imgH="800100" progId="Equation.3">
                  <p:embed/>
                </p:oleObj>
              </mc:Choice>
              <mc:Fallback>
                <p:oleObj r:id="rId6" imgW="2298700" imgH="800100" progId="Equation.3">
                  <p:embed/>
                  <p:pic>
                    <p:nvPicPr>
                      <p:cNvPr id="1229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689" y="5108910"/>
                        <a:ext cx="3874168" cy="13505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16"/>
          <p:cNvGraphicFramePr>
            <a:graphicFrameLocks noChangeAspect="1"/>
          </p:cNvGraphicFramePr>
          <p:nvPr/>
        </p:nvGraphicFramePr>
        <p:xfrm>
          <a:off x="7433010" y="5543551"/>
          <a:ext cx="1719011" cy="592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129810" imgH="393529" progId="Equation.3">
                  <p:embed/>
                </p:oleObj>
              </mc:Choice>
              <mc:Fallback>
                <p:oleObj r:id="rId8" imgW="1129810" imgH="393529" progId="Equation.3">
                  <p:embed/>
                  <p:pic>
                    <p:nvPicPr>
                      <p:cNvPr id="1229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3010" y="5543551"/>
                        <a:ext cx="1719011" cy="5925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Text Box 18"/>
          <p:cNvSpPr txBox="1">
            <a:spLocks noChangeArrowheads="1"/>
          </p:cNvSpPr>
          <p:nvPr/>
        </p:nvSpPr>
        <p:spPr bwMode="auto">
          <a:xfrm>
            <a:off x="6214812" y="5680410"/>
            <a:ext cx="721895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Είναι:</a:t>
            </a:r>
            <a:endParaRPr lang="en-US" altLang="en-US" sz="1326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11" name="TextBox 10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26892" y="463668"/>
            <a:ext cx="12046161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US" sz="2274" b="1" dirty="0">
                <a:latin typeface="Times New Roman" panose="02020603050405020304" pitchFamily="18" charset="0"/>
              </a:rPr>
              <a:t>3</a:t>
            </a:r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ΑΝΑΠΑΡΑΣΤΑΣΗ ΨΗΦΙΑΚΩΝ ΣΗΜΑΤΩΝ ΣΤΑ ΠΕΔΙΑ ΧΡΟΝΟΥ/ΣΥΧΝΟΤΗΤΑΣ</a:t>
            </a:r>
            <a:endParaRPr lang="en-GB" altLang="en-US" sz="2274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00620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26893" y="1206166"/>
            <a:ext cx="10310240" cy="95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Παράδειγμα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3</a:t>
            </a:r>
            <a:endParaRPr lang="el-GR" altLang="en-US" sz="2084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Υπολογίστε τη σειρά Fourier με </a:t>
            </a:r>
            <a:r>
              <a:rPr lang="el-GR" altLang="en-US" sz="2084" b="1" dirty="0">
                <a:solidFill>
                  <a:srgbClr val="0000FF"/>
                </a:solidFill>
                <a:latin typeface="Times New Roman" panose="02020603050405020304" pitchFamily="18" charset="0"/>
              </a:rPr>
              <a:t>Μ</a:t>
            </a:r>
            <a:r>
              <a:rPr lang="el-GR" altLang="en-US" sz="2084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ιγαδικό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Ανάπτυγμα του παρακάτω σήματος:</a:t>
            </a: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ΛΥΣΗ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256312" y="2483204"/>
            <a:ext cx="721895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>
                <a:solidFill>
                  <a:srgbClr val="990000"/>
                </a:solidFill>
                <a:latin typeface="Times New Roman" panose="02020603050405020304" pitchFamily="18" charset="0"/>
              </a:rPr>
              <a:t>Άρα:</a:t>
            </a:r>
            <a:endParaRPr lang="en-US" altLang="en-US" sz="1326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018364"/>
              </p:ext>
            </p:extLst>
          </p:nvPr>
        </p:nvGraphicFramePr>
        <p:xfrm>
          <a:off x="256312" y="2851757"/>
          <a:ext cx="4511842" cy="854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0" imgH="431800" progId="Equation.3">
                  <p:embed/>
                </p:oleObj>
              </mc:Choice>
              <mc:Fallback>
                <p:oleObj name="Equation" r:id="rId2" imgW="2286000" imgH="431800" progId="Equation.3">
                  <p:embed/>
                  <p:pic>
                    <p:nvPicPr>
                      <p:cNvPr id="133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312" y="2851757"/>
                        <a:ext cx="4511842" cy="8542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256313" y="4002191"/>
            <a:ext cx="1434111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>
                <a:cs typeface="Times New Roman" panose="02020603050405020304" pitchFamily="18" charset="0"/>
              </a:rPr>
              <a:t>Για </a:t>
            </a:r>
            <a:r>
              <a:rPr lang="en-US" altLang="en-US" sz="1326">
                <a:cs typeface="Times New Roman" panose="02020603050405020304" pitchFamily="18" charset="0"/>
              </a:rPr>
              <a:t>f</a:t>
            </a:r>
            <a:r>
              <a:rPr lang="el-GR" altLang="en-US" sz="1326">
                <a:cs typeface="Times New Roman" panose="02020603050405020304" pitchFamily="18" charset="0"/>
              </a:rPr>
              <a:t>=1/τ, 2/τ, ....</a:t>
            </a:r>
            <a:r>
              <a:rPr lang="en-GB" altLang="en-US" sz="1326"/>
              <a:t> </a:t>
            </a:r>
          </a:p>
        </p:txBody>
      </p:sp>
      <p:graphicFrame>
        <p:nvGraphicFramePr>
          <p:cNvPr id="133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836118"/>
              </p:ext>
            </p:extLst>
          </p:nvPr>
        </p:nvGraphicFramePr>
        <p:xfrm>
          <a:off x="376629" y="4594746"/>
          <a:ext cx="2595813" cy="645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74800" imgH="393700" progId="Equation.3">
                  <p:embed/>
                </p:oleObj>
              </mc:Choice>
              <mc:Fallback>
                <p:oleObj r:id="rId4" imgW="1574800" imgH="393700" progId="Equation.3">
                  <p:embed/>
                  <p:pic>
                    <p:nvPicPr>
                      <p:cNvPr id="133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629" y="4594746"/>
                        <a:ext cx="2595813" cy="6451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94001"/>
              </p:ext>
            </p:extLst>
          </p:nvPr>
        </p:nvGraphicFramePr>
        <p:xfrm>
          <a:off x="363093" y="5488091"/>
          <a:ext cx="1719011" cy="592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29810" imgH="393529" progId="Equation.3">
                  <p:embed/>
                </p:oleObj>
              </mc:Choice>
              <mc:Fallback>
                <p:oleObj r:id="rId6" imgW="1129810" imgH="393529" progId="Equation.3">
                  <p:embed/>
                  <p:pic>
                    <p:nvPicPr>
                      <p:cNvPr id="133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093" y="5488091"/>
                        <a:ext cx="1719011" cy="5925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321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08" t="16583" r="6323" b="28555"/>
          <a:stretch>
            <a:fillRect/>
          </a:stretch>
        </p:blipFill>
        <p:spPr bwMode="auto">
          <a:xfrm>
            <a:off x="6452735" y="2164505"/>
            <a:ext cx="5620318" cy="4098148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8643687" y="3889208"/>
            <a:ext cx="168442" cy="16844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endParaRPr lang="el-GR" altLang="en-US" sz="1326"/>
          </a:p>
        </p:txBody>
      </p:sp>
      <p:grpSp>
        <p:nvGrpSpPr>
          <p:cNvPr id="11" name="Group 10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12" name="TextBox 11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26892" y="463668"/>
            <a:ext cx="12046161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US" sz="2274" b="1" dirty="0">
                <a:latin typeface="Times New Roman" panose="02020603050405020304" pitchFamily="18" charset="0"/>
              </a:rPr>
              <a:t>3</a:t>
            </a:r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ΑΝΑΠΑΡΑΣΤΑΣΗ ΨΗΦΙΑΚΩΝ ΣΗΜΑΤΩΝ ΣΤΑ ΠΕΔΙΑ ΧΡΟΝΟΥ/ΣΥΧΝΟΤΗΤΑΣ</a:t>
            </a:r>
            <a:endParaRPr lang="en-GB" altLang="en-US" sz="2274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170944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78941" y="1206166"/>
            <a:ext cx="11994112" cy="381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Επίδραση της θεμελιώδους περιόδου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 T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 μιας χρονικά εξελισσόμενης κυματομορφής στο φάσμα</a:t>
            </a:r>
            <a:r>
              <a:rPr lang="en-GB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 </a:t>
            </a:r>
            <a:endParaRPr lang="el-GR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4340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9" t="11775" r="53047" b="7961"/>
          <a:stretch>
            <a:fillRect/>
          </a:stretch>
        </p:blipFill>
        <p:spPr bwMode="auto">
          <a:xfrm>
            <a:off x="3901741" y="1816769"/>
            <a:ext cx="4414085" cy="4907381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6" name="TextBox 5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26892" y="463668"/>
            <a:ext cx="12046161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US" sz="2274" b="1" dirty="0">
                <a:latin typeface="Times New Roman" panose="02020603050405020304" pitchFamily="18" charset="0"/>
              </a:rPr>
              <a:t>3</a:t>
            </a:r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ΑΝΑΠΑΡΑΣΤΑΣΗ ΨΗΦΙΑΚΩΝ ΣΗΜΑΤΩΝ ΣΤΑ ΠΕΔΙΑ ΧΡΟΝΟΥ/ΣΥΧΝΟΤΗΤΑΣ</a:t>
            </a:r>
            <a:endParaRPr lang="en-GB" altLang="en-US" sz="2274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497749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86608" y="1181600"/>
            <a:ext cx="8482263" cy="381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Παράγοντες που επηρεάζουν το εύρος ζώνης ενός σήματος</a:t>
            </a:r>
          </a:p>
        </p:txBody>
      </p:sp>
      <p:pic>
        <p:nvPicPr>
          <p:cNvPr id="1536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03" t="18750" r="4066" b="26706"/>
          <a:stretch>
            <a:fillRect/>
          </a:stretch>
        </p:blipFill>
        <p:spPr bwMode="auto">
          <a:xfrm>
            <a:off x="5226719" y="1562602"/>
            <a:ext cx="5032208" cy="5169067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5" name="Text Box 7"/>
          <p:cNvSpPr txBox="1">
            <a:spLocks noChangeArrowheads="1"/>
          </p:cNvSpPr>
          <p:nvPr/>
        </p:nvSpPr>
        <p:spPr bwMode="auto">
          <a:xfrm>
            <a:off x="245613" y="1756601"/>
            <a:ext cx="483292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/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"Λειαίνοντας" τη μορφή των παλμών δεδομένων, έτσι ώστε να έχουν ομαλές ακμές, αναμένουμε να ελαττωθεί σημαντικά το υψηλό φασματικό περιεχόμενο της κυματομορφής. </a:t>
            </a:r>
          </a:p>
          <a:p>
            <a:pPr algn="just"/>
            <a:endParaRPr lang="el-GR" altLang="en-US" sz="1800" dirty="0">
              <a:latin typeface="Times New Roman" panose="02020603050405020304" pitchFamily="18" charset="0"/>
            </a:endParaRPr>
          </a:p>
          <a:p>
            <a:pPr algn="just"/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Μια μέθοδος που χρησιμοποιείται συχνά για τη μορφοποίηση του σχήματος των παλμών είναι η διαβίβαση της παλμοσειράς σε ένα χαμηλοπερατό φίλτρο, το οποίο έχει απόκριση υψωμένου συνημίτονου (raised cosine).</a:t>
            </a:r>
            <a:r>
              <a:rPr lang="en-GB" altLang="en-US" sz="1800" dirty="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7" name="TextBox 6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6892" y="463668"/>
            <a:ext cx="12046161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US" sz="2274" b="1" dirty="0">
                <a:latin typeface="Times New Roman" panose="02020603050405020304" pitchFamily="18" charset="0"/>
              </a:rPr>
              <a:t>3</a:t>
            </a:r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ΑΝΑΠΑΡΑΣΤΑΣΗ ΨΗΦΙΑΚΩΝ ΣΗΜΑΤΩΝ ΣΤΑ ΠΕΔΙΑ ΧΡΟΝΟΥ/ΣΥΧΝΟΤΗΤΑΣ</a:t>
            </a:r>
            <a:endParaRPr lang="en-GB" altLang="en-US" sz="2274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850867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26893" y="1206166"/>
            <a:ext cx="10310240" cy="381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Παράγοντες που επηρεάζουν το εύρος ζώνης ενός σήματος</a:t>
            </a:r>
          </a:p>
        </p:txBody>
      </p:sp>
      <p:sp>
        <p:nvSpPr>
          <p:cNvPr id="16388" name="Text Box 5"/>
          <p:cNvSpPr txBox="1">
            <a:spLocks noChangeArrowheads="1"/>
          </p:cNvSpPr>
          <p:nvPr/>
        </p:nvSpPr>
        <p:spPr bwMode="auto">
          <a:xfrm>
            <a:off x="-1" y="1887365"/>
            <a:ext cx="603240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/>
            <a:r>
              <a:rPr lang="el-GR" altLang="en-US" sz="1800" dirty="0">
                <a:latin typeface="Times New Roman" panose="02020603050405020304" pitchFamily="18" charset="0"/>
              </a:rPr>
              <a:t>Μ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ια κυματομορφή που έχει απότομες μεταβολές στο πεδίο του χρόνου θα έχει μεγαλύτερο συχνοτικό περιεχόμενο από κάποια άλλη που μεταβάλλεται ομαλά. </a:t>
            </a:r>
            <a:endParaRPr lang="el-GR" altLang="en-US" sz="1800" dirty="0">
              <a:latin typeface="Times New Roman" panose="02020603050405020304" pitchFamily="18" charset="0"/>
            </a:endParaRPr>
          </a:p>
          <a:p>
            <a:pPr algn="just"/>
            <a:endParaRPr lang="el-GR" altLang="en-US" sz="1800" dirty="0">
              <a:latin typeface="Times New Roman" panose="02020603050405020304" pitchFamily="18" charset="0"/>
            </a:endParaRPr>
          </a:p>
          <a:p>
            <a:pPr algn="just"/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Αυτό συμβαίνει επειδή οι απότομες αλλαγές στην κυματομορφή μπορούν να δομηθούν μόνο από ένα μεγάλο αριθμό ασθενών υψίσυχνων ημιτονικών σημάτων στο ανάπτυγμα σε σειρά Fourier.</a:t>
            </a:r>
          </a:p>
          <a:p>
            <a:pPr algn="just"/>
            <a:endParaRPr lang="el-GR" altLang="en-US" sz="1800" dirty="0">
              <a:latin typeface="Times New Roman" panose="02020603050405020304" pitchFamily="18" charset="0"/>
            </a:endParaRPr>
          </a:p>
          <a:p>
            <a:pPr algn="just"/>
            <a:r>
              <a:rPr lang="el-GR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Επομένως, όταν το διαθέσιμο εύρος ζώνης είναι περιορισμένο, ευνοούνται οι τεχνικές διαμόρφωσης που δίνουν ομαλές μορφές παλμών ή ομαλές εναλλαγές φάσης μεταξύ διαφορετικών συμβολικών καταστάσεων.</a:t>
            </a:r>
          </a:p>
        </p:txBody>
      </p:sp>
      <p:pic>
        <p:nvPicPr>
          <p:cNvPr id="16389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7" t="15355" r="48810" b="37427"/>
          <a:stretch>
            <a:fillRect/>
          </a:stretch>
        </p:blipFill>
        <p:spPr bwMode="auto">
          <a:xfrm>
            <a:off x="6177134" y="1786684"/>
            <a:ext cx="5818690" cy="4996135"/>
          </a:xfrm>
          <a:prstGeom prst="rect">
            <a:avLst/>
          </a:prstGeom>
          <a:noFill/>
          <a:ln w="1270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7" name="TextBox 6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6892" y="463668"/>
            <a:ext cx="12046161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en-US" sz="2274" b="1" dirty="0">
                <a:latin typeface="Times New Roman" panose="02020603050405020304" pitchFamily="18" charset="0"/>
              </a:rPr>
              <a:t>3</a:t>
            </a:r>
            <a:r>
              <a:rPr lang="el-GR" altLang="en-US" sz="227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ΑΝΑΠΑΡΑΣΤΑΣΗ ΨΗΦΙΑΚΩΝ ΣΗΜΑΤΩΝ ΣΤΑ ΠΕΔΙΑ ΧΡΟΝΟΥ/ΣΥΧΝΟΤΗΤΑΣ</a:t>
            </a:r>
            <a:endParaRPr lang="en-GB" altLang="en-US" sz="2274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967473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96645" y="1005321"/>
            <a:ext cx="11939238" cy="1010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Η βασική διαδικασία μίξης</a:t>
            </a:r>
          </a:p>
          <a:p>
            <a:pPr algn="just">
              <a:lnSpc>
                <a:spcPct val="90000"/>
              </a:lnSpc>
            </a:pPr>
            <a:r>
              <a:rPr lang="el-GR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Για να μετατοπίσουμε το φάσμα του σήματος εισόδου έτσι ώστε να εμπίπτει στην επιτρεπτή περιοχή διέλευσης του καναλιού πραγματοποιούμε μια διαδικασία</a:t>
            </a:r>
            <a:r>
              <a:rPr lang="el-GR" altLang="en-US" sz="1516" b="1" dirty="0">
                <a:latin typeface="Times New Roman" panose="02020603050405020304" pitchFamily="18" charset="0"/>
              </a:rPr>
              <a:t> που</a:t>
            </a:r>
            <a:r>
              <a:rPr lang="el-GR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περιλαμβάνει τη μίξη του σήματος εισόδου </a:t>
            </a:r>
            <a:r>
              <a:rPr lang="en-US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l-GR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l-GR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με ένα άλλο ημιτονικό ή συνημιτονικό σήμα </a:t>
            </a:r>
            <a:r>
              <a:rPr lang="en-US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l-GR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l-GR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υψηλότερης συχνότητας, που ονομάζεται φέρον (</a:t>
            </a:r>
            <a:r>
              <a:rPr lang="en-US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carrier</a:t>
            </a:r>
            <a:r>
              <a:rPr lang="el-GR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ή φέρουσα κυματομορφή</a:t>
            </a:r>
            <a:r>
              <a:rPr lang="el-GR" altLang="en-US" sz="1516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96644" y="490975"/>
            <a:ext cx="11939239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1.4	ΜΙΞΗ ΣΗΜΑΤΩΝ</a:t>
            </a:r>
            <a:r>
              <a:rPr lang="en-GB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7412" name="Picture 6" descr="untitled1"/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70" t="31314" r="32057" b="49463"/>
          <a:stretch>
            <a:fillRect/>
          </a:stretch>
        </p:blipFill>
        <p:spPr bwMode="auto">
          <a:xfrm>
            <a:off x="5544052" y="2046873"/>
            <a:ext cx="2686050" cy="1756611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4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496754"/>
              </p:ext>
            </p:extLst>
          </p:nvPr>
        </p:nvGraphicFramePr>
        <p:xfrm>
          <a:off x="6383195" y="3967414"/>
          <a:ext cx="1846907" cy="354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93800" imgH="228600" progId="Equation.3">
                  <p:embed/>
                </p:oleObj>
              </mc:Choice>
              <mc:Fallback>
                <p:oleObj r:id="rId3" imgW="1193800" imgH="228600" progId="Equation.3">
                  <p:embed/>
                  <p:pic>
                    <p:nvPicPr>
                      <p:cNvPr id="1741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195" y="3967414"/>
                        <a:ext cx="1846907" cy="354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4352397"/>
              </p:ext>
            </p:extLst>
          </p:nvPr>
        </p:nvGraphicFramePr>
        <p:xfrm>
          <a:off x="2527403" y="3660513"/>
          <a:ext cx="2197268" cy="255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79600" imgH="215900" progId="Equation.3">
                  <p:embed/>
                </p:oleObj>
              </mc:Choice>
              <mc:Fallback>
                <p:oleObj r:id="rId5" imgW="1879600" imgH="215900" progId="Equation.3">
                  <p:embed/>
                  <p:pic>
                    <p:nvPicPr>
                      <p:cNvPr id="1741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403" y="3660513"/>
                        <a:ext cx="2197268" cy="255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6596561"/>
              </p:ext>
            </p:extLst>
          </p:nvPr>
        </p:nvGraphicFramePr>
        <p:xfrm>
          <a:off x="2527300" y="4057650"/>
          <a:ext cx="21986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790700" imgH="444500" progId="Equation.3">
                  <p:embed/>
                </p:oleObj>
              </mc:Choice>
              <mc:Fallback>
                <p:oleObj r:id="rId7" imgW="1790700" imgH="444500" progId="Equation.3">
                  <p:embed/>
                  <p:pic>
                    <p:nvPicPr>
                      <p:cNvPr id="1741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0" y="4057650"/>
                        <a:ext cx="2198688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8380158"/>
              </p:ext>
            </p:extLst>
          </p:nvPr>
        </p:nvGraphicFramePr>
        <p:xfrm>
          <a:off x="1039114" y="5271594"/>
          <a:ext cx="5063572" cy="66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Εξίσωση" r:id="rId9" imgW="3390900" imgH="444500" progId="Equation.3">
                  <p:embed/>
                </p:oleObj>
              </mc:Choice>
              <mc:Fallback>
                <p:oleObj name="Εξίσωση" r:id="rId9" imgW="3390900" imgH="444500" progId="Equation.3">
                  <p:embed/>
                  <p:pic>
                    <p:nvPicPr>
                      <p:cNvPr id="174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114" y="5271594"/>
                        <a:ext cx="5063572" cy="66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8" name="Picture 18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05" t="21414" r="12561" b="43996"/>
          <a:stretch>
            <a:fillRect/>
          </a:stretch>
        </p:blipFill>
        <p:spPr bwMode="auto">
          <a:xfrm>
            <a:off x="8295345" y="3955381"/>
            <a:ext cx="3015414" cy="1911518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13" name="TextBox 12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9">
            <a:extLst>
              <a:ext uri="{FF2B5EF4-FFF2-40B4-BE49-F238E27FC236}">
                <a16:creationId xmlns:a16="http://schemas.microsoft.com/office/drawing/2014/main" id="{0D305ACD-5869-BEE7-07C1-F63E08BAB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9" t="17268" r="4283" b="28435"/>
          <a:stretch>
            <a:fillRect/>
          </a:stretch>
        </p:blipFill>
        <p:spPr bwMode="auto">
          <a:xfrm>
            <a:off x="2527300" y="2016111"/>
            <a:ext cx="2197268" cy="1600459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Εικόνα 3">
            <a:extLst>
              <a:ext uri="{FF2B5EF4-FFF2-40B4-BE49-F238E27FC236}">
                <a16:creationId xmlns:a16="http://schemas.microsoft.com/office/drawing/2014/main" id="{E8CF621E-A072-B019-AEB2-E84D57E138D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7332" y="2317568"/>
            <a:ext cx="3238781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16308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C0D79-DE1B-9579-A4AB-8766E755C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>
            <a:extLst>
              <a:ext uri="{FF2B5EF4-FFF2-40B4-BE49-F238E27FC236}">
                <a16:creationId xmlns:a16="http://schemas.microsoft.com/office/drawing/2014/main" id="{3F81AFFC-A2C2-2D38-B4C4-A158F8031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45" y="1005321"/>
            <a:ext cx="11939238" cy="1010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Η βασική διαδικασία μίξης</a:t>
            </a:r>
          </a:p>
          <a:p>
            <a:pPr algn="just">
              <a:lnSpc>
                <a:spcPct val="90000"/>
              </a:lnSpc>
            </a:pPr>
            <a:r>
              <a:rPr lang="el-GR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Για να μετατοπίσουμε το φάσμα του σήματος εισόδου έτσι ώστε να εμπίπτει στην επιτρεπτή περιοχή διέλευσης του καναλιού πραγματοποιούμε μια διαδικασία</a:t>
            </a:r>
            <a:r>
              <a:rPr lang="el-GR" altLang="en-US" sz="1516" b="1" dirty="0">
                <a:latin typeface="Times New Roman" panose="02020603050405020304" pitchFamily="18" charset="0"/>
              </a:rPr>
              <a:t> που</a:t>
            </a:r>
            <a:r>
              <a:rPr lang="el-GR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περιλαμβάνει τη μίξη του σήματος εισόδου </a:t>
            </a:r>
            <a:r>
              <a:rPr lang="en-US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l-GR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l-GR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με ένα άλλο ημιτονικό ή συνημιτονικό σήμα </a:t>
            </a:r>
            <a:r>
              <a:rPr lang="en-US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l-GR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l-GR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υψηλότερης συχνότητας, που ονομάζεται φέρον (</a:t>
            </a:r>
            <a:r>
              <a:rPr lang="en-US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carrier</a:t>
            </a:r>
            <a:r>
              <a:rPr lang="el-GR" altLang="en-US" sz="151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ή φέρουσα κυματομορφή</a:t>
            </a:r>
            <a:r>
              <a:rPr lang="el-GR" altLang="en-US" sz="1516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7411" name="Text Box 3">
            <a:extLst>
              <a:ext uri="{FF2B5EF4-FFF2-40B4-BE49-F238E27FC236}">
                <a16:creationId xmlns:a16="http://schemas.microsoft.com/office/drawing/2014/main" id="{FFF0BFA0-DBA9-95F9-5E04-0CB24879D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44" y="490975"/>
            <a:ext cx="11939239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1.4	ΜΙΞΗ ΣΗΜΑΤΩΝ</a:t>
            </a:r>
            <a:r>
              <a:rPr lang="en-GB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7412" name="Picture 6" descr="untitled1">
            <a:extLst>
              <a:ext uri="{FF2B5EF4-FFF2-40B4-BE49-F238E27FC236}">
                <a16:creationId xmlns:a16="http://schemas.microsoft.com/office/drawing/2014/main" id="{DD588D79-D21E-31D6-6AD8-1D049C087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70" t="31314" r="32057" b="49463"/>
          <a:stretch>
            <a:fillRect/>
          </a:stretch>
        </p:blipFill>
        <p:spPr bwMode="auto">
          <a:xfrm>
            <a:off x="5544052" y="2046873"/>
            <a:ext cx="2686050" cy="1756611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414" name="Object 10">
            <a:extLst>
              <a:ext uri="{FF2B5EF4-FFF2-40B4-BE49-F238E27FC236}">
                <a16:creationId xmlns:a16="http://schemas.microsoft.com/office/drawing/2014/main" id="{19997A45-87C6-8678-DB34-D76A38CCE4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3195" y="3967414"/>
          <a:ext cx="1846907" cy="354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93800" imgH="228600" progId="Equation.3">
                  <p:embed/>
                </p:oleObj>
              </mc:Choice>
              <mc:Fallback>
                <p:oleObj r:id="rId3" imgW="1193800" imgH="228600" progId="Equation.3">
                  <p:embed/>
                  <p:pic>
                    <p:nvPicPr>
                      <p:cNvPr id="17414" name="Object 10">
                        <a:extLst>
                          <a:ext uri="{FF2B5EF4-FFF2-40B4-BE49-F238E27FC236}">
                            <a16:creationId xmlns:a16="http://schemas.microsoft.com/office/drawing/2014/main" id="{19997A45-87C6-8678-DB34-D76A38CCE4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195" y="3967414"/>
                        <a:ext cx="1846907" cy="354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12">
            <a:extLst>
              <a:ext uri="{FF2B5EF4-FFF2-40B4-BE49-F238E27FC236}">
                <a16:creationId xmlns:a16="http://schemas.microsoft.com/office/drawing/2014/main" id="{17C32EAB-86B9-A433-E1EF-1373AEED47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7403" y="3660513"/>
          <a:ext cx="2197268" cy="255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79600" imgH="215900" progId="Equation.3">
                  <p:embed/>
                </p:oleObj>
              </mc:Choice>
              <mc:Fallback>
                <p:oleObj r:id="rId5" imgW="1879600" imgH="215900" progId="Equation.3">
                  <p:embed/>
                  <p:pic>
                    <p:nvPicPr>
                      <p:cNvPr id="17415" name="Object 12">
                        <a:extLst>
                          <a:ext uri="{FF2B5EF4-FFF2-40B4-BE49-F238E27FC236}">
                            <a16:creationId xmlns:a16="http://schemas.microsoft.com/office/drawing/2014/main" id="{17C32EAB-86B9-A433-E1EF-1373AEED47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403" y="3660513"/>
                        <a:ext cx="2197268" cy="255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14">
            <a:extLst>
              <a:ext uri="{FF2B5EF4-FFF2-40B4-BE49-F238E27FC236}">
                <a16:creationId xmlns:a16="http://schemas.microsoft.com/office/drawing/2014/main" id="{17177574-97D2-5537-2F8F-777F1976E5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7300" y="4057650"/>
          <a:ext cx="21986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790700" imgH="444500" progId="Equation.3">
                  <p:embed/>
                </p:oleObj>
              </mc:Choice>
              <mc:Fallback>
                <p:oleObj r:id="rId7" imgW="1790700" imgH="444500" progId="Equation.3">
                  <p:embed/>
                  <p:pic>
                    <p:nvPicPr>
                      <p:cNvPr id="17416" name="Object 14">
                        <a:extLst>
                          <a:ext uri="{FF2B5EF4-FFF2-40B4-BE49-F238E27FC236}">
                            <a16:creationId xmlns:a16="http://schemas.microsoft.com/office/drawing/2014/main" id="{17177574-97D2-5537-2F8F-777F1976E5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0" y="4057650"/>
                        <a:ext cx="2198688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16">
            <a:extLst>
              <a:ext uri="{FF2B5EF4-FFF2-40B4-BE49-F238E27FC236}">
                <a16:creationId xmlns:a16="http://schemas.microsoft.com/office/drawing/2014/main" id="{0E74CE48-C724-256D-0D58-D171296958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9114" y="5271594"/>
          <a:ext cx="5063572" cy="66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Εξίσωση" r:id="rId9" imgW="3390900" imgH="444500" progId="Equation.3">
                  <p:embed/>
                </p:oleObj>
              </mc:Choice>
              <mc:Fallback>
                <p:oleObj name="Εξίσωση" r:id="rId9" imgW="3390900" imgH="444500" progId="Equation.3">
                  <p:embed/>
                  <p:pic>
                    <p:nvPicPr>
                      <p:cNvPr id="17417" name="Object 16">
                        <a:extLst>
                          <a:ext uri="{FF2B5EF4-FFF2-40B4-BE49-F238E27FC236}">
                            <a16:creationId xmlns:a16="http://schemas.microsoft.com/office/drawing/2014/main" id="{0E74CE48-C724-256D-0D58-D171296958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114" y="5271594"/>
                        <a:ext cx="5063572" cy="66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8" name="Picture 18">
            <a:extLst>
              <a:ext uri="{FF2B5EF4-FFF2-40B4-BE49-F238E27FC236}">
                <a16:creationId xmlns:a16="http://schemas.microsoft.com/office/drawing/2014/main" id="{4F7D7AF4-A2A1-9319-0E80-23C0AF834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05" t="21414" r="12561" b="43996"/>
          <a:stretch>
            <a:fillRect/>
          </a:stretch>
        </p:blipFill>
        <p:spPr bwMode="auto">
          <a:xfrm>
            <a:off x="8295345" y="3955381"/>
            <a:ext cx="3015414" cy="1911518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419" name="Object 19">
            <a:extLst>
              <a:ext uri="{FF2B5EF4-FFF2-40B4-BE49-F238E27FC236}">
                <a16:creationId xmlns:a16="http://schemas.microsoft.com/office/drawing/2014/main" id="{EDAB3965-6824-157B-32F8-E8215E0FDC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9591" y="6074965"/>
          <a:ext cx="3787182" cy="570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590800" imgH="393700" progId="Equation.3">
                  <p:embed/>
                </p:oleObj>
              </mc:Choice>
              <mc:Fallback>
                <p:oleObj r:id="rId12" imgW="2590800" imgH="393700" progId="Equation.3">
                  <p:embed/>
                  <p:pic>
                    <p:nvPicPr>
                      <p:cNvPr id="17419" name="Object 19">
                        <a:extLst>
                          <a:ext uri="{FF2B5EF4-FFF2-40B4-BE49-F238E27FC236}">
                            <a16:creationId xmlns:a16="http://schemas.microsoft.com/office/drawing/2014/main" id="{EDAB3965-6824-157B-32F8-E8215E0FDC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591" y="6074965"/>
                        <a:ext cx="3787182" cy="5709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868B7AAC-F2AA-DD17-192D-CC73F2F1B327}"/>
              </a:ext>
            </a:extLst>
          </p:cNvPr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024A38E-75CC-DA8D-AB55-06FBB943D08D}"/>
                </a:ext>
              </a:extLst>
            </p:cNvPr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501BB81-E5F2-E420-97A8-C20A2D3D3ED0}"/>
                </a:ext>
              </a:extLst>
            </p:cNvPr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2D01319-DA45-1320-49D9-676E20F2787C}"/>
                </a:ext>
              </a:extLst>
            </p:cNvPr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9">
            <a:extLst>
              <a:ext uri="{FF2B5EF4-FFF2-40B4-BE49-F238E27FC236}">
                <a16:creationId xmlns:a16="http://schemas.microsoft.com/office/drawing/2014/main" id="{7ADB0500-89EB-53FB-E07E-62FA78CE6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9" t="17268" r="4283" b="28435"/>
          <a:stretch>
            <a:fillRect/>
          </a:stretch>
        </p:blipFill>
        <p:spPr bwMode="auto">
          <a:xfrm>
            <a:off x="2527300" y="2016111"/>
            <a:ext cx="2197268" cy="1600459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Εικόνα 3">
            <a:extLst>
              <a:ext uri="{FF2B5EF4-FFF2-40B4-BE49-F238E27FC236}">
                <a16:creationId xmlns:a16="http://schemas.microsoft.com/office/drawing/2014/main" id="{59AFBFA8-C23C-E955-D5B3-EFE0AF1B692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37332" y="2317568"/>
            <a:ext cx="3238781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27159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749665"/>
              </p:ext>
            </p:extLst>
          </p:nvPr>
        </p:nvGraphicFramePr>
        <p:xfrm>
          <a:off x="278349" y="1184696"/>
          <a:ext cx="8390522" cy="979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165600" imgH="482600" progId="Equation.3">
                  <p:embed/>
                </p:oleObj>
              </mc:Choice>
              <mc:Fallback>
                <p:oleObj r:id="rId2" imgW="4165600" imgH="482600" progId="Equation.3">
                  <p:embed/>
                  <p:pic>
                    <p:nvPicPr>
                      <p:cNvPr id="1843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49" y="1184696"/>
                        <a:ext cx="8390522" cy="979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36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28255" r="15938" b="17839"/>
          <a:stretch>
            <a:fillRect/>
          </a:stretch>
        </p:blipFill>
        <p:spPr bwMode="auto">
          <a:xfrm>
            <a:off x="2478687" y="2415186"/>
            <a:ext cx="6419717" cy="4320594"/>
          </a:xfrm>
          <a:prstGeom prst="rect">
            <a:avLst/>
          </a:prstGeom>
          <a:noFill/>
          <a:ln w="6350">
            <a:solidFill>
              <a:srgbClr val="CC000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6" name="TextBox 5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96644" y="490975"/>
            <a:ext cx="11939239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1.4	ΜΙΞΗ ΣΗΜΑΤΩΝ</a:t>
            </a:r>
            <a:r>
              <a:rPr lang="en-GB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B0B3C2A8-4D32-34E6-5E64-ED3E4254D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0777" y="4575483"/>
            <a:ext cx="2690093" cy="853514"/>
          </a:xfrm>
          <a:prstGeom prst="rect">
            <a:avLst/>
          </a:prstGeom>
        </p:spPr>
      </p:pic>
      <p:pic>
        <p:nvPicPr>
          <p:cNvPr id="4" name="Εικόνα 3">
            <a:extLst>
              <a:ext uri="{FF2B5EF4-FFF2-40B4-BE49-F238E27FC236}">
                <a16:creationId xmlns:a16="http://schemas.microsoft.com/office/drawing/2014/main" id="{E4B506F9-9BB2-3525-864B-EA59F94B9C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306" y="2415186"/>
            <a:ext cx="2915036" cy="1008259"/>
          </a:xfrm>
          <a:prstGeom prst="rect">
            <a:avLst/>
          </a:prstGeom>
        </p:spPr>
      </p:pic>
      <p:cxnSp>
        <p:nvCxnSpPr>
          <p:cNvPr id="11" name="Ευθύγραμμο βέλος σύνδεσης 10">
            <a:extLst>
              <a:ext uri="{FF2B5EF4-FFF2-40B4-BE49-F238E27FC236}">
                <a16:creationId xmlns:a16="http://schemas.microsoft.com/office/drawing/2014/main" id="{9A1FB31F-2188-F661-2237-807EA57BD347}"/>
              </a:ext>
            </a:extLst>
          </p:cNvPr>
          <p:cNvCxnSpPr>
            <a:stCxn id="4" idx="2"/>
            <a:endCxn id="3" idx="0"/>
          </p:cNvCxnSpPr>
          <p:nvPr/>
        </p:nvCxnSpPr>
        <p:spPr>
          <a:xfrm>
            <a:off x="10655824" y="3423445"/>
            <a:ext cx="0" cy="115203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266643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16" descr="F:\02 TELECOMS\01 Theory\01 Analog &amp; Digital Coms\! Bateman Book\01 FINAL\02 KEF 1\mixer1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2" t="19624" r="34286" b="44623"/>
          <a:stretch>
            <a:fillRect/>
          </a:stretch>
        </p:blipFill>
        <p:spPr bwMode="auto">
          <a:xfrm>
            <a:off x="2204835" y="1222372"/>
            <a:ext cx="2490537" cy="1200150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46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150981"/>
              </p:ext>
            </p:extLst>
          </p:nvPr>
        </p:nvGraphicFramePr>
        <p:xfrm>
          <a:off x="2369109" y="3964068"/>
          <a:ext cx="1315954" cy="25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93800" imgH="228600" progId="Equation.3">
                  <p:embed/>
                </p:oleObj>
              </mc:Choice>
              <mc:Fallback>
                <p:oleObj r:id="rId3" imgW="1193800" imgH="228600" progId="Equation.3">
                  <p:embed/>
                  <p:pic>
                    <p:nvPicPr>
                      <p:cNvPr id="1946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9109" y="3964068"/>
                        <a:ext cx="1315954" cy="25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516359"/>
              </p:ext>
            </p:extLst>
          </p:nvPr>
        </p:nvGraphicFramePr>
        <p:xfrm>
          <a:off x="96644" y="2628563"/>
          <a:ext cx="2009274" cy="234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79600" imgH="215900" progId="Equation.3">
                  <p:embed/>
                </p:oleObj>
              </mc:Choice>
              <mc:Fallback>
                <p:oleObj r:id="rId5" imgW="1879600" imgH="215900" progId="Equation.3">
                  <p:embed/>
                  <p:pic>
                    <p:nvPicPr>
                      <p:cNvPr id="1946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44" y="2628563"/>
                        <a:ext cx="2009274" cy="234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861044"/>
              </p:ext>
            </p:extLst>
          </p:nvPr>
        </p:nvGraphicFramePr>
        <p:xfrm>
          <a:off x="117700" y="2941385"/>
          <a:ext cx="1907005" cy="476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790700" imgH="444500" progId="Equation.3">
                  <p:embed/>
                </p:oleObj>
              </mc:Choice>
              <mc:Fallback>
                <p:oleObj r:id="rId7" imgW="1790700" imgH="444500" progId="Equation.3">
                  <p:embed/>
                  <p:pic>
                    <p:nvPicPr>
                      <p:cNvPr id="1946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00" y="2941385"/>
                        <a:ext cx="1907005" cy="476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64" name="Picture 1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05" t="21414" r="12561" b="43996"/>
          <a:stretch>
            <a:fillRect/>
          </a:stretch>
        </p:blipFill>
        <p:spPr bwMode="auto">
          <a:xfrm>
            <a:off x="2292407" y="2541334"/>
            <a:ext cx="1485900" cy="1327985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46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6899969"/>
              </p:ext>
            </p:extLst>
          </p:nvPr>
        </p:nvGraphicFramePr>
        <p:xfrm>
          <a:off x="4009916" y="2652627"/>
          <a:ext cx="4495298" cy="530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14800" imgH="482600" progId="Equation.3">
                  <p:embed/>
                </p:oleObj>
              </mc:Choice>
              <mc:Fallback>
                <p:oleObj name="Equation" r:id="rId10" imgW="4114800" imgH="482600" progId="Equation.3">
                  <p:embed/>
                  <p:pic>
                    <p:nvPicPr>
                      <p:cNvPr id="1946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9916" y="2652627"/>
                        <a:ext cx="4495298" cy="5308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66" name="Picture 17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28255" r="15938" b="17839"/>
          <a:stretch>
            <a:fillRect/>
          </a:stretch>
        </p:blipFill>
        <p:spPr bwMode="auto">
          <a:xfrm>
            <a:off x="5665871" y="3621505"/>
            <a:ext cx="4611103" cy="3104147"/>
          </a:xfrm>
          <a:prstGeom prst="rect">
            <a:avLst/>
          </a:prstGeom>
          <a:noFill/>
          <a:ln w="6350">
            <a:solidFill>
              <a:srgbClr val="CC000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67" name="Line 24"/>
          <p:cNvSpPr>
            <a:spLocks noChangeShapeType="1"/>
          </p:cNvSpPr>
          <p:nvPr/>
        </p:nvSpPr>
        <p:spPr bwMode="auto">
          <a:xfrm>
            <a:off x="3778307" y="1560968"/>
            <a:ext cx="63166" cy="72189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705"/>
          </a:p>
        </p:txBody>
      </p:sp>
      <p:sp>
        <p:nvSpPr>
          <p:cNvPr id="19468" name="Text Box 25"/>
          <p:cNvSpPr txBox="1">
            <a:spLocks noChangeArrowheads="1"/>
          </p:cNvSpPr>
          <p:nvPr/>
        </p:nvSpPr>
        <p:spPr bwMode="auto">
          <a:xfrm>
            <a:off x="3588600" y="1734152"/>
            <a:ext cx="412292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326"/>
              <a:t>BP</a:t>
            </a:r>
            <a:endParaRPr lang="en-GB" altLang="en-US" sz="1326" dirty="0"/>
          </a:p>
        </p:txBody>
      </p:sp>
      <p:grpSp>
        <p:nvGrpSpPr>
          <p:cNvPr id="19469" name="Group 32"/>
          <p:cNvGrpSpPr>
            <a:grpSpLocks/>
          </p:cNvGrpSpPr>
          <p:nvPr/>
        </p:nvGrpSpPr>
        <p:grpSpPr bwMode="auto">
          <a:xfrm>
            <a:off x="2239879" y="4408072"/>
            <a:ext cx="2490537" cy="1717508"/>
            <a:chOff x="444" y="2520"/>
            <a:chExt cx="1656" cy="1142"/>
          </a:xfrm>
        </p:grpSpPr>
        <p:grpSp>
          <p:nvGrpSpPr>
            <p:cNvPr id="19475" name="Group 21"/>
            <p:cNvGrpSpPr>
              <a:grpSpLocks/>
            </p:cNvGrpSpPr>
            <p:nvPr/>
          </p:nvGrpSpPr>
          <p:grpSpPr bwMode="auto">
            <a:xfrm>
              <a:off x="720" y="2802"/>
              <a:ext cx="858" cy="654"/>
              <a:chOff x="720" y="2802"/>
              <a:chExt cx="858" cy="1266"/>
            </a:xfrm>
          </p:grpSpPr>
          <p:sp>
            <p:nvSpPr>
              <p:cNvPr id="19480" name="Line 18"/>
              <p:cNvSpPr>
                <a:spLocks noChangeShapeType="1"/>
              </p:cNvSpPr>
              <p:nvPr/>
            </p:nvSpPr>
            <p:spPr bwMode="auto">
              <a:xfrm flipV="1">
                <a:off x="720" y="2808"/>
                <a:ext cx="0" cy="12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705"/>
              </a:p>
            </p:txBody>
          </p:sp>
          <p:sp>
            <p:nvSpPr>
              <p:cNvPr id="19481" name="Line 19"/>
              <p:cNvSpPr>
                <a:spLocks noChangeShapeType="1"/>
              </p:cNvSpPr>
              <p:nvPr/>
            </p:nvSpPr>
            <p:spPr bwMode="auto">
              <a:xfrm flipV="1">
                <a:off x="1578" y="2808"/>
                <a:ext cx="0" cy="12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705"/>
              </a:p>
            </p:txBody>
          </p:sp>
          <p:sp>
            <p:nvSpPr>
              <p:cNvPr id="19482" name="Line 20"/>
              <p:cNvSpPr>
                <a:spLocks noChangeShapeType="1"/>
              </p:cNvSpPr>
              <p:nvPr/>
            </p:nvSpPr>
            <p:spPr bwMode="auto">
              <a:xfrm>
                <a:off x="720" y="2802"/>
                <a:ext cx="85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1705"/>
              </a:p>
            </p:txBody>
          </p:sp>
        </p:grpSp>
        <p:sp>
          <p:nvSpPr>
            <p:cNvPr id="19476" name="Line 22"/>
            <p:cNvSpPr>
              <a:spLocks noChangeShapeType="1"/>
            </p:cNvSpPr>
            <p:nvPr/>
          </p:nvSpPr>
          <p:spPr bwMode="auto">
            <a:xfrm>
              <a:off x="450" y="3456"/>
              <a:ext cx="165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705"/>
            </a:p>
          </p:txBody>
        </p:sp>
        <p:sp>
          <p:nvSpPr>
            <p:cNvPr id="19477" name="Line 23"/>
            <p:cNvSpPr>
              <a:spLocks noChangeShapeType="1"/>
            </p:cNvSpPr>
            <p:nvPr/>
          </p:nvSpPr>
          <p:spPr bwMode="auto">
            <a:xfrm flipV="1">
              <a:off x="444" y="2520"/>
              <a:ext cx="0" cy="936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705"/>
            </a:p>
          </p:txBody>
        </p:sp>
        <p:sp>
          <p:nvSpPr>
            <p:cNvPr id="19478" name="Text Box 26"/>
            <p:cNvSpPr txBox="1">
              <a:spLocks noChangeArrowheads="1"/>
            </p:cNvSpPr>
            <p:nvPr/>
          </p:nvSpPr>
          <p:spPr bwMode="auto">
            <a:xfrm>
              <a:off x="624" y="3464"/>
              <a:ext cx="236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1pPr>
              <a:lvl2pPr marL="742950" indent="-285750"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2pPr>
              <a:lvl3pPr marL="1143000" indent="-228600"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3pPr>
              <a:lvl4pPr marL="1600200" indent="-228600"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4pPr>
              <a:lvl5pPr marL="2057400" indent="-228600"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9pPr>
            </a:lstStyle>
            <a:p>
              <a:r>
                <a:rPr lang="en-US" altLang="en-US" sz="1137"/>
                <a:t>f</a:t>
              </a:r>
              <a:r>
                <a:rPr lang="en-US" altLang="en-US" sz="1137" baseline="-25000"/>
                <a:t>c</a:t>
              </a:r>
              <a:r>
                <a:rPr lang="en-US" altLang="en-US" sz="1137"/>
                <a:t>1</a:t>
              </a:r>
              <a:endParaRPr lang="en-GB" altLang="en-US" sz="1137"/>
            </a:p>
          </p:txBody>
        </p:sp>
        <p:sp>
          <p:nvSpPr>
            <p:cNvPr id="19479" name="Text Box 27"/>
            <p:cNvSpPr txBox="1">
              <a:spLocks noChangeArrowheads="1"/>
            </p:cNvSpPr>
            <p:nvPr/>
          </p:nvSpPr>
          <p:spPr bwMode="auto">
            <a:xfrm>
              <a:off x="1449" y="3484"/>
              <a:ext cx="236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1pPr>
              <a:lvl2pPr marL="742950" indent="-285750"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2pPr>
              <a:lvl3pPr marL="1143000" indent="-228600"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3pPr>
              <a:lvl4pPr marL="1600200" indent="-228600"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4pPr>
              <a:lvl5pPr marL="2057400" indent="-228600"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9pPr>
            </a:lstStyle>
            <a:p>
              <a:r>
                <a:rPr lang="en-US" altLang="en-US" sz="1137"/>
                <a:t>f</a:t>
              </a:r>
              <a:r>
                <a:rPr lang="en-US" altLang="en-US" sz="1137" baseline="-25000"/>
                <a:t>c</a:t>
              </a:r>
              <a:r>
                <a:rPr lang="en-US" altLang="en-US" sz="1137"/>
                <a:t>2</a:t>
              </a:r>
              <a:endParaRPr lang="en-GB" altLang="en-US" sz="1137"/>
            </a:p>
          </p:txBody>
        </p:sp>
      </p:grpSp>
      <p:grpSp>
        <p:nvGrpSpPr>
          <p:cNvPr id="19470" name="Group 28"/>
          <p:cNvGrpSpPr>
            <a:grpSpLocks/>
          </p:cNvGrpSpPr>
          <p:nvPr/>
        </p:nvGrpSpPr>
        <p:grpSpPr bwMode="auto">
          <a:xfrm>
            <a:off x="7440529" y="3871161"/>
            <a:ext cx="1290387" cy="2337134"/>
            <a:chOff x="720" y="2802"/>
            <a:chExt cx="858" cy="1266"/>
          </a:xfrm>
        </p:grpSpPr>
        <p:sp>
          <p:nvSpPr>
            <p:cNvPr id="19472" name="Line 29"/>
            <p:cNvSpPr>
              <a:spLocks noChangeShapeType="1"/>
            </p:cNvSpPr>
            <p:nvPr/>
          </p:nvSpPr>
          <p:spPr bwMode="auto">
            <a:xfrm flipV="1">
              <a:off x="720" y="2808"/>
              <a:ext cx="0" cy="126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705"/>
            </a:p>
          </p:txBody>
        </p:sp>
        <p:sp>
          <p:nvSpPr>
            <p:cNvPr id="19473" name="Line 30"/>
            <p:cNvSpPr>
              <a:spLocks noChangeShapeType="1"/>
            </p:cNvSpPr>
            <p:nvPr/>
          </p:nvSpPr>
          <p:spPr bwMode="auto">
            <a:xfrm flipV="1">
              <a:off x="1578" y="2808"/>
              <a:ext cx="0" cy="126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705"/>
            </a:p>
          </p:txBody>
        </p:sp>
        <p:sp>
          <p:nvSpPr>
            <p:cNvPr id="19474" name="Line 31"/>
            <p:cNvSpPr>
              <a:spLocks noChangeShapeType="1"/>
            </p:cNvSpPr>
            <p:nvPr/>
          </p:nvSpPr>
          <p:spPr bwMode="auto">
            <a:xfrm>
              <a:off x="720" y="2802"/>
              <a:ext cx="858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705"/>
            </a:p>
          </p:txBody>
        </p:sp>
      </p:grpSp>
      <p:graphicFrame>
        <p:nvGraphicFramePr>
          <p:cNvPr id="1947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486406"/>
              </p:ext>
            </p:extLst>
          </p:nvPr>
        </p:nvGraphicFramePr>
        <p:xfrm>
          <a:off x="4000892" y="3412120"/>
          <a:ext cx="948990" cy="345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58558" imgH="203112" progId="Equation.3">
                  <p:embed/>
                </p:oleObj>
              </mc:Choice>
              <mc:Fallback>
                <p:oleObj name="Equation" r:id="rId13" imgW="558558" imgH="203112" progId="Equation.3">
                  <p:embed/>
                  <p:pic>
                    <p:nvPicPr>
                      <p:cNvPr id="19471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892" y="3412120"/>
                        <a:ext cx="948990" cy="3459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28" name="TextBox 27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 Box 3"/>
          <p:cNvSpPr txBox="1">
            <a:spLocks noChangeArrowheads="1"/>
          </p:cNvSpPr>
          <p:nvPr/>
        </p:nvSpPr>
        <p:spPr bwMode="auto">
          <a:xfrm>
            <a:off x="96644" y="490975"/>
            <a:ext cx="11939239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1.4	ΜΙΞΗ ΣΗΜΑΤΩΝ</a:t>
            </a:r>
            <a:r>
              <a:rPr lang="en-GB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B7F89C69-8721-8618-11F4-3864065BE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9" t="17268" r="4283" b="28435"/>
          <a:stretch>
            <a:fillRect/>
          </a:stretch>
        </p:blipFill>
        <p:spPr bwMode="auto">
          <a:xfrm>
            <a:off x="95139" y="1107908"/>
            <a:ext cx="1929566" cy="1405469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0746761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F:\02 TELECOMS\01 Theory\01 Analog &amp; Digital Coms\! Bateman Book\01 FINAL\02 KEF 1\mixer1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2" t="19624" r="34286" b="44623"/>
          <a:stretch>
            <a:fillRect/>
          </a:stretch>
        </p:blipFill>
        <p:spPr bwMode="auto">
          <a:xfrm>
            <a:off x="3979946" y="1443790"/>
            <a:ext cx="2490537" cy="1200150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485" name="Object 5"/>
          <p:cNvGraphicFramePr>
            <a:graphicFrameLocks noChangeAspect="1"/>
          </p:cNvGraphicFramePr>
          <p:nvPr/>
        </p:nvGraphicFramePr>
        <p:xfrm>
          <a:off x="4173956" y="4185486"/>
          <a:ext cx="1315954" cy="25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93800" imgH="228600" progId="Equation.3">
                  <p:embed/>
                </p:oleObj>
              </mc:Choice>
              <mc:Fallback>
                <p:oleObj r:id="rId3" imgW="1193800" imgH="228600" progId="Equation.3">
                  <p:embed/>
                  <p:pic>
                    <p:nvPicPr>
                      <p:cNvPr id="204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956" y="4185486"/>
                        <a:ext cx="1315954" cy="25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1901491" y="2849981"/>
          <a:ext cx="2009274" cy="234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79600" imgH="215900" progId="Equation.3">
                  <p:embed/>
                </p:oleObj>
              </mc:Choice>
              <mc:Fallback>
                <p:oleObj r:id="rId5" imgW="1879600" imgH="215900" progId="Equation.3">
                  <p:embed/>
                  <p:pic>
                    <p:nvPicPr>
                      <p:cNvPr id="204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491" y="2849981"/>
                        <a:ext cx="2009274" cy="234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7"/>
          <p:cNvGraphicFramePr>
            <a:graphicFrameLocks noChangeAspect="1"/>
          </p:cNvGraphicFramePr>
          <p:nvPr/>
        </p:nvGraphicFramePr>
        <p:xfrm>
          <a:off x="1922547" y="3162802"/>
          <a:ext cx="1907005" cy="476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790700" imgH="444500" progId="Equation.3">
                  <p:embed/>
                </p:oleObj>
              </mc:Choice>
              <mc:Fallback>
                <p:oleObj r:id="rId7" imgW="1790700" imgH="444500" progId="Equation.3">
                  <p:embed/>
                  <p:pic>
                    <p:nvPicPr>
                      <p:cNvPr id="204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2547" y="3162802"/>
                        <a:ext cx="1907005" cy="476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8" name="Picture 8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05" t="21414" r="12561" b="43996"/>
          <a:stretch>
            <a:fillRect/>
          </a:stretch>
        </p:blipFill>
        <p:spPr bwMode="auto">
          <a:xfrm>
            <a:off x="4097254" y="2762752"/>
            <a:ext cx="1485900" cy="1327985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489" name="Object 9"/>
          <p:cNvGraphicFramePr>
            <a:graphicFrameLocks noChangeAspect="1"/>
          </p:cNvGraphicFramePr>
          <p:nvPr/>
        </p:nvGraphicFramePr>
        <p:xfrm>
          <a:off x="1854869" y="4570497"/>
          <a:ext cx="5259304" cy="621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14800" imgH="482600" progId="Equation.3">
                  <p:embed/>
                </p:oleObj>
              </mc:Choice>
              <mc:Fallback>
                <p:oleObj name="Equation" r:id="rId10" imgW="4114800" imgH="482600" progId="Equation.3">
                  <p:embed/>
                  <p:pic>
                    <p:nvPicPr>
                      <p:cNvPr id="2048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869" y="4570497"/>
                        <a:ext cx="5259304" cy="6211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Text Box 12"/>
          <p:cNvSpPr txBox="1">
            <a:spLocks noChangeArrowheads="1"/>
          </p:cNvSpPr>
          <p:nvPr/>
        </p:nvSpPr>
        <p:spPr bwMode="auto">
          <a:xfrm>
            <a:off x="5365082" y="1377616"/>
            <a:ext cx="393056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326"/>
              <a:t>LP</a:t>
            </a:r>
            <a:endParaRPr lang="en-GB" altLang="en-US" sz="1326"/>
          </a:p>
        </p:txBody>
      </p:sp>
      <p:grpSp>
        <p:nvGrpSpPr>
          <p:cNvPr id="20491" name="Group 28"/>
          <p:cNvGrpSpPr>
            <a:grpSpLocks/>
          </p:cNvGrpSpPr>
          <p:nvPr/>
        </p:nvGrpSpPr>
        <p:grpSpPr bwMode="auto">
          <a:xfrm>
            <a:off x="7112668" y="2473995"/>
            <a:ext cx="2490537" cy="1714500"/>
            <a:chOff x="256" y="2931"/>
            <a:chExt cx="1656" cy="1140"/>
          </a:xfrm>
        </p:grpSpPr>
        <p:sp>
          <p:nvSpPr>
            <p:cNvPr id="20497" name="Line 16"/>
            <p:cNvSpPr>
              <a:spLocks noChangeShapeType="1"/>
            </p:cNvSpPr>
            <p:nvPr/>
          </p:nvSpPr>
          <p:spPr bwMode="auto">
            <a:xfrm flipV="1">
              <a:off x="1114" y="3216"/>
              <a:ext cx="0" cy="65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705"/>
            </a:p>
          </p:txBody>
        </p:sp>
        <p:sp>
          <p:nvSpPr>
            <p:cNvPr id="20498" name="Line 17"/>
            <p:cNvSpPr>
              <a:spLocks noChangeShapeType="1"/>
            </p:cNvSpPr>
            <p:nvPr/>
          </p:nvSpPr>
          <p:spPr bwMode="auto">
            <a:xfrm>
              <a:off x="256" y="3213"/>
              <a:ext cx="85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705"/>
            </a:p>
          </p:txBody>
        </p:sp>
        <p:sp>
          <p:nvSpPr>
            <p:cNvPr id="20499" name="Line 18"/>
            <p:cNvSpPr>
              <a:spLocks noChangeShapeType="1"/>
            </p:cNvSpPr>
            <p:nvPr/>
          </p:nvSpPr>
          <p:spPr bwMode="auto">
            <a:xfrm>
              <a:off x="262" y="3867"/>
              <a:ext cx="165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705"/>
            </a:p>
          </p:txBody>
        </p:sp>
        <p:sp>
          <p:nvSpPr>
            <p:cNvPr id="20500" name="Line 19"/>
            <p:cNvSpPr>
              <a:spLocks noChangeShapeType="1"/>
            </p:cNvSpPr>
            <p:nvPr/>
          </p:nvSpPr>
          <p:spPr bwMode="auto">
            <a:xfrm flipV="1">
              <a:off x="256" y="2931"/>
              <a:ext cx="0" cy="936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705"/>
            </a:p>
          </p:txBody>
        </p:sp>
        <p:sp>
          <p:nvSpPr>
            <p:cNvPr id="20501" name="Text Box 20"/>
            <p:cNvSpPr txBox="1">
              <a:spLocks noChangeArrowheads="1"/>
            </p:cNvSpPr>
            <p:nvPr/>
          </p:nvSpPr>
          <p:spPr bwMode="auto">
            <a:xfrm>
              <a:off x="977" y="3893"/>
              <a:ext cx="573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1pPr>
              <a:lvl2pPr marL="742950" indent="-285750"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2pPr>
              <a:lvl3pPr marL="1143000" indent="-228600"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3pPr>
              <a:lvl4pPr marL="1600200" indent="-228600"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4pPr>
              <a:lvl5pPr marL="2057400" indent="-228600"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9pPr>
            </a:lstStyle>
            <a:p>
              <a:r>
                <a:rPr lang="en-US" altLang="en-US" sz="1137"/>
                <a:t>f</a:t>
              </a:r>
              <a:r>
                <a:rPr lang="en-US" altLang="en-US" sz="1137" baseline="-25000"/>
                <a:t>c</a:t>
              </a:r>
              <a:r>
                <a:rPr lang="el-GR" altLang="en-US" sz="1137"/>
                <a:t>=</a:t>
              </a:r>
              <a:r>
                <a:rPr lang="en-US" altLang="en-US" sz="1137"/>
                <a:t>0.7MHz</a:t>
              </a:r>
              <a:endParaRPr lang="en-GB" altLang="en-US" sz="1137"/>
            </a:p>
          </p:txBody>
        </p:sp>
      </p:grpSp>
      <p:graphicFrame>
        <p:nvGraphicFramePr>
          <p:cNvPr id="20492" name="Object 26"/>
          <p:cNvGraphicFramePr>
            <a:graphicFrameLocks noChangeAspect="1"/>
          </p:cNvGraphicFramePr>
          <p:nvPr/>
        </p:nvGraphicFramePr>
        <p:xfrm>
          <a:off x="7381876" y="1804737"/>
          <a:ext cx="819651" cy="345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82391" imgH="203112" progId="Equation.3">
                  <p:embed/>
                </p:oleObj>
              </mc:Choice>
              <mc:Fallback>
                <p:oleObj name="Equation" r:id="rId12" imgW="482391" imgH="203112" progId="Equation.3">
                  <p:embed/>
                  <p:pic>
                    <p:nvPicPr>
                      <p:cNvPr id="2049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76" y="1804737"/>
                        <a:ext cx="819651" cy="3459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3" name="Text Box 27"/>
          <p:cNvSpPr txBox="1">
            <a:spLocks noChangeArrowheads="1"/>
          </p:cNvSpPr>
          <p:nvPr/>
        </p:nvSpPr>
        <p:spPr bwMode="auto">
          <a:xfrm>
            <a:off x="96644" y="992103"/>
            <a:ext cx="8482263" cy="381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Παράδειγμα 1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:  f</a:t>
            </a:r>
            <a:r>
              <a:rPr lang="en-US" altLang="en-US" sz="2084" b="1" baseline="-25000" dirty="0">
                <a:solidFill>
                  <a:srgbClr val="99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=1MHz, f</a:t>
            </a:r>
            <a:r>
              <a:rPr lang="en-US" altLang="en-US" sz="2084" b="1" baseline="-25000" dirty="0">
                <a:solidFill>
                  <a:srgbClr val="99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=7.5MHz</a:t>
            </a:r>
            <a:endParaRPr lang="el-GR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4" name="Line 29"/>
          <p:cNvSpPr>
            <a:spLocks noChangeShapeType="1"/>
          </p:cNvSpPr>
          <p:nvPr/>
        </p:nvSpPr>
        <p:spPr bwMode="auto">
          <a:xfrm>
            <a:off x="5709487" y="1988218"/>
            <a:ext cx="1324977" cy="120315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705"/>
          </a:p>
        </p:txBody>
      </p:sp>
      <p:grpSp>
        <p:nvGrpSpPr>
          <p:cNvPr id="22" name="Group 21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23" name="TextBox 22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 Box 3"/>
          <p:cNvSpPr txBox="1">
            <a:spLocks noChangeArrowheads="1"/>
          </p:cNvSpPr>
          <p:nvPr/>
        </p:nvSpPr>
        <p:spPr bwMode="auto">
          <a:xfrm>
            <a:off x="96644" y="490975"/>
            <a:ext cx="11939239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1.4	ΜΙΞΗ ΣΗΜΑΤΩΝ</a:t>
            </a:r>
            <a:r>
              <a:rPr lang="en-GB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4B568072-41AC-090B-D0A0-B7B78A21E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9" t="17268" r="4283" b="28435"/>
          <a:stretch>
            <a:fillRect/>
          </a:stretch>
        </p:blipFill>
        <p:spPr bwMode="auto">
          <a:xfrm>
            <a:off x="1922547" y="1423699"/>
            <a:ext cx="1850773" cy="134807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2706255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70DB68-01CA-9D33-1594-496875C7E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F:\02 TELECOMS\01 Theory\01 Analog &amp; Digital Coms\! Bateman Book\01 FINAL\02 KEF 1\mixer1.bmp">
            <a:extLst>
              <a:ext uri="{FF2B5EF4-FFF2-40B4-BE49-F238E27FC236}">
                <a16:creationId xmlns:a16="http://schemas.microsoft.com/office/drawing/2014/main" id="{8472211D-8FA8-28A4-B1E6-601687733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2" t="19624" r="34286" b="44623"/>
          <a:stretch>
            <a:fillRect/>
          </a:stretch>
        </p:blipFill>
        <p:spPr bwMode="auto">
          <a:xfrm>
            <a:off x="3979946" y="1443790"/>
            <a:ext cx="2490537" cy="1200150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485" name="Object 5">
            <a:extLst>
              <a:ext uri="{FF2B5EF4-FFF2-40B4-BE49-F238E27FC236}">
                <a16:creationId xmlns:a16="http://schemas.microsoft.com/office/drawing/2014/main" id="{70666F43-982C-5119-97AF-6D7553AC8F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3956" y="4185486"/>
          <a:ext cx="1315954" cy="25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93800" imgH="228600" progId="Equation.3">
                  <p:embed/>
                </p:oleObj>
              </mc:Choice>
              <mc:Fallback>
                <p:oleObj r:id="rId3" imgW="1193800" imgH="228600" progId="Equation.3">
                  <p:embed/>
                  <p:pic>
                    <p:nvPicPr>
                      <p:cNvPr id="20485" name="Object 5">
                        <a:extLst>
                          <a:ext uri="{FF2B5EF4-FFF2-40B4-BE49-F238E27FC236}">
                            <a16:creationId xmlns:a16="http://schemas.microsoft.com/office/drawing/2014/main" id="{70666F43-982C-5119-97AF-6D7553AC8F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956" y="4185486"/>
                        <a:ext cx="1315954" cy="25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>
            <a:extLst>
              <a:ext uri="{FF2B5EF4-FFF2-40B4-BE49-F238E27FC236}">
                <a16:creationId xmlns:a16="http://schemas.microsoft.com/office/drawing/2014/main" id="{FEF31B12-A13C-139C-9206-11D793A7A5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1491" y="2849981"/>
          <a:ext cx="2009274" cy="234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79600" imgH="215900" progId="Equation.3">
                  <p:embed/>
                </p:oleObj>
              </mc:Choice>
              <mc:Fallback>
                <p:oleObj r:id="rId5" imgW="1879600" imgH="215900" progId="Equation.3">
                  <p:embed/>
                  <p:pic>
                    <p:nvPicPr>
                      <p:cNvPr id="20486" name="Object 6">
                        <a:extLst>
                          <a:ext uri="{FF2B5EF4-FFF2-40B4-BE49-F238E27FC236}">
                            <a16:creationId xmlns:a16="http://schemas.microsoft.com/office/drawing/2014/main" id="{FEF31B12-A13C-139C-9206-11D793A7A5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491" y="2849981"/>
                        <a:ext cx="2009274" cy="234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7">
            <a:extLst>
              <a:ext uri="{FF2B5EF4-FFF2-40B4-BE49-F238E27FC236}">
                <a16:creationId xmlns:a16="http://schemas.microsoft.com/office/drawing/2014/main" id="{D48E2719-004D-E6BE-4E1A-103A0E3993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2547" y="3162802"/>
          <a:ext cx="1907005" cy="476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790700" imgH="444500" progId="Equation.3">
                  <p:embed/>
                </p:oleObj>
              </mc:Choice>
              <mc:Fallback>
                <p:oleObj r:id="rId7" imgW="1790700" imgH="444500" progId="Equation.3">
                  <p:embed/>
                  <p:pic>
                    <p:nvPicPr>
                      <p:cNvPr id="20487" name="Object 7">
                        <a:extLst>
                          <a:ext uri="{FF2B5EF4-FFF2-40B4-BE49-F238E27FC236}">
                            <a16:creationId xmlns:a16="http://schemas.microsoft.com/office/drawing/2014/main" id="{D48E2719-004D-E6BE-4E1A-103A0E3993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2547" y="3162802"/>
                        <a:ext cx="1907005" cy="476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8" name="Picture 8">
            <a:extLst>
              <a:ext uri="{FF2B5EF4-FFF2-40B4-BE49-F238E27FC236}">
                <a16:creationId xmlns:a16="http://schemas.microsoft.com/office/drawing/2014/main" id="{C42F8B69-10D2-E0BE-E267-B4F0B4F19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05" t="21414" r="12561" b="43996"/>
          <a:stretch>
            <a:fillRect/>
          </a:stretch>
        </p:blipFill>
        <p:spPr bwMode="auto">
          <a:xfrm>
            <a:off x="4097254" y="2762752"/>
            <a:ext cx="1485900" cy="1327985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489" name="Object 9">
            <a:extLst>
              <a:ext uri="{FF2B5EF4-FFF2-40B4-BE49-F238E27FC236}">
                <a16:creationId xmlns:a16="http://schemas.microsoft.com/office/drawing/2014/main" id="{24214391-B3AE-1AB0-55D4-0C81B32ED9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4869" y="4570497"/>
          <a:ext cx="5259304" cy="621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14800" imgH="482600" progId="Equation.3">
                  <p:embed/>
                </p:oleObj>
              </mc:Choice>
              <mc:Fallback>
                <p:oleObj name="Equation" r:id="rId10" imgW="4114800" imgH="482600" progId="Equation.3">
                  <p:embed/>
                  <p:pic>
                    <p:nvPicPr>
                      <p:cNvPr id="20489" name="Object 9">
                        <a:extLst>
                          <a:ext uri="{FF2B5EF4-FFF2-40B4-BE49-F238E27FC236}">
                            <a16:creationId xmlns:a16="http://schemas.microsoft.com/office/drawing/2014/main" id="{24214391-B3AE-1AB0-55D4-0C81B32ED9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869" y="4570497"/>
                        <a:ext cx="5259304" cy="6211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Text Box 12">
            <a:extLst>
              <a:ext uri="{FF2B5EF4-FFF2-40B4-BE49-F238E27FC236}">
                <a16:creationId xmlns:a16="http://schemas.microsoft.com/office/drawing/2014/main" id="{2F67096D-2049-BE33-A71E-96AE7D36D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082" y="1377616"/>
            <a:ext cx="393056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326"/>
              <a:t>LP</a:t>
            </a:r>
            <a:endParaRPr lang="en-GB" altLang="en-US" sz="1326"/>
          </a:p>
        </p:txBody>
      </p:sp>
      <p:grpSp>
        <p:nvGrpSpPr>
          <p:cNvPr id="20491" name="Group 28">
            <a:extLst>
              <a:ext uri="{FF2B5EF4-FFF2-40B4-BE49-F238E27FC236}">
                <a16:creationId xmlns:a16="http://schemas.microsoft.com/office/drawing/2014/main" id="{037057C7-72B3-0052-3E03-0B4DAFF9C14D}"/>
              </a:ext>
            </a:extLst>
          </p:cNvPr>
          <p:cNvGrpSpPr>
            <a:grpSpLocks/>
          </p:cNvGrpSpPr>
          <p:nvPr/>
        </p:nvGrpSpPr>
        <p:grpSpPr bwMode="auto">
          <a:xfrm>
            <a:off x="7112668" y="2473995"/>
            <a:ext cx="2490537" cy="1714500"/>
            <a:chOff x="256" y="2931"/>
            <a:chExt cx="1656" cy="1140"/>
          </a:xfrm>
        </p:grpSpPr>
        <p:sp>
          <p:nvSpPr>
            <p:cNvPr id="20497" name="Line 16">
              <a:extLst>
                <a:ext uri="{FF2B5EF4-FFF2-40B4-BE49-F238E27FC236}">
                  <a16:creationId xmlns:a16="http://schemas.microsoft.com/office/drawing/2014/main" id="{DCE44E6D-CA28-7B07-1DCB-A484174CF5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14" y="3216"/>
              <a:ext cx="0" cy="65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705"/>
            </a:p>
          </p:txBody>
        </p:sp>
        <p:sp>
          <p:nvSpPr>
            <p:cNvPr id="20498" name="Line 17">
              <a:extLst>
                <a:ext uri="{FF2B5EF4-FFF2-40B4-BE49-F238E27FC236}">
                  <a16:creationId xmlns:a16="http://schemas.microsoft.com/office/drawing/2014/main" id="{EC45D577-5C79-4120-E5D2-68EEE9ED66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" y="3213"/>
              <a:ext cx="85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705"/>
            </a:p>
          </p:txBody>
        </p:sp>
        <p:sp>
          <p:nvSpPr>
            <p:cNvPr id="20499" name="Line 18">
              <a:extLst>
                <a:ext uri="{FF2B5EF4-FFF2-40B4-BE49-F238E27FC236}">
                  <a16:creationId xmlns:a16="http://schemas.microsoft.com/office/drawing/2014/main" id="{DCA4EF11-2EE0-E940-7D8E-ACBFD9B8A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" y="3867"/>
              <a:ext cx="165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705"/>
            </a:p>
          </p:txBody>
        </p:sp>
        <p:sp>
          <p:nvSpPr>
            <p:cNvPr id="20500" name="Line 19">
              <a:extLst>
                <a:ext uri="{FF2B5EF4-FFF2-40B4-BE49-F238E27FC236}">
                  <a16:creationId xmlns:a16="http://schemas.microsoft.com/office/drawing/2014/main" id="{4FC427F2-75DE-F2FF-032E-8AB63E2FEB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" y="2931"/>
              <a:ext cx="0" cy="936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705"/>
            </a:p>
          </p:txBody>
        </p:sp>
        <p:sp>
          <p:nvSpPr>
            <p:cNvPr id="20501" name="Text Box 20">
              <a:extLst>
                <a:ext uri="{FF2B5EF4-FFF2-40B4-BE49-F238E27FC236}">
                  <a16:creationId xmlns:a16="http://schemas.microsoft.com/office/drawing/2014/main" id="{7C30564C-0B4C-7A0C-7CFF-715B5A8A5C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" y="3893"/>
              <a:ext cx="573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1pPr>
              <a:lvl2pPr marL="742950" indent="-285750"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2pPr>
              <a:lvl3pPr marL="1143000" indent="-228600"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3pPr>
              <a:lvl4pPr marL="1600200" indent="-228600"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4pPr>
              <a:lvl5pPr marL="2057400" indent="-228600"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Helvetica" panose="020B0604020202020204" pitchFamily="34" charset="0"/>
                </a:defRPr>
              </a:lvl9pPr>
            </a:lstStyle>
            <a:p>
              <a:r>
                <a:rPr lang="en-US" altLang="en-US" sz="1137"/>
                <a:t>f</a:t>
              </a:r>
              <a:r>
                <a:rPr lang="en-US" altLang="en-US" sz="1137" baseline="-25000"/>
                <a:t>c</a:t>
              </a:r>
              <a:r>
                <a:rPr lang="el-GR" altLang="en-US" sz="1137"/>
                <a:t>=</a:t>
              </a:r>
              <a:r>
                <a:rPr lang="en-US" altLang="en-US" sz="1137"/>
                <a:t>0.7MHz</a:t>
              </a:r>
              <a:endParaRPr lang="en-GB" altLang="en-US" sz="1137"/>
            </a:p>
          </p:txBody>
        </p:sp>
      </p:grpSp>
      <p:graphicFrame>
        <p:nvGraphicFramePr>
          <p:cNvPr id="20492" name="Object 26">
            <a:extLst>
              <a:ext uri="{FF2B5EF4-FFF2-40B4-BE49-F238E27FC236}">
                <a16:creationId xmlns:a16="http://schemas.microsoft.com/office/drawing/2014/main" id="{FDE2F0E1-023D-A99C-60C2-B60D743031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1876" y="1804737"/>
          <a:ext cx="819651" cy="345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82391" imgH="203112" progId="Equation.3">
                  <p:embed/>
                </p:oleObj>
              </mc:Choice>
              <mc:Fallback>
                <p:oleObj name="Equation" r:id="rId12" imgW="482391" imgH="203112" progId="Equation.3">
                  <p:embed/>
                  <p:pic>
                    <p:nvPicPr>
                      <p:cNvPr id="20492" name="Object 26">
                        <a:extLst>
                          <a:ext uri="{FF2B5EF4-FFF2-40B4-BE49-F238E27FC236}">
                            <a16:creationId xmlns:a16="http://schemas.microsoft.com/office/drawing/2014/main" id="{FDE2F0E1-023D-A99C-60C2-B60D743031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76" y="1804737"/>
                        <a:ext cx="819651" cy="3459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3" name="Text Box 27">
            <a:extLst>
              <a:ext uri="{FF2B5EF4-FFF2-40B4-BE49-F238E27FC236}">
                <a16:creationId xmlns:a16="http://schemas.microsoft.com/office/drawing/2014/main" id="{524D968F-B43B-7B09-548E-EEF008444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44" y="992103"/>
            <a:ext cx="8482263" cy="381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Παράδειγμα 1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:  f</a:t>
            </a:r>
            <a:r>
              <a:rPr lang="en-US" altLang="en-US" sz="2084" b="1" baseline="-25000" dirty="0">
                <a:solidFill>
                  <a:srgbClr val="99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=1MHz, f</a:t>
            </a:r>
            <a:r>
              <a:rPr lang="en-US" altLang="en-US" sz="2084" b="1" baseline="-25000" dirty="0">
                <a:solidFill>
                  <a:srgbClr val="99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=7.5MHz</a:t>
            </a:r>
            <a:endParaRPr lang="el-GR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4" name="Line 29">
            <a:extLst>
              <a:ext uri="{FF2B5EF4-FFF2-40B4-BE49-F238E27FC236}">
                <a16:creationId xmlns:a16="http://schemas.microsoft.com/office/drawing/2014/main" id="{8D26A72D-320B-F695-45C2-C9628A87AC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9487" y="1988218"/>
            <a:ext cx="1324977" cy="120315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705"/>
          </a:p>
        </p:txBody>
      </p:sp>
      <p:graphicFrame>
        <p:nvGraphicFramePr>
          <p:cNvPr id="20495" name="Object 30">
            <a:extLst>
              <a:ext uri="{FF2B5EF4-FFF2-40B4-BE49-F238E27FC236}">
                <a16:creationId xmlns:a16="http://schemas.microsoft.com/office/drawing/2014/main" id="{5F80EBD1-EE44-E01B-AC08-2DFCDA60C7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4157" y="5763804"/>
          <a:ext cx="8195009" cy="53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527520" imgH="431640" progId="Equation.3">
                  <p:embed/>
                </p:oleObj>
              </mc:Choice>
              <mc:Fallback>
                <p:oleObj name="Equation" r:id="rId14" imgW="6527520" imgH="431640" progId="Equation.3">
                  <p:embed/>
                  <p:pic>
                    <p:nvPicPr>
                      <p:cNvPr id="20495" name="Object 30">
                        <a:extLst>
                          <a:ext uri="{FF2B5EF4-FFF2-40B4-BE49-F238E27FC236}">
                            <a16:creationId xmlns:a16="http://schemas.microsoft.com/office/drawing/2014/main" id="{5F80EBD1-EE44-E01B-AC08-2DFCDA60C7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157" y="5763804"/>
                        <a:ext cx="8195009" cy="538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6" name="Line 32">
            <a:extLst>
              <a:ext uri="{FF2B5EF4-FFF2-40B4-BE49-F238E27FC236}">
                <a16:creationId xmlns:a16="http://schemas.microsoft.com/office/drawing/2014/main" id="{E40BDA92-222D-F22C-E85A-A78449AF8A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51447" y="5304423"/>
            <a:ext cx="0" cy="317332"/>
          </a:xfrm>
          <a:prstGeom prst="line">
            <a:avLst/>
          </a:prstGeom>
          <a:noFill/>
          <a:ln w="6350">
            <a:solidFill>
              <a:srgbClr val="CC00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705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D39D2FF-0536-9A58-4491-CBC80183DDF9}"/>
              </a:ext>
            </a:extLst>
          </p:cNvPr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E886FA8-F555-71C9-5625-8ADFC25D94A5}"/>
                </a:ext>
              </a:extLst>
            </p:cNvPr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AD2F718-2C77-A683-564B-69D76F150489}"/>
                </a:ext>
              </a:extLst>
            </p:cNvPr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1891520-3DF6-1017-AB1A-6B8962C8945F}"/>
                </a:ext>
              </a:extLst>
            </p:cNvPr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 Box 3">
            <a:extLst>
              <a:ext uri="{FF2B5EF4-FFF2-40B4-BE49-F238E27FC236}">
                <a16:creationId xmlns:a16="http://schemas.microsoft.com/office/drawing/2014/main" id="{71364707-17B6-2B4C-471A-F537675E0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44" y="490975"/>
            <a:ext cx="11939239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1.4	ΜΙΞΗ ΣΗΜΑΤΩΝ</a:t>
            </a:r>
            <a:r>
              <a:rPr lang="en-GB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848B5BDD-E277-9B81-C249-7FE0CB227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9" t="17268" r="4283" b="28435"/>
          <a:stretch>
            <a:fillRect/>
          </a:stretch>
        </p:blipFill>
        <p:spPr bwMode="auto">
          <a:xfrm>
            <a:off x="1922547" y="1423699"/>
            <a:ext cx="1850773" cy="134807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2413328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27"/>
          <p:cNvSpPr txBox="1">
            <a:spLocks noChangeArrowheads="1"/>
          </p:cNvSpPr>
          <p:nvPr/>
        </p:nvSpPr>
        <p:spPr bwMode="auto">
          <a:xfrm>
            <a:off x="96644" y="1154273"/>
            <a:ext cx="8482263" cy="381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Παράδειγμα 1</a:t>
            </a:r>
          </a:p>
        </p:txBody>
      </p:sp>
      <p:sp>
        <p:nvSpPr>
          <p:cNvPr id="21509" name="Text Box 29"/>
          <p:cNvSpPr txBox="1">
            <a:spLocks noChangeArrowheads="1"/>
          </p:cNvSpPr>
          <p:nvPr/>
        </p:nvSpPr>
        <p:spPr bwMode="auto">
          <a:xfrm>
            <a:off x="159810" y="1652081"/>
            <a:ext cx="559961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>
                <a:solidFill>
                  <a:srgbClr val="CC0000"/>
                </a:solidFill>
              </a:rPr>
              <a:t>ΑΡΑ:</a:t>
            </a:r>
            <a:endParaRPr lang="en-GB" altLang="en-US" sz="1326">
              <a:solidFill>
                <a:srgbClr val="CC0000"/>
              </a:solidFill>
            </a:endParaRPr>
          </a:p>
        </p:txBody>
      </p:sp>
      <p:graphicFrame>
        <p:nvGraphicFramePr>
          <p:cNvPr id="2151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729306"/>
              </p:ext>
            </p:extLst>
          </p:nvPr>
        </p:nvGraphicFramePr>
        <p:xfrm>
          <a:off x="228991" y="1979941"/>
          <a:ext cx="685800" cy="53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5863" imgH="431613" progId="Equation.3">
                  <p:embed/>
                </p:oleObj>
              </mc:Choice>
              <mc:Fallback>
                <p:oleObj name="Equation" r:id="rId2" imgW="545863" imgH="431613" progId="Equation.3">
                  <p:embed/>
                  <p:pic>
                    <p:nvPicPr>
                      <p:cNvPr id="2151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91" y="1979941"/>
                        <a:ext cx="685800" cy="538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9" name="TextBox 8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96644" y="490975"/>
            <a:ext cx="11939239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1.4	ΜΙΞΗ ΣΗΜΑΤΩΝ</a:t>
            </a:r>
            <a:r>
              <a:rPr lang="en-GB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6601990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47F623-70F0-81DF-7806-E9FBC3636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27">
            <a:extLst>
              <a:ext uri="{FF2B5EF4-FFF2-40B4-BE49-F238E27FC236}">
                <a16:creationId xmlns:a16="http://schemas.microsoft.com/office/drawing/2014/main" id="{B08E4DFA-960D-84B8-9ACF-E69E5720C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44" y="1154273"/>
            <a:ext cx="8482263" cy="381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Παράδειγμα 1</a:t>
            </a:r>
          </a:p>
        </p:txBody>
      </p:sp>
      <p:pic>
        <p:nvPicPr>
          <p:cNvPr id="21508" name="Picture 28">
            <a:extLst>
              <a:ext uri="{FF2B5EF4-FFF2-40B4-BE49-F238E27FC236}">
                <a16:creationId xmlns:a16="http://schemas.microsoft.com/office/drawing/2014/main" id="{5B9A953C-2B95-CC9F-D166-7738BC746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28777" r="15521" b="17708"/>
          <a:stretch>
            <a:fillRect/>
          </a:stretch>
        </p:blipFill>
        <p:spPr bwMode="auto">
          <a:xfrm>
            <a:off x="3005278" y="1528756"/>
            <a:ext cx="5462337" cy="3627521"/>
          </a:xfrm>
          <a:prstGeom prst="rect">
            <a:avLst/>
          </a:prstGeom>
          <a:noFill/>
          <a:ln w="6350">
            <a:solidFill>
              <a:srgbClr val="CC000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509" name="Text Box 29">
            <a:extLst>
              <a:ext uri="{FF2B5EF4-FFF2-40B4-BE49-F238E27FC236}">
                <a16:creationId xmlns:a16="http://schemas.microsoft.com/office/drawing/2014/main" id="{41205C03-D586-9895-0826-DA074512E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810" y="1652081"/>
            <a:ext cx="559961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>
                <a:solidFill>
                  <a:srgbClr val="CC0000"/>
                </a:solidFill>
              </a:rPr>
              <a:t>ΑΡΑ:</a:t>
            </a:r>
            <a:endParaRPr lang="en-GB" altLang="en-US" sz="1326">
              <a:solidFill>
                <a:srgbClr val="CC0000"/>
              </a:solidFill>
            </a:endParaRPr>
          </a:p>
        </p:txBody>
      </p:sp>
      <p:graphicFrame>
        <p:nvGraphicFramePr>
          <p:cNvPr id="21510" name="Object 30">
            <a:extLst>
              <a:ext uri="{FF2B5EF4-FFF2-40B4-BE49-F238E27FC236}">
                <a16:creationId xmlns:a16="http://schemas.microsoft.com/office/drawing/2014/main" id="{67EBB8A3-E802-C029-32F1-BDDC9D9434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991" y="1979941"/>
          <a:ext cx="685800" cy="53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45863" imgH="431613" progId="Equation.3">
                  <p:embed/>
                </p:oleObj>
              </mc:Choice>
              <mc:Fallback>
                <p:oleObj name="Equation" r:id="rId3" imgW="545863" imgH="431613" progId="Equation.3">
                  <p:embed/>
                  <p:pic>
                    <p:nvPicPr>
                      <p:cNvPr id="21510" name="Object 30">
                        <a:extLst>
                          <a:ext uri="{FF2B5EF4-FFF2-40B4-BE49-F238E27FC236}">
                            <a16:creationId xmlns:a16="http://schemas.microsoft.com/office/drawing/2014/main" id="{67EBB8A3-E802-C029-32F1-BDDC9D9434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91" y="1979941"/>
                        <a:ext cx="685800" cy="538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31">
            <a:extLst>
              <a:ext uri="{FF2B5EF4-FFF2-40B4-BE49-F238E27FC236}">
                <a16:creationId xmlns:a16="http://schemas.microsoft.com/office/drawing/2014/main" id="{71485D2D-974A-D32A-5A6D-F45E7BDDA0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762" y="2745449"/>
          <a:ext cx="2794334" cy="2003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60600" imgH="1625600" progId="Equation.3">
                  <p:embed/>
                </p:oleObj>
              </mc:Choice>
              <mc:Fallback>
                <p:oleObj name="Equation" r:id="rId5" imgW="2260600" imgH="1625600" progId="Equation.3">
                  <p:embed/>
                  <p:pic>
                    <p:nvPicPr>
                      <p:cNvPr id="21511" name="Object 31">
                        <a:extLst>
                          <a:ext uri="{FF2B5EF4-FFF2-40B4-BE49-F238E27FC236}">
                            <a16:creationId xmlns:a16="http://schemas.microsoft.com/office/drawing/2014/main" id="{71485D2D-974A-D32A-5A6D-F45E7BDDA0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762" y="2745449"/>
                        <a:ext cx="2794334" cy="20032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64EAE1EF-FC26-BB87-7C18-263555D38CCA}"/>
              </a:ext>
            </a:extLst>
          </p:cNvPr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25705A0-91FF-AECB-018B-42A3127F0720}"/>
                </a:ext>
              </a:extLst>
            </p:cNvPr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C384674-E948-33B5-0196-4200E96FD796}"/>
                </a:ext>
              </a:extLst>
            </p:cNvPr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54D81E6-EC91-8F2E-82F2-A7E16FF6B4C6}"/>
                </a:ext>
              </a:extLst>
            </p:cNvPr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Box 3">
            <a:extLst>
              <a:ext uri="{FF2B5EF4-FFF2-40B4-BE49-F238E27FC236}">
                <a16:creationId xmlns:a16="http://schemas.microsoft.com/office/drawing/2014/main" id="{5C3DE1B8-2B3A-0AAF-99DE-54F5FBC26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44" y="490975"/>
            <a:ext cx="11939239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1.4	ΜΙΞΗ ΣΗΜΑΤΩΝ</a:t>
            </a:r>
            <a:r>
              <a:rPr lang="en-GB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177289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96645" y="1028024"/>
            <a:ext cx="11939238" cy="669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Παράδειγμα 2: 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2084" b="1" baseline="-25000" dirty="0">
                <a:solidFill>
                  <a:srgbClr val="99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=1MHz, f</a:t>
            </a:r>
            <a:r>
              <a:rPr lang="en-US" altLang="en-US" sz="2084" b="1" baseline="-25000" dirty="0">
                <a:solidFill>
                  <a:srgbClr val="99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=10MHz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 Τι τύπου φίλτρο πρέπει να χρησιμοποιήσουμε έτσι ώστε να εκπεμφθεί μόνο η συχνότητα των 2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1MHz?</a:t>
            </a:r>
            <a:endParaRPr lang="el-GR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2532" name="Picture 8" descr="mixer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2" t="19624" r="34286" b="44623"/>
          <a:stretch>
            <a:fillRect/>
          </a:stretch>
        </p:blipFill>
        <p:spPr bwMode="auto">
          <a:xfrm>
            <a:off x="5044741" y="1750595"/>
            <a:ext cx="2490537" cy="1200150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2534" name="Object 10"/>
          <p:cNvGraphicFramePr>
            <a:graphicFrameLocks noChangeAspect="1"/>
          </p:cNvGraphicFramePr>
          <p:nvPr/>
        </p:nvGraphicFramePr>
        <p:xfrm>
          <a:off x="5238751" y="4492291"/>
          <a:ext cx="1315954" cy="25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93800" imgH="228600" progId="Equation.3">
                  <p:embed/>
                </p:oleObj>
              </mc:Choice>
              <mc:Fallback>
                <p:oleObj r:id="rId3" imgW="1193800" imgH="228600" progId="Equation.3">
                  <p:embed/>
                  <p:pic>
                    <p:nvPicPr>
                      <p:cNvPr id="2253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1" y="4492291"/>
                        <a:ext cx="1315954" cy="25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11"/>
          <p:cNvGraphicFramePr>
            <a:graphicFrameLocks noChangeAspect="1"/>
          </p:cNvGraphicFramePr>
          <p:nvPr/>
        </p:nvGraphicFramePr>
        <p:xfrm>
          <a:off x="2966286" y="3156786"/>
          <a:ext cx="2009274" cy="234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79600" imgH="215900" progId="Equation.3">
                  <p:embed/>
                </p:oleObj>
              </mc:Choice>
              <mc:Fallback>
                <p:oleObj r:id="rId5" imgW="1879600" imgH="215900" progId="Equation.3">
                  <p:embed/>
                  <p:pic>
                    <p:nvPicPr>
                      <p:cNvPr id="2253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6286" y="3156786"/>
                        <a:ext cx="2009274" cy="234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12"/>
          <p:cNvGraphicFramePr>
            <a:graphicFrameLocks noChangeAspect="1"/>
          </p:cNvGraphicFramePr>
          <p:nvPr/>
        </p:nvGraphicFramePr>
        <p:xfrm>
          <a:off x="2987341" y="3469607"/>
          <a:ext cx="1907005" cy="476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790700" imgH="444500" progId="Equation.3">
                  <p:embed/>
                </p:oleObj>
              </mc:Choice>
              <mc:Fallback>
                <p:oleObj r:id="rId7" imgW="1790700" imgH="444500" progId="Equation.3">
                  <p:embed/>
                  <p:pic>
                    <p:nvPicPr>
                      <p:cNvPr id="225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341" y="3469607"/>
                        <a:ext cx="1907005" cy="476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537" name="Picture 13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05" t="21414" r="12561" b="43996"/>
          <a:stretch>
            <a:fillRect/>
          </a:stretch>
        </p:blipFill>
        <p:spPr bwMode="auto">
          <a:xfrm>
            <a:off x="5162049" y="3069557"/>
            <a:ext cx="1485900" cy="1327985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2538" name="Object 14"/>
          <p:cNvGraphicFramePr>
            <a:graphicFrameLocks noChangeAspect="1"/>
          </p:cNvGraphicFramePr>
          <p:nvPr/>
        </p:nvGraphicFramePr>
        <p:xfrm>
          <a:off x="2996366" y="4985586"/>
          <a:ext cx="5259303" cy="621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14800" imgH="482600" progId="Equation.3">
                  <p:embed/>
                </p:oleObj>
              </mc:Choice>
              <mc:Fallback>
                <p:oleObj name="Equation" r:id="rId10" imgW="4114800" imgH="482600" progId="Equation.3">
                  <p:embed/>
                  <p:pic>
                    <p:nvPicPr>
                      <p:cNvPr id="2253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6366" y="4985586"/>
                        <a:ext cx="5259303" cy="6211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9" name="Text Box 15"/>
          <p:cNvSpPr txBox="1">
            <a:spLocks noChangeArrowheads="1"/>
          </p:cNvSpPr>
          <p:nvPr/>
        </p:nvSpPr>
        <p:spPr bwMode="auto">
          <a:xfrm>
            <a:off x="6488531" y="2243889"/>
            <a:ext cx="279244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326"/>
              <a:t>?</a:t>
            </a:r>
            <a:endParaRPr lang="en-GB" altLang="en-US" sz="1326"/>
          </a:p>
        </p:txBody>
      </p:sp>
      <p:graphicFrame>
        <p:nvGraphicFramePr>
          <p:cNvPr id="22540" name="Object 22"/>
          <p:cNvGraphicFramePr>
            <a:graphicFrameLocks noChangeAspect="1"/>
          </p:cNvGraphicFramePr>
          <p:nvPr/>
        </p:nvGraphicFramePr>
        <p:xfrm>
          <a:off x="8446671" y="2111543"/>
          <a:ext cx="819651" cy="345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82391" imgH="203112" progId="Equation.3">
                  <p:embed/>
                </p:oleObj>
              </mc:Choice>
              <mc:Fallback>
                <p:oleObj name="Equation" r:id="rId12" imgW="482391" imgH="203112" progId="Equation.3">
                  <p:embed/>
                  <p:pic>
                    <p:nvPicPr>
                      <p:cNvPr id="2254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6671" y="2111543"/>
                        <a:ext cx="819651" cy="3459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14" name="TextBox 13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96644" y="490975"/>
            <a:ext cx="11939239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1.4	ΜΙΞΗ ΣΗΜΑΤΩΝ</a:t>
            </a:r>
            <a:r>
              <a:rPr lang="en-GB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D73FBECB-0D78-259C-6816-9A0E87F01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9" t="17268" r="4283" b="28435"/>
          <a:stretch>
            <a:fillRect/>
          </a:stretch>
        </p:blipFill>
        <p:spPr bwMode="auto">
          <a:xfrm>
            <a:off x="3007220" y="1665176"/>
            <a:ext cx="1887126" cy="1374556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8240225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96645" y="1045952"/>
            <a:ext cx="11939238" cy="669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Παράδειγμα 2: 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2084" b="1" baseline="-25000" dirty="0">
                <a:solidFill>
                  <a:srgbClr val="99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=1MHz, f</a:t>
            </a:r>
            <a:r>
              <a:rPr lang="en-US" altLang="en-US" sz="2084" b="1" baseline="-25000" dirty="0">
                <a:solidFill>
                  <a:srgbClr val="99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=10MHz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 Τι τύπου φίλτρο πρέπει να χρησιμοποιήσουμε έτσι ώστε να εκπεμφθεί μόνο η συχνότητα των 2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1MHz?</a:t>
            </a:r>
            <a:endParaRPr lang="el-GR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3556" name="Picture 1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37" y="1982245"/>
            <a:ext cx="3237931" cy="2260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29167" r="15416" b="19402"/>
          <a:stretch>
            <a:fillRect/>
          </a:stretch>
        </p:blipFill>
        <p:spPr bwMode="auto">
          <a:xfrm>
            <a:off x="4862763" y="2815389"/>
            <a:ext cx="5414211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355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438179"/>
              </p:ext>
            </p:extLst>
          </p:nvPr>
        </p:nvGraphicFramePr>
        <p:xfrm>
          <a:off x="145238" y="4380101"/>
          <a:ext cx="3311432" cy="232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11200" imgH="1625400" progId="Equation.3">
                  <p:embed/>
                </p:oleObj>
              </mc:Choice>
              <mc:Fallback>
                <p:oleObj name="Equation" r:id="rId4" imgW="2311200" imgH="1625400" progId="Equation.3">
                  <p:embed/>
                  <p:pic>
                    <p:nvPicPr>
                      <p:cNvPr id="2355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38" y="4380101"/>
                        <a:ext cx="3311432" cy="232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Text Box 19"/>
          <p:cNvSpPr txBox="1">
            <a:spLocks noChangeArrowheads="1"/>
          </p:cNvSpPr>
          <p:nvPr/>
        </p:nvSpPr>
        <p:spPr bwMode="auto">
          <a:xfrm>
            <a:off x="7927808" y="2815390"/>
            <a:ext cx="2242922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1326">
                <a:solidFill>
                  <a:srgbClr val="CC0000"/>
                </a:solidFill>
              </a:rPr>
              <a:t>Άρα: </a:t>
            </a:r>
            <a:r>
              <a:rPr lang="en-US" altLang="en-US" sz="1326">
                <a:solidFill>
                  <a:srgbClr val="CC0000"/>
                </a:solidFill>
              </a:rPr>
              <a:t>BW=2MHz, f</a:t>
            </a:r>
            <a:r>
              <a:rPr lang="en-US" altLang="en-US" sz="1326" baseline="-25000">
                <a:solidFill>
                  <a:srgbClr val="CC0000"/>
                </a:solidFill>
              </a:rPr>
              <a:t>o</a:t>
            </a:r>
            <a:r>
              <a:rPr lang="en-US" altLang="en-US" sz="1326">
                <a:solidFill>
                  <a:srgbClr val="CC0000"/>
                </a:solidFill>
              </a:rPr>
              <a:t>=21MHz</a:t>
            </a:r>
            <a:endParaRPr lang="en-GB" altLang="en-US" sz="1326">
              <a:solidFill>
                <a:srgbClr val="CC000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9" name="TextBox 8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96644" y="490975"/>
            <a:ext cx="11939239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1.4	ΜΙΞΗ ΣΗΜΑΤΩΝ</a:t>
            </a:r>
            <a:r>
              <a:rPr lang="en-GB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72134230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186608" y="1184011"/>
            <a:ext cx="8482263" cy="3845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ΙΣΧΥΣ ΣΗΜΑΤΟΣ</a:t>
            </a:r>
          </a:p>
          <a:p>
            <a:pPr algn="just">
              <a:lnSpc>
                <a:spcPct val="90000"/>
              </a:lnSpc>
            </a:pPr>
            <a:endParaRPr lang="el-GR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1.  Μέση Ισχύς σήματος σε αντίσταση 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R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:</a:t>
            </a:r>
            <a:endParaRPr lang="en-US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2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.  Στιγμιαία Ισχύς σήματος σε αντίσταση 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R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:</a:t>
            </a:r>
            <a:endParaRPr lang="en-US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l-GR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458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457017"/>
              </p:ext>
            </p:extLst>
          </p:nvPr>
        </p:nvGraphicFramePr>
        <p:xfrm>
          <a:off x="622752" y="2170600"/>
          <a:ext cx="2689058" cy="1463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300" imgH="685800" progId="Equation.3">
                  <p:embed/>
                </p:oleObj>
              </mc:Choice>
              <mc:Fallback>
                <p:oleObj name="Equation" r:id="rId2" imgW="1257300" imgH="685800" progId="Equation.3">
                  <p:embed/>
                  <p:pic>
                    <p:nvPicPr>
                      <p:cNvPr id="2458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52" y="2170600"/>
                        <a:ext cx="2689058" cy="14633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981136"/>
              </p:ext>
            </p:extLst>
          </p:nvPr>
        </p:nvGraphicFramePr>
        <p:xfrm>
          <a:off x="654336" y="4503223"/>
          <a:ext cx="1765634" cy="976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500" imgH="457200" progId="Equation.3">
                  <p:embed/>
                </p:oleObj>
              </mc:Choice>
              <mc:Fallback>
                <p:oleObj name="Equation" r:id="rId4" imgW="825500" imgH="457200" progId="Equation.3">
                  <p:embed/>
                  <p:pic>
                    <p:nvPicPr>
                      <p:cNvPr id="2458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336" y="4503223"/>
                        <a:ext cx="1765634" cy="9760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7" name="TextBox 6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96644" y="490975"/>
            <a:ext cx="11939239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1.4	ΜΙΞΗ ΣΗΜΑΤΩΝ</a:t>
            </a:r>
            <a:r>
              <a:rPr lang="en-GB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5081718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96644" y="1258352"/>
            <a:ext cx="10843264" cy="1824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Άσκηση για το ΣΠΙΤΙ:</a:t>
            </a:r>
          </a:p>
          <a:p>
            <a:pPr algn="just">
              <a:lnSpc>
                <a:spcPct val="90000"/>
              </a:lnSpc>
            </a:pPr>
            <a:endParaRPr lang="el-GR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1. Τα παραδείγματα 1,2 για μονοπολικό παλμό, + Υπολογισμός στιγμιαίας ισχύος σε 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R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=50Ω.</a:t>
            </a:r>
          </a:p>
          <a:p>
            <a:pPr algn="just">
              <a:lnSpc>
                <a:spcPct val="90000"/>
              </a:lnSpc>
            </a:pPr>
            <a:endParaRPr lang="en-US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2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.  Το παράδειγμα 2 για μονοπολικό, διπολικό παλμό με 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BP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 φίλτρο, 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2084" b="1" baseline="-25000" dirty="0">
                <a:solidFill>
                  <a:srgbClr val="99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=10</a:t>
            </a:r>
            <a:r>
              <a:rPr lang="el-GR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ΜΗ</a:t>
            </a:r>
            <a:r>
              <a:rPr lang="en-US" altLang="en-US" sz="2084" b="1" dirty="0">
                <a:solidFill>
                  <a:srgbClr val="990000"/>
                </a:solidFill>
                <a:latin typeface="Times New Roman" panose="02020603050405020304" pitchFamily="18" charset="0"/>
              </a:rPr>
              <a:t>z, BW=4MHz.</a:t>
            </a:r>
          </a:p>
          <a:p>
            <a:pPr algn="just">
              <a:lnSpc>
                <a:spcPct val="90000"/>
              </a:lnSpc>
            </a:pPr>
            <a:endParaRPr lang="el-GR" altLang="en-US" sz="2084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5" name="TextBox 4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96644" y="490975"/>
            <a:ext cx="11939239" cy="442301"/>
          </a:xfrm>
          <a:prstGeom prst="rect">
            <a:avLst/>
          </a:prstGeom>
          <a:solidFill>
            <a:srgbClr val="DADADA"/>
          </a:solidFill>
          <a:ln w="25400">
            <a:solidFill>
              <a:srgbClr val="003366"/>
            </a:solidFill>
            <a:miter lim="800000"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76250" indent="-4762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r>
              <a:rPr lang="el-GR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1.4	ΜΙΞΗ ΣΗΜΑΤΩΝ</a:t>
            </a:r>
            <a:r>
              <a:rPr lang="en-GB" altLang="en-US" sz="2274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002562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4"/>
          <p:cNvSpPr txBox="1">
            <a:spLocks noChangeArrowheads="1"/>
          </p:cNvSpPr>
          <p:nvPr/>
        </p:nvSpPr>
        <p:spPr bwMode="auto">
          <a:xfrm>
            <a:off x="236823" y="800100"/>
            <a:ext cx="11821416" cy="2337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/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Θεωρήστε σύστημα μετάδοσης που αποτελείται από ένα μίκτη και ένα φίλτρο στην έξοδο του μίκτη που προορίζεται για μετάδοση διπολικών δεδομένων συχνότητας 2</a:t>
            </a:r>
            <a:r>
              <a:rPr lang="en-US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MHz</a:t>
            </a: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 και πλάτους 2</a:t>
            </a:r>
            <a:r>
              <a:rPr lang="en-US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Volt</a:t>
            </a: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. Στον μίκτη χρησιμοποιείται φέρον συχνότητας 900</a:t>
            </a:r>
            <a:r>
              <a:rPr lang="en-US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MHz</a:t>
            </a: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 και πλάτους 3</a:t>
            </a:r>
            <a:r>
              <a:rPr lang="en-US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Volt</a:t>
            </a: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. Εάν το φίλτρο που χρησιμοποιείται στην έξοδο του μίκτη είναι ζωνοπερατό με κεντρική συχνότητα 918</a:t>
            </a:r>
            <a:r>
              <a:rPr lang="en-US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MHz</a:t>
            </a: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 και εύρος 6</a:t>
            </a:r>
            <a:r>
              <a:rPr lang="en-US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MHz</a:t>
            </a: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, υπολογίστε την στιγμιαία εκπεμπόμενη ισχύ. </a:t>
            </a: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4" name="TextBox 3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257537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/>
          <p:cNvSpPr txBox="1">
            <a:spLocks noChangeArrowheads="1"/>
          </p:cNvSpPr>
          <p:nvPr/>
        </p:nvSpPr>
        <p:spPr bwMode="auto">
          <a:xfrm>
            <a:off x="105255" y="800100"/>
            <a:ext cx="11933249" cy="733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/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Υπολογίστε το μετασχηματισμό </a:t>
            </a:r>
            <a:r>
              <a:rPr lang="en-US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Fourier,</a:t>
            </a: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 χρησιμοποιώντας τριγωνομετρικό ανάπτυγμα</a:t>
            </a:r>
            <a:r>
              <a:rPr lang="en-US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 του παρακάτω σήματος του οποίου το πλάτος Α και η περίοδος Τ θεωρούνται γνωστά</a:t>
            </a:r>
            <a:r>
              <a:rPr lang="en-US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118" y="2170196"/>
            <a:ext cx="4826168" cy="2869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5" name="TextBox 4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82547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4"/>
          <p:cNvSpPr txBox="1">
            <a:spLocks noChangeArrowheads="1"/>
          </p:cNvSpPr>
          <p:nvPr/>
        </p:nvSpPr>
        <p:spPr bwMode="auto">
          <a:xfrm>
            <a:off x="85519" y="821156"/>
            <a:ext cx="11999034" cy="733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/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Υπολογίστε το φάσμα του παρακάτω σήματος, του οποίου το πλάτος Α και η περίοδος Τ θεωρούνται γνωστά, χρησιμοποιώντας </a:t>
            </a:r>
            <a:r>
              <a:rPr lang="el-GR" altLang="en-US" sz="2084" b="1" dirty="0">
                <a:latin typeface="Calibri" panose="020F0502020204030204" pitchFamily="34" charset="0"/>
                <a:cs typeface="Calibri" panose="020F0502020204030204" pitchFamily="34" charset="0"/>
              </a:rPr>
              <a:t>τριγωνομετρικό ή μιγαδικό ανάπτυγμα</a:t>
            </a: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5" name="TextBox 4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241D5218-3B10-7B8B-3E9D-1B870B4E9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568" y="2120990"/>
            <a:ext cx="6455213" cy="294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2584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4"/>
          <p:cNvSpPr txBox="1">
            <a:spLocks noChangeArrowheads="1"/>
          </p:cNvSpPr>
          <p:nvPr/>
        </p:nvSpPr>
        <p:spPr bwMode="auto">
          <a:xfrm>
            <a:off x="118411" y="821156"/>
            <a:ext cx="11966141" cy="1375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pPr algn="just"/>
            <a:r>
              <a:rPr lang="en-US" altLang="en-US" sz="2084" b="1" dirty="0">
                <a:latin typeface="Calibri" panose="020F0502020204030204" pitchFamily="34" charset="0"/>
                <a:cs typeface="Calibri" panose="020F0502020204030204" pitchFamily="34" charset="0"/>
              </a:rPr>
              <a:t>04</a:t>
            </a:r>
            <a:r>
              <a:rPr lang="el-GR" altLang="en-US" sz="2084" b="1" dirty="0">
                <a:latin typeface="Calibri" panose="020F0502020204030204" pitchFamily="34" charset="0"/>
                <a:cs typeface="Calibri" panose="020F0502020204030204" pitchFamily="34" charset="0"/>
              </a:rPr>
              <a:t>/0</a:t>
            </a:r>
            <a:r>
              <a:rPr lang="en-US" altLang="en-US" sz="2084" b="1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r>
              <a:rPr lang="el-GR" altLang="en-US" sz="2084" b="1" dirty="0">
                <a:latin typeface="Calibri" panose="020F0502020204030204" pitchFamily="34" charset="0"/>
                <a:cs typeface="Calibri" panose="020F0502020204030204" pitchFamily="34" charset="0"/>
              </a:rPr>
              <a:t>/20</a:t>
            </a:r>
            <a:r>
              <a:rPr lang="en-US" altLang="en-US" sz="2084" b="1" dirty="0">
                <a:latin typeface="Calibri" panose="020F0502020204030204" pitchFamily="34" charset="0"/>
                <a:cs typeface="Calibri" panose="020F0502020204030204" pitchFamily="34" charset="0"/>
              </a:rPr>
              <a:t>**	</a:t>
            </a:r>
            <a:r>
              <a:rPr lang="el-GR" altLang="en-US" sz="2084" b="1" dirty="0">
                <a:latin typeface="Calibri" panose="020F0502020204030204" pitchFamily="34" charset="0"/>
                <a:cs typeface="Calibri" panose="020F0502020204030204" pitchFamily="34" charset="0"/>
              </a:rPr>
              <a:t>ΘΕΜΑ 1</a:t>
            </a: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Εάν υποτεθεί ότι κάθε </a:t>
            </a:r>
            <a:r>
              <a:rPr lang="en-US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ASCII </a:t>
            </a: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χαρακτήρας μεταδίδεται εντός μιας περιόδου Τ με την πρόσθεση δυο λογικών μηδέν πριν κάθε </a:t>
            </a:r>
            <a:r>
              <a:rPr lang="en-US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ASCII </a:t>
            </a:r>
            <a:r>
              <a:rPr lang="el-GR" altLang="en-US" sz="2084" dirty="0">
                <a:latin typeface="Calibri" panose="020F0502020204030204" pitchFamily="34" charset="0"/>
                <a:cs typeface="Calibri" panose="020F0502020204030204" pitchFamily="34" charset="0"/>
              </a:rPr>
              <a:t>χαρακτήρα, υπολογίστε το φάσμα του πρώτου λατινικού γράμματος του επίθετου σας, του οποίου το πλάτος Α θεωρείται γνωστό, χρησιμοποιώντας τριγωνομετρικό ανάπτυγμα.</a:t>
            </a:r>
            <a:endParaRPr lang="en-US" altLang="en-US" sz="2084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9699" name="Picture 2" descr="http://ebooks.edu.gr/modules/ebook/show.php/DSGL-C104/423/2835,10771/images/img8_055.jpg"/>
          <p:cNvPicPr>
            <a:picLocks noChangeAspect="1" noChangeArrowheads="1"/>
          </p:cNvPicPr>
          <p:nvPr/>
        </p:nvPicPr>
        <p:blipFill>
          <a:blip r:embed="rId2">
            <a:lum bright="4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t="2269" r="5247" b="13303"/>
          <a:stretch>
            <a:fillRect/>
          </a:stretch>
        </p:blipFill>
        <p:spPr bwMode="auto">
          <a:xfrm>
            <a:off x="2031751" y="2320320"/>
            <a:ext cx="8122820" cy="3848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0" y="8966"/>
            <a:ext cx="12192000" cy="387261"/>
            <a:chOff x="0" y="8966"/>
            <a:chExt cx="12192000" cy="387261"/>
          </a:xfrm>
        </p:grpSpPr>
        <p:sp>
          <p:nvSpPr>
            <p:cNvPr id="5" name="TextBox 4"/>
            <p:cNvSpPr txBox="1"/>
            <p:nvPr/>
          </p:nvSpPr>
          <p:spPr>
            <a:xfrm>
              <a:off x="26893" y="26895"/>
              <a:ext cx="273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Ψηφιακές Τηλεπικοινωνίες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668871" y="8966"/>
              <a:ext cx="3523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Κεφάλαιο 1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0" y="378298"/>
              <a:ext cx="12186323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8209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3984</TotalTime>
  <Words>3459</Words>
  <Application>Microsoft Office PowerPoint</Application>
  <PresentationFormat>Ευρεία οθόνη</PresentationFormat>
  <Paragraphs>708</Paragraphs>
  <Slides>63</Slides>
  <Notes>0</Notes>
  <HiddenSlides>0</HiddenSlides>
  <MMClips>0</MMClips>
  <ScaleCrop>false</ScaleCrop>
  <HeadingPairs>
    <vt:vector size="8" baseType="variant">
      <vt:variant>
        <vt:lpstr>Γραμματοσειρές που χρησιμοποιούνται</vt:lpstr>
      </vt:variant>
      <vt:variant>
        <vt:i4>6</vt:i4>
      </vt:variant>
      <vt:variant>
        <vt:lpstr>Θέμα</vt:lpstr>
      </vt:variant>
      <vt:variant>
        <vt:i4>1</vt:i4>
      </vt:variant>
      <vt:variant>
        <vt:lpstr>Ενσωματωμένοι διακομιστές OLE</vt:lpstr>
      </vt:variant>
      <vt:variant>
        <vt:i4>3</vt:i4>
      </vt:variant>
      <vt:variant>
        <vt:lpstr>Τίτλοι διαφανειών</vt:lpstr>
      </vt:variant>
      <vt:variant>
        <vt:i4>63</vt:i4>
      </vt:variant>
    </vt:vector>
  </HeadingPairs>
  <TitlesOfParts>
    <vt:vector size="73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Equation.3</vt:lpstr>
      <vt:lpstr>Equation</vt:lpstr>
      <vt:lpstr>Εξίσωση</vt:lpstr>
      <vt:lpstr>ΨΗΦΙΑΚΕΣ ΤΗΛΕΠΙΚΟΙΝΩΝΙΕΣ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ΔΙΑΔΟΣΗ ΣΗΜΑΤΩΝ</dc:title>
  <dc:creator>constantinos</dc:creator>
  <cp:lastModifiedBy>Nikos Piperigkos</cp:lastModifiedBy>
  <cp:revision>430</cp:revision>
  <dcterms:created xsi:type="dcterms:W3CDTF">2020-02-09T16:33:50Z</dcterms:created>
  <dcterms:modified xsi:type="dcterms:W3CDTF">2024-11-07T11:16:50Z</dcterms:modified>
</cp:coreProperties>
</file>